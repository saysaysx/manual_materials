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24.mp3" ContentType="audio/mpeg"/>
  <Override PartName="/ppt/media/media25.mp3" ContentType="audio/mpeg"/>
  <Override PartName="/ppt/media/media26.mp3" ContentType="audio/mpeg"/>
  <Override PartName="/ppt/media/media27.mp3" ContentType="audio/mpeg"/>
  <Override PartName="/ppt/media/media28.mp3" ContentType="audio/mpeg"/>
  <Override PartName="/ppt/media/media29.mp3" ContentType="audio/mpeg"/>
  <Override PartName="/ppt/media/media3.mp3" ContentType="audio/mpeg"/>
  <Override PartName="/ppt/media/media30.mp3" ContentType="audio/mpeg"/>
  <Override PartName="/ppt/media/media31.mp3" ContentType="audio/mpeg"/>
  <Override PartName="/ppt/media/media32.mp3" ContentType="audio/mpeg"/>
  <Override PartName="/ppt/media/media33.mp3" ContentType="audio/mpeg"/>
  <Override PartName="/ppt/media/media34.mp3" ContentType="audio/mpeg"/>
  <Override PartName="/ppt/media/media35.mp3" ContentType="audio/mpeg"/>
  <Override PartName="/ppt/media/media36.mp3" ContentType="audio/mpeg"/>
  <Override PartName="/ppt/media/media37.mp3" ContentType="audio/mpeg"/>
  <Override PartName="/ppt/media/media38.mp3" ContentType="audio/mpeg"/>
  <Override PartName="/ppt/media/media39.mp3" ContentType="audio/mpeg"/>
  <Override PartName="/ppt/media/media4.mp3" ContentType="audio/mpeg"/>
  <Override PartName="/ppt/media/media40.mp3" ContentType="audio/mpeg"/>
  <Override PartName="/ppt/media/media41.mp3" ContentType="audio/mpeg"/>
  <Override PartName="/ppt/media/media42.mp3" ContentType="audio/mpeg"/>
  <Override PartName="/ppt/media/media43.mp3" ContentType="audio/mpeg"/>
  <Override PartName="/ppt/media/media44.mp3" ContentType="audio/mpeg"/>
  <Override PartName="/ppt/media/media45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77" r:id="rId3"/>
    <p:sldId id="313" r:id="rId4"/>
    <p:sldId id="314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315" r:id="rId18"/>
    <p:sldId id="316" r:id="rId19"/>
    <p:sldId id="317" r:id="rId20"/>
    <p:sldId id="272" r:id="rId21"/>
    <p:sldId id="273" r:id="rId22"/>
    <p:sldId id="330" r:id="rId23"/>
    <p:sldId id="331" r:id="rId24"/>
    <p:sldId id="323" r:id="rId25"/>
    <p:sldId id="324" r:id="rId26"/>
    <p:sldId id="325" r:id="rId27"/>
    <p:sldId id="326" r:id="rId28"/>
    <p:sldId id="327" r:id="rId29"/>
    <p:sldId id="332" r:id="rId30"/>
    <p:sldId id="334" r:id="rId31"/>
    <p:sldId id="333" r:id="rId32"/>
    <p:sldId id="329" r:id="rId33"/>
    <p:sldId id="335" r:id="rId34"/>
    <p:sldId id="319" r:id="rId35"/>
    <p:sldId id="320" r:id="rId36"/>
    <p:sldId id="276" r:id="rId37"/>
    <p:sldId id="336" r:id="rId38"/>
    <p:sldId id="337" r:id="rId39"/>
    <p:sldId id="278" r:id="rId40"/>
    <p:sldId id="279" r:id="rId41"/>
    <p:sldId id="280" r:id="rId42"/>
    <p:sldId id="281" r:id="rId43"/>
    <p:sldId id="282" r:id="rId44"/>
    <p:sldId id="283" r:id="rId45"/>
    <p:sldId id="284" r:id="rId4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457" y="-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27B83-DA56-4CB8-878D-22FE1F0C4744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BAE00-9983-481A-9BD6-202762807E6F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Система прерываний Интел восемь тысяч восемьдесят шесть.</a:t>
            </a:r>
          </a:p>
          <a:p>
            <a:r>
              <a:t>Иерархия прерываний: процессор поддерживает до двухсот пятидесяти шести векторов прерываний</a:t>
            </a:r>
          </a:p>
          <a:p>
            <a:r>
              <a:t>с номерами от нуля до двухсот пятидесяти пяти.</a:t>
            </a:r>
          </a:p>
          <a:p>
            <a:r>
              <a:t>Таблица векторов прерываний, И-Вэ-Тэ:</a:t>
            </a:r>
          </a:p>
          <a:p>
            <a:r>
              <a:t>располагается в самом начале оперативной памяти по адресам от нуля до трёх-Эф-Эф.</a:t>
            </a:r>
          </a:p>
          <a:p>
            <a:r>
              <a:t>Каждый вектор занимает четыре байта: два байта для сегмента Цэ-Эс</a:t>
            </a:r>
          </a:p>
          <a:p>
            <a:r>
              <a:t>и два байта для смещения Ай-Пи обработчика.</a:t>
            </a:r>
          </a:p>
          <a:p>
            <a:r>
              <a:t>Типы прерываний.</a:t>
            </a:r>
          </a:p>
          <a:p>
            <a:r>
              <a:t>Аппаратные: не-маскируемые, Эн-Эм-Ай, критические сбои, и маскируемые, И-Эн-Ти-Эр,</a:t>
            </a:r>
          </a:p>
          <a:p>
            <a:r>
              <a:t>запросы от периферии через контроллер восемь тысяч двести пятьдесят девять-Эй.</a:t>
            </a:r>
          </a:p>
          <a:p>
            <a:r>
              <a:t>Программные: вызываются инструкцией И-Эн-Тэ с номером,</a:t>
            </a:r>
          </a:p>
          <a:p>
            <a:r>
              <a:t>например, знаменитое И-Эн-Тэ двадцать один для вызова функций ДОС,</a:t>
            </a:r>
          </a:p>
          <a:p>
            <a:r>
              <a:t>или И-Эн-Тэ три, точка останова для отладки.</a:t>
            </a:r>
          </a:p>
          <a:p>
            <a:r>
              <a:t>Исключения: внутренние ошибки процессора, например, деление на ноль.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1BAE00-9983-481A-9BD6-202762807E6F}" type="slidenum">
              <a:rPr lang="ru-RU" smtClean="0"/>
              <a:t>30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Добро пожаловать на лекцию об основных элементах и принципах работы компьютерной техники</a:t>
            </a:r>
          </a:p>
          <a:p>
            <a:r>
              <a:t>по архитектуре фон Неймана.</a:t>
            </a:r>
          </a:p>
          <a:p>
            <a:r>
              <a:t>Сегодня мы спустимся с уровня архитектуры на уровень физической реализации.</a:t>
            </a:r>
          </a:p>
          <a:p>
            <a:r>
              <a:t>Разберём, как производятся микросхемы — от фотолитографии до современных техпроцессов два нанометра.</a:t>
            </a:r>
          </a:p>
          <a:p>
            <a:r>
              <a:t>Изучим физику полупроводников: П-Эн переход, биполярные и полевые транзисторы, К-МОП логику.</a:t>
            </a:r>
          </a:p>
          <a:p>
            <a:r>
              <a:t>Познакомимся с базовыми элементами процессора — триггерами, счётчиками, мультиплексорами, сумматорами.</a:t>
            </a:r>
          </a:p>
          <a:p>
            <a:r>
              <a:t>Разберём архитектуры процессоров — Циск, Риск, Миск, Ви-Эл-Ай-Даблъю.</a:t>
            </a:r>
          </a:p>
          <a:p>
            <a:r>
              <a:t>Посмотрим на современные технологии: чиплеты, Гейт-Олл-Эраунд транзисторы, векторные расширения Симд.</a:t>
            </a:r>
          </a:p>
          <a:p>
            <a:r>
              <a:t>И в конце — как устроена иерархия памяти: от регистров и кэшей до оперативной памяти.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Фотолитография — ключевой метод производства микросхем.</a:t>
            </a:r>
          </a:p>
          <a:p>
            <a:r>
              <a:t>Это процесс «печати» схемы на кремниевой пластине с помощью света, во многом похожий на фотопечать.</a:t>
            </a:r>
          </a:p>
          <a:p>
            <a:r>
              <a:t>Пять этапов.</a:t>
            </a:r>
          </a:p>
          <a:p>
            <a:r>
              <a:t>Подготовка основы: на кремниевую пластину наносится тонкий слой кремния,</a:t>
            </a:r>
          </a:p>
          <a:p>
            <a:r>
              <a:t>а поверх него — фото-резист, светочувствительный полимер, который меняет свойства под действием света.</a:t>
            </a:r>
          </a:p>
          <a:p>
            <a:r>
              <a:t>Экспонирование: свет проходит через фото-шаблон, маску с рисунком схемы, и систему линз,</a:t>
            </a:r>
          </a:p>
          <a:p>
            <a:r>
              <a:t>проецируя уменьшенное изображение на фото-резист.</a:t>
            </a:r>
          </a:p>
          <a:p>
            <a:r>
              <a:t>Проявление: засвеченные или незасвеченные участки фото-резиста смываются специальным раствором.</a:t>
            </a:r>
          </a:p>
          <a:p>
            <a:r>
              <a:t>Травление и ионная имплантация: защищённые остатками фото-резиста зоны остаются нетронутыми,</a:t>
            </a:r>
          </a:p>
          <a:p>
            <a:r>
              <a:t>а открытые участки кремния вытравливаются кислотой или легируются ионами</a:t>
            </a:r>
          </a:p>
          <a:p>
            <a:r>
              <a:t>для создания полупроводниковых свойств.</a:t>
            </a:r>
          </a:p>
          <a:p>
            <a:r>
              <a:t>Очистка: остатки фото-резиста удаляются.</a:t>
            </a:r>
          </a:p>
          <a:p>
            <a:r>
              <a:t>Весь процесс повторяется от сорока до восьмидесяти раз, чтобы создать многослойную структуру чипа.</a:t>
            </a:r>
          </a:p>
          <a:p>
            <a:r>
              <a:t>Каждый слой — это отдельный уровень транзисторов, дорожек, контактов.</a:t>
            </a:r>
          </a:p>
          <a:p>
            <a:r>
              <a:t>Современный процессор содержит более двадцати слоёв металлизации.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Технологический предел: литография на пути к двум нанометрам и менее.</a:t>
            </a:r>
          </a:p>
          <a:p>
            <a:r>
              <a:t>Чтобы уменьшать транзисторы, учёным пришлось кардинально уменьшать длину волны света,</a:t>
            </a:r>
          </a:p>
          <a:p>
            <a:r>
              <a:t>из-за дифракционного предела, физического ограничения,</a:t>
            </a:r>
          </a:p>
          <a:p>
            <a:r>
              <a:t>не позволяющего печатать элементы меньше длины волны.</a:t>
            </a:r>
          </a:p>
          <a:p>
            <a:r>
              <a:t>Эволюция источников света.</a:t>
            </a:r>
          </a:p>
          <a:p>
            <a:r>
              <a:t>Ультрафиолетовая литография в глубоком ультрафиолете, ДУВ:</a:t>
            </a:r>
          </a:p>
          <a:p>
            <a:r>
              <a:t>использовала аргон-фторидные лазеры с длиной волны сто девяносто три нанометра.</a:t>
            </a:r>
          </a:p>
          <a:p>
            <a:r>
              <a:t>Чтобы печатать чипы от двадцати восьми до десяти нанометров,</a:t>
            </a:r>
          </a:p>
          <a:p>
            <a:r>
              <a:t>применяли иммерсионную жидкость, воду, и метод многократного экспонирования.</a:t>
            </a:r>
          </a:p>
          <a:p>
            <a:r>
              <a:t>Экстремальный ультрафиолет, ЮВ: прорывные установки компании А-Эс-Эм-Эл</a:t>
            </a:r>
          </a:p>
          <a:p>
            <a:r>
              <a:t>с длиной волны тринадцать и пять десятых нанометра.</a:t>
            </a:r>
          </a:p>
          <a:p>
            <a:r>
              <a:t>Свет генерируется лазером, бьющим по каплям расплавленного олова.</a:t>
            </a:r>
          </a:p>
          <a:p>
            <a:r>
              <a:t>Стала стандартом для техпроцессов от семи до трёх нанометров.</a:t>
            </a:r>
          </a:p>
          <a:p>
            <a:r>
              <a:t>Хай-Эн-Эй ЮВ, высокая апертура: новейшее поколение систем</a:t>
            </a:r>
          </a:p>
          <a:p>
            <a:r>
              <a:t>с индексом линз ноль пятьдесят пять против ноль тридцать три у старых ЮВ.</a:t>
            </a:r>
          </a:p>
          <a:p>
            <a:r>
              <a:t>Позволяет проецировать ещё более мелкие элементы без сложного мульти-шаблонирования.</a:t>
            </a:r>
          </a:p>
          <a:p>
            <a:r>
              <a:t>Применяется для двух нанометров и тоньше.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используется в архитектуре чипов два нанометра и менее.</a:t>
            </a:r>
          </a:p>
          <a:p>
            <a:r>
              <a:t>При размерах менее трёх нанометров законы классической физики уступают место квантовым эффектам:</a:t>
            </a:r>
          </a:p>
          <a:p>
            <a:r>
              <a:t>ток начинает утекать сквозь затвор, даже когда транзистор закрыт.</a:t>
            </a:r>
          </a:p>
          <a:p>
            <a:r>
              <a:t>Для преодоления этого барьера используются революционные технологии.</a:t>
            </a:r>
          </a:p>
          <a:p>
            <a:r>
              <a:t>Переход на Гейт-Олл-Эраунд и Риббон-Фет:</a:t>
            </a:r>
          </a:p>
          <a:p>
            <a:r>
              <a:t>вместо трёхмерных плавников Фин-Фет используются транзисторы с окружающим затвором,</a:t>
            </a:r>
          </a:p>
          <a:p>
            <a:r>
              <a:t>когда затвор полностью охватывает горизонтальные нано-ленты, исключая утечки тока.</a:t>
            </a:r>
          </a:p>
          <a:p>
            <a:r>
              <a:t>Обратная подача питания, Пауэр-Виа:</a:t>
            </a:r>
          </a:p>
          <a:p>
            <a:r>
              <a:t>провода питания переносят на оборотную сторону кремниевой пластины.</a:t>
            </a:r>
          </a:p>
          <a:p>
            <a:r>
              <a:t>Сверху остаются только сигнальные дорожки.</a:t>
            </a:r>
          </a:p>
          <a:p>
            <a:r>
              <a:t>Это решает проблему перекрёстных помех, экономит место и увеличивает тактовую частоту.</a:t>
            </a:r>
          </a:p>
          <a:p>
            <a:r>
              <a:t>Упаковка чиплетов и трёхмерная компоновка:</a:t>
            </a:r>
          </a:p>
          <a:p>
            <a:r>
              <a:t>процессоры перестают быть монолитными.</a:t>
            </a:r>
          </a:p>
          <a:p>
            <a:r>
              <a:t>На одной подложке соединяются разные кристаллы — вычислительные ядра, память, контроллеры, —</a:t>
            </a:r>
          </a:p>
          <a:p>
            <a:r>
              <a:t>сделанные по разным техпроцессам.</a:t>
            </a:r>
          </a:p>
          <a:p>
            <a:r>
              <a:t>Будущее — альтернатива кремнию.</a:t>
            </a:r>
          </a:p>
          <a:p>
            <a:r>
              <a:t>На рубеже ниже одного нанометра кремний исчерпает себя.</a:t>
            </a:r>
          </a:p>
          <a:p>
            <a:r>
              <a:t>Ведутся исследования по внедрению двумерных материалов: графена, дисульфида молибдена</a:t>
            </a:r>
          </a:p>
          <a:p>
            <a:r>
              <a:t>и углеродных нанотрубок.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этом слайде — физические основы полупроводниковой логики, П-Эн переход.</a:t>
            </a:r>
          </a:p>
          <a:p>
            <a:r>
              <a:t>Сверху две схемы кристаллической решётки кремния.</a:t>
            </a:r>
          </a:p>
          <a:p>
            <a:r>
              <a:t>Слева — решётка с атомом мышьяка: он отдаёт лишний свободный электрон,</a:t>
            </a:r>
          </a:p>
          <a:p>
            <a:r>
              <a:t>получается проводимость Эн-типа, где основные носители — электроны.</a:t>
            </a:r>
          </a:p>
          <a:p>
            <a:r>
              <a:t>Справа — решётка с атомом индия: он создаёт дырку, отсутствие электрона,</a:t>
            </a:r>
          </a:p>
          <a:p>
            <a:r>
              <a:t>получается проводимость Пэ-типа, где основные носители — положительные дырки.</a:t>
            </a:r>
          </a:p>
          <a:p>
            <a:r>
              <a:t>Сами по себе Эн- и Пэ-полупроводники нейтральны по заряду.</a:t>
            </a:r>
          </a:p>
          <a:p>
            <a:r>
              <a:t>Ниже — три схемы самого П-Эн перехода в разных режимах.</a:t>
            </a:r>
          </a:p>
          <a:p>
            <a:r>
              <a:t>Первая, без напряжения: свободные электроны диффундируют в область Пэ, где есть свободные места,</a:t>
            </a:r>
          </a:p>
          <a:p>
            <a:r>
              <a:t>образуется электрическое поле, препятствующее дальнейшему переносу электронов.</a:t>
            </a:r>
          </a:p>
          <a:p>
            <a:r>
              <a:t>Между проводниками образуется тонкий слой нейтрального диэлектрического слоя.</a:t>
            </a:r>
          </a:p>
          <a:p>
            <a:r>
              <a:t>Вторая схема, обратное напряжение: плюс на Эн, минус на Пэ.</a:t>
            </a:r>
          </a:p>
          <a:p>
            <a:r>
              <a:t>Дырки и электроны смещаются к краям полупроводника,</a:t>
            </a:r>
          </a:p>
          <a:p>
            <a:r>
              <a:t>диэлектрический слой расширяется, диод запирается, ток не идёт.</a:t>
            </a:r>
          </a:p>
          <a:p>
            <a:r>
              <a:t>Третья схема, прямое напряжение: минус на Эн, плюс на Пэ.</a:t>
            </a:r>
          </a:p>
          <a:p>
            <a:r>
              <a:t>Электроны проходят через слой, заполняют его, создаётся движение заряда, диод открыт, ток идёт.</a:t>
            </a:r>
          </a:p>
          <a:p>
            <a:r>
              <a:t>На этом принципе работают все полупроводниковые приборы — диоды, транзисторы, свето-диоды.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Биполярные и полевые транзисторы — два основных типа транзисторов.</a:t>
            </a:r>
          </a:p>
          <a:p>
            <a:r>
              <a:t>На схеме вверху — биполярный транзистор структуры Эн-Пэ-Эн с общим эмиттером.</a:t>
            </a:r>
          </a:p>
          <a:p>
            <a:r>
              <a:t>Три вывода: коллектор, эмиттер, база.</a:t>
            </a:r>
          </a:p>
          <a:p>
            <a:r>
              <a:t>Биполярные транзисторы управляются током, протекающим через базу.</a:t>
            </a:r>
          </a:p>
          <a:p>
            <a:r>
              <a:t>Три схемы включения.</a:t>
            </a:r>
          </a:p>
          <a:p>
            <a:r>
              <a:t>С общей базой — усиление по напряжению.</a:t>
            </a:r>
          </a:p>
          <a:p>
            <a:r>
              <a:t>С общим эмиттером — усиление и по току, и по напряжению, самая распространённая схема.</a:t>
            </a:r>
          </a:p>
          <a:p>
            <a:r>
              <a:t>С общим коллектором — усиление только по току.</a:t>
            </a:r>
          </a:p>
          <a:p>
            <a:r>
              <a:t>Полевой транзистор основан на управлении электрическим сопротивлением токо-проводящего канала</a:t>
            </a:r>
          </a:p>
          <a:p>
            <a:r>
              <a:t>поперечным электрическим полем, создаваемым приложенным к затвору напряжением.</a:t>
            </a:r>
          </a:p>
          <a:p>
            <a:r>
              <a:t>Три вывода: исток, сток, затвор.</a:t>
            </a:r>
          </a:p>
          <a:p>
            <a:r>
              <a:t>За счёт того что полевые транзисторы управляются полем, величиной напряжения на затворе,</a:t>
            </a:r>
          </a:p>
          <a:p>
            <a:r>
              <a:t>а не током, протекающим через базу, они потребляют значительно меньше энергии.</a:t>
            </a:r>
          </a:p>
          <a:p>
            <a:r>
              <a:t>Это особенно актуально в схемах ждущих и следящих устройств, в схемах малого потребления,</a:t>
            </a:r>
          </a:p>
          <a:p>
            <a:r>
              <a:t>реализации спящих режимов.</a:t>
            </a:r>
          </a:p>
          <a:p>
            <a:r>
              <a:t>Обладают меньшим уровнем шума, при тех же размерах могут оперировать большими мощностями,</a:t>
            </a:r>
          </a:p>
          <a:p>
            <a:r>
              <a:t>но ниже коэффициент усиления по напряжению по сравнению с биполярными.</a:t>
            </a:r>
          </a:p>
          <a:p>
            <a:r>
              <a:t>Именно полевые транзисторы стали основой современных цифровых микросхем.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Логические элементы — строительные блоки цифровых схем.</a:t>
            </a:r>
          </a:p>
          <a:p>
            <a:r>
              <a:t>На слайде пять базовых элементов с таблицами истинности.</a:t>
            </a:r>
          </a:p>
          <a:p>
            <a:r>
              <a:t>НЕ — инвертор: на входе ноль, на выходе единица, на входе единица, на выходе ноль.</a:t>
            </a:r>
          </a:p>
          <a:p>
            <a:r>
              <a:t>НЕ-И — единица на выходе только если хотя бы один вход ноль.</a:t>
            </a:r>
          </a:p>
          <a:p>
            <a:r>
              <a:t>НЕ-ИЛИ — единица на выходе только если оба входа ноль.</a:t>
            </a:r>
          </a:p>
          <a:p>
            <a:r>
              <a:t>И — единица на выходе только если оба входа единица.</a:t>
            </a:r>
          </a:p>
          <a:p>
            <a:r>
              <a:t>ИЛИ — единица на выходе, если хотя бы один вход единица.</a:t>
            </a:r>
          </a:p>
          <a:p>
            <a:r>
              <a:t>Вверху показана схемо-техническая реализация на транзисторах.</a:t>
            </a:r>
          </a:p>
          <a:p>
            <a:r>
              <a:t>Принцип работы транзистора в цифровой схеме простой.</a:t>
            </a:r>
          </a:p>
          <a:p>
            <a:r>
              <a:t>Если входное напряжение ниже определённого критического значения, транзистор выключается</a:t>
            </a:r>
          </a:p>
          <a:p>
            <a:r>
              <a:t>и действует как очень большое сопротивление.</a:t>
            </a:r>
          </a:p>
          <a:p>
            <a:r>
              <a:t>Это приводит к выходному сигналу, близкому к напряжению питания, обычно плюс пять вольт.</a:t>
            </a:r>
          </a:p>
          <a:p>
            <a:r>
              <a:t>Если входное напряжение превышает критическое значение, транзистор включается и действует как провод,</a:t>
            </a:r>
          </a:p>
          <a:p>
            <a:r>
              <a:t>вызывая заземление сигнала, то есть ноль вольт.</a:t>
            </a:r>
          </a:p>
          <a:p>
            <a:r>
              <a:t>Из этих простых элементов строятся сумматоры, триггеры, счётчики и целые процессоры.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Диодная логика — историческая технология.</a:t>
            </a:r>
          </a:p>
          <a:p>
            <a:r>
              <a:t>На заре вычислительной техники диодная логика, а затем смешанная диодно-транзисторная логика,</a:t>
            </a:r>
          </a:p>
          <a:p>
            <a:r>
              <a:t>были основой схемотехники цифровых узлов в дискретном исполнении.</a:t>
            </a:r>
          </a:p>
          <a:p>
            <a:r>
              <a:t>На слайде три схемы.</a:t>
            </a:r>
          </a:p>
          <a:p>
            <a:r>
              <a:t>Слева вверху — элемент И на диодах с резистором: выход равен произведению входов.</a:t>
            </a:r>
          </a:p>
          <a:p>
            <a:r>
              <a:t>Справа — элемент ИЛИ на диодах: выход равен сумме входов.</a:t>
            </a:r>
          </a:p>
          <a:p>
            <a:r>
              <a:t>Внизу — диодная сборка в интегральном исполнении, четыре диода в одном корпусе.</a:t>
            </a:r>
          </a:p>
          <a:p>
            <a:r>
              <a:t>С появлением интегральных микросхем диодная логика довольно быстро была вытеснена</a:t>
            </a:r>
          </a:p>
          <a:p>
            <a:r>
              <a:t>транзисторно-транзисторной логикой, Т-Т-Эл.</a:t>
            </a:r>
          </a:p>
          <a:p>
            <a:r>
              <a:t>Многочисленные варианты Т-Т-Эл и по сей день правят бал в цифровой схемотехнике,</a:t>
            </a:r>
          </a:p>
          <a:p>
            <a:r>
              <a:t>именно на них построены классические серии 7400, 74-Эл-Эс, 74-Эйч-Си, известные каждому инженеру.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Комплементарные полевые транзисторы со структурой металл-оксид-полупроводник, К-МОП.</a:t>
            </a:r>
          </a:p>
          <a:p>
            <a:r>
              <a:t>Оксисел — это диэлектрик диоксид кремния, по сути стекло.</a:t>
            </a:r>
          </a:p>
          <a:p>
            <a:r>
              <a:t>Комплементарный означает взаимно дополняющий: так называют пару транзисторов,</a:t>
            </a:r>
          </a:p>
          <a:p>
            <a:r>
              <a:t>сходных по параметрам, но противоположных по структуре.</a:t>
            </a:r>
          </a:p>
          <a:p>
            <a:r>
              <a:t>На слайде два разреза МОП-транзистора.</a:t>
            </a:r>
          </a:p>
          <a:p>
            <a:r>
              <a:t>Вверху структура: слева исток, справа сток, сверху затвор, снизу вывод подложки.</a:t>
            </a:r>
          </a:p>
          <a:p>
            <a:r>
              <a:t>Затвор изолирован от всех выводов транзистора слоем диэлектрика,</a:t>
            </a:r>
          </a:p>
          <a:p>
            <a:r>
              <a:t>поэтому МОП-транзистор также называют транзистором с изолированным затвором.</a:t>
            </a:r>
          </a:p>
          <a:p>
            <a:r>
              <a:t>Внизу — возникновение Эн-канала при подаче напряжения на затвор.</a:t>
            </a:r>
          </a:p>
          <a:p>
            <a:r>
              <a:t>При подаче положительного потенциала на затвор в подложке Пэ-типа образуется инверсный слой,</a:t>
            </a:r>
          </a:p>
          <a:p>
            <a:r>
              <a:t>заполненный электронами, это и есть проводящий канал между истоком и стоком.</a:t>
            </a:r>
          </a:p>
          <a:p>
            <a:r>
              <a:t>Именно эта технология позволила достичь миллиардов транзисторов на одном кристалле</a:t>
            </a:r>
          </a:p>
          <a:p>
            <a:r>
              <a:t>при разумном энергопотреблении, и она — основа всех современных процессоров.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Пэ-канальный и Эн-канальный транзисторы — пара К-МОП.</a:t>
            </a:r>
          </a:p>
          <a:p>
            <a:r>
              <a:t>Слева — Пэ-канальный транзистор, справа — Эн-канальный.</a:t>
            </a:r>
          </a:p>
          <a:p>
            <a:r>
              <a:t>По сравнению с Пэ-канальным у Эн-канального подложка Пэ-типа, обеднённая электронами,</a:t>
            </a:r>
          </a:p>
          <a:p>
            <a:r>
              <a:t>в которой сделаны легированием области истока и стока, обогащённые электронами.</a:t>
            </a:r>
          </a:p>
          <a:p>
            <a:r>
              <a:t>Если на затвор подать высокий потенциал, канал транзистора замыкается,</a:t>
            </a:r>
          </a:p>
          <a:p>
            <a:r>
              <a:t>и от плюса источника напряжения через нулевой провод потечёт ток стока.</a:t>
            </a:r>
          </a:p>
          <a:p>
            <a:r>
              <a:t>Выходное напряжение окажется на низком логическом уровне.</a:t>
            </a:r>
          </a:p>
          <a:p>
            <a:r>
              <a:t>Внизу слева — схема К-МОП инвертора: два транзистора, Вэ-Тэ один сверху, Вэ-Тэ два снизу.</a:t>
            </a:r>
          </a:p>
          <a:p>
            <a:r>
              <a:t>При подаче на вход логического нуля транзистор Вэ-Тэ один открывается, а Вэ-Тэ два закрывается.</a:t>
            </a:r>
          </a:p>
          <a:p>
            <a:r>
              <a:t>При подаче логической единицы — наоборот: Вэ-Тэ два открывается, Вэ-Тэ один закрывается.</a:t>
            </a:r>
          </a:p>
          <a:p>
            <a:r>
              <a:t>Внизу справа — схема элемента И-НЕ на четырёх транзисторах.</a:t>
            </a:r>
          </a:p>
          <a:p>
            <a:r>
              <a:t>Комплементарная пара: один транзистор открыт, другой закрыт, ток через схему не течёт,</a:t>
            </a:r>
          </a:p>
          <a:p>
            <a:r>
              <a:t>кроме момента переключения.</a:t>
            </a:r>
          </a:p>
          <a:p>
            <a:r>
              <a:t>Именно это делает К-МОП такой энергоэффективной — статическое потребление близко к нулю.</a:t>
            </a:r>
          </a:p>
          <a:p>
            <a:r>
              <a:t>Современные процессоры содержат десятки миллиардов таких пар.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Триггеры — запоминающие элементы.</a:t>
            </a:r>
          </a:p>
          <a:p>
            <a:r>
              <a:t>Триггер — это запоминающий элемент с двумя или более устойчивыми состояниями,</a:t>
            </a:r>
          </a:p>
          <a:p>
            <a:r>
              <a:t>изменение которых происходит под действием входных сигналов.</a:t>
            </a:r>
          </a:p>
          <a:p>
            <a:r>
              <a:t>Предназначен для хранения одного бита информации, логического нуля или единицы.</a:t>
            </a:r>
          </a:p>
          <a:p>
            <a:r>
              <a:t>На слайде несколько типов триггеров.</a:t>
            </a:r>
          </a:p>
          <a:p>
            <a:r>
              <a:t>Вверху слева — условное обозначение Эр-Эс триггера с входами Эс, установка, и Эр, сброс, и выходом Ку.</a:t>
            </a:r>
          </a:p>
          <a:p>
            <a:r>
              <a:t>Вверху справа — схема Эр-Эс триггера на двух элементах И-НЕ с перекрёстной обратной связью.</a:t>
            </a:r>
          </a:p>
          <a:p>
            <a:r>
              <a:t>В таблице показаны состояния: при Эс равном нулю и Эр равном нулю сохраняется предыдущее состояние;</a:t>
            </a:r>
          </a:p>
          <a:p>
            <a:r>
              <a:t>при Эс равном единице и Эр равном нулю установка в единицу;</a:t>
            </a:r>
          </a:p>
          <a:p>
            <a:r>
              <a:t>при Эс равном нулю и Эр равном единице сброс в ноль;</a:t>
            </a:r>
          </a:p>
          <a:p>
            <a:r>
              <a:t>комбинация Эс и Эр, равных единице, запрещена, состояние не определено.</a:t>
            </a:r>
          </a:p>
          <a:p>
            <a:r>
              <a:t>Ниже описаны Дэ-триггер и Тэ-триггер.</a:t>
            </a:r>
          </a:p>
          <a:p>
            <a:r>
              <a:t>Дэ-триггер, от английского дэлэй или дата, запоминает состояние входа и выдаёт его на выход.</a:t>
            </a:r>
          </a:p>
          <a:p>
            <a:r>
              <a:t>Имеет два входа: информационный Дэ и синхронизации Цэ.</a:t>
            </a:r>
          </a:p>
          <a:p>
            <a:r>
              <a:t>Тэ-триггер — счётный, переключается по каждому тактовому импульсу.</a:t>
            </a:r>
          </a:p>
          <a:p>
            <a:r>
              <a:t>Синхронный Тэ-триггер при единице на входе Тэ по каждому такту меняет состояние на противоположное.</a:t>
            </a:r>
          </a:p>
          <a:p>
            <a:r>
              <a:t>Триггеры — сердце статической памяти и регистров процессора.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Счётчики на Тэ-триггерах.</a:t>
            </a:r>
          </a:p>
          <a:p>
            <a:r>
              <a:t>Вверху регистр из трёх Дэ-триггеров: три параллельных информационных входа Дэ два, Дэ один, Дэ ноль,</a:t>
            </a:r>
          </a:p>
          <a:p>
            <a:r>
              <a:t>общий тактовый вход Цэ и общий сброс Эр.</a:t>
            </a:r>
          </a:p>
          <a:p>
            <a:r>
              <a:t>На выходах Ку два, Ку один, Ку ноль и их инверсные значения.</a:t>
            </a:r>
          </a:p>
          <a:p>
            <a:r>
              <a:t>Такая схема хранит три бита информации и называется параллельным регистром.</a:t>
            </a:r>
          </a:p>
          <a:p>
            <a:r>
              <a:t>Внизу счётчик на трёх Тэ-триггерах, соединённых цепочкой.</a:t>
            </a:r>
          </a:p>
          <a:p>
            <a:r>
              <a:t>Вход Цэ тактовый, вход Эр сброс.</a:t>
            </a:r>
          </a:p>
          <a:p>
            <a:r>
              <a:t>Выход Ку один первого триггера тактирует второй, Ку два второго — третий.</a:t>
            </a:r>
          </a:p>
          <a:p>
            <a:r>
              <a:t>Каждый Тэ-триггер делит частоту входного сигнала пополам.</a:t>
            </a:r>
          </a:p>
          <a:p>
            <a:r>
              <a:t>Первый триггер даёт младший бит Ку один, второй Ку два, третий Ку три.</a:t>
            </a:r>
          </a:p>
          <a:p>
            <a:r>
              <a:t>Вместе они образуют двоичный счётчик, считающий от нуля до семи.</a:t>
            </a:r>
          </a:p>
          <a:p>
            <a:r>
              <a:t>Счётчики используются для деления частоты, в таймерах, в счётчиках команд процессора,</a:t>
            </a:r>
          </a:p>
          <a:p>
            <a:r>
              <a:t>в устройствах памяти и многих других схемах.</a:t>
            </a:r>
          </a:p>
          <a:p>
            <a:r>
              <a:t>Восемь последовательно соединённых триггеров дают счётчик до двухсот пятидесяти пяти,</a:t>
            </a:r>
          </a:p>
          <a:p>
            <a:r>
              <a:t>а шестнадцать — до шестидесяти пяти тысяч пятисот тридцати пяти.</a:t>
            </a:r>
          </a:p>
          <a:p>
            <a:r>
              <a:t>Именно так работает счётчик команд в процессоре: он указывает на адрес следующей инструкции.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Шифратор и дешифратор.</a:t>
            </a:r>
          </a:p>
          <a:p>
            <a:r>
              <a:t>Шифратор — это, по сути, та же клавиатура: когда вы нажимаете клавишу,</a:t>
            </a:r>
          </a:p>
          <a:p>
            <a:r>
              <a:t>схема шифратора превращает нажатие в двоичный код этой клавиши.</a:t>
            </a:r>
          </a:p>
          <a:p>
            <a:r>
              <a:t>Принцип работы шифратора: выходы Зэ ноль, Зэ один и так далее кодируют один из входов</a:t>
            </a:r>
          </a:p>
          <a:p>
            <a:r>
              <a:t>в двоичной системе счисления.</a:t>
            </a:r>
          </a:p>
          <a:p>
            <a:r>
              <a:t>Иными словами, шифратор принимает сигнал на одном из многих входов</a:t>
            </a:r>
          </a:p>
          <a:p>
            <a:r>
              <a:t>и выдаёт номер этого входа в двоичном виде.</a:t>
            </a:r>
          </a:p>
          <a:p>
            <a:r>
              <a:t>На слайде сверху шифратор на четыре входа и два выхода.</a:t>
            </a:r>
          </a:p>
          <a:p>
            <a:r>
              <a:t>Справа его реализация на элементах ИЛИ: два элемента ИЛИ образуют два выходных бита.</a:t>
            </a:r>
          </a:p>
          <a:p>
            <a:r>
              <a:t>Дешифратор выполняет обратное преобразование:</a:t>
            </a:r>
          </a:p>
          <a:p>
            <a:r>
              <a:t>двоичный код на входе превращает в активный сигнал на соответствующем по номеру выходе.</a:t>
            </a:r>
          </a:p>
          <a:p>
            <a:r>
              <a:t>Дешифратор — это как раз то устройство, которое включает нужный свето-диод в семи-сегментном индикаторе</a:t>
            </a:r>
          </a:p>
          <a:p>
            <a:r>
              <a:t>или активирует конкретную микросхему памяти по адресу.</a:t>
            </a:r>
          </a:p>
          <a:p>
            <a:r>
              <a:t>Внизу показан дешифратор на два входа и четыре выхода.</a:t>
            </a:r>
          </a:p>
          <a:p>
            <a:r>
              <a:t>Шифраторы и дешифраторы используются в адресных схемах памяти,</a:t>
            </a:r>
          </a:p>
          <a:p>
            <a:r>
              <a:t>в устройствах ввода с клавиатуры, в системах вывода на семи-сегментные индикаторы.</a:t>
            </a:r>
          </a:p>
          <a:p>
            <a:r>
              <a:t>Классический пример — дешифратор, который по трёх-битному коду выбирает одну из восьми микросхем памяти.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Мультиплексор.</a:t>
            </a:r>
          </a:p>
          <a:p>
            <a:r>
              <a:t>На схеме — условное обозначение мультиплексора.</a:t>
            </a:r>
          </a:p>
          <a:p>
            <a:r>
              <a:t>Слева два адресных входа А ноль, А один и четыре информационных входа Дэ ноль, Дэ один, Дэ два, Дэ три.</a:t>
            </a:r>
          </a:p>
          <a:p>
            <a:r>
              <a:t>Справа один выход Эф.</a:t>
            </a:r>
          </a:p>
          <a:p>
            <a:r>
              <a:t>Мультиплексор — устройство, имеющее несколько сигнальных входов,</a:t>
            </a:r>
          </a:p>
          <a:p>
            <a:r>
              <a:t>один или более управляющих входов и один выход.</a:t>
            </a:r>
          </a:p>
          <a:p>
            <a:r>
              <a:t>Мультиплексор позволяет передавать сигнал с одного из входов на выход.</a:t>
            </a:r>
          </a:p>
          <a:p>
            <a:r>
              <a:t>Выбор желаемого входа осуществляется подачей соответствующей комбинации управляющих сигналов.</a:t>
            </a:r>
          </a:p>
          <a:p>
            <a:r>
              <a:t>А — двоичный адрес, Дэ — передаваемый канал.</a:t>
            </a:r>
          </a:p>
          <a:p>
            <a:r>
              <a:t>Мультиплексоры могут использоваться для преобразования параллельного двоичного кода в последовательный.</a:t>
            </a:r>
          </a:p>
          <a:p>
            <a:r>
              <a:t>Для этого достаточно подать на информационные входы параллельный код,</a:t>
            </a:r>
          </a:p>
          <a:p>
            <a:r>
              <a:t>а сигналы на адресные входы подавать в такой последовательности,</a:t>
            </a:r>
          </a:p>
          <a:p>
            <a:r>
              <a:t>чтобы к выходу поочерёдно подключались входы, начиная с первого и заканчивая последним.</a:t>
            </a:r>
          </a:p>
          <a:p>
            <a:r>
              <a:t>В процессорах мультиплексоры — ключевой компонент арифметико-логического устройства:</a:t>
            </a:r>
          </a:p>
          <a:p>
            <a:r>
              <a:t>они выбирают, какая операция выполняется в данный момент.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Демультиплексор.</a:t>
            </a:r>
          </a:p>
          <a:p>
            <a:r>
              <a:t>На схеме слева один информационный вход Дэ и два адресных входа А ноль, А один.</a:t>
            </a:r>
          </a:p>
          <a:p>
            <a:r>
              <a:t>Справа четыре информационных выхода Эф ноль, Эф один, Эф два, Эф три.</a:t>
            </a:r>
          </a:p>
          <a:p>
            <a:r>
              <a:t>Демультиплексор — логическое устройство, предназначенное для переключения сигнала</a:t>
            </a:r>
          </a:p>
          <a:p>
            <a:r>
              <a:t>с одного информационного входа на один из информационных выходов.</a:t>
            </a:r>
          </a:p>
          <a:p>
            <a:r>
              <a:t>Таким образом, демультиплексор функционально противоположен мультиплексору.</a:t>
            </a:r>
          </a:p>
          <a:p>
            <a:r>
              <a:t>На схемах демультиплексоры обозначают через Дэ-Эм-Икс или Дэ-Эм-Эс.</a:t>
            </a:r>
          </a:p>
          <a:p>
            <a:r>
              <a:t>Демультиплексоры используются в схемах демультиплексирования каналов связи,</a:t>
            </a:r>
          </a:p>
          <a:p>
            <a:r>
              <a:t>в устройствах адресации памяти, в системах управления исполнительными устройствами.</a:t>
            </a:r>
          </a:p>
          <a:p>
            <a:r>
              <a:t>Часто мультиплексор и демультиплексор работают в паре,</a:t>
            </a:r>
          </a:p>
          <a:p>
            <a:r>
              <a:t>например, при передаче данных по одному каналу связи:</a:t>
            </a:r>
          </a:p>
          <a:p>
            <a:r>
              <a:t>на передающей стороне мультиплексор смешивает несколько сигналов в один,</a:t>
            </a:r>
          </a:p>
          <a:p>
            <a:r>
              <a:t>на приёмной демультиплексор разделяет их обратно.</a:t>
            </a:r>
          </a:p>
          <a:p>
            <a:r>
              <a:t>Типичный пример — передача нескольких телефонных разговоров по одному опто-волокну.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Сумматор.</a:t>
            </a:r>
          </a:p>
          <a:p>
            <a:r>
              <a:t>На схеме — полный сумматор на логических элементах.</a:t>
            </a:r>
          </a:p>
          <a:p>
            <a:r>
              <a:t>Входы А-и и Б-и — два бита, которые складываются.</a:t>
            </a:r>
          </a:p>
          <a:p>
            <a:r>
              <a:t>Пэ-и-минус-один — перенос из предыдущего разряда.</a:t>
            </a:r>
          </a:p>
          <a:p>
            <a:r>
              <a:t>Выход Эс-и — бит суммы по модулю два.</a:t>
            </a:r>
          </a:p>
          <a:p>
            <a:r>
              <a:t>Выход Пэ-и — бит переноса в следующий разряд.</a:t>
            </a:r>
          </a:p>
          <a:p>
            <a:r>
              <a:t>Схема состоит из двух элементов «исключающее ИЛИ» и двух элементов И с элементом ИЛИ.</a:t>
            </a:r>
          </a:p>
          <a:p>
            <a:r>
              <a:t>Сначала А-и и Б-и складываются по модулю два, затем результат складывается с переносом</a:t>
            </a:r>
          </a:p>
          <a:p>
            <a:r>
              <a:t>из предыдущего разряда, получается Эс-и.</a:t>
            </a:r>
          </a:p>
          <a:p>
            <a:r>
              <a:t>Перенос формируется из комбинации трёх условий: оба входных бита единица,</a:t>
            </a:r>
          </a:p>
          <a:p>
            <a:r>
              <a:t>или один из входных бит единица и есть входящий перенос.</a:t>
            </a:r>
          </a:p>
          <a:p>
            <a:r>
              <a:t>Полу-сумматор складывает два бита без учёта переноса.</a:t>
            </a:r>
          </a:p>
          <a:p>
            <a:r>
              <a:t>Полный сумматор учитывает перенос из предыдущего разряда.</a:t>
            </a:r>
          </a:p>
          <a:p>
            <a:r>
              <a:t>Сумматоры — ключевой компонент арифметико-логического устройства любого процессора.</a:t>
            </a:r>
          </a:p>
          <a:p>
            <a:r>
              <a:t>Для сложения многоразрядных чисел сумматоры соединяются последовательно:</a:t>
            </a:r>
          </a:p>
          <a:p>
            <a:r>
              <a:t>выход переноса одного подаётся на вход переноса следующего.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Архитектура и компоненты компьютерной системы.</a:t>
            </a:r>
          </a:p>
          <a:p>
            <a:r>
              <a:t>Компьютерная система представляет собой комплекс взаимосвязанных аппаратных средств,</a:t>
            </a:r>
          </a:p>
          <a:p>
            <a:r>
              <a:t>разделённых на базовые компоненты системного блока и внешние периферийные устройства.</a:t>
            </a:r>
          </a:p>
          <a:p>
            <a:r>
              <a:t>На схеме видна классическая связка: процессор, соединённый фронтальной шиной с северным мостом.</a:t>
            </a:r>
          </a:p>
          <a:p>
            <a:r>
              <a:t>Северный мост связан с оперативной памятью и слотом графического контроллера.</a:t>
            </a:r>
          </a:p>
          <a:p>
            <a:r>
              <a:t>Южный мост обслуживает более медленные устройства и связан с северным внутренней шиной.</a:t>
            </a:r>
          </a:p>
          <a:p>
            <a:r>
              <a:t>Ключевые компоненты внутри системного блока.</a:t>
            </a:r>
          </a:p>
          <a:p>
            <a:r>
              <a:t>Центральный процессор — главное вычислительное устройство, выполняющее арифметические</a:t>
            </a:r>
          </a:p>
          <a:p>
            <a:r>
              <a:t>и логические операции, а также общее управление аппаратными средствами.</a:t>
            </a:r>
          </a:p>
          <a:p>
            <a:r>
              <a:t>Материнская плата, или системная плата, — интеграционная основа системы,</a:t>
            </a:r>
          </a:p>
          <a:p>
            <a:r>
              <a:t>обеспечивающая физическое сопряжение, электропитание и информационное взаимодействие</a:t>
            </a:r>
          </a:p>
          <a:p>
            <a:r>
              <a:t>всех внутренних модулей.</a:t>
            </a:r>
          </a:p>
          <a:p>
            <a:r>
              <a:t>Оперативная память — энергозависимое запоминающее устройство с произвольным доступом,</a:t>
            </a:r>
          </a:p>
          <a:p>
            <a:r>
              <a:t>предназначенное для оперативного хранения машинного кода и данных,</a:t>
            </a:r>
          </a:p>
          <a:p>
            <a:r>
              <a:t>обрабатываемых процессором.</a:t>
            </a:r>
          </a:p>
          <a:p>
            <a:r>
              <a:t>Системные и локальные шины — совокупность проводников и протоколов передачи данных,</a:t>
            </a:r>
          </a:p>
          <a:p>
            <a:r>
              <a:t>формирующих магистрали информационного обмена между процессором, памятью и контроллерами.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Продолжение компонентов системного блока.</a:t>
            </a:r>
          </a:p>
          <a:p>
            <a:r>
              <a:t>Постоянные запоминающие устройства, или накопители:</a:t>
            </a:r>
          </a:p>
          <a:p>
            <a:r>
              <a:t>энергонезависимые модули хранения данных, эс-эс-ди или эйч-ди-ди,</a:t>
            </a:r>
          </a:p>
          <a:p>
            <a:r>
              <a:t>обеспечивающие долговременное сбережение операционной системы, программного обеспечения</a:t>
            </a:r>
          </a:p>
          <a:p>
            <a:r>
              <a:t>и пользовательских файлов.</a:t>
            </a:r>
          </a:p>
          <a:p>
            <a:r>
              <a:t>Видеокарта, или графический процессор:</a:t>
            </a:r>
          </a:p>
          <a:p>
            <a:r>
              <a:t>специализированный вычислительный модуль, дискретный или интегрированный,</a:t>
            </a:r>
          </a:p>
          <a:p>
            <a:r>
              <a:t>осуществляющий обработку графических данных и формирование видеосигнала.</a:t>
            </a:r>
          </a:p>
          <a:p>
            <a:r>
              <a:t>Блок питания — модуль трансформации и стабилизации переменного тока электросети</a:t>
            </a:r>
          </a:p>
          <a:p>
            <a:r>
              <a:t>в постоянный ток требуемых номиналов для обеспечения энергией всех компонентов системы.</a:t>
            </a:r>
          </a:p>
          <a:p>
            <a:r>
              <a:t>Система охлаждения — совокупность радиаторов, вентиляторов или жидкостных контуров,</a:t>
            </a:r>
          </a:p>
          <a:p>
            <a:r>
              <a:t>осуществляющая отвод тепловой энергии от термо-нагруженных элементов,</a:t>
            </a:r>
          </a:p>
          <a:p>
            <a:r>
              <a:t>в первую очередь процессора и графического процессора.</a:t>
            </a:r>
          </a:p>
          <a:p>
            <a:r>
              <a:t>На фотографии три типовые платы расширения: графическая карта с собственным вентилятором,</a:t>
            </a:r>
          </a:p>
          <a:p>
            <a:r>
              <a:t>сетевая карта с несколькими портами и звуковая карта с аудио-разъёмами.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Внешние компоненты — периферийные устройства.</a:t>
            </a:r>
          </a:p>
          <a:p>
            <a:r>
              <a:t>Устройства ввода информации: аппаратные интерфейсы для преобразования физических действий</a:t>
            </a:r>
          </a:p>
          <a:p>
            <a:r>
              <a:t>пользователя в цифровые данные.</a:t>
            </a:r>
          </a:p>
          <a:p>
            <a:r>
              <a:t>К ним относятся клавиатура, мышь, сканер, микрофон, веб-камера.</a:t>
            </a:r>
          </a:p>
          <a:p>
            <a:r>
              <a:t>Устройства вывода информации: компоненты, предназначенные для визуализации</a:t>
            </a:r>
          </a:p>
          <a:p>
            <a:r>
              <a:t>или акустического воспроизведения обработанных данных.</a:t>
            </a:r>
          </a:p>
          <a:p>
            <a:r>
              <a:t>Это монитор, принтер, аудио-система, проектор.</a:t>
            </a:r>
          </a:p>
          <a:p>
            <a:r>
              <a:t>Внешние интерфейсы коммуникации: сетевые адаптеры и порты ввода-вывода,</a:t>
            </a:r>
          </a:p>
          <a:p>
            <a:r>
              <a:t>такие как Эзернет, Вай-Фай, Ю-Эс-Би,</a:t>
            </a:r>
          </a:p>
          <a:p>
            <a:r>
              <a:t>обеспечивающие сопряжение с внешними сетями и сторонним оборудованием.</a:t>
            </a:r>
          </a:p>
          <a:p>
            <a:r>
              <a:t>На двух фотографиях показаны типичные периферийные устройства:</a:t>
            </a:r>
          </a:p>
          <a:p>
            <a:r>
              <a:t>слева общий набор — монитор, клавиатура, мышь, принтер, колонки, веб-камера, системный блок;</a:t>
            </a:r>
          </a:p>
          <a:p>
            <a:r>
              <a:t>справа отдельно клавиатура, мышь, монитор и принтер.</a:t>
            </a:r>
          </a:p>
          <a:p>
            <a:r>
              <a:t>Без периферии компьютер превращается в бесполезный ящик.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Схема чипсета IBM PC — типичная архитектура материнской платы.</a:t>
            </a:r>
          </a:p>
          <a:p>
            <a:r>
              <a:t>В центре чипсет из двух мостов: северного и южного.</a:t>
            </a:r>
          </a:p>
          <a:p>
            <a:r>
              <a:t>Северный мост, или контроллер-концентратор памяти, связывает процессор</a:t>
            </a:r>
          </a:p>
          <a:p>
            <a:r>
              <a:t>с оперативной памятью и графическим контроллером.</a:t>
            </a:r>
          </a:p>
          <a:p>
            <a:r>
              <a:t>Это самые быстродействующие связи: фронтальная шина процессора, шина памяти,</a:t>
            </a:r>
          </a:p>
          <a:p>
            <a:r>
              <a:t>шина графического контроллера.</a:t>
            </a:r>
          </a:p>
          <a:p>
            <a:r>
              <a:t>Южный мост, или контроллер-концентратор ввода-вывода, обслуживает более медленные устройства:</a:t>
            </a:r>
          </a:p>
          <a:p>
            <a:r>
              <a:t>слоты Пи-Си-Ай и Пи-Си-Ай Экспресс, жёсткие диски через И-Дэ-Е и Сата, Ю-Эс-Би, Эзернет, аудио.</a:t>
            </a:r>
          </a:p>
          <a:p>
            <a:r>
              <a:t>К нему же подключены П-П-З-У Биос и мульти-контроллер,</a:t>
            </a:r>
          </a:p>
          <a:p>
            <a:r>
              <a:t>обслуживающий последовательный и параллельный порты, клавиатуру и мышь.</a:t>
            </a:r>
          </a:p>
          <a:p>
            <a:r>
              <a:t>Связь между северным и южным мостами — внутренняя шина.</a:t>
            </a:r>
          </a:p>
          <a:p>
            <a:r>
              <a:t>Такая архитектура доминировала в двухтысячных годах,</a:t>
            </a:r>
          </a:p>
          <a:p>
            <a:r>
              <a:t>хотя в современных системах северный мост обычно интегрирован прямо в процессор.</a:t>
            </a:r>
          </a:p>
          <a:p>
            <a:r>
              <a:t>Генератор тактовых импульсов задаёт ритм работы всей системы.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этом слайде — фотография современной материнской платы.</a:t>
            </a:r>
          </a:p>
          <a:p>
            <a:r>
              <a:t>Хорошо видны ключевые элементы.</a:t>
            </a:r>
          </a:p>
          <a:p>
            <a:r>
              <a:t>В центре процессорный разъём с рычажком крепления, рядом радиаторы охлаждения чипсета.</a:t>
            </a:r>
          </a:p>
          <a:p>
            <a:r>
              <a:t>Четыре слота оперативной памяти с защёлками по краям, обычно парные по цвету:</a:t>
            </a:r>
          </a:p>
          <a:p>
            <a:r>
              <a:t>пары слотов одного цвета работают в двух-канальном режиме.</a:t>
            </a:r>
          </a:p>
          <a:p>
            <a:r>
              <a:t>Слоты расширения: длинный синий — Пи-Си-Ай Экспресс на шестнадцать линий для видеокарты,</a:t>
            </a:r>
          </a:p>
          <a:p>
            <a:r>
              <a:t>несколько коротких — Пи-Си-Ай Экспресс на одну линию для плат расширения,</a:t>
            </a:r>
          </a:p>
          <a:p>
            <a:r>
              <a:t>белые слоты — устаревший Пи-Си-Ай.</a:t>
            </a:r>
          </a:p>
          <a:p>
            <a:r>
              <a:t>По краю разъёмы Сата для жёстких дисков и эс-эс-ди, разъёмы питания,</a:t>
            </a:r>
          </a:p>
          <a:p>
            <a:r>
              <a:t>панель с портами Ю-Эс-Би, Эзернет, аудио и видео.</a:t>
            </a:r>
          </a:p>
          <a:p>
            <a:r>
              <a:t>В левом верхнем углу разъёмы для вентиляторов и подсветки.</a:t>
            </a:r>
          </a:p>
          <a:p>
            <a:r>
              <a:t>Современная материнская плата — это целый город с дорожками, конденсаторами и контроллерами.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Архитектура, устройство и система команд.</a:t>
            </a:r>
          </a:p>
          <a:p>
            <a:r>
              <a:t>Микро-архитектура, или устройство.</a:t>
            </a:r>
          </a:p>
          <a:p>
            <a:r>
              <a:t>Современные процессоры строятся на базе гетерогенных ядер:</a:t>
            </a:r>
          </a:p>
          <a:p>
            <a:r>
              <a:t>сочетание мощных производительных Пэ-ядер и энергоэффективных И-ядер.</a:t>
            </a:r>
          </a:p>
          <a:p>
            <a:r>
              <a:t>Включают в себя много-уровневый кэш первого, второго и третьего уровней,</a:t>
            </a:r>
          </a:p>
          <a:p>
            <a:r>
              <a:t>встроенный графический чип и выделенный нейро-процессор для задач искусственного интеллекта.</a:t>
            </a:r>
          </a:p>
          <a:p>
            <a:r>
              <a:t>Архитектура и системы команд, И-Эс-Ай.</a:t>
            </a:r>
          </a:p>
          <a:p>
            <a:r>
              <a:t>Икс-восемьдесят-шесть-шестьдесят-четыре, Циск:</a:t>
            </a:r>
          </a:p>
          <a:p>
            <a:r>
              <a:t>доминирует на персональных компьютерах и серверах. Сложные команды, высокая производительность.</a:t>
            </a:r>
          </a:p>
          <a:p>
            <a:r>
              <a:t>Арм, Риск: доминирует в мобильных устройствах, энергоэффективных ноутбуках</a:t>
            </a:r>
          </a:p>
          <a:p>
            <a:r>
              <a:t>и облачных серверах. Упрощённый набор инструкций.</a:t>
            </a:r>
          </a:p>
          <a:p>
            <a:r>
              <a:t>Риск-пять: набирающая популярность открытая архитектура с открытым исходным кодом.</a:t>
            </a:r>
          </a:p>
          <a:p>
            <a:r>
              <a:t>Элементная база.</a:t>
            </a:r>
          </a:p>
          <a:p>
            <a:r>
              <a:t>Ключевой элемент — полевой транзистор, в современных чипах используются структуры</a:t>
            </a:r>
          </a:p>
          <a:p>
            <a:r>
              <a:t>Фин-Фет и Гейт-Олл-Эраунд.</a:t>
            </a:r>
          </a:p>
          <a:p>
            <a:r>
              <a:t>Изготавливаются по передовым техпроцессам от пяти до двух нанометров,</a:t>
            </a:r>
          </a:p>
          <a:p>
            <a:r>
              <a:t>что позволяет размещать десятки миллиардов транзисторов на одном кристалле.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Рынок, разъёмы и производители.</a:t>
            </a:r>
          </a:p>
          <a:p>
            <a:r>
              <a:t>На двух фотографиях — современные процессоры: слева эй-эм-ди Райзен девять</a:t>
            </a:r>
          </a:p>
          <a:p>
            <a:r>
              <a:t>девять тысяч девятьсот пятьдесят Икс три-Дэ в металлической крышке,</a:t>
            </a:r>
          </a:p>
          <a:p>
            <a:r>
              <a:t>справа Интел Кор Ай семь на зелёной подложке с контактными площадками.</a:t>
            </a:r>
          </a:p>
          <a:p>
            <a:r>
              <a:t>Основные производители и разработчики.</a:t>
            </a:r>
          </a:p>
          <a:p>
            <a:r>
              <a:t>Интел и эй-эм-ди — главные игроки на рынке Икс-восемьдесят-шесть процессоров для ПК и серверов.</a:t>
            </a:r>
          </a:p>
          <a:p>
            <a:r>
              <a:t>Эппл и Квалком — лидеры в сегменте Арм-процессоров для потребительской электроники.</a:t>
            </a:r>
          </a:p>
          <a:p>
            <a:r>
              <a:t>Ти-Эс-Эм-Си, Самсунг и Интел Фаундри — ключевые кремниевые фабрики,</a:t>
            </a:r>
          </a:p>
          <a:p>
            <a:r>
              <a:t>которые физически производят эти чипы.</a:t>
            </a:r>
          </a:p>
          <a:p>
            <a:r>
              <a:t>Современные процессорные разъёмы, сокеты.</a:t>
            </a:r>
          </a:p>
          <a:p>
            <a:r>
              <a:t>Интел: Эл-Джи-Эй тысяча семьсот и новый Эл-Джи-Эй тысяча восемьсот пятьдесят один</a:t>
            </a:r>
          </a:p>
          <a:p>
            <a:r>
              <a:t>для последних поколений Кор Ультра.</a:t>
            </a:r>
          </a:p>
          <a:p>
            <a:r>
              <a:t>Эй-эм-ди: Эй-Эм пять, долгоживущая платформа для потребительских процессоров Райзен,</a:t>
            </a:r>
          </a:p>
          <a:p>
            <a:r>
              <a:t>и Эс-Пи пять, Эс-Пи шесть для серверных И-Пи-Уай-Си.</a:t>
            </a:r>
          </a:p>
          <a:p>
            <a:r>
              <a:t>Тренды: переход на много-кристальные компоновки, чиплеты вместо монолитных кристаллов,</a:t>
            </a:r>
          </a:p>
          <a:p>
            <a:r>
              <a:t>и обязательная интеграция аппаратного ускорения искусственного интеллекта.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Архитектура процессоров — общее понятие.</a:t>
            </a:r>
          </a:p>
          <a:p>
            <a:r>
              <a:t>Архитектура процессора — количественная составляющая компонентов микро-архитектуры</a:t>
            </a:r>
          </a:p>
          <a:p>
            <a:r>
              <a:t>вычислительной машины, например регистр флагов или регистры процессора.</a:t>
            </a:r>
          </a:p>
          <a:p>
            <a:r>
              <a:t>С точки зрения программиста — это совместимость с определённым набором команд,</a:t>
            </a:r>
          </a:p>
          <a:p>
            <a:r>
              <a:t>например, процессоры, совместимые с командами Интел Икс-восемьдесят-шесть,</a:t>
            </a:r>
          </a:p>
          <a:p>
            <a:r>
              <a:t>их структуры, например, систем адресации или организации регистровой памяти,</a:t>
            </a:r>
          </a:p>
          <a:p>
            <a:r>
              <a:t>и способа исполнения, например, счётчик команд.</a:t>
            </a:r>
          </a:p>
          <a:p>
            <a:r>
              <a:t>С точки зрения аппаратной составляющей вычислительной системы —</a:t>
            </a:r>
          </a:p>
          <a:p>
            <a:r>
              <a:t>это некий набор свойств и качеств, присущий целому семейству процессоров,</a:t>
            </a:r>
          </a:p>
          <a:p>
            <a:r>
              <a:t>иначе говоря, внутренняя конструкция, организация этих процессоров.</a:t>
            </a:r>
          </a:p>
          <a:p>
            <a:r>
              <a:t>Имеются различные классификации архитектур процессоров</a:t>
            </a:r>
          </a:p>
          <a:p>
            <a:r>
              <a:t>как по организации — например, по количеству и сложности отдельных команд:</a:t>
            </a:r>
          </a:p>
          <a:p>
            <a:r>
              <a:t>Риск, Циск, Миск, Ви-Эл-Ай-Даблъю, по возможности доступа команд к памяти, —</a:t>
            </a:r>
          </a:p>
          <a:p>
            <a:r>
              <a:t>так и по назначению: специализированные графические, математические</a:t>
            </a:r>
          </a:p>
          <a:p>
            <a:r>
              <a:t>или предназначенные для цифровой обработки сигналов.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Циск — Комплекс Инстракшн Сэт Компьютер, компьютер с полным набором команд.</a:t>
            </a:r>
          </a:p>
          <a:p>
            <a:r>
              <a:t>Тип процессорной архитектуры, в первую очередь, с нефиксированной длиной команд,</a:t>
            </a:r>
          </a:p>
          <a:p>
            <a:r>
              <a:t>а также с кодированием арифметических действий в одной команде и небольшим числом регистров,</a:t>
            </a:r>
          </a:p>
          <a:p>
            <a:r>
              <a:t>многие из которых выполняют строго определённую функцию.</a:t>
            </a:r>
          </a:p>
          <a:p>
            <a:r>
              <a:t>Самый яркий пример Циск архитектуры — это Икс-восемьдесят-шесть, он же И-Эй тридцать два,</a:t>
            </a:r>
          </a:p>
          <a:p>
            <a:r>
              <a:t>и Икс-восемьдесят-шесть-шестьдесят-четыре, он же Эй-Эм-Ди шестьдесят четыре.</a:t>
            </a:r>
          </a:p>
          <a:p>
            <a:r>
              <a:t>В Циск процессорах одна команда может быть заменена ей аналогичной,</a:t>
            </a:r>
          </a:p>
          <a:p>
            <a:r>
              <a:t>либо группой команд, выполняющих ту же функцию.</a:t>
            </a:r>
          </a:p>
          <a:p>
            <a:r>
              <a:t>Отсюда вытекают плюсы и минусы архитектуры.</a:t>
            </a:r>
          </a:p>
          <a:p>
            <a:r>
              <a:t>Плюс: высокая производительность благодаря тому, что несколько команд могут быть заменены одной аналогичной.</a:t>
            </a:r>
          </a:p>
          <a:p>
            <a:r>
              <a:t>Минус: большая цена по сравнению с Риск процессорами из-за более сложной архитектуры,</a:t>
            </a:r>
          </a:p>
          <a:p>
            <a:r>
              <a:t>в которой многие команды сложнее раскодировать.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Риск — Редусд Инстракшн Сэт Компьютер, компьютер с сокращённым набором команд.</a:t>
            </a:r>
          </a:p>
          <a:p>
            <a:r>
              <a:t>Архитектура процессора, в которой быстродействие увеличивается за счёт упрощения инструкций:</a:t>
            </a:r>
          </a:p>
          <a:p>
            <a:r>
              <a:t>их декодирование становится более простым, а время выполнения меньшим.</a:t>
            </a:r>
          </a:p>
          <a:p>
            <a:r>
              <a:t>Первые Риск-процессоры не имели даже инструкций умножения и деления</a:t>
            </a:r>
          </a:p>
          <a:p>
            <a:r>
              <a:t>и не поддерживали работу с числами с плавающей запятой.</a:t>
            </a:r>
          </a:p>
          <a:p>
            <a:r>
              <a:t>По сравнению с Циск эта архитектура имеет константную длину команды,</a:t>
            </a:r>
          </a:p>
          <a:p>
            <a:r>
              <a:t>а также меньшее количество схожих инструкций,</a:t>
            </a:r>
          </a:p>
          <a:p>
            <a:r>
              <a:t>позволяя уменьшить итоговую цену процессора и энергопотребление,</a:t>
            </a:r>
          </a:p>
          <a:p>
            <a:r>
              <a:t>что критично для мобильного сегмента.</a:t>
            </a:r>
          </a:p>
          <a:p>
            <a:r>
              <a:t>У Риск также большее количество регистров.</a:t>
            </a:r>
          </a:p>
          <a:p>
            <a:r>
              <a:t>Примеры Риск-архитектур: Пауэр-Пи-Си, серия архитектур Арм.</a:t>
            </a:r>
          </a:p>
          <a:p>
            <a:r>
              <a:t>В общем случае Риск быстрее Циск.</a:t>
            </a:r>
          </a:p>
          <a:p>
            <a:r>
              <a:t>Даже если системе Риск приходится выполнять четыре или пять команд вместо одной, которую выполняет Циск,</a:t>
            </a:r>
          </a:p>
          <a:p>
            <a:r>
              <a:t>Риск всё равно выигрывает в скорости, так как Риск-команды выполняются в десять раз быстрее.</a:t>
            </a:r>
          </a:p>
          <a:p>
            <a:r>
              <a:t>Отсюда возникает закономерный вопрос: почему многие всё ещё используют Циск, когда есть Риск?</a:t>
            </a:r>
          </a:p>
          <a:p>
            <a:r>
              <a:t>Всё дело в совместимости.</a:t>
            </a:r>
          </a:p>
          <a:p>
            <a:r>
              <a:t>Икс-восемьдесят-шесть-шестьдесят-четыре всё ещё лидер в десктопном сегменте</a:t>
            </a:r>
          </a:p>
          <a:p>
            <a:r>
              <a:t>только по историческим причинам: старые программы работают только на нём.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Миск — Минимал Инстракшн Сэт Компьютер, компьютер с минимальным набором команд.</a:t>
            </a:r>
          </a:p>
          <a:p>
            <a:r>
              <a:t>Ещё более простая архитектура, используемая в первую очередь</a:t>
            </a:r>
          </a:p>
          <a:p>
            <a:r>
              <a:t>для ещё большего уменьшения итоговой цены и энергопотребления процессора.</a:t>
            </a:r>
          </a:p>
          <a:p>
            <a:r>
              <a:t>Используется в сегменте интернета вещей и недорогих компьютерах, например, роутерах.</a:t>
            </a:r>
          </a:p>
          <a:p>
            <a:r>
              <a:t>Для увеличения производительности во всех вышеперечисленных архитектурах</a:t>
            </a:r>
          </a:p>
          <a:p>
            <a:r>
              <a:t>может использоваться спекулятивное исполнение команд.</a:t>
            </a:r>
          </a:p>
          <a:p>
            <a:r>
              <a:t>Это выполнение команды до того, как станет известно, понадобится эта команда или нет.</a:t>
            </a:r>
          </a:p>
          <a:p>
            <a:r>
              <a:t>Миск, как Мультипёрпос Инстракшн Сэт Компьютер, — вариант с расширяемой архитектурой.</a:t>
            </a:r>
          </a:p>
          <a:p>
            <a:r>
              <a:t>Элементная база состоит из двух частей: основной части Риск-процессора</a:t>
            </a:r>
          </a:p>
          <a:p>
            <a:r>
              <a:t>и подключаемого постоянного запоминающего устройства микро-программного управления.</a:t>
            </a:r>
          </a:p>
          <a:p>
            <a:r>
              <a:t>Система приобретает свойства Циск.</a:t>
            </a:r>
          </a:p>
          <a:p>
            <a:r>
              <a:t>Основные команды работают на Риск-процессоре,</a:t>
            </a:r>
          </a:p>
          <a:p>
            <a:r>
              <a:t>а команды расширения преобразуются в адрес микро-программы.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Ви-Эл-Ай-Даблъю — Вери Лонг Инстракшн Ворд, очень длинная машинная команда.</a:t>
            </a:r>
          </a:p>
          <a:p>
            <a:r>
              <a:t>Архитектура процессоров с несколькими вычислительными устройствами.</a:t>
            </a:r>
          </a:p>
          <a:p>
            <a:r>
              <a:t>Характеризуется тем, что одна инструкция процессора содержит несколько операций,</a:t>
            </a:r>
          </a:p>
          <a:p>
            <a:r>
              <a:t>которые должны выполняться параллельно.</a:t>
            </a:r>
          </a:p>
          <a:p>
            <a:r>
              <a:t>По сути является архитектурой Циск со своим аналогом спекулятивного исполнения команд,</a:t>
            </a:r>
          </a:p>
          <a:p>
            <a:r>
              <a:t>только сама спекуляция выполняется во время компиляции, а не во время работы программы,</a:t>
            </a:r>
          </a:p>
          <a:p>
            <a:r>
              <a:t>из-за чего уязвимости Мелтдаун и Спектр невозможны для этих процессоров.</a:t>
            </a:r>
          </a:p>
          <a:p>
            <a:r>
              <a:t>Компиляторы для процессоров этой архитектуры сильно привязаны к конкретным процессорам.</a:t>
            </a:r>
          </a:p>
          <a:p>
            <a:r>
              <a:t>Например, в следующем поколении максимальная длина очень длинной команды</a:t>
            </a:r>
          </a:p>
          <a:p>
            <a:r>
              <a:t>может из условных двухсот пятидесяти шести бит стать пятьсот двенадцать,</a:t>
            </a:r>
          </a:p>
          <a:p>
            <a:r>
              <a:t>и тут приходится выбирать между увеличением производительности путём компиляции под новый процессор</a:t>
            </a:r>
          </a:p>
          <a:p>
            <a:r>
              <a:t>и обратной совместимостью со старым.</a:t>
            </a:r>
          </a:p>
          <a:p>
            <a:r>
              <a:t>Примеры архитектуры: Интел Итаниум, Эльбрус-три.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Регистры процессора Икс-восемьдесят-шесть, система прерываний,</a:t>
            </a:r>
          </a:p>
          <a:p>
            <a:r>
              <a:t>особенности и размерности шин адреса и данных.</a:t>
            </a:r>
          </a:p>
          <a:p>
            <a:r>
              <a:t>Регистры и шины процессора Интел восемь тысяч восемьдесят шесть.</a:t>
            </a:r>
          </a:p>
          <a:p>
            <a:r>
              <a:t>Регистры процессора строго шестнадцати-битные.</a:t>
            </a:r>
          </a:p>
          <a:p>
            <a:r>
              <a:t>Общего назначения: Эй-Икс, аккумулятор, Бэ-Икс, базовый, Цэ-Икс, счётчик, Дэ-Икс, данные.</a:t>
            </a:r>
          </a:p>
          <a:p>
            <a:r>
              <a:t>Их можно делить на старшую и младшую восьми-битные половины, например Эй-Эйч и Эй-Эл.</a:t>
            </a:r>
          </a:p>
          <a:p>
            <a:r>
              <a:t>Указатели и индексы: Эс-Пи, указатель стека, Бэ-Пи, указатель базы,</a:t>
            </a:r>
          </a:p>
          <a:p>
            <a:r>
              <a:t>Эс-Ай и Дэ-Ай, индексы источника и приёмника.</a:t>
            </a:r>
          </a:p>
          <a:p>
            <a:r>
              <a:t>Сегментные регистры: Цэ-Эс, кода, Дэ-Эс, данных, Эс-Эс, стека, Эс, дополнительный.</a:t>
            </a:r>
          </a:p>
          <a:p>
            <a:r>
              <a:t>Нужны для сегментации памяти.</a:t>
            </a:r>
          </a:p>
          <a:p>
            <a:r>
              <a:t>Ай-Пи и Флагс: указатель команд и регистр флагов состояния.</a:t>
            </a:r>
          </a:p>
          <a:p>
            <a:r>
              <a:t>Шины, размерности и особенности.</a:t>
            </a:r>
          </a:p>
          <a:p>
            <a:r>
              <a:t>Шина данных — шестнадцать бит. Процессор считывает или записывает шестнадцать бит информации за один цикл.</a:t>
            </a:r>
          </a:p>
          <a:p>
            <a:r>
              <a:t>Шина адреса — двадцать бит. Позволяет адресовать максимум один мегабайт оперативной памяти.</a:t>
            </a:r>
          </a:p>
          <a:p>
            <a:r>
              <a:t>Мультиплексирование: для экономии ножек на микросхеме выводы шины адреса и данных совмещены.</a:t>
            </a:r>
          </a:p>
          <a:p>
            <a:r>
              <a:t>В начале цикла по ним передаётся адрес, а затем данные.</a:t>
            </a:r>
          </a:p>
          <a:p>
            <a:r>
              <a:t>Особенность адресации, сегментная модель:</a:t>
            </a:r>
          </a:p>
          <a:p>
            <a:r>
              <a:t>чтобы получить двадцати-битный физический адрес из шестнадцати-битных регистров,</a:t>
            </a:r>
          </a:p>
          <a:p>
            <a:r>
              <a:t>используется формула: физический адрес равен сегмент умножить на шестнадцать плюс смещение.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Примеры команд для Интел восемь тысяч восемьдесят шесть.</a:t>
            </a:r>
          </a:p>
          <a:p>
            <a:r>
              <a:t>Команды пересылки данных, Мов и другие.</a:t>
            </a:r>
          </a:p>
          <a:p>
            <a:r>
              <a:t>Мов Эй-Икс, Бэ-Икс — пересылка из шестнадцати-разрядного регистра Бэ-Икс в Эй-Икс.</a:t>
            </a:r>
          </a:p>
          <a:p>
            <a:r>
              <a:t>Мов Эй-Икс, Дэ-Эс: смещение Эс-Ай — пересылка из памяти по адресу в регистр Эй-Икс.</a:t>
            </a:r>
          </a:p>
          <a:p>
            <a:r>
              <a:t>Арифметические команды: Эдд, Саб, И-Мул и другие.</a:t>
            </a:r>
          </a:p>
          <a:p>
            <a:r>
              <a:t>Логические и побитовые операции: Ор, Энд, Икс-Ор, Шр и другие.</a:t>
            </a:r>
          </a:p>
          <a:p>
            <a:r>
              <a:t>Команды управления ходом выполнения программы: Джамп, Луп, Рет, Калл.</a:t>
            </a:r>
          </a:p>
          <a:p>
            <a:r>
              <a:t>Рет — возврат из прерывания или процедуры путём извлечения адреса перехода из стека.</a:t>
            </a:r>
          </a:p>
          <a:p>
            <a:r>
              <a:t>Команды вызова прерываний: И-Эн-Тэ.</a:t>
            </a:r>
          </a:p>
          <a:p>
            <a:r>
              <a:t>Классический пример — вывод строки на экран через прерывание ДОС:</a:t>
            </a:r>
          </a:p>
          <a:p>
            <a:r>
              <a:t>загружаем в Эй-Эйч номер функции девять, в Дэ-Икс адрес строки,</a:t>
            </a:r>
          </a:p>
          <a:p>
            <a:r>
              <a:t>вызываем И-Эн-Тэ двадцать один.</a:t>
            </a:r>
          </a:p>
          <a:p>
            <a:r>
              <a:t>Для микроконтроллеров характерны команды проверки и перехода по условию:</a:t>
            </a:r>
          </a:p>
          <a:p>
            <a:r>
              <a:t>сравнить и перейти, если не равно.</a:t>
            </a:r>
          </a:p>
          <a:p>
            <a:r>
              <a:t>Работа со стеком — Пуш и Поп, регистры стека Эс-Эс, Эс-Пи, Бэ-Пи.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Отличие защищённого и реального режима процессора Икс-два-восемьдесят-шесть и Икс-три-восемьдесят-шесть, регистры.</a:t>
            </a:r>
          </a:p>
          <a:p>
            <a:r>
              <a:t>Реальный режим, Риал Моуд: процессор работает как быстрый восемь тысяч восемьдесят шесть</a:t>
            </a:r>
          </a:p>
          <a:p>
            <a:r>
              <a:t>и включается по умолчанию при старте компьютера.</a:t>
            </a:r>
          </a:p>
          <a:p>
            <a:r>
              <a:t>Адресация: прямой доступ к физической памяти по формуле сегмент умножить на шестнадцать плюс смещение.</a:t>
            </a:r>
          </a:p>
          <a:p>
            <a:r>
              <a:t>Полное отсутствие защиты памяти: любая программа может затереть код операционной системы.</a:t>
            </a:r>
          </a:p>
          <a:p>
            <a:r>
              <a:t>Лимит памяти в этом режиме оставался один мегабайт.</a:t>
            </a:r>
          </a:p>
          <a:p>
            <a:r>
              <a:t>Защищённый режим, Протектид Моуд: обеспечивает много-задачность.</a:t>
            </a:r>
          </a:p>
          <a:p>
            <a:r>
              <a:t>Адресация через селекторы: сегментные регистры больше не содержат адрес памяти.</a:t>
            </a:r>
          </a:p>
          <a:p>
            <a:r>
              <a:t>Они хранят селектор, индекс, указывающий на дескриптор в глобальной таблице, Джи-Ди-Тэ.</a:t>
            </a:r>
          </a:p>
          <a:p>
            <a:r>
              <a:t>Дескриптор содержит реальный базовый адрес, размер сегмента и права доступа.</a:t>
            </a:r>
          </a:p>
          <a:p>
            <a:r>
              <a:t>Защита уровней привилегий: кольца защиты, нулевое кольцо для операционной системы,</a:t>
            </a:r>
          </a:p>
          <a:p>
            <a:r>
              <a:t>третье кольцо для программ, предотвращают краш системы приложениями.</a:t>
            </a:r>
          </a:p>
          <a:p>
            <a:r>
              <a:t>Виртуальная память и страничная адресация в три-восемьдесят-шесть:</a:t>
            </a:r>
          </a:p>
          <a:p>
            <a:r>
              <a:t>возможность выносить неиспользуемую память на диск, файлы подкачки.</a:t>
            </a:r>
          </a:p>
          <a:p>
            <a:r>
              <a:t>Эволюция адресного пространства: два-восемьдесят-шесть — двадцать четыре бита,</a:t>
            </a:r>
          </a:p>
          <a:p>
            <a:r>
              <a:t>до шестнадцати мегабайт. Три-восемьдесят-шесть — тридцать два бита, до четырёх гигабайт.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Векторные расширения и специальные технологии процессора.</a:t>
            </a:r>
          </a:p>
          <a:p>
            <a:r>
              <a:t>Технология Симд — Сингл Инстракшн, Малтипл Дата:</a:t>
            </a:r>
          </a:p>
          <a:p>
            <a:r>
              <a:t>позволяет одной процессорной команде обрабатывать сразу массив, вектор данных за один такт.</a:t>
            </a:r>
          </a:p>
          <a:p>
            <a:r>
              <a:t>Крайне важно для видео, графики, игр и нейро-сетей.</a:t>
            </a:r>
          </a:p>
          <a:p>
            <a:r>
              <a:t>Эволюция Симд-расширений.</a:t>
            </a:r>
          </a:p>
          <a:p>
            <a:r>
              <a:t>Эм-Эм-Икс, тысяча девятьсот девяносто шестой год: исторически первое расширение от Интел,</a:t>
            </a:r>
          </a:p>
          <a:p>
            <a:r>
              <a:t>шестьдесят четыре-битные регистры. Использовалось для ускорения двух- и трёх-мерной графики и аудио.</a:t>
            </a:r>
          </a:p>
          <a:p>
            <a:r>
              <a:t>Сегодня полностью устарело.</a:t>
            </a:r>
          </a:p>
          <a:p>
            <a:r>
              <a:t>Эс-Эс-Е, версии от первой до четвёртой и два:</a:t>
            </a:r>
          </a:p>
          <a:p>
            <a:r>
              <a:t>переход на сто двадцать восемь-битные регистры.</a:t>
            </a:r>
          </a:p>
          <a:p>
            <a:r>
              <a:t>Позволило одновременно обрабатывать до четырёх чисел с плавающей запятой.</a:t>
            </a:r>
          </a:p>
          <a:p>
            <a:r>
              <a:t>Эй-Ви-Икс и Эй-Ви-Икс два, двести пятьдесят шесть бит:</a:t>
            </a:r>
          </a:p>
          <a:p>
            <a:r>
              <a:t>в разы ускорило кодирование видео, архивацию и физические симуляции в играх.</a:t>
            </a:r>
          </a:p>
          <a:p>
            <a:r>
              <a:t>Эй-Ви-Икс пятьсот двенадцать и Эй-Ви-Икс десять, пятьсот двенадцать бит:</a:t>
            </a:r>
          </a:p>
          <a:p>
            <a:r>
              <a:t>огромные векторные регистры, которые сегодня активно применяются в серверах</a:t>
            </a:r>
          </a:p>
          <a:p>
            <a:r>
              <a:t>для супер-компьютерных вычислений и тяжёлой математики.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Конвейерное исполнение.</a:t>
            </a:r>
          </a:p>
          <a:p>
            <a:r>
              <a:t>Способ организации вычислений, используемый в современных процессорах и контроллерах</a:t>
            </a:r>
          </a:p>
          <a:p>
            <a:r>
              <a:t>с целью повышения их производительности,</a:t>
            </a:r>
          </a:p>
          <a:p>
            <a:r>
              <a:t>увеличения числа инструкций, выполняемых в единицу времени,</a:t>
            </a:r>
          </a:p>
          <a:p>
            <a:r>
              <a:t>эксплуатация параллелизма на уровне инструкций.</a:t>
            </a:r>
          </a:p>
          <a:p>
            <a:r>
              <a:t>Пять стадий конвейера.</a:t>
            </a:r>
          </a:p>
          <a:p>
            <a:r>
              <a:t>Ай-Эф — Инстракшн Фетч, получение инструкции.</a:t>
            </a:r>
          </a:p>
          <a:p>
            <a:r>
              <a:t>Ай-Ди — Инстракшн Декод, раскодирование инструкции.</a:t>
            </a:r>
          </a:p>
          <a:p>
            <a:r>
              <a:t>И-Экс — Экзекьют, выполнение.</a:t>
            </a:r>
          </a:p>
          <a:p>
            <a:r>
              <a:t>Мэм — Мемори Аксесс, доступ к памяти.</a:t>
            </a:r>
          </a:p>
          <a:p>
            <a:r>
              <a:t>Даблъю-Би — Регистер Райт Бэк, запись в регистр.</a:t>
            </a:r>
          </a:p>
          <a:p>
            <a:r>
              <a:t>На диаграмме показано, как за пять тактов конвейер обрабатывает сразу пять инструкций.</a:t>
            </a:r>
          </a:p>
          <a:p>
            <a:r>
              <a:t>Без конвейера время исполнения пяти команд было бы пропорционально пяти умножить на пять, то есть двадцати пяти тактам.</a:t>
            </a:r>
          </a:p>
          <a:p>
            <a:r>
              <a:t>С конвейером на выходе получаем одну инструкцию за такт после заполнения конвейера.</a:t>
            </a:r>
          </a:p>
          <a:p>
            <a:r>
              <a:t>Именно эта идея дала колоссальный прирост производительности процессоров начиная с восьмидесятых годов.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Конфликты по управлению и предсказание ветвлений.</a:t>
            </a:r>
          </a:p>
          <a:p>
            <a:r>
              <a:t>Конфликты по управлению возникают при конвейерном выполнении условных передач управления</a:t>
            </a:r>
          </a:p>
          <a:p>
            <a:r>
              <a:t>и других команд, которые изменяют значение программного счётчика.</a:t>
            </a:r>
          </a:p>
          <a:p>
            <a:r>
              <a:t>Существует много способов обработки остановов конвейера, вызванных задержкой передачи управления,</a:t>
            </a:r>
          </a:p>
          <a:p>
            <a:r>
              <a:t>но для глубоких конвейеров в основном используются агрессивные средства,</a:t>
            </a:r>
          </a:p>
          <a:p>
            <a:r>
              <a:t>такие как предсказания передач управления.</a:t>
            </a:r>
          </a:p>
          <a:p>
            <a:r>
              <a:t>Предсказание ветвлений позволяет сократить время простоя конвейера</a:t>
            </a:r>
          </a:p>
          <a:p>
            <a:r>
              <a:t>за счёт предварительной загрузки и исполнения инструкций,</a:t>
            </a:r>
          </a:p>
          <a:p>
            <a:r>
              <a:t>которые должны выполниться после выполнения инструкции условного перехода.</a:t>
            </a:r>
          </a:p>
          <a:p>
            <a:r>
              <a:t>Прогнозирование ветвлений играет критическую роль, так как в большинстве случаев,</a:t>
            </a:r>
          </a:p>
          <a:p>
            <a:r>
              <a:t>точность предсказания переходов в современных процессорах превышает девяносто процентов,</a:t>
            </a:r>
          </a:p>
          <a:p>
            <a:r>
              <a:t>позволяет оптимально использовать вычислительные ресурсы процессора.</a:t>
            </a:r>
          </a:p>
          <a:p>
            <a:r>
              <a:t>Статические методы предсказания ветвлений являются наиболее простыми.</a:t>
            </a:r>
          </a:p>
          <a:p>
            <a:r>
              <a:t>Суть этих методов состоит в том, что различные типы переходов либо выполняются всегда,</a:t>
            </a:r>
          </a:p>
          <a:p>
            <a:r>
              <a:t>либо не выполняются никогда.</a:t>
            </a:r>
          </a:p>
          <a:p>
            <a:r>
              <a:t>Динамические методы, широко используемые в современных процессорах,</a:t>
            </a:r>
          </a:p>
          <a:p>
            <a:r>
              <a:t>подразумевают анализ истории ветвлений.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Оперативная память.</a:t>
            </a:r>
          </a:p>
          <a:p>
            <a:r>
              <a:t>На фотографии — две планки памяти Инфинеон, Дэ-Дэ-Эр два эс-драм.</a:t>
            </a:r>
          </a:p>
          <a:p>
            <a:r>
              <a:t>Память Рам, Random Access Memory, — энергозависимая оперативная память,</a:t>
            </a:r>
          </a:p>
          <a:p>
            <a:r>
              <a:t>в которой хранятся работающие программы и данные.</a:t>
            </a:r>
          </a:p>
          <a:p>
            <a:r>
              <a:t>Иерархия типов памяти.</a:t>
            </a:r>
          </a:p>
          <a:p>
            <a:r>
              <a:t>Эс-Рам, статическая: хранит бит на триггере, быстро, но дорого и с низкой плотностью,</a:t>
            </a:r>
          </a:p>
          <a:p>
            <a:r>
              <a:t>используется в кэше процессора.</a:t>
            </a:r>
          </a:p>
          <a:p>
            <a:r>
              <a:t>Ди-Рам, динамическая: хранит бит на конденсаторе, компактнее и дешевле,</a:t>
            </a:r>
          </a:p>
          <a:p>
            <a:r>
              <a:t>но требует периодического обновления, регенерации.</a:t>
            </a:r>
          </a:p>
          <a:p>
            <a:r>
              <a:t>Эс-Ди-Рам, синхронная: синхронизируется с шиной.</a:t>
            </a:r>
          </a:p>
          <a:p>
            <a:r>
              <a:t>Дэ-Дэ-Эр, дабл дата рэйт: передача данных на обоих фронтах тактового сигнала,</a:t>
            </a:r>
          </a:p>
          <a:p>
            <a:r>
              <a:t>удваивает пропускную способность.</a:t>
            </a:r>
          </a:p>
          <a:p>
            <a:r>
              <a:t>Поколения Дэ-Дэ-Эр сменяют друг друга: Дэ-Дэ-Эр два, три, четыре, пять.</a:t>
            </a:r>
          </a:p>
          <a:p>
            <a:r>
              <a:t>Каждое поколение даёт удвоение пропускной способности при снижении напряжения питания.</a:t>
            </a:r>
          </a:p>
          <a:p>
            <a:r>
              <a:t>На графике показано, как растёт пропускная способность с каждым поколением.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Эс-Рам против Ди-Рам: физика ячеек.</a:t>
            </a:r>
          </a:p>
          <a:p>
            <a:r>
              <a:t>Эс-Рам, статическая память. База: построена на триггерах, схемах из четырёх или шести транзисторов.</a:t>
            </a:r>
          </a:p>
          <a:p>
            <a:r>
              <a:t>Свойства: хранит состояние стабильно, пока есть питание.</a:t>
            </a:r>
          </a:p>
          <a:p>
            <a:r>
              <a:t>Не требует обновления данных.</a:t>
            </a:r>
          </a:p>
          <a:p>
            <a:r>
              <a:t>Характеристики: максимальная скорость, высокая стоимость, крупный размер ячейки.</a:t>
            </a:r>
          </a:p>
          <a:p>
            <a:r>
              <a:t>Применение: регистры и кэш-память процессора первого, второго и третьего уровней.</a:t>
            </a:r>
          </a:p>
          <a:p>
            <a:r>
              <a:t>Ди-Рам, динамическая память. База: построена на конденсаторах, один транзистор плюс один микро-конденсатор.</a:t>
            </a:r>
          </a:p>
          <a:p>
            <a:r>
              <a:t>Свойства: заряд из конденсаторов постоянно утекает.</a:t>
            </a:r>
          </a:p>
          <a:p>
            <a:r>
              <a:t>Требует циклической регенерации, перезарядки ячеек, тысячи раз в секунду.</a:t>
            </a:r>
          </a:p>
          <a:p>
            <a:r>
              <a:t>Характеристики: медленнее, чем Эс-Рам, но дешёвая и обладает огромной плотностью,</a:t>
            </a:r>
          </a:p>
          <a:p>
            <a:r>
              <a:t>миллиарды ячеек на чипе.</a:t>
            </a:r>
          </a:p>
          <a:p>
            <a:r>
              <a:t>Применение: оперативная память, модули Рам.</a:t>
            </a:r>
          </a:p>
          <a:p>
            <a:r>
              <a:t>Именно поэтому кэш делают на Эс-Рам, а основную память — на Ди-Рам:</a:t>
            </a:r>
          </a:p>
          <a:p>
            <a:r>
              <a:t>это классический компромисс скорость против стоимости и плотности.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Принцип работы Дэ-Дэ-Эр, дабл дата рэйт.</a:t>
            </a:r>
          </a:p>
          <a:p>
            <a:r>
              <a:t>Обычная память, Эс-Ди-Рам, передаёт данные один раз за такт,</a:t>
            </a:r>
          </a:p>
          <a:p>
            <a:r>
              <a:t>только при росте сигнала, на взлёте волны.</a:t>
            </a:r>
          </a:p>
          <a:p>
            <a:r>
              <a:t>Память Дэ-Дэ-Эр передаёт данные два раза за такт,</a:t>
            </a:r>
          </a:p>
          <a:p>
            <a:r>
              <a:t>и при росте, и при спаде сигнала, в начале и в конце тактового импульса.</a:t>
            </a:r>
          </a:p>
          <a:p>
            <a:r>
              <a:t>Результат: скорость передачи удваивается без увеличения тактовой частоты.</a:t>
            </a:r>
          </a:p>
          <a:p>
            <a:r>
              <a:t>На схеме хорошо видны моменты передачи: восходящий фронт и нисходящий фронт импульса.</a:t>
            </a:r>
          </a:p>
          <a:p>
            <a:r>
              <a:t>Развитие в Дэ-Дэ-Эр пять.</a:t>
            </a:r>
          </a:p>
          <a:p>
            <a:r>
              <a:t>Архитектура пред-выборки: Дэ-Дэ-Эр один считывала два бита за цикл,</a:t>
            </a:r>
          </a:p>
          <a:p>
            <a:r>
              <a:t>Дэ-Дэ-Эр четыре восемь бит, а Дэ-Дэ-Эр пять считывает шестнадцать бит за один внутренний доступ.</a:t>
            </a:r>
          </a:p>
          <a:p>
            <a:r>
              <a:t>Двух-канальность: одна планка Дэ-Дэ-Эр пять теперь делится на два независимых</a:t>
            </a:r>
          </a:p>
          <a:p>
            <a:r>
              <a:t>тридцати-двух-битных под-канала, что устраняет очереди при обращении ядер процессора к памяти.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Кэш-память.</a:t>
            </a:r>
          </a:p>
          <a:p>
            <a:r>
              <a:t>На схеме: процессор, кэш-контроллер, кэш-память и оперативная память.</a:t>
            </a:r>
          </a:p>
          <a:p>
            <a:r>
              <a:t>Процессор делает большое количество запросов к оперативной памяти.</a:t>
            </a:r>
          </a:p>
          <a:p>
            <a:r>
              <a:t>Между ним и памятью стоит кэш-контроллер и сама кэш-память.</a:t>
            </a:r>
          </a:p>
          <a:p>
            <a:r>
              <a:t>Для большинства запросов в кэше имеются данные, и тогда доступ происходит очень быстро.</a:t>
            </a:r>
          </a:p>
          <a:p>
            <a:r>
              <a:t>Лишь небольшая часть запросов требует обращения к оперативной памяти.</a:t>
            </a:r>
          </a:p>
          <a:p>
            <a:r>
              <a:t>Кэш-память — это промежуточный буфер с быстрым доступом,</a:t>
            </a:r>
          </a:p>
          <a:p>
            <a:r>
              <a:t>содержащий информацию, которая может быть запрошена с наибольшей вероятностью.</a:t>
            </a:r>
          </a:p>
          <a:p>
            <a:r>
              <a:t>Доступ к данным в кэше осуществляется быстрее, чем выборка исходных данных</a:t>
            </a:r>
          </a:p>
          <a:p>
            <a:r>
              <a:t>из более медленной памяти, однако её объём существенно ограничен</a:t>
            </a:r>
          </a:p>
          <a:p>
            <a:r>
              <a:t>по сравнению с хранилищем исходных данных.</a:t>
            </a:r>
          </a:p>
          <a:p>
            <a:r>
              <a:t>Это классический инженерный компромисс: скорость против объёма.</a:t>
            </a:r>
          </a:p>
          <a:p>
            <a:r>
              <a:t>Различают три типа кэша по способу отображения адресов:</a:t>
            </a:r>
          </a:p>
          <a:p>
            <a:r>
              <a:t>кэш прямого отображения, наборно-ассоциативный и полностью ассоциативный.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Адресация в кэше.</a:t>
            </a:r>
          </a:p>
          <a:p>
            <a:r>
              <a:t>На схеме показан кэш с устройством сравнения для каждой строки.</a:t>
            </a:r>
          </a:p>
          <a:p>
            <a:r>
              <a:t>Слева требуемый адрес из четырёх байтов.</a:t>
            </a:r>
          </a:p>
          <a:p>
            <a:r>
              <a:t>Справа про-кэшированные данные.</a:t>
            </a:r>
          </a:p>
          <a:p>
            <a:r>
              <a:t>В середине кэш-память из нескольких строк.</a:t>
            </a:r>
          </a:p>
          <a:p>
            <a:r>
              <a:t>Каждая строка содержит тег, данные и флаги.</a:t>
            </a:r>
          </a:p>
          <a:p>
            <a:r>
              <a:t>Устройство сравнения проверяет, совпадает ли тег из требуемого адреса</a:t>
            </a:r>
          </a:p>
          <a:p>
            <a:r>
              <a:t>с тегом, хранящимся в строке кэша.</a:t>
            </a:r>
          </a:p>
          <a:p>
            <a:r>
              <a:t>Если теги совпадают, это попадание в кэш, и данные возвращаются процессору.</a:t>
            </a:r>
          </a:p>
          <a:p>
            <a:r>
              <a:t>Если не совпадают, промах и обращение к оперативной памяти.</a:t>
            </a:r>
          </a:p>
          <a:p>
            <a:r>
              <a:t>Адрес кэшируемой памяти разбивается на три части.</a:t>
            </a:r>
          </a:p>
          <a:p>
            <a:r>
              <a:t>Тег — старшие биты, соответствует номеру страницы оперативной памяти.</a:t>
            </a:r>
          </a:p>
          <a:p>
            <a:r>
              <a:t>Индекс — средние биты, номер строки кэша.</a:t>
            </a:r>
          </a:p>
          <a:p>
            <a:r>
              <a:t>Байт — младшие биты, смещение внутри строки.</a:t>
            </a:r>
          </a:p>
          <a:p>
            <a:r>
              <a:t>Кроме тега в каждой строке хранятся флаги Вэ, валид, содержит ли строка актуальные данные,</a:t>
            </a:r>
          </a:p>
          <a:p>
            <a:r>
              <a:t>и Эм, модифид, были ли данные изменены и должны быть записаны обратно в память.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Расширенная структура строки кэша с возрастом и битом модификации.</a:t>
            </a:r>
          </a:p>
          <a:p>
            <a:r>
              <a:t>На схеме три варианта строки кэша сверху вниз.</a:t>
            </a:r>
          </a:p>
          <a:p>
            <a:r>
              <a:t>Первый вариант, простая строка: устройство увеличения возраста, поле возраста,</a:t>
            </a:r>
          </a:p>
          <a:p>
            <a:r>
              <a:t>устройство сравнения адреса, тег и данные.</a:t>
            </a:r>
          </a:p>
          <a:p>
            <a:r>
              <a:t>Возраст добавляется для удаления самой неиспользуемой строки в кэше,</a:t>
            </a:r>
          </a:p>
          <a:p>
            <a:r>
              <a:t>это алгоритм Эл-Эр-Ю, least recently used, вытеснение давно неиспользуемых данных.</a:t>
            </a:r>
          </a:p>
          <a:p>
            <a:r>
              <a:t>Второй вариант: добавлен бит модификации Эм.</a:t>
            </a:r>
          </a:p>
          <a:p>
            <a:r>
              <a:t>Бит модификации нужен, чтобы не забыть записать строку в оперативную память, если она изменялась,</a:t>
            </a:r>
          </a:p>
          <a:p>
            <a:r>
              <a:t>при этом не была сброшена.</a:t>
            </a:r>
          </a:p>
          <a:p>
            <a:r>
              <a:t>Не сбрасывается, чтобы ускорить доступ при последовательных считываниях и записях в ту же строку.</a:t>
            </a:r>
          </a:p>
          <a:p>
            <a:r>
              <a:t>Если сброс происходит сразу, это называется сквозная запись.</a:t>
            </a:r>
          </a:p>
          <a:p>
            <a:r>
              <a:t>Третий вариант: полная строка с битом модификации, возрастом, тегом из двадцати восьми бит</a:t>
            </a:r>
          </a:p>
          <a:p>
            <a:r>
              <a:t>и данными из шестнадцати байтов.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Кэш прямого отображения.</a:t>
            </a:r>
          </a:p>
          <a:p>
            <a:r>
              <a:t>На схеме слева кэш-память из четырёх строк, пронумерованных от нуля до трёх.</a:t>
            </a:r>
          </a:p>
          <a:p>
            <a:r>
              <a:t>Справа оперативная память из шестнадцати страниц.</a:t>
            </a:r>
          </a:p>
          <a:p>
            <a:r>
              <a:t>Каждая строка кэша связана ровно с одной страницей оперативной памяти через индекс.</a:t>
            </a:r>
          </a:p>
          <a:p>
            <a:r>
              <a:t>Если страниц больше, чем строк, несколько страниц претендуют на одну и ту же строку,</a:t>
            </a:r>
          </a:p>
          <a:p>
            <a:r>
              <a:t>это называется конфликтом.</a:t>
            </a:r>
          </a:p>
          <a:p>
            <a:r>
              <a:t>Преимущества: простота и дешевизна, для поиска нужен только один компаратор на строку,</a:t>
            </a:r>
          </a:p>
          <a:p>
            <a:r>
              <a:t>поиск занимает один такт.</a:t>
            </a:r>
          </a:p>
          <a:p>
            <a:r>
              <a:t>Недостатки: частые конфликты.</a:t>
            </a:r>
          </a:p>
          <a:p>
            <a:r>
              <a:t>Если программа обращается к двум страницам с одинаковым индексом,</a:t>
            </a:r>
          </a:p>
          <a:p>
            <a:r>
              <a:t>они будут постоянно вытеснять друг друга из кэша, даже если кэш почти пуст.</a:t>
            </a:r>
          </a:p>
          <a:p>
            <a:r>
              <a:t>Это снижает эффективность.</a:t>
            </a:r>
          </a:p>
          <a:p>
            <a:r>
              <a:t>Прямое отображение — это ассоциативность один.</a:t>
            </a:r>
          </a:p>
          <a:p>
            <a:r>
              <a:t>Каждая страница имеет ровно одно место, где может храниться.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Детальная схема кэша прямого отображения.</a:t>
            </a:r>
          </a:p>
          <a:p>
            <a:r>
              <a:t>Слева память тегов: индекс строки, тег, флаги Вэ и Эм.</a:t>
            </a:r>
          </a:p>
          <a:p>
            <a:r>
              <a:t>В середине кэш-память с теми же строками.</a:t>
            </a:r>
          </a:p>
          <a:p>
            <a:r>
              <a:t>Справа оперативная память, разбитая на страницы от нуля до двухсот пятидесяти пяти.</a:t>
            </a:r>
          </a:p>
          <a:p>
            <a:r>
              <a:t>Внизу показано разбиение адреса кэшируемой памяти:</a:t>
            </a:r>
          </a:p>
          <a:p>
            <a:r>
              <a:t>старшие биты с двадцать пятого по восемнадцатый — тег, страница оперативной памяти;</a:t>
            </a:r>
          </a:p>
          <a:p>
            <a:r>
              <a:t>биты с семнадцатого по пятый — индекс, строка страницы;</a:t>
            </a:r>
          </a:p>
          <a:p>
            <a:r>
              <a:t>биты с четвёртого по нулевой — байт, смещение внутри строки.</a:t>
            </a:r>
          </a:p>
          <a:p>
            <a:r>
              <a:t>Схема сравнения проверяет, совпадает ли тег из адреса с тегом в памяти тегов.</a:t>
            </a:r>
          </a:p>
          <a:p>
            <a:r>
              <a:t>Если совпадает и флаг Вэ установлен, попадание, данные берутся из кэша.</a:t>
            </a:r>
          </a:p>
          <a:p>
            <a:r>
              <a:t>Если не совпадает, промах, идёт обращение к оперативной памяти,</a:t>
            </a:r>
          </a:p>
          <a:p>
            <a:r>
              <a:t>и новая страница загружается в кэш, вытесняя старую.</a:t>
            </a:r>
          </a:p>
          <a:p>
            <a:r>
              <a:t>Флаг Эм показывает, что старая строка была изменена и требует записи обратно в оперативную память.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Наборно-ассоциативный кэш.</a:t>
            </a:r>
          </a:p>
          <a:p>
            <a:r>
              <a:t>На схеме два банка кэш-памяти, банк номер один и банк номер два.</a:t>
            </a:r>
          </a:p>
          <a:p>
            <a:r>
              <a:t>Каждый банк содержит по две строки.</a:t>
            </a:r>
          </a:p>
          <a:p>
            <a:r>
              <a:t>Каждая страница оперативной памяти может попасть в любой из банков по одинаковому индексу.</a:t>
            </a:r>
          </a:p>
          <a:p>
            <a:r>
              <a:t>Степень ассоциативности — это число банков.</a:t>
            </a:r>
          </a:p>
          <a:p>
            <a:r>
              <a:t>В двух-канальном кэше каждая страница может попасть в один из двух банков.</a:t>
            </a:r>
          </a:p>
          <a:p>
            <a:r>
              <a:t>Это снижает конфликты по сравнению с прямым отображением.</a:t>
            </a:r>
          </a:p>
          <a:p>
            <a:r>
              <a:t>При запросе контроллер параллельно сравнивает тег со всеми банками набора.</a:t>
            </a:r>
          </a:p>
          <a:p>
            <a:r>
              <a:t>Если совпадение найдено в одном из них, попадание.</a:t>
            </a:r>
          </a:p>
          <a:p>
            <a:r>
              <a:t>Задержка чуть больше, чем у прямого кэша, но и промахов меньше.</a:t>
            </a:r>
          </a:p>
          <a:p>
            <a:r>
              <a:t>Большинство современных кэшей первого, второго и третьего уровней</a:t>
            </a:r>
          </a:p>
          <a:p>
            <a:r>
              <a:t>наборно-ассоциативные с ассоциативностью четыре, восемь или шестнадцать.</a:t>
            </a:r>
          </a:p>
          <a:p>
            <a:r>
              <a:t>Это разумный компромисс между простотой прямого отображения</a:t>
            </a:r>
          </a:p>
          <a:p>
            <a:r>
              <a:t>и гибкостью полностью ассоциативного кэша.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Детальная схема наборно-ассоциативного кэша с двумя банками.</a:t>
            </a:r>
          </a:p>
          <a:p>
            <a:r>
              <a:t>Слева память тегов для банков ноль и один: индекс строки, тег, флаги Вэ и Эм, флаги обращения.</a:t>
            </a:r>
          </a:p>
          <a:p>
            <a:r>
              <a:t>В середине кэш-память с двумя банками.</a:t>
            </a:r>
          </a:p>
          <a:p>
            <a:r>
              <a:t>Справа оперативная память, разбитая на страницы.</a:t>
            </a:r>
          </a:p>
          <a:p>
            <a:r>
              <a:t>Внизу разбиение адреса кэшируемой памяти, как и в кэше прямого отображения:</a:t>
            </a:r>
          </a:p>
          <a:p>
            <a:r>
              <a:t>тег, индекс, байт.</a:t>
            </a:r>
          </a:p>
          <a:p>
            <a:r>
              <a:t>Две схемы сравнения, по одной на каждый банк, параллельно проверяют,</a:t>
            </a:r>
          </a:p>
          <a:p>
            <a:r>
              <a:t>есть ли совпадение тега в соответствующем банке.</a:t>
            </a:r>
          </a:p>
          <a:p>
            <a:r>
              <a:t>Если совпадение есть хотя бы в одном банке, попадание.</a:t>
            </a:r>
          </a:p>
          <a:p>
            <a:r>
              <a:t>Флаги обращения помогают выбрать, какую строку вытеснить при заполнении банка.</a:t>
            </a:r>
          </a:p>
          <a:p>
            <a:r>
              <a:t>Наборно-ассоциативный кэш сочетает простоту адресации прямого отображения</a:t>
            </a:r>
          </a:p>
          <a:p>
            <a:r>
              <a:t>с гибкостью полностью ассоциативного за счёт нескольких банков на один индекс.</a:t>
            </a:r>
          </a:p>
          <a:p>
            <a:r>
              <a:t>Именно поэтому он стал стандартом для современных процессоров.</a:t>
            </a:r>
          </a:p>
          <a:p>
            <a:r>
              <a:t>Кэши первого уровня обычно имеют ассоциативность восемь, второго — восемь или шестнадцать.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6BE5-E0F4-4B65-BA6D-CACE26DDFD1F}" type="datetimeFigureOut">
              <a:rPr lang="ru-RU" smtClean="0"/>
              <a:pPr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EC1D-6534-4E52-8FBF-D403661CB02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6BE5-E0F4-4B65-BA6D-CACE26DDFD1F}" type="datetimeFigureOut">
              <a:rPr lang="ru-RU" smtClean="0"/>
              <a:pPr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EC1D-6534-4E52-8FBF-D403661CB02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6BE5-E0F4-4B65-BA6D-CACE26DDFD1F}" type="datetimeFigureOut">
              <a:rPr lang="ru-RU" smtClean="0"/>
              <a:pPr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EC1D-6534-4E52-8FBF-D403661CB02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6BE5-E0F4-4B65-BA6D-CACE26DDFD1F}" type="datetimeFigureOut">
              <a:rPr lang="ru-RU" smtClean="0"/>
              <a:pPr/>
              <a:t>24.10.2026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EC1D-6534-4E52-8FBF-D403661CB02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6BE5-E0F4-4B65-BA6D-CACE26DDFD1F}" type="datetimeFigureOut">
              <a:rPr lang="ru-RU" smtClean="0"/>
              <a:pPr/>
              <a:t>24.10.2026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EC1D-6534-4E52-8FBF-D403661CB02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6BE5-E0F4-4B65-BA6D-CACE26DDFD1F}" type="datetimeFigureOut">
              <a:rPr lang="ru-RU" smtClean="0"/>
              <a:pPr/>
              <a:t>24.10.2026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EC1D-6534-4E52-8FBF-D403661CB02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6BE5-E0F4-4B65-BA6D-CACE26DDFD1F}" type="datetimeFigureOut">
              <a:rPr lang="ru-RU" smtClean="0"/>
              <a:pPr/>
              <a:t>24.10.2026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EC1D-6534-4E52-8FBF-D403661CB02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6BE5-E0F4-4B65-BA6D-CACE26DDFD1F}" type="datetimeFigureOut">
              <a:rPr lang="ru-RU" smtClean="0"/>
              <a:pPr/>
              <a:t>24.10.2026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EC1D-6534-4E52-8FBF-D403661CB02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6BE5-E0F4-4B65-BA6D-CACE26DDFD1F}" type="datetimeFigureOut">
              <a:rPr lang="ru-RU" smtClean="0"/>
              <a:pPr/>
              <a:t>24.10.2026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EC1D-6534-4E52-8FBF-D403661CB02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6BE5-E0F4-4B65-BA6D-CACE26DDFD1F}" type="datetimeFigureOut">
              <a:rPr lang="ru-RU" smtClean="0"/>
              <a:pPr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EC1D-6534-4E52-8FBF-D403661CB02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6BE5-E0F4-4B65-BA6D-CACE26DDFD1F}" type="datetimeFigureOut">
              <a:rPr lang="ru-RU" smtClean="0"/>
              <a:pPr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EC1D-6534-4E52-8FBF-D403661CB02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37BF36-D4CF-46F1-AFBC-06A887148B3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26BE5-E0F4-4B65-BA6D-CACE26DDFD1F}" type="datetimeFigureOut">
              <a:rPr lang="ru-RU" smtClean="0"/>
              <a:pPr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1EC1D-6534-4E52-8FBF-D403661CB023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4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4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4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4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6.xml"/><Relationship Id="rId7" Type="http://schemas.microsoft.com/office/2007/relationships/media" Target="../media/media5.mp3"/><Relationship Id="rId8" Type="http://schemas.openxmlformats.org/officeDocument/2006/relationships/video" Target="../media/media5.mp3"/><Relationship Id="rId9" Type="http://schemas.openxmlformats.org/officeDocument/2006/relationships/image" Target="../media/image4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Relationship Id="rId4" Type="http://schemas.microsoft.com/office/2007/relationships/media" Target="../media/media6.mp3"/><Relationship Id="rId5" Type="http://schemas.openxmlformats.org/officeDocument/2006/relationships/video" Target="../media/media6.mp3"/><Relationship Id="rId6" Type="http://schemas.openxmlformats.org/officeDocument/2006/relationships/image" Target="../media/image4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8.xml"/><Relationship Id="rId5" Type="http://schemas.microsoft.com/office/2007/relationships/media" Target="../media/media7.mp3"/><Relationship Id="rId6" Type="http://schemas.openxmlformats.org/officeDocument/2006/relationships/video" Target="../media/media7.mp3"/><Relationship Id="rId7" Type="http://schemas.openxmlformats.org/officeDocument/2006/relationships/image" Target="../media/image4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9.xml"/><Relationship Id="rId6" Type="http://schemas.microsoft.com/office/2007/relationships/media" Target="../media/media8.mp3"/><Relationship Id="rId7" Type="http://schemas.openxmlformats.org/officeDocument/2006/relationships/video" Target="../media/media8.mp3"/><Relationship Id="rId8" Type="http://schemas.openxmlformats.org/officeDocument/2006/relationships/image" Target="../media/image4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0.xml"/><Relationship Id="rId5" Type="http://schemas.microsoft.com/office/2007/relationships/media" Target="../media/media9.mp3"/><Relationship Id="rId6" Type="http://schemas.openxmlformats.org/officeDocument/2006/relationships/video" Target="../media/media9.mp3"/><Relationship Id="rId7" Type="http://schemas.openxmlformats.org/officeDocument/2006/relationships/image" Target="../media/image4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notesSlide" Target="../notesSlides/notesSlide11.xml"/><Relationship Id="rId8" Type="http://schemas.microsoft.com/office/2007/relationships/media" Target="../media/media10.mp3"/><Relationship Id="rId9" Type="http://schemas.openxmlformats.org/officeDocument/2006/relationships/video" Target="../media/media10.mp3"/><Relationship Id="rId10" Type="http://schemas.openxmlformats.org/officeDocument/2006/relationships/image" Target="../media/image4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2.xml"/><Relationship Id="rId5" Type="http://schemas.microsoft.com/office/2007/relationships/media" Target="../media/media11.mp3"/><Relationship Id="rId6" Type="http://schemas.openxmlformats.org/officeDocument/2006/relationships/video" Target="../media/media11.mp3"/><Relationship Id="rId7" Type="http://schemas.openxmlformats.org/officeDocument/2006/relationships/image" Target="../media/image4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13.xml"/><Relationship Id="rId5" Type="http://schemas.microsoft.com/office/2007/relationships/media" Target="../media/media12.mp3"/><Relationship Id="rId6" Type="http://schemas.openxmlformats.org/officeDocument/2006/relationships/video" Target="../media/media12.mp3"/><Relationship Id="rId7" Type="http://schemas.openxmlformats.org/officeDocument/2006/relationships/image" Target="../media/image4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notesSlide" Target="../notesSlides/notesSlide14.xml"/><Relationship Id="rId6" Type="http://schemas.microsoft.com/office/2007/relationships/media" Target="../media/media13.mp3"/><Relationship Id="rId7" Type="http://schemas.openxmlformats.org/officeDocument/2006/relationships/video" Target="../media/media13.mp3"/><Relationship Id="rId8" Type="http://schemas.openxmlformats.org/officeDocument/2006/relationships/image" Target="../media/image4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15.xml"/><Relationship Id="rId4" Type="http://schemas.microsoft.com/office/2007/relationships/media" Target="../media/media14.mp3"/><Relationship Id="rId5" Type="http://schemas.openxmlformats.org/officeDocument/2006/relationships/video" Target="../media/media14.mp3"/><Relationship Id="rId6" Type="http://schemas.openxmlformats.org/officeDocument/2006/relationships/image" Target="../media/image4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16.xml"/><Relationship Id="rId4" Type="http://schemas.microsoft.com/office/2007/relationships/media" Target="../media/media15.mp3"/><Relationship Id="rId5" Type="http://schemas.openxmlformats.org/officeDocument/2006/relationships/video" Target="../media/media15.mp3"/><Relationship Id="rId6" Type="http://schemas.openxmlformats.org/officeDocument/2006/relationships/image" Target="../media/image4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7.xml"/><Relationship Id="rId4" Type="http://schemas.microsoft.com/office/2007/relationships/media" Target="../media/media16.mp3"/><Relationship Id="rId5" Type="http://schemas.openxmlformats.org/officeDocument/2006/relationships/video" Target="../media/media16.mp3"/><Relationship Id="rId6" Type="http://schemas.openxmlformats.org/officeDocument/2006/relationships/image" Target="../media/image4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18.xml"/><Relationship Id="rId4" Type="http://schemas.microsoft.com/office/2007/relationships/media" Target="../media/media17.mp3"/><Relationship Id="rId5" Type="http://schemas.openxmlformats.org/officeDocument/2006/relationships/video" Target="../media/media17.mp3"/><Relationship Id="rId6" Type="http://schemas.openxmlformats.org/officeDocument/2006/relationships/image" Target="../media/image4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19.xml"/><Relationship Id="rId4" Type="http://schemas.microsoft.com/office/2007/relationships/media" Target="../media/media18.mp3"/><Relationship Id="rId5" Type="http://schemas.openxmlformats.org/officeDocument/2006/relationships/video" Target="../media/media18.mp3"/><Relationship Id="rId6" Type="http://schemas.openxmlformats.org/officeDocument/2006/relationships/image" Target="../media/image4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notesSlide" Target="../notesSlides/notesSlide20.xml"/><Relationship Id="rId5" Type="http://schemas.microsoft.com/office/2007/relationships/media" Target="../media/media19.mp3"/><Relationship Id="rId6" Type="http://schemas.openxmlformats.org/officeDocument/2006/relationships/video" Target="../media/media19.mp3"/><Relationship Id="rId7" Type="http://schemas.openxmlformats.org/officeDocument/2006/relationships/image" Target="../media/image4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21.xml"/><Relationship Id="rId4" Type="http://schemas.microsoft.com/office/2007/relationships/media" Target="../media/media20.mp3"/><Relationship Id="rId5" Type="http://schemas.openxmlformats.org/officeDocument/2006/relationships/video" Target="../media/media20.mp3"/><Relationship Id="rId6" Type="http://schemas.openxmlformats.org/officeDocument/2006/relationships/image" Target="../media/image4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eg"/><Relationship Id="rId3" Type="http://schemas.openxmlformats.org/officeDocument/2006/relationships/notesSlide" Target="../notesSlides/notesSlide22.xml"/><Relationship Id="rId4" Type="http://schemas.microsoft.com/office/2007/relationships/media" Target="../media/media21.mp3"/><Relationship Id="rId5" Type="http://schemas.openxmlformats.org/officeDocument/2006/relationships/video" Target="../media/media21.mp3"/><Relationship Id="rId6" Type="http://schemas.openxmlformats.org/officeDocument/2006/relationships/image" Target="../media/image4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23.xml"/><Relationship Id="rId4" Type="http://schemas.microsoft.com/office/2007/relationships/media" Target="../media/media22.mp3"/><Relationship Id="rId5" Type="http://schemas.openxmlformats.org/officeDocument/2006/relationships/video" Target="../media/media22.mp3"/><Relationship Id="rId6" Type="http://schemas.openxmlformats.org/officeDocument/2006/relationships/image" Target="../media/image4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notesSlide" Target="../notesSlides/notesSlide24.xml"/><Relationship Id="rId5" Type="http://schemas.microsoft.com/office/2007/relationships/media" Target="../media/media23.mp3"/><Relationship Id="rId6" Type="http://schemas.openxmlformats.org/officeDocument/2006/relationships/video" Target="../media/media23.mp3"/><Relationship Id="rId7" Type="http://schemas.openxmlformats.org/officeDocument/2006/relationships/image" Target="../media/image4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microsoft.com/office/2007/relationships/media" Target="../media/media24.mp3"/><Relationship Id="rId4" Type="http://schemas.openxmlformats.org/officeDocument/2006/relationships/video" Target="../media/media24.mp3"/><Relationship Id="rId5" Type="http://schemas.openxmlformats.org/officeDocument/2006/relationships/image" Target="../media/image4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microsoft.com/office/2007/relationships/media" Target="../media/media25.mp3"/><Relationship Id="rId4" Type="http://schemas.openxmlformats.org/officeDocument/2006/relationships/video" Target="../media/media25.mp3"/><Relationship Id="rId5" Type="http://schemas.openxmlformats.org/officeDocument/2006/relationships/image" Target="../media/image4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microsoft.com/office/2007/relationships/media" Target="../media/media26.mp3"/><Relationship Id="rId4" Type="http://schemas.openxmlformats.org/officeDocument/2006/relationships/video" Target="../media/media26.mp3"/><Relationship Id="rId5" Type="http://schemas.openxmlformats.org/officeDocument/2006/relationships/image" Target="../media/image4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microsoft.com/office/2007/relationships/media" Target="../media/media27.mp3"/><Relationship Id="rId4" Type="http://schemas.openxmlformats.org/officeDocument/2006/relationships/video" Target="../media/media27.mp3"/><Relationship Id="rId5" Type="http://schemas.openxmlformats.org/officeDocument/2006/relationships/image" Target="../media/image4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microsoft.com/office/2007/relationships/media" Target="../media/media28.mp3"/><Relationship Id="rId4" Type="http://schemas.openxmlformats.org/officeDocument/2006/relationships/video" Target="../media/media28.mp3"/><Relationship Id="rId5" Type="http://schemas.openxmlformats.org/officeDocument/2006/relationships/image" Target="../media/image4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microsoft.com/office/2007/relationships/media" Target="../media/media29.mp3"/><Relationship Id="rId4" Type="http://schemas.openxmlformats.org/officeDocument/2006/relationships/video" Target="../media/media29.mp3"/><Relationship Id="rId5" Type="http://schemas.openxmlformats.org/officeDocument/2006/relationships/image" Target="../media/image4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microsoft.com/office/2007/relationships/media" Target="../media/media30.mp3"/><Relationship Id="rId4" Type="http://schemas.openxmlformats.org/officeDocument/2006/relationships/video" Target="../media/media30.mp3"/><Relationship Id="rId5" Type="http://schemas.openxmlformats.org/officeDocument/2006/relationships/image" Target="../media/image4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microsoft.com/office/2007/relationships/media" Target="../media/media31.mp3"/><Relationship Id="rId4" Type="http://schemas.openxmlformats.org/officeDocument/2006/relationships/video" Target="../media/media31.mp3"/><Relationship Id="rId5" Type="http://schemas.openxmlformats.org/officeDocument/2006/relationships/image" Target="../media/image4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microsoft.com/office/2007/relationships/media" Target="../media/media32.mp3"/><Relationship Id="rId4" Type="http://schemas.openxmlformats.org/officeDocument/2006/relationships/video" Target="../media/media32.mp3"/><Relationship Id="rId5" Type="http://schemas.openxmlformats.org/officeDocument/2006/relationships/image" Target="../media/image4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microsoft.com/office/2007/relationships/media" Target="../media/media33.mp3"/><Relationship Id="rId4" Type="http://schemas.openxmlformats.org/officeDocument/2006/relationships/video" Target="../media/media33.mp3"/><Relationship Id="rId5" Type="http://schemas.openxmlformats.org/officeDocument/2006/relationships/image" Target="../media/image4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4.xml"/><Relationship Id="rId4" Type="http://schemas.microsoft.com/office/2007/relationships/media" Target="../media/media34.mp3"/><Relationship Id="rId5" Type="http://schemas.openxmlformats.org/officeDocument/2006/relationships/video" Target="../media/media34.mp3"/><Relationship Id="rId6" Type="http://schemas.openxmlformats.org/officeDocument/2006/relationships/image" Target="../media/image4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microsoft.com/office/2007/relationships/media" Target="../media/media35.mp3"/><Relationship Id="rId4" Type="http://schemas.openxmlformats.org/officeDocument/2006/relationships/video" Target="../media/media35.mp3"/><Relationship Id="rId5" Type="http://schemas.openxmlformats.org/officeDocument/2006/relationships/image" Target="../media/image4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eg"/><Relationship Id="rId3" Type="http://schemas.openxmlformats.org/officeDocument/2006/relationships/notesSlide" Target="../notesSlides/notesSlide36.xml"/><Relationship Id="rId4" Type="http://schemas.microsoft.com/office/2007/relationships/media" Target="../media/media36.mp3"/><Relationship Id="rId5" Type="http://schemas.openxmlformats.org/officeDocument/2006/relationships/video" Target="../media/media36.mp3"/><Relationship Id="rId6" Type="http://schemas.openxmlformats.org/officeDocument/2006/relationships/image" Target="../media/image4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microsoft.com/office/2007/relationships/media" Target="../media/media37.mp3"/><Relationship Id="rId4" Type="http://schemas.openxmlformats.org/officeDocument/2006/relationships/video" Target="../media/media37.mp3"/><Relationship Id="rId5" Type="http://schemas.openxmlformats.org/officeDocument/2006/relationships/image" Target="../media/image4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8.xml"/><Relationship Id="rId4" Type="http://schemas.microsoft.com/office/2007/relationships/media" Target="../media/media38.mp3"/><Relationship Id="rId5" Type="http://schemas.openxmlformats.org/officeDocument/2006/relationships/video" Target="../media/media38.mp3"/><Relationship Id="rId6" Type="http://schemas.openxmlformats.org/officeDocument/2006/relationships/image" Target="../media/image4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39.xml"/><Relationship Id="rId4" Type="http://schemas.microsoft.com/office/2007/relationships/media" Target="../media/media39.mp3"/><Relationship Id="rId5" Type="http://schemas.openxmlformats.org/officeDocument/2006/relationships/video" Target="../media/media39.mp3"/><Relationship Id="rId6" Type="http://schemas.openxmlformats.org/officeDocument/2006/relationships/image" Target="../media/image4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0.xml"/><Relationship Id="rId4" Type="http://schemas.microsoft.com/office/2007/relationships/media" Target="../media/media40.mp3"/><Relationship Id="rId5" Type="http://schemas.openxmlformats.org/officeDocument/2006/relationships/video" Target="../media/media40.mp3"/><Relationship Id="rId6" Type="http://schemas.openxmlformats.org/officeDocument/2006/relationships/image" Target="../media/image4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notesSlide" Target="../notesSlides/notesSlide41.xml"/><Relationship Id="rId6" Type="http://schemas.microsoft.com/office/2007/relationships/media" Target="../media/media41.mp3"/><Relationship Id="rId7" Type="http://schemas.openxmlformats.org/officeDocument/2006/relationships/video" Target="../media/media41.mp3"/><Relationship Id="rId8" Type="http://schemas.openxmlformats.org/officeDocument/2006/relationships/image" Target="../media/image4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2.xml"/><Relationship Id="rId4" Type="http://schemas.microsoft.com/office/2007/relationships/media" Target="../media/media42.mp3"/><Relationship Id="rId5" Type="http://schemas.openxmlformats.org/officeDocument/2006/relationships/video" Target="../media/media42.mp3"/><Relationship Id="rId6" Type="http://schemas.openxmlformats.org/officeDocument/2006/relationships/image" Target="../media/image4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3.xml"/><Relationship Id="rId4" Type="http://schemas.microsoft.com/office/2007/relationships/media" Target="../media/media43.mp3"/><Relationship Id="rId5" Type="http://schemas.openxmlformats.org/officeDocument/2006/relationships/video" Target="../media/media43.mp3"/><Relationship Id="rId6" Type="http://schemas.openxmlformats.org/officeDocument/2006/relationships/image" Target="../media/image4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4.xml"/><Relationship Id="rId4" Type="http://schemas.microsoft.com/office/2007/relationships/media" Target="../media/media44.mp3"/><Relationship Id="rId5" Type="http://schemas.openxmlformats.org/officeDocument/2006/relationships/video" Target="../media/media44.mp3"/><Relationship Id="rId6" Type="http://schemas.openxmlformats.org/officeDocument/2006/relationships/image" Target="../media/image4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5.xml"/><Relationship Id="rId4" Type="http://schemas.microsoft.com/office/2007/relationships/media" Target="../media/media45.mp3"/><Relationship Id="rId5" Type="http://schemas.openxmlformats.org/officeDocument/2006/relationships/video" Target="../media/media45.mp3"/><Relationship Id="rId6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Основные элементы и принципы работы компьютерной техники по архитектуре фон Неймана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Транзисторы, базовые элементы процессора, устройство </a:t>
            </a:r>
            <a:r>
              <a:rPr lang="en-US" dirty="0" smtClean="0"/>
              <a:t>IBM PC, </a:t>
            </a:r>
            <a:r>
              <a:rPr lang="ru-RU" dirty="0" smtClean="0"/>
              <a:t>память, шины</a:t>
            </a:r>
            <a:endParaRPr lang="ru-RU" dirty="0"/>
          </a:p>
        </p:txBody>
      </p:sp>
      <p:pic>
        <p:nvPicPr>
          <p:cNvPr id="4" name="slide_01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b="1" dirty="0"/>
              <a:t>Фотолитография</a:t>
            </a:r>
            <a:r>
              <a:rPr lang="ru-RU" sz="2800" dirty="0" smtClean="0"/>
              <a:t> — ключевой метод производства микросхем. Это процесс «печати» схемы на кремниевой пластине с помощью света.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000" b="1" dirty="0"/>
              <a:t>Подготовка основы:</a:t>
            </a:r>
            <a:r>
              <a:rPr lang="ru-RU" sz="2000" dirty="0"/>
              <a:t> На кремниевую пластину (подложку) наносится тонкий слой кремния, а поверх него — </a:t>
            </a:r>
            <a:r>
              <a:rPr lang="ru-RU" sz="2000" b="1" dirty="0" err="1"/>
              <a:t>фоторезист</a:t>
            </a:r>
            <a:r>
              <a:rPr lang="ru-RU" sz="2000" dirty="0"/>
              <a:t> (светочувствительный полимер).</a:t>
            </a:r>
          </a:p>
          <a:p>
            <a:r>
              <a:rPr lang="ru-RU" sz="2000" b="1" dirty="0"/>
              <a:t>Экспонирование:</a:t>
            </a:r>
            <a:r>
              <a:rPr lang="ru-RU" sz="2000" dirty="0"/>
              <a:t> Свет проходит через </a:t>
            </a:r>
            <a:r>
              <a:rPr lang="ru-RU" sz="2000" b="1" dirty="0"/>
              <a:t>фотошаблон</a:t>
            </a:r>
            <a:r>
              <a:rPr lang="ru-RU" sz="2000" dirty="0"/>
              <a:t> (маску с рисунком схемы) и систему линз, проецируя уменьшенное изображение на </a:t>
            </a:r>
            <a:r>
              <a:rPr lang="ru-RU" sz="2000" dirty="0" err="1"/>
              <a:t>фоторезист</a:t>
            </a:r>
            <a:r>
              <a:rPr lang="ru-RU" sz="2000" dirty="0"/>
              <a:t>.</a:t>
            </a:r>
          </a:p>
          <a:p>
            <a:r>
              <a:rPr lang="ru-RU" sz="2000" b="1" dirty="0"/>
              <a:t>Проявление:</a:t>
            </a:r>
            <a:r>
              <a:rPr lang="ru-RU" sz="2000" dirty="0"/>
              <a:t> Засвеченные (или </a:t>
            </a:r>
            <a:r>
              <a:rPr lang="ru-RU" sz="2000" dirty="0" err="1"/>
              <a:t>незасвеченные</a:t>
            </a:r>
            <a:r>
              <a:rPr lang="ru-RU" sz="2000" dirty="0"/>
              <a:t>) участки </a:t>
            </a:r>
            <a:r>
              <a:rPr lang="ru-RU" sz="2000" dirty="0" err="1"/>
              <a:t>фоторезиста</a:t>
            </a:r>
            <a:r>
              <a:rPr lang="ru-RU" sz="2000" dirty="0"/>
              <a:t> смываются специальным раствором.</a:t>
            </a:r>
          </a:p>
          <a:p>
            <a:r>
              <a:rPr lang="ru-RU" sz="2000" b="1" dirty="0"/>
              <a:t>Травление и ионная имплантация:</a:t>
            </a:r>
            <a:r>
              <a:rPr lang="ru-RU" sz="2000" dirty="0"/>
              <a:t> Защищенные остатками </a:t>
            </a:r>
            <a:r>
              <a:rPr lang="ru-RU" sz="2000" dirty="0" err="1"/>
              <a:t>фоторезиста</a:t>
            </a:r>
            <a:r>
              <a:rPr lang="ru-RU" sz="2000" dirty="0"/>
              <a:t> зоны остаются нетронутыми, а открытые участки кремния вытравливаются кислотой или легируются ионами для создания полупроводниковых свойств.</a:t>
            </a:r>
          </a:p>
          <a:p>
            <a:r>
              <a:rPr lang="ru-RU" sz="2000" b="1" dirty="0"/>
              <a:t>Очистка:</a:t>
            </a:r>
            <a:r>
              <a:rPr lang="ru-RU" sz="2000" dirty="0"/>
              <a:t> Остатки </a:t>
            </a:r>
            <a:r>
              <a:rPr lang="ru-RU" sz="2000" dirty="0" err="1"/>
              <a:t>фоторезиста</a:t>
            </a:r>
            <a:r>
              <a:rPr lang="ru-RU" sz="2000" dirty="0"/>
              <a:t> удаляются. Процесс повторяется до 40–80 раз для создания многослойной структуры чипа.</a:t>
            </a:r>
          </a:p>
          <a:p>
            <a:endParaRPr lang="ru-RU" sz="1800" dirty="0"/>
          </a:p>
        </p:txBody>
      </p:sp>
      <p:pic>
        <p:nvPicPr>
          <p:cNvPr id="4" name="slide_02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Технологический предел: Литография на пути к 2 нм и менее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000" dirty="0" smtClean="0"/>
              <a:t>Чтобы </a:t>
            </a:r>
            <a:r>
              <a:rPr lang="ru-RU" sz="2000" dirty="0"/>
              <a:t>уменьшать транзисторы, ученым пришлось кардинально уменьшать длину волны света (из-за дифракционного предела).</a:t>
            </a:r>
          </a:p>
          <a:p>
            <a:r>
              <a:rPr lang="ru-RU" sz="2000" b="1" dirty="0"/>
              <a:t>Эволюция источников света:</a:t>
            </a:r>
          </a:p>
          <a:p>
            <a:r>
              <a:rPr lang="ru-RU" sz="2000" b="1" dirty="0" err="1"/>
              <a:t>УФ-литография</a:t>
            </a:r>
            <a:r>
              <a:rPr lang="ru-RU" sz="2000" b="1" dirty="0"/>
              <a:t> (DUV):</a:t>
            </a:r>
            <a:r>
              <a:rPr lang="ru-RU" sz="2000" dirty="0"/>
              <a:t> Использовала </a:t>
            </a:r>
            <a:r>
              <a:rPr lang="ru-RU" sz="2000" dirty="0" err="1"/>
              <a:t>аргон-фторидные</a:t>
            </a:r>
            <a:r>
              <a:rPr lang="ru-RU" sz="2000" dirty="0"/>
              <a:t> лазеры (</a:t>
            </a:r>
            <a:r>
              <a:rPr lang="ru-RU" sz="2000" dirty="0" err="1"/>
              <a:t>ArF</a:t>
            </a:r>
            <a:r>
              <a:rPr lang="ru-RU" sz="2000" dirty="0"/>
              <a:t>) с длиной волны </a:t>
            </a:r>
            <a:r>
              <a:rPr lang="ru-RU" sz="2000" b="1" dirty="0"/>
              <a:t>193 нм</a:t>
            </a:r>
            <a:r>
              <a:rPr lang="ru-RU" sz="2000" dirty="0"/>
              <a:t>. Чтобы печатать чипы 28-10 нм, применяли иммерсионную жидкость (воду) и метод многократного экспонирования (</a:t>
            </a:r>
            <a:r>
              <a:rPr lang="ru-RU" sz="2000" dirty="0" err="1"/>
              <a:t>Multi-Patterning</a:t>
            </a:r>
            <a:r>
              <a:rPr lang="ru-RU" sz="2000" dirty="0"/>
              <a:t>).</a:t>
            </a:r>
          </a:p>
          <a:p>
            <a:r>
              <a:rPr lang="ru-RU" sz="2000" b="1" dirty="0"/>
              <a:t>Экстремальный УФ (EUV):</a:t>
            </a:r>
            <a:r>
              <a:rPr lang="ru-RU" sz="2000" dirty="0"/>
              <a:t> Прорывные установки компании </a:t>
            </a:r>
            <a:r>
              <a:rPr lang="ru-RU" sz="2000" b="1" dirty="0"/>
              <a:t>ASML</a:t>
            </a:r>
            <a:r>
              <a:rPr lang="ru-RU" sz="2000" dirty="0"/>
              <a:t> с длиной волны </a:t>
            </a:r>
            <a:r>
              <a:rPr lang="ru-RU" sz="2000" b="1" dirty="0"/>
              <a:t>13.5 нм</a:t>
            </a:r>
            <a:r>
              <a:rPr lang="ru-RU" sz="2000" dirty="0"/>
              <a:t> (свет генерируется лазером, бьющим по каплям расплавленного олова). Стала стандартом для техпроцессов от 7 нм до 3 нм.</a:t>
            </a:r>
          </a:p>
          <a:p>
            <a:r>
              <a:rPr lang="ru-RU" sz="2000" b="1" dirty="0" err="1"/>
              <a:t>High-NA</a:t>
            </a:r>
            <a:r>
              <a:rPr lang="ru-RU" sz="2000" b="1" dirty="0"/>
              <a:t> EUV (Высокая апертура):</a:t>
            </a:r>
            <a:r>
              <a:rPr lang="ru-RU" sz="2000" dirty="0"/>
              <a:t> Новейшее поколение систем (индекс линз 0.55 против 0.33 у старых EUV). Позволяет проецировать еще более мелкие элементы без сложного </a:t>
            </a:r>
            <a:r>
              <a:rPr lang="ru-RU" sz="2000" dirty="0" err="1"/>
              <a:t>мультишаблонирования</a:t>
            </a:r>
            <a:r>
              <a:rPr lang="ru-RU" sz="2000" dirty="0"/>
              <a:t>. Применяется для </a:t>
            </a:r>
            <a:r>
              <a:rPr lang="ru-RU" sz="2000" b="1" dirty="0"/>
              <a:t>2 нм и тоньше</a:t>
            </a:r>
            <a:r>
              <a:rPr lang="ru-RU" sz="2000" dirty="0"/>
              <a:t>.</a:t>
            </a:r>
          </a:p>
          <a:p>
            <a:endParaRPr lang="ru-RU" sz="2000" dirty="0"/>
          </a:p>
        </p:txBody>
      </p:sp>
      <p:pic>
        <p:nvPicPr>
          <p:cNvPr id="4" name="slide_03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sz="2700" b="1" dirty="0" smtClean="0"/>
              <a:t>Что используется в архитектуре чипов 2 нм и менее?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620688"/>
            <a:ext cx="8856984" cy="5832648"/>
          </a:xfrm>
        </p:spPr>
        <p:txBody>
          <a:bodyPr>
            <a:noAutofit/>
          </a:bodyPr>
          <a:lstStyle/>
          <a:p>
            <a:pPr algn="just"/>
            <a:r>
              <a:rPr lang="ru-RU" sz="2000" dirty="0" smtClean="0"/>
              <a:t>При </a:t>
            </a:r>
            <a:r>
              <a:rPr lang="ru-RU" sz="2000" dirty="0"/>
              <a:t>размерах менее 3 нм законы классической физики уступают место квантовым эффектам (ток начинает «утекать» сквозь затвор). Для преодоления барьера используются революционные технологии:</a:t>
            </a:r>
          </a:p>
          <a:p>
            <a:pPr algn="just"/>
            <a:r>
              <a:rPr lang="ru-RU" sz="2000" b="1" dirty="0"/>
              <a:t>Переход на GAAFET / </a:t>
            </a:r>
            <a:r>
              <a:rPr lang="ru-RU" sz="2000" b="1" dirty="0" err="1"/>
              <a:t>RibbonFET</a:t>
            </a:r>
            <a:r>
              <a:rPr lang="ru-RU" sz="2000" b="1" dirty="0"/>
              <a:t>:</a:t>
            </a:r>
            <a:r>
              <a:rPr lang="ru-RU" sz="2000" dirty="0"/>
              <a:t> Вместо трехмерных «плавников» (</a:t>
            </a:r>
            <a:r>
              <a:rPr lang="ru-RU" sz="2000" dirty="0" err="1"/>
              <a:t>FinFET</a:t>
            </a:r>
            <a:r>
              <a:rPr lang="ru-RU" sz="2000" dirty="0"/>
              <a:t>) используются транзисторы с </a:t>
            </a:r>
            <a:r>
              <a:rPr lang="ru-RU" sz="2000" b="1" dirty="0"/>
              <a:t>окружающим затвором</a:t>
            </a:r>
            <a:r>
              <a:rPr lang="ru-RU" sz="2000" dirty="0"/>
              <a:t> (</a:t>
            </a:r>
            <a:r>
              <a:rPr lang="ru-RU" sz="2000" dirty="0" err="1"/>
              <a:t>Gate-All-Around</a:t>
            </a:r>
            <a:r>
              <a:rPr lang="ru-RU" sz="2000" dirty="0"/>
              <a:t>). Затвор полностью охватывает горизонтальные </a:t>
            </a:r>
            <a:r>
              <a:rPr lang="ru-RU" sz="2000" dirty="0" err="1"/>
              <a:t>наностраницы</a:t>
            </a:r>
            <a:r>
              <a:rPr lang="ru-RU" sz="2000" dirty="0"/>
              <a:t> (</a:t>
            </a:r>
            <a:r>
              <a:rPr lang="ru-RU" sz="2000" dirty="0" err="1"/>
              <a:t>наноленты</a:t>
            </a:r>
            <a:r>
              <a:rPr lang="ru-RU" sz="2000" dirty="0"/>
              <a:t>), исключая утечки тока.</a:t>
            </a:r>
          </a:p>
          <a:p>
            <a:pPr algn="just"/>
            <a:r>
              <a:rPr lang="ru-RU" sz="2000" b="1" dirty="0"/>
              <a:t>Обратная подача питания (</a:t>
            </a:r>
            <a:r>
              <a:rPr lang="ru-RU" sz="2000" b="1" dirty="0" err="1"/>
              <a:t>Backside</a:t>
            </a:r>
            <a:r>
              <a:rPr lang="ru-RU" sz="2000" b="1" dirty="0"/>
              <a:t> </a:t>
            </a:r>
            <a:r>
              <a:rPr lang="ru-RU" sz="2000" b="1" dirty="0" err="1"/>
              <a:t>Power</a:t>
            </a:r>
            <a:r>
              <a:rPr lang="ru-RU" sz="2000" b="1" dirty="0"/>
              <a:t> </a:t>
            </a:r>
            <a:r>
              <a:rPr lang="ru-RU" sz="2000" b="1" dirty="0" err="1"/>
              <a:t>Delivery</a:t>
            </a:r>
            <a:r>
              <a:rPr lang="ru-RU" sz="2000" b="1" dirty="0"/>
              <a:t> / </a:t>
            </a:r>
            <a:r>
              <a:rPr lang="ru-RU" sz="2000" b="1" dirty="0" err="1"/>
              <a:t>PowerVia</a:t>
            </a:r>
            <a:r>
              <a:rPr lang="ru-RU" sz="2000" b="1" dirty="0"/>
              <a:t>):</a:t>
            </a:r>
            <a:r>
              <a:rPr lang="ru-RU" sz="2000" dirty="0"/>
              <a:t> Провода питания переносят на </a:t>
            </a:r>
            <a:r>
              <a:rPr lang="ru-RU" sz="2000" i="1" dirty="0"/>
              <a:t>оборотную</a:t>
            </a:r>
            <a:r>
              <a:rPr lang="ru-RU" sz="2000" dirty="0"/>
              <a:t> сторону кремниевой пластины. Сверху остаются только сигнальные дорожки. Это решает проблему перекрестных помех, экономит место и увеличивает тактовую частоту.</a:t>
            </a:r>
          </a:p>
          <a:p>
            <a:pPr algn="just"/>
            <a:r>
              <a:rPr lang="ru-RU" sz="2000" b="1" dirty="0"/>
              <a:t>Упаковка </a:t>
            </a:r>
            <a:r>
              <a:rPr lang="ru-RU" sz="2000" b="1" dirty="0" err="1"/>
              <a:t>чиплетов</a:t>
            </a:r>
            <a:r>
              <a:rPr lang="ru-RU" sz="2000" b="1" dirty="0"/>
              <a:t> (</a:t>
            </a:r>
            <a:r>
              <a:rPr lang="ru-RU" sz="2000" b="1" dirty="0" err="1"/>
              <a:t>Chiplets</a:t>
            </a:r>
            <a:r>
              <a:rPr lang="ru-RU" sz="2000" b="1" dirty="0"/>
              <a:t> &amp; 3D </a:t>
            </a:r>
            <a:r>
              <a:rPr lang="ru-RU" sz="2000" b="1" dirty="0" err="1"/>
              <a:t>Packaging</a:t>
            </a:r>
            <a:r>
              <a:rPr lang="ru-RU" sz="2000" b="1" dirty="0"/>
              <a:t>):</a:t>
            </a:r>
            <a:endParaRPr lang="ru-RU" sz="2000" dirty="0"/>
          </a:p>
          <a:p>
            <a:pPr algn="just"/>
            <a:r>
              <a:rPr lang="ru-RU" sz="2000" dirty="0"/>
              <a:t>Процессоры перестают быть монолитными. На одной подложке соединяются разные кристаллы (вычислительные ядра, память, контроллеры), сделанные по разным техпроцессам.</a:t>
            </a:r>
          </a:p>
          <a:p>
            <a:pPr algn="just"/>
            <a:r>
              <a:rPr lang="ru-RU" sz="2000" b="1" dirty="0"/>
              <a:t>Будущее (Альтернатива кремнию):</a:t>
            </a:r>
            <a:r>
              <a:rPr lang="ru-RU" sz="2000" dirty="0"/>
              <a:t> На рубеже ниже 1 нм кремний исчерпает себя. Ведутся исследования по внедрению двумерных материалов: </a:t>
            </a:r>
            <a:r>
              <a:rPr lang="ru-RU" sz="2000" b="1" dirty="0" err="1"/>
              <a:t>графена</a:t>
            </a:r>
            <a:r>
              <a:rPr lang="ru-RU" sz="2000" dirty="0"/>
              <a:t>, </a:t>
            </a:r>
            <a:r>
              <a:rPr lang="ru-RU" sz="2000" b="1" dirty="0"/>
              <a:t>дисульфида молибдена (</a:t>
            </a:r>
            <a:r>
              <a:rPr lang="ru-RU" sz="2000" b="1" dirty="0" err="1"/>
              <a:t>MoS</a:t>
            </a:r>
            <a:r>
              <a:rPr lang="ru-RU" sz="2000" b="1" dirty="0"/>
              <a:t>₂)</a:t>
            </a:r>
            <a:r>
              <a:rPr lang="ru-RU" sz="2000" dirty="0"/>
              <a:t> и углеродных </a:t>
            </a:r>
            <a:r>
              <a:rPr lang="ru-RU" sz="2000" dirty="0" err="1"/>
              <a:t>нанотрубок</a:t>
            </a:r>
            <a:r>
              <a:rPr lang="ru-RU" sz="2000" dirty="0"/>
              <a:t>.</a:t>
            </a:r>
          </a:p>
          <a:p>
            <a:endParaRPr lang="ru-RU" sz="2000" dirty="0"/>
          </a:p>
        </p:txBody>
      </p:sp>
      <p:pic>
        <p:nvPicPr>
          <p:cNvPr id="4" name="slide_04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4788024" cy="850106"/>
          </a:xfrm>
        </p:spPr>
        <p:txBody>
          <a:bodyPr>
            <a:normAutofit fontScale="90000"/>
          </a:bodyPr>
          <a:lstStyle/>
          <a:p>
            <a:r>
              <a:rPr lang="ru-RU" sz="2800" dirty="0" smtClean="0"/>
              <a:t>Полупроводниковая логика. </a:t>
            </a:r>
            <a:r>
              <a:rPr lang="en-US" sz="2800" dirty="0" smtClean="0"/>
              <a:t>P-N </a:t>
            </a:r>
            <a:r>
              <a:rPr lang="ru-RU" sz="2800" dirty="0" smtClean="0"/>
              <a:t>переход.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700808"/>
            <a:ext cx="9144000" cy="3528392"/>
          </a:xfrm>
        </p:spPr>
        <p:txBody>
          <a:bodyPr/>
          <a:lstStyle/>
          <a:p>
            <a:pPr algn="just"/>
            <a:r>
              <a:rPr lang="en-US" sz="1600" dirty="0" smtClean="0"/>
              <a:t>N – </a:t>
            </a:r>
            <a:r>
              <a:rPr lang="ru-RU" sz="1600" dirty="0" smtClean="0"/>
              <a:t>основным носителем являются свободные электроны.</a:t>
            </a:r>
          </a:p>
          <a:p>
            <a:pPr algn="just"/>
            <a:r>
              <a:rPr lang="en-US" sz="1600" dirty="0" smtClean="0"/>
              <a:t>P –</a:t>
            </a:r>
            <a:r>
              <a:rPr lang="ru-RU" sz="1600" dirty="0" smtClean="0"/>
              <a:t> основным носителем являются положительные дырки (условное обозначение). </a:t>
            </a:r>
          </a:p>
          <a:p>
            <a:pPr algn="just"/>
            <a:r>
              <a:rPr lang="ru-RU" sz="1600" dirty="0" smtClean="0"/>
              <a:t>Сами </a:t>
            </a:r>
            <a:r>
              <a:rPr lang="en-US" sz="1600" dirty="0" smtClean="0"/>
              <a:t>N </a:t>
            </a:r>
            <a:r>
              <a:rPr lang="ru-RU" sz="1600" dirty="0" smtClean="0"/>
              <a:t>или </a:t>
            </a:r>
            <a:r>
              <a:rPr lang="en-US" sz="1600" dirty="0" smtClean="0"/>
              <a:t>P </a:t>
            </a:r>
            <a:r>
              <a:rPr lang="ru-RU" sz="1600" dirty="0" smtClean="0"/>
              <a:t>полупроводники нейтральны по заряду. При отсутствии напряжения, свободные электроны диффундируют в результате хаотического движения в область </a:t>
            </a:r>
            <a:r>
              <a:rPr lang="en-US" sz="1600" dirty="0" smtClean="0"/>
              <a:t>p </a:t>
            </a:r>
            <a:r>
              <a:rPr lang="ru-RU" sz="1600" dirty="0" smtClean="0"/>
              <a:t>где есть свободные места (дырки), в результате образуется электрическое поле препятствующее дальнейшему переносу электронов. Между проводниками образуется тонкий слой нейтрального диэлектрического слоя (когда электрон занимает дырку). При подаче положительного потенциала на </a:t>
            </a:r>
            <a:r>
              <a:rPr lang="en-US" sz="1600" dirty="0" smtClean="0"/>
              <a:t>n </a:t>
            </a:r>
            <a:r>
              <a:rPr lang="ru-RU" sz="1600" dirty="0" smtClean="0"/>
              <a:t>проводник, а отрицательного на </a:t>
            </a:r>
            <a:r>
              <a:rPr lang="en-US" sz="1600" dirty="0" smtClean="0"/>
              <a:t>p</a:t>
            </a:r>
            <a:r>
              <a:rPr lang="ru-RU" sz="1600" dirty="0" smtClean="0"/>
              <a:t>, дырки и электроны смещаются к «краям» полупроводника, что приводит к расширению диэлектрического слоя и запиранию диода (плотность отрицательно заряженных становится выше в определенных частях диода и ниже в других). При подаче отрицательного потенциала на </a:t>
            </a:r>
            <a:r>
              <a:rPr lang="en-US" sz="1600" dirty="0" smtClean="0"/>
              <a:t>n </a:t>
            </a:r>
            <a:r>
              <a:rPr lang="ru-RU" sz="1600" dirty="0" smtClean="0"/>
              <a:t>электроны начинают проходить небольшой образованный потенциал, заполнять образованный нейтральный слой, что создает движение заряда и появление тока в полупроводнике. </a:t>
            </a:r>
          </a:p>
          <a:p>
            <a:endParaRPr lang="ru-RU" sz="16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1" y="0"/>
            <a:ext cx="4572000" cy="1700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Группа 34"/>
          <p:cNvGrpSpPr/>
          <p:nvPr/>
        </p:nvGrpSpPr>
        <p:grpSpPr>
          <a:xfrm>
            <a:off x="0" y="5505450"/>
            <a:ext cx="3238500" cy="1352550"/>
            <a:chOff x="0" y="5085184"/>
            <a:chExt cx="3238500" cy="1352550"/>
          </a:xfrm>
        </p:grpSpPr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5085184"/>
              <a:ext cx="3238500" cy="1352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Блок-схема: ИЛИ 10"/>
            <p:cNvSpPr/>
            <p:nvPr/>
          </p:nvSpPr>
          <p:spPr>
            <a:xfrm>
              <a:off x="611560" y="5445224"/>
              <a:ext cx="144016" cy="144016"/>
            </a:xfrm>
            <a:prstGeom prst="flowChar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Блок-схема: ИЛИ 11"/>
            <p:cNvSpPr/>
            <p:nvPr/>
          </p:nvSpPr>
          <p:spPr>
            <a:xfrm>
              <a:off x="539552" y="5661248"/>
              <a:ext cx="144016" cy="144016"/>
            </a:xfrm>
            <a:prstGeom prst="flowChar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Блок-схема: ИЛИ 12"/>
            <p:cNvSpPr/>
            <p:nvPr/>
          </p:nvSpPr>
          <p:spPr>
            <a:xfrm>
              <a:off x="827584" y="5517232"/>
              <a:ext cx="144016" cy="144016"/>
            </a:xfrm>
            <a:prstGeom prst="flowChar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Блок-схема: ИЛИ 13"/>
            <p:cNvSpPr/>
            <p:nvPr/>
          </p:nvSpPr>
          <p:spPr>
            <a:xfrm>
              <a:off x="539552" y="5949280"/>
              <a:ext cx="144016" cy="144016"/>
            </a:xfrm>
            <a:prstGeom prst="flowChar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Блок-схема: ИЛИ 14"/>
            <p:cNvSpPr/>
            <p:nvPr/>
          </p:nvSpPr>
          <p:spPr>
            <a:xfrm>
              <a:off x="899592" y="6021288"/>
              <a:ext cx="144016" cy="144016"/>
            </a:xfrm>
            <a:prstGeom prst="flowChar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Блок-схема: ИЛИ 15"/>
            <p:cNvSpPr/>
            <p:nvPr/>
          </p:nvSpPr>
          <p:spPr>
            <a:xfrm>
              <a:off x="1115616" y="5805264"/>
              <a:ext cx="144016" cy="144016"/>
            </a:xfrm>
            <a:prstGeom prst="flowChar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Блок-схема: ИЛИ 16"/>
            <p:cNvSpPr/>
            <p:nvPr/>
          </p:nvSpPr>
          <p:spPr>
            <a:xfrm>
              <a:off x="395536" y="5373216"/>
              <a:ext cx="144016" cy="144016"/>
            </a:xfrm>
            <a:prstGeom prst="flowChar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Блок-схема: ИЛИ 17"/>
            <p:cNvSpPr/>
            <p:nvPr/>
          </p:nvSpPr>
          <p:spPr>
            <a:xfrm>
              <a:off x="323528" y="5805264"/>
              <a:ext cx="144016" cy="144016"/>
            </a:xfrm>
            <a:prstGeom prst="flowChar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Блок-схема: узел 18"/>
            <p:cNvSpPr/>
            <p:nvPr/>
          </p:nvSpPr>
          <p:spPr>
            <a:xfrm>
              <a:off x="2339752" y="5373216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−</a:t>
              </a:r>
              <a:endParaRPr lang="ru-RU" dirty="0"/>
            </a:p>
          </p:txBody>
        </p:sp>
        <p:sp>
          <p:nvSpPr>
            <p:cNvPr id="24" name="Блок-схема: узел 23"/>
            <p:cNvSpPr/>
            <p:nvPr/>
          </p:nvSpPr>
          <p:spPr>
            <a:xfrm>
              <a:off x="2627784" y="5589240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−</a:t>
              </a:r>
              <a:endParaRPr lang="ru-RU" dirty="0"/>
            </a:p>
          </p:txBody>
        </p:sp>
        <p:sp>
          <p:nvSpPr>
            <p:cNvPr id="25" name="Блок-схема: узел 24"/>
            <p:cNvSpPr/>
            <p:nvPr/>
          </p:nvSpPr>
          <p:spPr>
            <a:xfrm>
              <a:off x="2627784" y="5373216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−</a:t>
              </a:r>
              <a:endParaRPr lang="ru-RU" dirty="0"/>
            </a:p>
          </p:txBody>
        </p:sp>
        <p:sp>
          <p:nvSpPr>
            <p:cNvPr id="26" name="Блок-схема: узел 25"/>
            <p:cNvSpPr/>
            <p:nvPr/>
          </p:nvSpPr>
          <p:spPr>
            <a:xfrm>
              <a:off x="2555776" y="5805264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−</a:t>
              </a:r>
              <a:endParaRPr lang="ru-RU" dirty="0"/>
            </a:p>
          </p:txBody>
        </p:sp>
        <p:sp>
          <p:nvSpPr>
            <p:cNvPr id="27" name="Блок-схема: узел 26"/>
            <p:cNvSpPr/>
            <p:nvPr/>
          </p:nvSpPr>
          <p:spPr>
            <a:xfrm>
              <a:off x="2051720" y="5733256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−</a:t>
              </a:r>
              <a:endParaRPr lang="ru-RU" dirty="0"/>
            </a:p>
          </p:txBody>
        </p:sp>
        <p:sp>
          <p:nvSpPr>
            <p:cNvPr id="28" name="Блок-схема: узел 27"/>
            <p:cNvSpPr/>
            <p:nvPr/>
          </p:nvSpPr>
          <p:spPr>
            <a:xfrm>
              <a:off x="2051720" y="5949280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−</a:t>
              </a:r>
              <a:endParaRPr lang="ru-RU" dirty="0"/>
            </a:p>
          </p:txBody>
        </p:sp>
        <p:sp>
          <p:nvSpPr>
            <p:cNvPr id="29" name="Блок-схема: узел 28"/>
            <p:cNvSpPr/>
            <p:nvPr/>
          </p:nvSpPr>
          <p:spPr>
            <a:xfrm>
              <a:off x="2627784" y="6021288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−</a:t>
              </a:r>
              <a:endParaRPr lang="ru-RU" dirty="0"/>
            </a:p>
          </p:txBody>
        </p:sp>
        <p:sp>
          <p:nvSpPr>
            <p:cNvPr id="30" name="Блок-схема: узел 29"/>
            <p:cNvSpPr/>
            <p:nvPr/>
          </p:nvSpPr>
          <p:spPr>
            <a:xfrm>
              <a:off x="2339752" y="6021288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−</a:t>
              </a:r>
              <a:endParaRPr lang="ru-RU" dirty="0"/>
            </a:p>
          </p:txBody>
        </p:sp>
        <p:sp>
          <p:nvSpPr>
            <p:cNvPr id="31" name="Блок-схема: узел 30"/>
            <p:cNvSpPr/>
            <p:nvPr/>
          </p:nvSpPr>
          <p:spPr>
            <a:xfrm>
              <a:off x="2195736" y="5517232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−</a:t>
              </a:r>
              <a:endParaRPr lang="ru-RU" dirty="0"/>
            </a:p>
          </p:txBody>
        </p:sp>
        <p:sp>
          <p:nvSpPr>
            <p:cNvPr id="32" name="Блок-схема: узел 31"/>
            <p:cNvSpPr/>
            <p:nvPr/>
          </p:nvSpPr>
          <p:spPr>
            <a:xfrm>
              <a:off x="1907704" y="6021288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−</a:t>
              </a:r>
              <a:endParaRPr lang="ru-RU" dirty="0"/>
            </a:p>
          </p:txBody>
        </p:sp>
        <p:sp>
          <p:nvSpPr>
            <p:cNvPr id="33" name="Блок-схема: узел 32"/>
            <p:cNvSpPr/>
            <p:nvPr/>
          </p:nvSpPr>
          <p:spPr>
            <a:xfrm>
              <a:off x="1907704" y="5661248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−</a:t>
              </a:r>
              <a:endParaRPr lang="ru-RU" dirty="0"/>
            </a:p>
          </p:txBody>
        </p:sp>
      </p:grp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47864" y="5233789"/>
            <a:ext cx="2808312" cy="162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28184" y="5229200"/>
            <a:ext cx="2746995" cy="16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" name="Номер слайда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3337D-4521-475E-A86D-AB608776E4E4}" type="slidenum">
              <a:rPr lang="ru-RU" smtClean="0"/>
              <a:pPr/>
              <a:t>5</a:t>
            </a:fld>
            <a:endParaRPr lang="ru-RU"/>
          </a:p>
        </p:txBody>
      </p:sp>
      <p:pic>
        <p:nvPicPr>
          <p:cNvPr id="1034" name="slide_05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63888" y="274638"/>
            <a:ext cx="5122912" cy="1143000"/>
          </a:xfrm>
        </p:spPr>
        <p:txBody>
          <a:bodyPr/>
          <a:lstStyle/>
          <a:p>
            <a:r>
              <a:rPr lang="ru-RU" sz="3200" dirty="0" smtClean="0"/>
              <a:t>Биполярные и полевые транзисторы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844824"/>
            <a:ext cx="8964488" cy="5013176"/>
          </a:xfrm>
        </p:spPr>
        <p:txBody>
          <a:bodyPr/>
          <a:lstStyle/>
          <a:p>
            <a:pPr algn="just"/>
            <a:r>
              <a:rPr lang="ru-RU" sz="1800" dirty="0" smtClean="0"/>
              <a:t>Биполярные транзисторы управляются током. (коллектор, эмиттер, база.)</a:t>
            </a:r>
          </a:p>
          <a:p>
            <a:pPr algn="just"/>
            <a:r>
              <a:rPr lang="ru-RU" sz="1800" dirty="0" smtClean="0"/>
              <a:t>Биполярные транзисторы с общей базой позволяют усилить по напряжению.</a:t>
            </a:r>
          </a:p>
          <a:p>
            <a:pPr algn="just"/>
            <a:r>
              <a:rPr lang="ru-RU" sz="1800" dirty="0" smtClean="0"/>
              <a:t>С общим эмиттером усилить по току и напряжению</a:t>
            </a:r>
          </a:p>
          <a:p>
            <a:pPr algn="just"/>
            <a:r>
              <a:rPr lang="ru-RU" sz="1800" dirty="0" smtClean="0"/>
              <a:t>С общим коллектором усилить по току. </a:t>
            </a:r>
          </a:p>
          <a:p>
            <a:pPr algn="just"/>
            <a:r>
              <a:rPr lang="ru-RU" sz="1800" dirty="0" smtClean="0"/>
              <a:t>Полевой транзистор основан на управлении электрическим сопротивлением токопроводящего канала поперечным электрическим полем, создаваемым приложенным к затвору напряжением. (исток, сток, затвор). </a:t>
            </a:r>
          </a:p>
          <a:p>
            <a:pPr algn="just"/>
            <a:r>
              <a:rPr lang="ru-RU" sz="1800" dirty="0" smtClean="0"/>
              <a:t>За счёт того, что полевые транзисторы управляются полем (величиной напряжения приложенного к затвору), а не током, протекающим через базу (как в биполярных транзисторах), полевые транзисторы потребляют значительно меньше энергии, что особенно актуально в схемах ждущих и следящих устройств, а также в схемах малого потребления и энергосбережения (реализация спящих режимов). Обладают меньшим уровнем шума чем биполярные транзисторы, при тех же размерах могут оперировать большими мощностями, но ниже коэффициент усиления по напряжению по сравнению с биполярным. </a:t>
            </a:r>
          </a:p>
          <a:p>
            <a:endParaRPr lang="ru-RU" sz="1800" dirty="0"/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3817620" cy="1874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3337D-4521-475E-A86D-AB608776E4E4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6" name="slide_06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764704"/>
            <a:ext cx="5803265" cy="2770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Рисунок 3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4293096"/>
            <a:ext cx="5848350" cy="226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611560" y="3573016"/>
            <a:ext cx="72008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не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267744" y="3573016"/>
            <a:ext cx="129614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 smtClean="0"/>
              <a:t>Не-И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499992" y="3501008"/>
            <a:ext cx="129614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 smtClean="0"/>
              <a:t>Не-ИЛИ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228184" y="188640"/>
            <a:ext cx="291581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Если входное напряжение ниже определенного критического значения, транзистор выключается и действует как очень большое сопротивление. Это приводит к выходному сигналу, близкому к </a:t>
            </a:r>
            <a:r>
              <a:rPr lang="ru-RU" dirty="0" err="1"/>
              <a:t>Vcc</a:t>
            </a:r>
            <a:r>
              <a:rPr lang="ru-RU" dirty="0"/>
              <a:t> (напряжению, подаваемому извне), обычно +5 В для данного типа транзистора. Если входное напряжение превышает критическое значение, транзистор включается и действует как провод, вызывая заземление сигнала (по соглашению 0 В).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79512" y="0"/>
            <a:ext cx="5832648" cy="83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Элементы логики вычислительных систем</a:t>
            </a:r>
            <a:endParaRPr lang="ru-RU" dirty="0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12" name="slide_07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auto">
          <a:xfrm>
            <a:off x="3923928" y="260648"/>
            <a:ext cx="4968552" cy="3456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/>
          <p:cNvPicPr/>
          <p:nvPr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lumMod val="50000"/>
                <a:tint val="45000"/>
                <a:satMod val="400000"/>
              </a:schemeClr>
            </a:duotone>
          </a:blip>
          <a:stretch>
            <a:fillRect/>
          </a:stretch>
        </p:blipFill>
        <p:spPr bwMode="auto">
          <a:xfrm>
            <a:off x="179512" y="188640"/>
            <a:ext cx="3635896" cy="242088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Прямоугольник 4"/>
          <p:cNvSpPr/>
          <p:nvPr/>
        </p:nvSpPr>
        <p:spPr>
          <a:xfrm>
            <a:off x="2627784" y="4293096"/>
            <a:ext cx="61206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На заре вычислительной техники диодная логика (ДЛ), а затем смешанная диодно-транзисторная логика (ДТЛ) были основой </a:t>
            </a:r>
            <a:r>
              <a:rPr lang="ru-RU" dirty="0" err="1"/>
              <a:t>схемотехники</a:t>
            </a:r>
            <a:r>
              <a:rPr lang="ru-RU" dirty="0"/>
              <a:t> цифровых узлов (в дискретном исполнении), но с появлением интегральных микросхем довольно быстро были вытеснены транзисторно-транзисторной логикой (ТТЛ), многочисленные варианты которой и по сей день "правят бал" в цифровой </a:t>
            </a:r>
            <a:r>
              <a:rPr lang="ru-RU" dirty="0" err="1"/>
              <a:t>схемотехнике</a:t>
            </a:r>
            <a:r>
              <a:rPr lang="ru-RU" dirty="0"/>
              <a:t>.</a:t>
            </a:r>
          </a:p>
        </p:txBody>
      </p:sp>
      <p:pic>
        <p:nvPicPr>
          <p:cNvPr id="6" name="Рисунок 5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504" y="2996952"/>
            <a:ext cx="2448272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8</a:t>
            </a:fld>
            <a:endParaRPr lang="ru-RU"/>
          </a:p>
        </p:txBody>
      </p:sp>
      <p:pic>
        <p:nvPicPr>
          <p:cNvPr id="8" name="slide_08.mp3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39552" y="188640"/>
            <a:ext cx="784887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КМОП</a:t>
            </a:r>
            <a:r>
              <a:rPr lang="ru-RU" dirty="0"/>
              <a:t> </a:t>
            </a:r>
            <a:endParaRPr lang="ru-RU" dirty="0" smtClean="0"/>
          </a:p>
          <a:p>
            <a:r>
              <a:rPr lang="ru-RU" dirty="0" err="1" smtClean="0"/>
              <a:t>Комплементарные</a:t>
            </a:r>
            <a:r>
              <a:rPr lang="ru-RU" dirty="0" smtClean="0"/>
              <a:t> </a:t>
            </a:r>
            <a:r>
              <a:rPr lang="ru-RU" dirty="0"/>
              <a:t>полевые транзисторы со структурой металл-окисел-полупроводник</a:t>
            </a:r>
            <a:r>
              <a:rPr lang="ru-RU" dirty="0" smtClean="0"/>
              <a:t>. (окисел – диэлектрик </a:t>
            </a:r>
            <a:r>
              <a:rPr lang="en-US" dirty="0" smtClean="0"/>
              <a:t>SiO2 - </a:t>
            </a:r>
            <a:r>
              <a:rPr lang="ru-RU" dirty="0" smtClean="0"/>
              <a:t>стекло)</a:t>
            </a:r>
            <a:endParaRPr lang="ru-RU" dirty="0"/>
          </a:p>
          <a:p>
            <a:r>
              <a:rPr lang="ru-RU" dirty="0" err="1"/>
              <a:t>Комплементарный</a:t>
            </a:r>
            <a:r>
              <a:rPr lang="ru-RU" dirty="0"/>
              <a:t> - взаимно дополняющий. Так называют пару транзисторов, сходных по параметрам, но противоположных по структуре, например </a:t>
            </a:r>
            <a:r>
              <a:rPr lang="ru-RU" dirty="0" err="1"/>
              <a:t>n-p-n</a:t>
            </a:r>
            <a:r>
              <a:rPr lang="ru-RU" dirty="0"/>
              <a:t> и </a:t>
            </a:r>
            <a:r>
              <a:rPr lang="ru-RU" dirty="0" err="1"/>
              <a:t>p-n-p</a:t>
            </a:r>
            <a:r>
              <a:rPr lang="ru-RU" dirty="0"/>
              <a:t> для биполярных и p-канальные и n-канальные для униполярных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852936"/>
            <a:ext cx="4099069" cy="3501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Прямая со стрелкой 4"/>
          <p:cNvCxnSpPr/>
          <p:nvPr/>
        </p:nvCxnSpPr>
        <p:spPr>
          <a:xfrm flipH="1">
            <a:off x="2699792" y="4725144"/>
            <a:ext cx="144016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851920" y="4293096"/>
            <a:ext cx="1080120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Полупроводник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139952" y="198884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Затвор</a:t>
            </a:r>
            <a:r>
              <a:rPr lang="ru-RU" dirty="0"/>
              <a:t> </a:t>
            </a:r>
            <a:r>
              <a:rPr lang="ru-RU" dirty="0" smtClean="0"/>
              <a:t>изолирован </a:t>
            </a:r>
            <a:r>
              <a:rPr lang="ru-RU" dirty="0"/>
              <a:t>от всех выводов транзистора, поэтому </a:t>
            </a:r>
            <a:r>
              <a:rPr lang="ru-RU" dirty="0" err="1"/>
              <a:t>МОП-транзистор</a:t>
            </a:r>
            <a:r>
              <a:rPr lang="ru-RU" dirty="0"/>
              <a:t> также называют транзистором с изолированным затвором</a:t>
            </a:r>
            <a:r>
              <a:rPr lang="ru-RU" dirty="0" smtClean="0"/>
              <a:t>. Возникновение </a:t>
            </a:r>
            <a:r>
              <a:rPr lang="en-US" dirty="0" smtClean="0"/>
              <a:t>n – </a:t>
            </a:r>
            <a:r>
              <a:rPr lang="ru-RU" dirty="0" smtClean="0"/>
              <a:t>канала. </a:t>
            </a:r>
            <a:endParaRPr lang="ru-RU" dirty="0"/>
          </a:p>
        </p:txBody>
      </p:sp>
      <p:pic>
        <p:nvPicPr>
          <p:cNvPr id="11" name="Рисунок 10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8064" y="3501008"/>
            <a:ext cx="3995936" cy="3356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9</a:t>
            </a:fld>
            <a:endParaRPr lang="ru-RU"/>
          </a:p>
        </p:txBody>
      </p:sp>
      <p:pic>
        <p:nvPicPr>
          <p:cNvPr id="12" name="slide_09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32656"/>
            <a:ext cx="2267744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Рисунок 2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63888" y="548680"/>
            <a:ext cx="3096344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Прямоугольник 3"/>
          <p:cNvSpPr/>
          <p:nvPr/>
        </p:nvSpPr>
        <p:spPr>
          <a:xfrm>
            <a:off x="0" y="0"/>
            <a:ext cx="3419872" cy="4046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 –</a:t>
            </a:r>
            <a:r>
              <a:rPr lang="ru-RU" dirty="0" smtClean="0"/>
              <a:t> канальный транзистор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563888" y="0"/>
            <a:ext cx="30243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  <a:r>
              <a:rPr lang="en-US" dirty="0" smtClean="0"/>
              <a:t> –</a:t>
            </a:r>
            <a:r>
              <a:rPr lang="ru-RU" dirty="0" smtClean="0"/>
              <a:t> канальный транзистор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4365104"/>
            <a:ext cx="1801495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Прямоугольник 6"/>
          <p:cNvSpPr/>
          <p:nvPr/>
        </p:nvSpPr>
        <p:spPr>
          <a:xfrm>
            <a:off x="323528" y="6525344"/>
            <a:ext cx="1296144" cy="3326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Не</a:t>
            </a:r>
            <a:endParaRPr lang="ru-RU" dirty="0"/>
          </a:p>
        </p:txBody>
      </p:sp>
      <p:pic>
        <p:nvPicPr>
          <p:cNvPr id="8" name="Рисунок 7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44008" y="4149080"/>
            <a:ext cx="3839339" cy="2564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Прямоугольник 8"/>
          <p:cNvSpPr/>
          <p:nvPr/>
        </p:nvSpPr>
        <p:spPr>
          <a:xfrm>
            <a:off x="7668344" y="5301208"/>
            <a:ext cx="129614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 smtClean="0"/>
              <a:t>И-Не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835696" y="4293096"/>
            <a:ext cx="302433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 подаче на вход логического «0», транзистор VT1 открывается, а VT2 закрывается, а при подаче логической «1» все произойдет наоборот – VT2 откроется, а VT1 закроется.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6660232" y="0"/>
            <a:ext cx="2483768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По сравнению с </a:t>
            </a:r>
            <a:r>
              <a:rPr lang="ru-RU" sz="1400" dirty="0" err="1"/>
              <a:t>р-канальным</a:t>
            </a:r>
            <a:r>
              <a:rPr lang="ru-RU" sz="1400" dirty="0"/>
              <a:t> у </a:t>
            </a:r>
            <a:r>
              <a:rPr lang="en-US" sz="1400" dirty="0"/>
              <a:t>n</a:t>
            </a:r>
            <a:r>
              <a:rPr lang="ru-RU" sz="1400" dirty="0"/>
              <a:t>-</a:t>
            </a:r>
            <a:r>
              <a:rPr lang="ru-RU" sz="1400" dirty="0" err="1"/>
              <a:t>кан-го</a:t>
            </a:r>
            <a:r>
              <a:rPr lang="ru-RU" sz="1400" dirty="0"/>
              <a:t> подложка </a:t>
            </a:r>
            <a:r>
              <a:rPr lang="ru-RU" sz="1400" dirty="0" err="1"/>
              <a:t>р-типа</a:t>
            </a:r>
            <a:r>
              <a:rPr lang="ru-RU" sz="1400" dirty="0"/>
              <a:t> (кремний, бедный электронами), в которой сделаны легированием </a:t>
            </a:r>
            <a:r>
              <a:rPr lang="ru-RU" sz="1400" dirty="0" err="1"/>
              <a:t>n+</a:t>
            </a:r>
            <a:r>
              <a:rPr lang="ru-RU" sz="1400" dirty="0"/>
              <a:t>, области истока и стока, обогащенные отрицательными носителями – электронами. Если на затвор подать высокий потенциал, канал транзистора замкнется, и от плюса источника напряжения в нулевой провод потечет ток стока, а выходное напряжение окажется на низком логическом уровне.</a:t>
            </a:r>
          </a:p>
        </p:txBody>
      </p:sp>
      <p:pic>
        <p:nvPicPr>
          <p:cNvPr id="12" name="Рисунок 11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2060848"/>
            <a:ext cx="3059832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14" name="slide_10.mp3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3528" y="188640"/>
            <a:ext cx="84969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Триггер</a:t>
            </a:r>
            <a:r>
              <a:rPr lang="ru-RU" dirty="0"/>
              <a:t> — это запоминающий элемент с двумя (или более) устойчивыми состояниями, изменение которых происходит под действием входных сигналов и предназначен для хранения одного бита информации, то есть лог. 0 или лог. 1</a:t>
            </a:r>
            <a:r>
              <a:rPr lang="ru-RU" dirty="0" smtClean="0"/>
              <a:t>. Пример </a:t>
            </a:r>
            <a:r>
              <a:rPr lang="en-US" dirty="0" smtClean="0"/>
              <a:t>RS – </a:t>
            </a:r>
            <a:r>
              <a:rPr lang="ru-RU" dirty="0" smtClean="0"/>
              <a:t>триггера (</a:t>
            </a:r>
            <a:r>
              <a:rPr lang="en-US" dirty="0" smtClean="0"/>
              <a:t>Reset - Set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700808"/>
            <a:ext cx="1801495" cy="1545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Рисунок 3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11760" y="1628800"/>
            <a:ext cx="1847215" cy="171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5004048" y="1772816"/>
          <a:ext cx="2448272" cy="1402080"/>
        </p:xfrm>
        <a:graphic>
          <a:graphicData uri="http://schemas.openxmlformats.org/drawingml/2006/table">
            <a:tbl>
              <a:tblPr/>
              <a:tblGrid>
                <a:gridCol w="491495"/>
                <a:gridCol w="391171"/>
                <a:gridCol w="782343"/>
                <a:gridCol w="783263"/>
              </a:tblGrid>
              <a:tr h="2736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S  </a:t>
                      </a:r>
                      <a:endParaRPr lang="ru-RU" sz="1600" dirty="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 R  </a:t>
                      </a:r>
                      <a:endParaRPr lang="ru-RU" sz="16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Q(t) </a:t>
                      </a:r>
                      <a:endParaRPr lang="ru-RU" sz="16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Q(t)</a:t>
                      </a:r>
                      <a:endParaRPr lang="ru-RU" sz="16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6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0 </a:t>
                      </a:r>
                      <a:endParaRPr lang="ru-RU" sz="16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D3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1 </a:t>
                      </a:r>
                      <a:endParaRPr lang="ru-RU" sz="1600" dirty="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D3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0 </a:t>
                      </a:r>
                      <a:endParaRPr lang="ru-RU" sz="1600" dirty="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D3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ru-RU" sz="16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D3D2"/>
                    </a:solidFill>
                  </a:tcPr>
                </a:tc>
              </a:tr>
              <a:tr h="2736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1 </a:t>
                      </a:r>
                      <a:endParaRPr lang="ru-RU" sz="16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0 </a:t>
                      </a:r>
                      <a:endParaRPr lang="ru-RU" sz="16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1 </a:t>
                      </a:r>
                      <a:endParaRPr lang="ru-RU" sz="1600" dirty="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ru-RU" sz="1600" dirty="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36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0 </a:t>
                      </a:r>
                      <a:endParaRPr lang="ru-RU" sz="16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D3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0 </a:t>
                      </a:r>
                      <a:endParaRPr lang="ru-RU" sz="16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D3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Q(t-1) </a:t>
                      </a:r>
                      <a:endParaRPr lang="ru-RU" sz="16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D3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Q(t-1)</a:t>
                      </a:r>
                      <a:endParaRPr lang="ru-RU" sz="1600" dirty="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D3D2"/>
                    </a:solidFill>
                  </a:tcPr>
                </a:tc>
              </a:tr>
              <a:tr h="2736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1 </a:t>
                      </a:r>
                      <a:endParaRPr lang="ru-RU" sz="16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1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1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0" y="3212976"/>
            <a:ext cx="896448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D-триггер </a:t>
            </a:r>
            <a:r>
              <a:rPr lang="ru-RU" dirty="0"/>
              <a:t>(D - </a:t>
            </a:r>
            <a:r>
              <a:rPr lang="ru-RU" dirty="0" err="1"/>
              <a:t>delay</a:t>
            </a:r>
            <a:r>
              <a:rPr lang="ru-RU" dirty="0"/>
              <a:t> — задержка, либо от </a:t>
            </a:r>
            <a:r>
              <a:rPr lang="ru-RU" dirty="0" err="1"/>
              <a:t>data</a:t>
            </a:r>
            <a:r>
              <a:rPr lang="ru-RU" dirty="0"/>
              <a:t> — данные) — запоминает состояние входа и выдаёт его на выход. D-триггеры имеют, как минимум, два входа: информационный D и синхронизации С. Вход синхронизации С может быть статическим (потенциальным) и динамическим. У триггеров со статическим входом С информация записывается в течение времени, при котором уровень сигнала C=1. В триггерах с динамическим входом С информация записывается только в течение перепада напряжения на входе С.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79512" y="5229200"/>
            <a:ext cx="86409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Асинхронный Т-триггер </a:t>
            </a:r>
            <a:r>
              <a:rPr lang="ru-RU" dirty="0"/>
              <a:t>не имеет входа разрешения счёта — Т и переключается по каждому тактовому импульсу на входе С.</a:t>
            </a:r>
          </a:p>
          <a:p>
            <a:r>
              <a:rPr lang="ru-RU" dirty="0">
                <a:solidFill>
                  <a:srgbClr val="0070C0"/>
                </a:solidFill>
              </a:rPr>
              <a:t>Синхронный Т-триггер, </a:t>
            </a:r>
            <a:r>
              <a:rPr lang="ru-RU" dirty="0"/>
              <a:t>при единице на входе Т, по каждому такту на входе С изменяет своё логическое состояние на противоположное, и не изменяет выходное состояние при нуле на входе T.</a:t>
            </a: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9" name="slide_11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484784"/>
            <a:ext cx="2880320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Рисунок 2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1920" y="2276872"/>
            <a:ext cx="4824536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Прямоугольник 3"/>
          <p:cNvSpPr/>
          <p:nvPr/>
        </p:nvSpPr>
        <p:spPr>
          <a:xfrm>
            <a:off x="611560" y="332656"/>
            <a:ext cx="2448272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Регистр на </a:t>
            </a:r>
            <a:r>
              <a:rPr lang="en-US" dirty="0" smtClean="0"/>
              <a:t>D </a:t>
            </a:r>
            <a:r>
              <a:rPr lang="ru-RU" dirty="0" smtClean="0"/>
              <a:t>триггерах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436096" y="1412776"/>
            <a:ext cx="2448272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Счетчик на </a:t>
            </a:r>
            <a:r>
              <a:rPr lang="en-US" dirty="0" smtClean="0"/>
              <a:t>T </a:t>
            </a:r>
            <a:r>
              <a:rPr lang="ru-RU" dirty="0" smtClean="0"/>
              <a:t>триггерах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7" name="slide_12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484784"/>
            <a:ext cx="2592288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Рисунок 3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1412776"/>
            <a:ext cx="3528392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251520" y="0"/>
            <a:ext cx="7200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0070C0"/>
                </a:solidFill>
              </a:rPr>
              <a:t>Шифратор. </a:t>
            </a:r>
            <a:r>
              <a:rPr lang="ru-RU" dirty="0" smtClean="0"/>
              <a:t>Принцип </a:t>
            </a:r>
            <a:r>
              <a:rPr lang="ru-RU" dirty="0"/>
              <a:t>работы шифратора заключается в том, что выходы z0, z1, …, zn−1 кодируют один из входов s0, s1, …, s2n−1 в двоичной системе счисления</a:t>
            </a:r>
            <a:r>
              <a:rPr lang="ru-RU" dirty="0" smtClean="0"/>
              <a:t>. </a:t>
            </a:r>
            <a:r>
              <a:rPr lang="ru-RU" dirty="0" smtClean="0">
                <a:solidFill>
                  <a:srgbClr val="0070C0"/>
                </a:solidFill>
              </a:rPr>
              <a:t>Дешифратор</a:t>
            </a:r>
            <a:r>
              <a:rPr lang="ru-RU" dirty="0" smtClean="0"/>
              <a:t> обратно преобразует двоичный код в соответствующую 1 на соответствующем по номеру выходе. 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67544" y="1916832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0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67544" y="2348880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0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467544" y="2780928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67544" y="3212976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0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419872" y="2132856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0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3419872" y="2852936"/>
            <a:ext cx="351656" cy="3516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0" y="1916832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0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2348880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0" y="2780928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3212976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3995936" y="1628800"/>
            <a:ext cx="351656" cy="3516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3275856" y="1628800"/>
            <a:ext cx="57606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01</a:t>
            </a:r>
            <a:endParaRPr lang="ru-RU" dirty="0"/>
          </a:p>
        </p:txBody>
      </p:sp>
      <p:pic>
        <p:nvPicPr>
          <p:cNvPr id="18" name="Рисунок 17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576" y="4077072"/>
            <a:ext cx="2495436" cy="263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Номер слайда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13</a:t>
            </a:fld>
            <a:endParaRPr lang="ru-RU"/>
          </a:p>
        </p:txBody>
      </p:sp>
      <p:pic>
        <p:nvPicPr>
          <p:cNvPr id="20" name="slide_13.mp3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04664"/>
            <a:ext cx="4408805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Прямоугольник 2"/>
          <p:cNvSpPr/>
          <p:nvPr/>
        </p:nvSpPr>
        <p:spPr>
          <a:xfrm>
            <a:off x="4049688" y="0"/>
            <a:ext cx="5094312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>
                <a:solidFill>
                  <a:srgbClr val="0070C0"/>
                </a:solidFill>
              </a:rPr>
              <a:t>Mультипле́ксор</a:t>
            </a:r>
            <a:r>
              <a:rPr lang="ru-RU" sz="2000" dirty="0"/>
              <a:t> — устройство, имеющее несколько сигнальных входов, один или более управляющих входов и один выход. Мультиплексор позволяет передавать сигнал с одного из входов на выход; при этом выбор желаемого входа осуществляется подачей соответствующей комбинации управляющих сигналов.</a:t>
            </a:r>
          </a:p>
          <a:p>
            <a:r>
              <a:rPr lang="ru-RU" sz="2000" dirty="0">
                <a:solidFill>
                  <a:srgbClr val="00B050"/>
                </a:solidFill>
              </a:rPr>
              <a:t>Мультиплексоры</a:t>
            </a:r>
            <a:r>
              <a:rPr lang="ru-RU" sz="2000" dirty="0"/>
              <a:t> могут использоваться для преобразования параллельного двоичного кода в последовательный. Для такого преобразования достаточно подать на информационные входы мультиплексора параллельный двоичный код, а сигналы на адресные входы подавать в такой последовательности, чтобы к выходу поочередно подключались входы, начиная с первого и заканчивая последним.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11560" y="4293096"/>
            <a:ext cx="2592288" cy="17281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 – двоичный адрес.</a:t>
            </a:r>
          </a:p>
          <a:p>
            <a:pPr algn="ctr"/>
            <a:r>
              <a:rPr lang="en-US" dirty="0" smtClean="0"/>
              <a:t>D – </a:t>
            </a:r>
            <a:r>
              <a:rPr lang="ru-RU" dirty="0" smtClean="0"/>
              <a:t>передаваемый канал.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14</a:t>
            </a:fld>
            <a:endParaRPr lang="ru-RU"/>
          </a:p>
        </p:txBody>
      </p:sp>
      <p:pic>
        <p:nvPicPr>
          <p:cNvPr id="6" name="slide_14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404664"/>
            <a:ext cx="3512820" cy="2118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Прямоугольник 3"/>
          <p:cNvSpPr/>
          <p:nvPr/>
        </p:nvSpPr>
        <p:spPr>
          <a:xfrm>
            <a:off x="4139952" y="548680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>
                <a:solidFill>
                  <a:srgbClr val="00B050"/>
                </a:solidFill>
              </a:rPr>
              <a:t>Демультиплексор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/>
              <a:t>— это логическое устройство, предназначенное для переключения сигнала с одного информационного входа на один из информационных выходов. Таким образом, </a:t>
            </a:r>
            <a:r>
              <a:rPr lang="ru-RU" dirty="0" err="1"/>
              <a:t>демультиплексор</a:t>
            </a:r>
            <a:r>
              <a:rPr lang="ru-RU" dirty="0"/>
              <a:t> в функциональном отношении противоположен мультиплексору. На схемах </a:t>
            </a:r>
            <a:r>
              <a:rPr lang="ru-RU" dirty="0" err="1"/>
              <a:t>демультиплексоры</a:t>
            </a:r>
            <a:r>
              <a:rPr lang="ru-RU" dirty="0"/>
              <a:t> обозначают через DMX или DMS.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15</a:t>
            </a:fld>
            <a:endParaRPr lang="ru-RU"/>
          </a:p>
        </p:txBody>
      </p:sp>
      <p:pic>
        <p:nvPicPr>
          <p:cNvPr id="6" name="slide_15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340768"/>
            <a:ext cx="5556572" cy="3268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Прямоугольник 2"/>
          <p:cNvSpPr/>
          <p:nvPr/>
        </p:nvSpPr>
        <p:spPr>
          <a:xfrm>
            <a:off x="6660232" y="1700808"/>
            <a:ext cx="2232248" cy="2736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Si – </a:t>
            </a:r>
            <a:r>
              <a:rPr lang="ru-RU" dirty="0" smtClean="0"/>
              <a:t>бит сложения по модулю два.</a:t>
            </a:r>
          </a:p>
          <a:p>
            <a:pPr algn="ctr"/>
            <a:r>
              <a:rPr lang="en-US" dirty="0" smtClean="0"/>
              <a:t>Pi – </a:t>
            </a:r>
            <a:r>
              <a:rPr lang="ru-RU" dirty="0" smtClean="0"/>
              <a:t>бит переноса.</a:t>
            </a:r>
          </a:p>
          <a:p>
            <a:pPr algn="ctr"/>
            <a:r>
              <a:rPr lang="ru-RU" dirty="0" smtClean="0">
                <a:solidFill>
                  <a:srgbClr val="00B050"/>
                </a:solidFill>
              </a:rPr>
              <a:t>Схема сумматора.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16</a:t>
            </a:fld>
            <a:endParaRPr lang="ru-RU"/>
          </a:p>
        </p:txBody>
      </p:sp>
      <p:pic>
        <p:nvPicPr>
          <p:cNvPr id="5" name="slide_16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16633"/>
            <a:ext cx="896448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/>
              <a:t>Архитектура и компоненты компьютерной системы</a:t>
            </a:r>
          </a:p>
          <a:p>
            <a:r>
              <a:rPr lang="ru-RU" sz="2000" dirty="0" smtClean="0"/>
              <a:t>Компьютерная система представляет собой комплекс взаимосвязанных аппаратных средств, разделенных на базовые компоненты системного блока и внешние периферийные устройства.</a:t>
            </a:r>
          </a:p>
          <a:p>
            <a:r>
              <a:rPr lang="ru-RU" sz="2000" b="1" dirty="0" smtClean="0"/>
              <a:t>I. Центральные компоненты (Внутри системного блока)</a:t>
            </a:r>
          </a:p>
          <a:p>
            <a:r>
              <a:rPr lang="ru-RU" sz="2000" b="1" dirty="0" smtClean="0"/>
              <a:t>Центральный процессор (ЦП / CPU):</a:t>
            </a:r>
            <a:r>
              <a:rPr lang="ru-RU" sz="2000" dirty="0" smtClean="0"/>
              <a:t> Главное вычислительное устройство, выполняющее арифметические и логические операции, а также осуществляющее общее управление аппаратными средствами.</a:t>
            </a:r>
          </a:p>
          <a:p>
            <a:r>
              <a:rPr lang="ru-RU" sz="2000" b="1" dirty="0" smtClean="0"/>
              <a:t>Материнская плата (Системная плата):</a:t>
            </a:r>
            <a:r>
              <a:rPr lang="ru-RU" sz="2000" dirty="0" smtClean="0"/>
              <a:t> Интеграционная основа системы, обеспечивающая физическое сопряжение, электропитание и информационное взаимодействие всех внутренних модулей.</a:t>
            </a:r>
          </a:p>
        </p:txBody>
      </p:sp>
      <p:sp>
        <p:nvSpPr>
          <p:cNvPr id="3074" name="AutoShape 2" descr="Computer Bus | Functions Of Data Bus , Address Bus , Control Bu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8104" y="4077072"/>
            <a:ext cx="3563888" cy="2204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Прямоугольник 5"/>
          <p:cNvSpPr/>
          <p:nvPr/>
        </p:nvSpPr>
        <p:spPr>
          <a:xfrm>
            <a:off x="179512" y="3501009"/>
            <a:ext cx="554461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/>
              <a:t>Оперативная память (ОЗУ / RAM):</a:t>
            </a:r>
            <a:r>
              <a:rPr lang="ru-RU" sz="2000" dirty="0" smtClean="0"/>
              <a:t> Энергозависимое запоминающее устройство с произвольным доступом, предназначенное для оперативного хранения машинного кода и данных, обрабатываемых процессором</a:t>
            </a:r>
            <a:r>
              <a:rPr lang="en-US" sz="2000" dirty="0" smtClean="0"/>
              <a:t>.</a:t>
            </a:r>
            <a:endParaRPr lang="ru-RU" sz="2000" dirty="0" smtClean="0"/>
          </a:p>
          <a:p>
            <a:r>
              <a:rPr lang="ru-RU" sz="2000" b="1" dirty="0" smtClean="0"/>
              <a:t>Системные и локальные шины:</a:t>
            </a:r>
            <a:r>
              <a:rPr lang="ru-RU" sz="2000" dirty="0" smtClean="0"/>
              <a:t> Совокупность проводников и протоколов передачи данных, формирующих магистрали информационного обмена между процессором, памятью и контроллерами устройств.</a:t>
            </a:r>
          </a:p>
          <a:p>
            <a:endParaRPr lang="ru-RU" sz="2000" dirty="0"/>
          </a:p>
        </p:txBody>
      </p:sp>
      <p:pic>
        <p:nvPicPr>
          <p:cNvPr id="3077" name="slide_17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7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3528" y="188640"/>
            <a:ext cx="835292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Постоянные запоминающие устройства (ПЗУ / Накопители):</a:t>
            </a:r>
            <a:r>
              <a:rPr lang="ru-RU" dirty="0" smtClean="0"/>
              <a:t> Энергонезависимые модули хранения данных (</a:t>
            </a:r>
            <a:r>
              <a:rPr lang="ru-RU" b="1" dirty="0" smtClean="0"/>
              <a:t>SSD / HDD</a:t>
            </a:r>
            <a:r>
              <a:rPr lang="ru-RU" dirty="0" smtClean="0"/>
              <a:t>), обеспечивающие долговременное сбережение операционной системы, программного обеспечения и пользовательских файлов.</a:t>
            </a:r>
          </a:p>
          <a:p>
            <a:r>
              <a:rPr lang="ru-RU" b="1" dirty="0" smtClean="0"/>
              <a:t>Видеокарта (Графический процессор / GPU):</a:t>
            </a:r>
            <a:r>
              <a:rPr lang="ru-RU" dirty="0" smtClean="0"/>
              <a:t> Специализированный вычислительный модуль (дискретный или интегрированный), осуществляющий обработку графических данных и формирование видеосигнала.</a:t>
            </a:r>
          </a:p>
          <a:p>
            <a:r>
              <a:rPr lang="ru-RU" b="1" dirty="0" smtClean="0"/>
              <a:t>Блок питания (БП):</a:t>
            </a:r>
            <a:r>
              <a:rPr lang="ru-RU" dirty="0" smtClean="0"/>
              <a:t> Модуль трансформации и стабилизации переменного тока электросети в постоянный ток требуемых номиналов для обеспечения энергией всех компонентов системы.</a:t>
            </a:r>
          </a:p>
          <a:p>
            <a:r>
              <a:rPr lang="ru-RU" b="1" dirty="0" smtClean="0"/>
              <a:t>Система охлаждения:</a:t>
            </a:r>
            <a:r>
              <a:rPr lang="ru-RU" dirty="0" smtClean="0"/>
              <a:t> Совокупность радиаторов, вентиляторов или жидкостных контуров, осуществляющая отвод тепловой энергии от </a:t>
            </a:r>
            <a:r>
              <a:rPr lang="ru-RU" dirty="0" err="1" smtClean="0"/>
              <a:t>термонагруженных</a:t>
            </a:r>
            <a:r>
              <a:rPr lang="ru-RU" dirty="0" smtClean="0"/>
              <a:t> элементов (ЦП, GPU).</a:t>
            </a: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4077072"/>
            <a:ext cx="5904656" cy="1567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slide_18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5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188640"/>
            <a:ext cx="856895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/>
              <a:t>II. Внешние компоненты (Периферийные устройства)</a:t>
            </a:r>
          </a:p>
          <a:p>
            <a:r>
              <a:rPr lang="ru-RU" sz="2400" b="1" dirty="0" smtClean="0"/>
              <a:t>Устройства ввода информации:</a:t>
            </a:r>
            <a:r>
              <a:rPr lang="ru-RU" sz="2400" dirty="0" smtClean="0"/>
              <a:t> Аппаратные интерфейсы для преобразования физических действий пользователя в цифровые данные (</a:t>
            </a:r>
            <a:r>
              <a:rPr lang="ru-RU" sz="2400" b="1" dirty="0" smtClean="0"/>
              <a:t>клавиатура, мышь, сканер, микрофон</a:t>
            </a:r>
            <a:r>
              <a:rPr lang="ru-RU" sz="2400" dirty="0" smtClean="0"/>
              <a:t>).</a:t>
            </a:r>
          </a:p>
          <a:p>
            <a:r>
              <a:rPr lang="ru-RU" sz="2400" b="1" dirty="0" smtClean="0"/>
              <a:t>Устройства вывода информации:</a:t>
            </a:r>
            <a:r>
              <a:rPr lang="ru-RU" sz="2400" dirty="0" smtClean="0"/>
              <a:t> Компоненты, предназначенные для визуализации или акустического воспроизведения обработанных данных (</a:t>
            </a:r>
            <a:r>
              <a:rPr lang="ru-RU" sz="2400" b="1" dirty="0" smtClean="0"/>
              <a:t>монитор, принтер, аудиосистема</a:t>
            </a:r>
            <a:r>
              <a:rPr lang="ru-RU" sz="2400" dirty="0" smtClean="0"/>
              <a:t>).</a:t>
            </a:r>
          </a:p>
          <a:p>
            <a:r>
              <a:rPr lang="ru-RU" sz="2400" b="1" dirty="0" smtClean="0"/>
              <a:t>Внешние интерфейсы коммуникации:</a:t>
            </a:r>
            <a:r>
              <a:rPr lang="ru-RU" sz="2400" dirty="0" smtClean="0"/>
              <a:t> Сетевые адаптеры и порты ввода-вывода (</a:t>
            </a:r>
            <a:r>
              <a:rPr lang="ru-RU" sz="2400" b="1" dirty="0" err="1" smtClean="0"/>
              <a:t>Ethernet</a:t>
            </a:r>
            <a:r>
              <a:rPr lang="ru-RU" sz="2400" b="1" dirty="0" smtClean="0"/>
              <a:t>, </a:t>
            </a:r>
            <a:r>
              <a:rPr lang="ru-RU" sz="2400" b="1" dirty="0" err="1" smtClean="0"/>
              <a:t>Wi-Fi</a:t>
            </a:r>
            <a:r>
              <a:rPr lang="ru-RU" sz="2400" b="1" dirty="0" smtClean="0"/>
              <a:t>, USB</a:t>
            </a:r>
            <a:r>
              <a:rPr lang="ru-RU" sz="2400" dirty="0" smtClean="0"/>
              <a:t>), обеспечивающие сопряжение с внешними сетями и сторонним оборудованием.</a:t>
            </a:r>
            <a:endParaRPr lang="ru-RU" sz="2400" dirty="0"/>
          </a:p>
        </p:txBody>
      </p:sp>
      <p:sp>
        <p:nvSpPr>
          <p:cNvPr id="1026" name="AutoShape 2" descr="&lt;b&gt;Computer Peripherals&lt;/b&gt; and &lt;b&gt;Monitor&lt;/b&gt; Stock Illustration - Illustration of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4149080"/>
            <a:ext cx="3368331" cy="2521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4293096"/>
            <a:ext cx="1813655" cy="2420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slide_19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0" name="Picture 4" descr="370px-Motherboard_diagram_ru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17463"/>
            <a:ext cx="6481763" cy="6840537"/>
          </a:xfrm>
          <a:prstGeom prst="rect">
            <a:avLst/>
          </a:prstGeom>
          <a:noFill/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51520" y="476672"/>
            <a:ext cx="24009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Пример общей схемы </a:t>
            </a:r>
          </a:p>
          <a:p>
            <a:r>
              <a:rPr lang="ru-RU" dirty="0" smtClean="0"/>
              <a:t>Материнской платы</a:t>
            </a:r>
            <a:endParaRPr lang="ru-RU" dirty="0"/>
          </a:p>
        </p:txBody>
      </p:sp>
      <p:pic>
        <p:nvPicPr>
          <p:cNvPr id="19461" name="slide_20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4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 descr="newbigplat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73175"/>
            <a:ext cx="9144000" cy="558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043608" y="332656"/>
            <a:ext cx="637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Пример</a:t>
            </a:r>
            <a:r>
              <a:rPr lang="en-US" dirty="0" smtClean="0"/>
              <a:t> </a:t>
            </a:r>
            <a:r>
              <a:rPr lang="ru-RU" dirty="0" smtClean="0"/>
              <a:t>того как выглядит одна из типичных материнских плат</a:t>
            </a:r>
            <a:endParaRPr lang="ru-RU" dirty="0"/>
          </a:p>
        </p:txBody>
      </p:sp>
      <p:pic>
        <p:nvPicPr>
          <p:cNvPr id="21509" name="slide_21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50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1340768"/>
            <a:ext cx="864096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/>
              <a:t>Архитектура, устройство и система команд</a:t>
            </a:r>
          </a:p>
          <a:p>
            <a:r>
              <a:rPr lang="ru-RU" sz="2000" b="1" dirty="0" err="1" smtClean="0"/>
              <a:t>Микроархитектура</a:t>
            </a:r>
            <a:r>
              <a:rPr lang="ru-RU" sz="2000" b="1" dirty="0" smtClean="0"/>
              <a:t> (Устройство):</a:t>
            </a:r>
            <a:r>
              <a:rPr lang="ru-RU" sz="2000" dirty="0" smtClean="0"/>
              <a:t> Современные процессоры строятся на базе </a:t>
            </a:r>
            <a:r>
              <a:rPr lang="ru-RU" sz="2000" b="1" dirty="0" smtClean="0"/>
              <a:t>гетерогенных ядер</a:t>
            </a:r>
            <a:r>
              <a:rPr lang="ru-RU" sz="2000" dirty="0" smtClean="0"/>
              <a:t> (сочетание мощных производительных </a:t>
            </a:r>
            <a:r>
              <a:rPr lang="ru-RU" sz="2000" dirty="0" err="1" smtClean="0"/>
              <a:t>P-cores</a:t>
            </a:r>
            <a:r>
              <a:rPr lang="ru-RU" sz="2000" dirty="0" smtClean="0"/>
              <a:t> и </a:t>
            </a:r>
            <a:r>
              <a:rPr lang="ru-RU" sz="2000" dirty="0" err="1" smtClean="0"/>
              <a:t>энергоэффективных</a:t>
            </a:r>
            <a:r>
              <a:rPr lang="ru-RU" sz="2000" dirty="0" smtClean="0"/>
              <a:t> </a:t>
            </a:r>
            <a:r>
              <a:rPr lang="ru-RU" sz="2000" dirty="0" err="1" smtClean="0"/>
              <a:t>E-cores</a:t>
            </a:r>
            <a:r>
              <a:rPr lang="ru-RU" sz="2000" dirty="0" smtClean="0"/>
              <a:t>). Включают в себя многоуровневый кэш (L1, L2, L3), встроенный графический чип (</a:t>
            </a:r>
            <a:r>
              <a:rPr lang="ru-RU" sz="2000" dirty="0" err="1" smtClean="0"/>
              <a:t>iGPU</a:t>
            </a:r>
            <a:r>
              <a:rPr lang="ru-RU" sz="2000" dirty="0" smtClean="0"/>
              <a:t>) и выделенный </a:t>
            </a:r>
            <a:r>
              <a:rPr lang="ru-RU" sz="2000" dirty="0" err="1" smtClean="0"/>
              <a:t>нейропроцессор</a:t>
            </a:r>
            <a:r>
              <a:rPr lang="ru-RU" sz="2000" dirty="0" smtClean="0"/>
              <a:t> (</a:t>
            </a:r>
            <a:r>
              <a:rPr lang="ru-RU" sz="2000" b="1" dirty="0" smtClean="0"/>
              <a:t>NPU</a:t>
            </a:r>
            <a:r>
              <a:rPr lang="ru-RU" sz="2000" dirty="0" smtClean="0"/>
              <a:t>) для задач ИИ.</a:t>
            </a:r>
          </a:p>
          <a:p>
            <a:r>
              <a:rPr lang="ru-RU" sz="2000" b="1" dirty="0" smtClean="0"/>
              <a:t>Архитектура и Системы команд (ISA):x86-64 (CISC):</a:t>
            </a:r>
            <a:r>
              <a:rPr lang="ru-RU" sz="2000" dirty="0" smtClean="0"/>
              <a:t> Доминирует на ПК и серверах. Сложные команды, высокая производительность.</a:t>
            </a:r>
          </a:p>
          <a:p>
            <a:r>
              <a:rPr lang="ru-RU" sz="2000" b="1" dirty="0" smtClean="0"/>
              <a:t>ARM (RISC):</a:t>
            </a:r>
            <a:r>
              <a:rPr lang="ru-RU" sz="2000" dirty="0" smtClean="0"/>
              <a:t> Доминирует в мобильных устройствах, </a:t>
            </a:r>
            <a:r>
              <a:rPr lang="ru-RU" sz="2000" dirty="0" err="1" smtClean="0"/>
              <a:t>энергоэффективных</a:t>
            </a:r>
            <a:r>
              <a:rPr lang="ru-RU" sz="2000" dirty="0" smtClean="0"/>
              <a:t> ноутбуках (</a:t>
            </a:r>
            <a:r>
              <a:rPr lang="ru-RU" sz="2000" dirty="0" err="1" smtClean="0"/>
              <a:t>Apple</a:t>
            </a:r>
            <a:r>
              <a:rPr lang="ru-RU" sz="2000" dirty="0" smtClean="0"/>
              <a:t> </a:t>
            </a:r>
            <a:r>
              <a:rPr lang="ru-RU" sz="2000" dirty="0" err="1" smtClean="0"/>
              <a:t>Silicon</a:t>
            </a:r>
            <a:r>
              <a:rPr lang="ru-RU" sz="2000" dirty="0" smtClean="0"/>
              <a:t>, </a:t>
            </a:r>
            <a:r>
              <a:rPr lang="ru-RU" sz="2000" dirty="0" err="1" smtClean="0"/>
              <a:t>Snapdragon</a:t>
            </a:r>
            <a:r>
              <a:rPr lang="ru-RU" sz="2000" dirty="0" smtClean="0"/>
              <a:t> X) и облачных серверах. Упрощенный набор инструкций.</a:t>
            </a:r>
          </a:p>
          <a:p>
            <a:r>
              <a:rPr lang="ru-RU" sz="2000" b="1" dirty="0" smtClean="0"/>
              <a:t>RISC-V:</a:t>
            </a:r>
            <a:r>
              <a:rPr lang="ru-RU" sz="2000" dirty="0" smtClean="0"/>
              <a:t> Набирающая популярность открытая (</a:t>
            </a:r>
            <a:r>
              <a:rPr lang="ru-RU" sz="2000" dirty="0" err="1" smtClean="0"/>
              <a:t>open-source</a:t>
            </a:r>
            <a:r>
              <a:rPr lang="ru-RU" sz="2000" dirty="0" smtClean="0"/>
              <a:t>) архитектура.</a:t>
            </a:r>
          </a:p>
          <a:p>
            <a:r>
              <a:rPr lang="ru-RU" sz="2000" b="1" dirty="0" smtClean="0"/>
              <a:t>Элементная база:</a:t>
            </a:r>
            <a:r>
              <a:rPr lang="ru-RU" sz="2000" dirty="0" smtClean="0"/>
              <a:t> Ключевой элемент — </a:t>
            </a:r>
            <a:r>
              <a:rPr lang="ru-RU" sz="2000" b="1" dirty="0" smtClean="0"/>
              <a:t>полевой транзистор</a:t>
            </a:r>
            <a:r>
              <a:rPr lang="ru-RU" sz="2000" dirty="0" smtClean="0"/>
              <a:t> (в современных чипах используются структуры </a:t>
            </a:r>
            <a:r>
              <a:rPr lang="ru-RU" sz="2000" dirty="0" err="1" smtClean="0"/>
              <a:t>FinFET</a:t>
            </a:r>
            <a:r>
              <a:rPr lang="ru-RU" sz="2000" dirty="0" smtClean="0"/>
              <a:t> и GAAFET/</a:t>
            </a:r>
            <a:r>
              <a:rPr lang="ru-RU" sz="2000" dirty="0" err="1" smtClean="0"/>
              <a:t>RibbonFET</a:t>
            </a:r>
            <a:r>
              <a:rPr lang="ru-RU" sz="2000" dirty="0" smtClean="0"/>
              <a:t>). Изготавливаются по передовым техпроцессам (</a:t>
            </a:r>
            <a:r>
              <a:rPr lang="ru-RU" sz="2000" b="1" dirty="0" smtClean="0"/>
              <a:t>от 5 нм до 2 нм</a:t>
            </a:r>
            <a:r>
              <a:rPr lang="ru-RU" sz="2000" dirty="0" smtClean="0"/>
              <a:t>), что позволяет размещать десятки миллиардов транзисторов на одном кристалле.</a:t>
            </a:r>
          </a:p>
          <a:p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24128" y="0"/>
            <a:ext cx="3419872" cy="1708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slide_22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1700808"/>
            <a:ext cx="7632848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/>
              <a:t>Рынок, разъемы и производители</a:t>
            </a:r>
          </a:p>
          <a:p>
            <a:r>
              <a:rPr lang="ru-RU" sz="2000" b="1" dirty="0" smtClean="0"/>
              <a:t>Основные производители (Разработчики):</a:t>
            </a:r>
            <a:r>
              <a:rPr lang="ru-RU" sz="2000" b="1" dirty="0" err="1" smtClean="0"/>
              <a:t>Intel</a:t>
            </a:r>
            <a:r>
              <a:rPr lang="ru-RU" sz="2000" b="1" dirty="0" smtClean="0"/>
              <a:t> и AMD:</a:t>
            </a:r>
            <a:r>
              <a:rPr lang="ru-RU" sz="2000" dirty="0" smtClean="0"/>
              <a:t> Главные игроки на рынке x86-процессоров для ПК и серверов.</a:t>
            </a:r>
          </a:p>
          <a:p>
            <a:r>
              <a:rPr lang="ru-RU" sz="2000" b="1" dirty="0" err="1" smtClean="0"/>
              <a:t>Apple</a:t>
            </a:r>
            <a:r>
              <a:rPr lang="ru-RU" sz="2000" b="1" dirty="0" smtClean="0"/>
              <a:t> и </a:t>
            </a:r>
            <a:r>
              <a:rPr lang="ru-RU" sz="2000" b="1" dirty="0" err="1" smtClean="0"/>
              <a:t>Qualcomm</a:t>
            </a:r>
            <a:r>
              <a:rPr lang="ru-RU" sz="2000" b="1" dirty="0" smtClean="0"/>
              <a:t>:</a:t>
            </a:r>
            <a:r>
              <a:rPr lang="ru-RU" sz="2000" dirty="0" smtClean="0"/>
              <a:t> Лидеры в сегменте ARM-процессоров для потребительской электроники.</a:t>
            </a:r>
          </a:p>
          <a:p>
            <a:r>
              <a:rPr lang="ru-RU" sz="2000" b="1" dirty="0" smtClean="0"/>
              <a:t>TSMC, </a:t>
            </a:r>
            <a:r>
              <a:rPr lang="ru-RU" sz="2000" b="1" dirty="0" err="1" smtClean="0"/>
              <a:t>Samsung</a:t>
            </a:r>
            <a:r>
              <a:rPr lang="ru-RU" sz="2000" b="1" dirty="0" smtClean="0"/>
              <a:t>, </a:t>
            </a:r>
            <a:r>
              <a:rPr lang="ru-RU" sz="2000" b="1" dirty="0" err="1" smtClean="0"/>
              <a:t>Intel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Foundry</a:t>
            </a:r>
            <a:r>
              <a:rPr lang="ru-RU" sz="2000" b="1" dirty="0" smtClean="0"/>
              <a:t>:</a:t>
            </a:r>
            <a:r>
              <a:rPr lang="ru-RU" sz="2000" dirty="0" smtClean="0"/>
              <a:t> Ключевые кремниевые фабрики, которые физически производят эти чипы.</a:t>
            </a:r>
          </a:p>
          <a:p>
            <a:r>
              <a:rPr lang="ru-RU" sz="2000" b="1" dirty="0" smtClean="0"/>
              <a:t>Современные процессорные разъемы (</a:t>
            </a:r>
            <a:r>
              <a:rPr lang="ru-RU" sz="2000" b="1" dirty="0" err="1" smtClean="0"/>
              <a:t>Сокеты</a:t>
            </a:r>
            <a:r>
              <a:rPr lang="ru-RU" sz="2000" b="1" dirty="0" smtClean="0"/>
              <a:t>):</a:t>
            </a:r>
            <a:r>
              <a:rPr lang="ru-RU" sz="2000" b="1" dirty="0" err="1" smtClean="0"/>
              <a:t>Intel</a:t>
            </a:r>
            <a:r>
              <a:rPr lang="ru-RU" sz="2000" b="1" dirty="0" smtClean="0"/>
              <a:t>:</a:t>
            </a:r>
            <a:r>
              <a:rPr lang="ru-RU" sz="2000" dirty="0" smtClean="0"/>
              <a:t> LGA 1700 (актуальный) и новый </a:t>
            </a:r>
            <a:r>
              <a:rPr lang="ru-RU" sz="2000" b="1" dirty="0" smtClean="0"/>
              <a:t>LGA 1851</a:t>
            </a:r>
            <a:r>
              <a:rPr lang="ru-RU" sz="2000" dirty="0" smtClean="0"/>
              <a:t> (для последних поколений </a:t>
            </a:r>
            <a:r>
              <a:rPr lang="ru-RU" sz="2000" dirty="0" err="1" smtClean="0"/>
              <a:t>Core</a:t>
            </a:r>
            <a:r>
              <a:rPr lang="ru-RU" sz="2000" dirty="0" smtClean="0"/>
              <a:t> </a:t>
            </a:r>
            <a:r>
              <a:rPr lang="ru-RU" sz="2000" dirty="0" err="1" smtClean="0"/>
              <a:t>Ultra</a:t>
            </a:r>
            <a:r>
              <a:rPr lang="ru-RU" sz="2000" dirty="0" smtClean="0"/>
              <a:t>).</a:t>
            </a:r>
          </a:p>
          <a:p>
            <a:r>
              <a:rPr lang="ru-RU" sz="2000" b="1" dirty="0" smtClean="0"/>
              <a:t>AMD:</a:t>
            </a:r>
            <a:r>
              <a:rPr lang="ru-RU" sz="2000" dirty="0" smtClean="0"/>
              <a:t> </a:t>
            </a:r>
            <a:r>
              <a:rPr lang="ru-RU" sz="2000" b="1" dirty="0" smtClean="0"/>
              <a:t>AM5</a:t>
            </a:r>
            <a:r>
              <a:rPr lang="ru-RU" sz="2000" dirty="0" smtClean="0"/>
              <a:t> (долгоживущая платформа для потребительских процессоров </a:t>
            </a:r>
            <a:r>
              <a:rPr lang="ru-RU" sz="2000" dirty="0" err="1" smtClean="0"/>
              <a:t>Ryzen</a:t>
            </a:r>
            <a:r>
              <a:rPr lang="ru-RU" sz="2000" dirty="0" smtClean="0"/>
              <a:t>) и SP5/SP6 (для серверных EPYC).</a:t>
            </a:r>
          </a:p>
          <a:p>
            <a:r>
              <a:rPr lang="ru-RU" sz="2000" b="1" dirty="0" smtClean="0"/>
              <a:t>Тренды:</a:t>
            </a:r>
            <a:r>
              <a:rPr lang="ru-RU" sz="2000" dirty="0" smtClean="0"/>
              <a:t> Переход на многокристальные компоновки (</a:t>
            </a:r>
            <a:r>
              <a:rPr lang="ru-RU" sz="2000" b="1" dirty="0" err="1" smtClean="0"/>
              <a:t>чиплеты</a:t>
            </a:r>
            <a:r>
              <a:rPr lang="ru-RU" sz="2000" dirty="0" smtClean="0"/>
              <a:t> вместо монолитных кристаллов) и обязательная интеграция аппаратного ускорения искусственного интеллекта.</a:t>
            </a:r>
          </a:p>
          <a:p>
            <a:endParaRPr lang="ru-RU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64088" y="188640"/>
            <a:ext cx="3728120" cy="1727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116632"/>
            <a:ext cx="1656184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1" name="slide_23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349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136904" cy="908720"/>
          </a:xfrm>
        </p:spPr>
        <p:txBody>
          <a:bodyPr/>
          <a:lstStyle/>
          <a:p>
            <a:r>
              <a:rPr lang="ru-RU" dirty="0" smtClean="0"/>
              <a:t>Архитектура процессоров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7504" y="836712"/>
            <a:ext cx="8579296" cy="5832648"/>
          </a:xfrm>
        </p:spPr>
        <p:txBody>
          <a:bodyPr>
            <a:normAutofit fontScale="70000" lnSpcReduction="20000"/>
          </a:bodyPr>
          <a:lstStyle/>
          <a:p>
            <a:r>
              <a:rPr lang="ru-RU" dirty="0" err="1" smtClean="0"/>
              <a:t>Архитекту́ра</a:t>
            </a:r>
            <a:r>
              <a:rPr lang="ru-RU" dirty="0" smtClean="0"/>
              <a:t> </a:t>
            </a:r>
            <a:r>
              <a:rPr lang="ru-RU" dirty="0" err="1" smtClean="0"/>
              <a:t>проце́ссора</a:t>
            </a:r>
            <a:r>
              <a:rPr lang="ru-RU" dirty="0" smtClean="0"/>
              <a:t> — количественная составляющая компонентов </a:t>
            </a:r>
            <a:r>
              <a:rPr lang="ru-RU" dirty="0" err="1" smtClean="0"/>
              <a:t>микроархитектуры</a:t>
            </a:r>
            <a:r>
              <a:rPr lang="ru-RU" dirty="0" smtClean="0"/>
              <a:t> вычислительной машины (процессора компьютера) (например, регистр флагов или регистры процессора</a:t>
            </a:r>
            <a:r>
              <a:rPr lang="en-US" dirty="0" smtClean="0"/>
              <a:t>)</a:t>
            </a:r>
            <a:r>
              <a:rPr lang="ru-RU" dirty="0" smtClean="0"/>
              <a:t>.</a:t>
            </a:r>
          </a:p>
          <a:p>
            <a:r>
              <a:rPr lang="ru-RU" dirty="0" smtClean="0"/>
              <a:t> С точки зрения:</a:t>
            </a:r>
          </a:p>
          <a:p>
            <a:r>
              <a:rPr lang="ru-RU" dirty="0" smtClean="0"/>
              <a:t> </a:t>
            </a:r>
            <a:r>
              <a:rPr lang="ru-RU" dirty="0" smtClean="0">
                <a:solidFill>
                  <a:srgbClr val="00B050"/>
                </a:solidFill>
              </a:rPr>
              <a:t>программиста</a:t>
            </a:r>
            <a:r>
              <a:rPr lang="ru-RU" dirty="0" smtClean="0"/>
              <a:t> — совместимость с определённым набором команд (например, процессоры, совместимые с командами </a:t>
            </a:r>
            <a:r>
              <a:rPr lang="en-US" dirty="0" smtClean="0"/>
              <a:t>Intel x</a:t>
            </a:r>
            <a:r>
              <a:rPr lang="ru-RU" dirty="0" smtClean="0"/>
              <a:t>86), их структуры (например, систем адресации или организации регистровой памяти) и способа исполнения (например, счётчик команд).</a:t>
            </a:r>
          </a:p>
          <a:p>
            <a:r>
              <a:rPr lang="ru-RU" dirty="0" smtClean="0"/>
              <a:t> </a:t>
            </a:r>
            <a:r>
              <a:rPr lang="ru-RU" dirty="0" smtClean="0">
                <a:solidFill>
                  <a:srgbClr val="00B050"/>
                </a:solidFill>
              </a:rPr>
              <a:t>аппаратной составляющей вычислительной системы </a:t>
            </a:r>
            <a:r>
              <a:rPr lang="ru-RU" dirty="0" smtClean="0"/>
              <a:t>— это некий набор свойств и качеств, присущий целому семейству процессоров (иначе говоря — «внутренняя конструкция», «организация» этих процессоров).</a:t>
            </a:r>
          </a:p>
          <a:p>
            <a:r>
              <a:rPr lang="ru-RU" dirty="0" smtClean="0"/>
              <a:t> Имеются различные классификации архитектур процессоров как по организации (например, по количеству и сложности отдельных команд: </a:t>
            </a:r>
            <a:r>
              <a:rPr lang="en-US" dirty="0" smtClean="0">
                <a:solidFill>
                  <a:srgbClr val="FF0000"/>
                </a:solidFill>
              </a:rPr>
              <a:t>RISC</a:t>
            </a:r>
            <a:r>
              <a:rPr lang="ru-RU" dirty="0" smtClean="0">
                <a:solidFill>
                  <a:srgbClr val="FF0000"/>
                </a:solidFill>
              </a:rPr>
              <a:t>, </a:t>
            </a:r>
            <a:r>
              <a:rPr lang="en-US" dirty="0" smtClean="0">
                <a:solidFill>
                  <a:srgbClr val="FF0000"/>
                </a:solidFill>
              </a:rPr>
              <a:t>CISC</a:t>
            </a:r>
            <a:r>
              <a:rPr lang="ru-RU" dirty="0" smtClean="0">
                <a:solidFill>
                  <a:srgbClr val="FF0000"/>
                </a:solidFill>
              </a:rPr>
              <a:t>, </a:t>
            </a:r>
            <a:r>
              <a:rPr lang="en-US" dirty="0" smtClean="0">
                <a:solidFill>
                  <a:srgbClr val="FF0000"/>
                </a:solidFill>
              </a:rPr>
              <a:t>MISC, VLIW</a:t>
            </a:r>
            <a:r>
              <a:rPr lang="ru-RU" dirty="0" smtClean="0"/>
              <a:t>; по возможности доступа команд к памяти), так и по назначению (например, специализированные графические, математические или предназначенные для цифровой обработки сигналов).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4941-714A-4534-BAF0-D7B3F1DCFD06}" type="slidenum">
              <a:rPr lang="ru-RU" smtClean="0"/>
              <a:pPr/>
              <a:t>24</a:t>
            </a:fld>
            <a:endParaRPr lang="ru-RU"/>
          </a:p>
        </p:txBody>
      </p:sp>
      <p:pic>
        <p:nvPicPr>
          <p:cNvPr id="5" name="slide_24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91264" cy="70609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CISC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692696"/>
            <a:ext cx="8964488" cy="5976664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CISC</a:t>
            </a:r>
            <a:r>
              <a:rPr lang="ru-RU" dirty="0" smtClean="0">
                <a:solidFill>
                  <a:srgbClr val="00B050"/>
                </a:solidFill>
              </a:rPr>
              <a:t> </a:t>
            </a:r>
            <a:r>
              <a:rPr lang="ru-RU" dirty="0"/>
              <a:t>(англ. </a:t>
            </a:r>
            <a:r>
              <a:rPr lang="en-US" dirty="0"/>
              <a:t>Complex Instruction Set Computer</a:t>
            </a:r>
            <a:r>
              <a:rPr lang="ru-RU" dirty="0"/>
              <a:t> — «компьютер с полным набором команд») — тип процессорной архитектуры, в первую очередь, с нефиксированной длиной команд, а также с кодированием арифметических действий в одной команде и небольшим числом регистров, многие из которых выполняют строго определенную функцию.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Самый яркий пример </a:t>
            </a:r>
            <a:r>
              <a:rPr lang="en-US" dirty="0"/>
              <a:t>CISC</a:t>
            </a:r>
            <a:r>
              <a:rPr lang="ru-RU" dirty="0"/>
              <a:t> архитектуры — это </a:t>
            </a:r>
            <a:r>
              <a:rPr lang="en-US" dirty="0"/>
              <a:t>x</a:t>
            </a:r>
            <a:r>
              <a:rPr lang="ru-RU" dirty="0"/>
              <a:t>86 (он же </a:t>
            </a:r>
            <a:r>
              <a:rPr lang="en-US" dirty="0"/>
              <a:t>IA</a:t>
            </a:r>
            <a:r>
              <a:rPr lang="ru-RU" dirty="0"/>
              <a:t>-32) и </a:t>
            </a:r>
            <a:r>
              <a:rPr lang="en-US" dirty="0"/>
              <a:t>x</a:t>
            </a:r>
            <a:r>
              <a:rPr lang="ru-RU" dirty="0"/>
              <a:t>86_64 (он же </a:t>
            </a:r>
            <a:r>
              <a:rPr lang="en-US" dirty="0"/>
              <a:t>AMD</a:t>
            </a:r>
            <a:r>
              <a:rPr lang="ru-RU" dirty="0"/>
              <a:t>64).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В </a:t>
            </a:r>
            <a:r>
              <a:rPr lang="en-US" dirty="0"/>
              <a:t>CISC</a:t>
            </a:r>
            <a:r>
              <a:rPr lang="ru-RU" dirty="0"/>
              <a:t> процессорах одна команда может быть заменена ей аналогичной, либо группой команд, выполняющих ту же функцию. Отсюда вытекают плюсы и минусы архитектуры: высокая производительность благодаря тому, что несколько команд могут быть заменены одной аналогичной, но большая цена по сравнению с </a:t>
            </a:r>
            <a:r>
              <a:rPr lang="en-US" dirty="0"/>
              <a:t>RISC</a:t>
            </a:r>
            <a:r>
              <a:rPr lang="ru-RU" dirty="0"/>
              <a:t> процессорами из-за более сложной архитектуры, в которой многие команды сложнее раскодировать.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4941-714A-4534-BAF0-D7B3F1DCFD06}" type="slidenum">
              <a:rPr lang="ru-RU" smtClean="0"/>
              <a:pPr/>
              <a:t>25</a:t>
            </a:fld>
            <a:endParaRPr lang="ru-RU"/>
          </a:p>
        </p:txBody>
      </p:sp>
      <p:pic>
        <p:nvPicPr>
          <p:cNvPr id="5" name="slide_25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075240" cy="49006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RISC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620688"/>
            <a:ext cx="8784976" cy="6048672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 </a:t>
            </a:r>
          </a:p>
          <a:p>
            <a:r>
              <a:rPr lang="en-US" dirty="0">
                <a:solidFill>
                  <a:srgbClr val="00B050"/>
                </a:solidFill>
              </a:rPr>
              <a:t>RISC</a:t>
            </a:r>
            <a:r>
              <a:rPr lang="ru-RU" dirty="0"/>
              <a:t> (англ. </a:t>
            </a:r>
            <a:r>
              <a:rPr lang="en-US" dirty="0"/>
              <a:t>Reduced Instruction Set Computer</a:t>
            </a:r>
            <a:r>
              <a:rPr lang="ru-RU" dirty="0"/>
              <a:t> — «компьютер с сокращённым набором команд») — архитектура процессора, в котором быстродействие увеличивается за счёт упрощения инструкций: их декодирование становится более простым, а время выполнения — меньшим. Первые </a:t>
            </a:r>
            <a:r>
              <a:rPr lang="en-US" dirty="0"/>
              <a:t>RISC</a:t>
            </a:r>
            <a:r>
              <a:rPr lang="ru-RU" dirty="0"/>
              <a:t>-процессоры не имели даже инструкций умножения и деления и не поддерживали работу с числами с плавающей запятой.</a:t>
            </a:r>
          </a:p>
          <a:p>
            <a:r>
              <a:rPr lang="ru-RU" dirty="0"/>
              <a:t> </a:t>
            </a:r>
            <a:r>
              <a:rPr lang="ru-RU" dirty="0" smtClean="0"/>
              <a:t>По </a:t>
            </a:r>
            <a:r>
              <a:rPr lang="ru-RU" dirty="0"/>
              <a:t>сравнению с </a:t>
            </a:r>
            <a:r>
              <a:rPr lang="en-US" dirty="0"/>
              <a:t>CISC</a:t>
            </a:r>
            <a:r>
              <a:rPr lang="ru-RU" dirty="0"/>
              <a:t> эта архитектура имеет константную длину команды, а также меньшее количество схожих инструкций, позволяя уменьшить итоговую цену процессора и энергопотребление, что критично для мобильного сегмента. У </a:t>
            </a:r>
            <a:r>
              <a:rPr lang="en-US" dirty="0"/>
              <a:t>RISC</a:t>
            </a:r>
            <a:r>
              <a:rPr lang="ru-RU" dirty="0"/>
              <a:t> также большее количество регистров.</a:t>
            </a:r>
          </a:p>
          <a:p>
            <a:r>
              <a:rPr lang="ru-RU" dirty="0"/>
              <a:t> </a:t>
            </a:r>
            <a:r>
              <a:rPr lang="ru-RU" dirty="0" smtClean="0"/>
              <a:t>Примеры </a:t>
            </a:r>
            <a:r>
              <a:rPr lang="en-US" dirty="0"/>
              <a:t>RISC</a:t>
            </a:r>
            <a:r>
              <a:rPr lang="ru-RU" dirty="0"/>
              <a:t>-архитектур: </a:t>
            </a:r>
            <a:r>
              <a:rPr lang="en-US" dirty="0"/>
              <a:t>PowerPC</a:t>
            </a:r>
            <a:r>
              <a:rPr lang="ru-RU" dirty="0"/>
              <a:t>, серия архитектур </a:t>
            </a:r>
            <a:r>
              <a:rPr lang="en-US" dirty="0"/>
              <a:t>ARM</a:t>
            </a:r>
            <a:r>
              <a:rPr lang="ru-RU" dirty="0"/>
              <a:t> (</a:t>
            </a:r>
            <a:r>
              <a:rPr lang="en-US" dirty="0"/>
              <a:t>ARM</a:t>
            </a:r>
            <a:r>
              <a:rPr lang="ru-RU" dirty="0"/>
              <a:t>7, </a:t>
            </a:r>
            <a:r>
              <a:rPr lang="en-US" dirty="0"/>
              <a:t>ARM</a:t>
            </a:r>
            <a:r>
              <a:rPr lang="ru-RU" dirty="0"/>
              <a:t>9, </a:t>
            </a:r>
            <a:r>
              <a:rPr lang="en-US" dirty="0"/>
              <a:t>ARM</a:t>
            </a:r>
            <a:r>
              <a:rPr lang="ru-RU" dirty="0"/>
              <a:t>11, </a:t>
            </a:r>
            <a:r>
              <a:rPr lang="en-US" dirty="0"/>
              <a:t>Cortex</a:t>
            </a:r>
            <a:r>
              <a:rPr lang="ru-RU" dirty="0"/>
              <a:t>).</a:t>
            </a:r>
          </a:p>
          <a:p>
            <a:r>
              <a:rPr lang="ru-RU" dirty="0"/>
              <a:t> </a:t>
            </a:r>
            <a:r>
              <a:rPr lang="ru-RU" dirty="0" smtClean="0"/>
              <a:t>В </a:t>
            </a:r>
            <a:r>
              <a:rPr lang="ru-RU" dirty="0"/>
              <a:t>общем случае </a:t>
            </a:r>
            <a:r>
              <a:rPr lang="en-US" dirty="0"/>
              <a:t>RISC</a:t>
            </a:r>
            <a:r>
              <a:rPr lang="ru-RU" dirty="0"/>
              <a:t> быстрее </a:t>
            </a:r>
            <a:r>
              <a:rPr lang="en-US" dirty="0"/>
              <a:t>CISC</a:t>
            </a:r>
            <a:r>
              <a:rPr lang="ru-RU" dirty="0"/>
              <a:t>. Даже если системе </a:t>
            </a:r>
            <a:r>
              <a:rPr lang="en-US" dirty="0"/>
              <a:t>RISC</a:t>
            </a:r>
            <a:r>
              <a:rPr lang="ru-RU" dirty="0"/>
              <a:t> приходится выполнять 4 или 5 команд вместо одной, которую выполняет </a:t>
            </a:r>
            <a:r>
              <a:rPr lang="en-US" dirty="0"/>
              <a:t>CISC</a:t>
            </a:r>
            <a:r>
              <a:rPr lang="ru-RU" dirty="0"/>
              <a:t>, </a:t>
            </a:r>
            <a:r>
              <a:rPr lang="en-US" dirty="0"/>
              <a:t>RISC</a:t>
            </a:r>
            <a:r>
              <a:rPr lang="ru-RU" dirty="0"/>
              <a:t> все равно выигрывает в скорости, так как </a:t>
            </a:r>
            <a:r>
              <a:rPr lang="en-US" dirty="0"/>
              <a:t>RISC</a:t>
            </a:r>
            <a:r>
              <a:rPr lang="ru-RU" dirty="0"/>
              <a:t>-команды выполняются в 10 раз быстрее.</a:t>
            </a:r>
          </a:p>
          <a:p>
            <a:r>
              <a:rPr lang="ru-RU" dirty="0"/>
              <a:t> </a:t>
            </a:r>
            <a:r>
              <a:rPr lang="ru-RU" dirty="0" smtClean="0"/>
              <a:t>Отсюда </a:t>
            </a:r>
            <a:r>
              <a:rPr lang="ru-RU" dirty="0"/>
              <a:t>возникает закономерный вопрос: почему многие всё ещё используют </a:t>
            </a:r>
            <a:r>
              <a:rPr lang="en-US" dirty="0"/>
              <a:t>CISC</a:t>
            </a:r>
            <a:r>
              <a:rPr lang="ru-RU" dirty="0"/>
              <a:t>, когда есть </a:t>
            </a:r>
            <a:r>
              <a:rPr lang="en-US" dirty="0"/>
              <a:t>RISC</a:t>
            </a:r>
            <a:r>
              <a:rPr lang="ru-RU" dirty="0"/>
              <a:t>? Всё дело в совместимости. </a:t>
            </a:r>
            <a:r>
              <a:rPr lang="en-US" dirty="0"/>
              <a:t>x</a:t>
            </a:r>
            <a:r>
              <a:rPr lang="ru-RU" dirty="0"/>
              <a:t>86_64 всё ещё лидер в </a:t>
            </a:r>
            <a:r>
              <a:rPr lang="en-US" dirty="0"/>
              <a:t>desktop</a:t>
            </a:r>
            <a:r>
              <a:rPr lang="ru-RU" dirty="0"/>
              <a:t>-сегменте только по историческим причинам. Так как старые программы работают только на </a:t>
            </a:r>
            <a:r>
              <a:rPr lang="en-US" dirty="0"/>
              <a:t>x</a:t>
            </a:r>
            <a:r>
              <a:rPr lang="ru-RU" dirty="0"/>
              <a:t>86, то и новые </a:t>
            </a:r>
            <a:r>
              <a:rPr lang="en-US" dirty="0"/>
              <a:t>desktop</a:t>
            </a:r>
            <a:r>
              <a:rPr lang="ru-RU" dirty="0"/>
              <a:t>-системы должны быть </a:t>
            </a:r>
            <a:r>
              <a:rPr lang="en-US" dirty="0"/>
              <a:t>x</a:t>
            </a:r>
            <a:r>
              <a:rPr lang="ru-RU" dirty="0"/>
              <a:t>86(_64), чтобы все старые программы и игры могли работать на новой машине.</a:t>
            </a:r>
          </a:p>
          <a:p>
            <a:r>
              <a:rPr lang="ru-RU" dirty="0"/>
              <a:t> </a:t>
            </a:r>
            <a:r>
              <a:rPr lang="ru-RU" dirty="0" smtClean="0"/>
              <a:t>Для </a:t>
            </a:r>
            <a:r>
              <a:rPr lang="en-US" dirty="0"/>
              <a:t>Open Source</a:t>
            </a:r>
            <a:r>
              <a:rPr lang="ru-RU" dirty="0"/>
              <a:t> это по большей части не является проблемой, так как пользователь может найти в интернете версию программы под другую архитектуру. Сделать же версию </a:t>
            </a:r>
            <a:r>
              <a:rPr lang="ru-RU" dirty="0" err="1"/>
              <a:t>проприетарной</a:t>
            </a:r>
            <a:r>
              <a:rPr lang="ru-RU" dirty="0"/>
              <a:t> программы под другую архитектуру может только владелец исходного кода программы.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4941-714A-4534-BAF0-D7B3F1DCFD06}" type="slidenum">
              <a:rPr lang="ru-RU" smtClean="0"/>
              <a:pPr/>
              <a:t>26</a:t>
            </a:fld>
            <a:endParaRPr lang="ru-RU"/>
          </a:p>
        </p:txBody>
      </p:sp>
      <p:pic>
        <p:nvPicPr>
          <p:cNvPr id="5" name="slide_26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5620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MISC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36712"/>
            <a:ext cx="8964488" cy="5832648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 </a:t>
            </a:r>
            <a:r>
              <a:rPr lang="en-US" dirty="0" smtClean="0">
                <a:solidFill>
                  <a:srgbClr val="00B050"/>
                </a:solidFill>
              </a:rPr>
              <a:t>MISC</a:t>
            </a:r>
            <a:r>
              <a:rPr lang="ru-RU" dirty="0" smtClean="0">
                <a:solidFill>
                  <a:srgbClr val="00B050"/>
                </a:solidFill>
              </a:rPr>
              <a:t> </a:t>
            </a:r>
            <a:r>
              <a:rPr lang="ru-RU" dirty="0"/>
              <a:t>(англ. </a:t>
            </a:r>
            <a:r>
              <a:rPr lang="en-US" dirty="0">
                <a:solidFill>
                  <a:srgbClr val="FF0000"/>
                </a:solidFill>
              </a:rPr>
              <a:t>Minimal </a:t>
            </a:r>
            <a:r>
              <a:rPr lang="en-US" dirty="0"/>
              <a:t>Instruction Set Computer</a:t>
            </a:r>
            <a:r>
              <a:rPr lang="ru-RU" dirty="0"/>
              <a:t> — «компьютер с минимальным набором команд»).</a:t>
            </a:r>
          </a:p>
          <a:p>
            <a:r>
              <a:rPr lang="ru-RU" dirty="0"/>
              <a:t> </a:t>
            </a:r>
            <a:r>
              <a:rPr lang="ru-RU" dirty="0" smtClean="0"/>
              <a:t>Ещё </a:t>
            </a:r>
            <a:r>
              <a:rPr lang="ru-RU" dirty="0"/>
              <a:t>более простая архитектура, используемая в первую очередь для ещё большего уменьшения итоговой цены и энергопотребления процессора. Используется в </a:t>
            </a:r>
            <a:r>
              <a:rPr lang="en-US" dirty="0" err="1"/>
              <a:t>IoT</a:t>
            </a:r>
            <a:r>
              <a:rPr lang="ru-RU" dirty="0"/>
              <a:t>-сегменте и недорогих компьютерах, например, роутерах.</a:t>
            </a:r>
          </a:p>
          <a:p>
            <a:r>
              <a:rPr lang="ru-RU" dirty="0"/>
              <a:t> </a:t>
            </a:r>
            <a:r>
              <a:rPr lang="ru-RU" dirty="0" smtClean="0"/>
              <a:t>Для </a:t>
            </a:r>
            <a:r>
              <a:rPr lang="ru-RU" dirty="0"/>
              <a:t>увеличения производительности во всех вышеперечисленных архитектурах может использоваться “спекулятивное исполнение команд”. Это выполнение команды до того, как станет известно, понадобится эта команда или нет</a:t>
            </a:r>
            <a:r>
              <a:rPr lang="ru-RU" dirty="0" smtClean="0"/>
              <a:t>.</a:t>
            </a:r>
          </a:p>
          <a:p>
            <a:endParaRPr lang="ru-RU" dirty="0" smtClean="0">
              <a:solidFill>
                <a:srgbClr val="00B050"/>
              </a:solidFill>
            </a:endParaRPr>
          </a:p>
          <a:p>
            <a:r>
              <a:rPr lang="en-US" dirty="0" smtClean="0">
                <a:solidFill>
                  <a:srgbClr val="00B050"/>
                </a:solidFill>
              </a:rPr>
              <a:t>MISC</a:t>
            </a:r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Multipurpose</a:t>
            </a:r>
            <a:r>
              <a:rPr lang="en-US" dirty="0"/>
              <a:t> </a:t>
            </a:r>
            <a:r>
              <a:rPr lang="en-US" dirty="0" err="1"/>
              <a:t>lnstruction</a:t>
            </a:r>
            <a:r>
              <a:rPr lang="en-US" dirty="0"/>
              <a:t> Set Computer). </a:t>
            </a:r>
            <a:r>
              <a:rPr lang="ru-RU" dirty="0"/>
              <a:t>Элементная база состоит из двух частей, которые либо выполнены в отдельных корпусах, либо объединены. Основная часть – </a:t>
            </a:r>
            <a:r>
              <a:rPr lang="en-US" dirty="0"/>
              <a:t>RISC CPU</a:t>
            </a:r>
            <a:r>
              <a:rPr lang="ru-RU" dirty="0"/>
              <a:t>, расширяемый подключением второй части – ПЗУ микропрограммного управления. Система приобретает свойства </a:t>
            </a:r>
            <a:r>
              <a:rPr lang="en-US" dirty="0"/>
              <a:t>CISC</a:t>
            </a:r>
            <a:r>
              <a:rPr lang="ru-RU" dirty="0"/>
              <a:t>. Основные команды работают на </a:t>
            </a:r>
            <a:r>
              <a:rPr lang="en-US" dirty="0"/>
              <a:t>RISC CPU</a:t>
            </a:r>
            <a:r>
              <a:rPr lang="ru-RU" dirty="0"/>
              <a:t>, а команды расширения преобразуются в адрес микропрограммы. </a:t>
            </a:r>
            <a:r>
              <a:rPr lang="en-US" dirty="0"/>
              <a:t>RISC CPU</a:t>
            </a:r>
            <a:r>
              <a:rPr lang="ru-RU" dirty="0"/>
              <a:t> выполняет все команды за один такт, а вторая часть эквивалентна </a:t>
            </a:r>
            <a:r>
              <a:rPr lang="en-US" dirty="0"/>
              <a:t>CPU</a:t>
            </a:r>
            <a:r>
              <a:rPr lang="ru-RU" dirty="0"/>
              <a:t> со сложным набором команд. Наличие ПЗУ устраняет недостаток </a:t>
            </a:r>
            <a:r>
              <a:rPr lang="en-US" dirty="0"/>
              <a:t>RISC</a:t>
            </a:r>
            <a:r>
              <a:rPr lang="ru-RU" dirty="0"/>
              <a:t>, выраженный в том, что при компиляции с языка высокого уровня микрокод генерируется из библиотеки стандартных функций, занимающей много места в ОЗУ. Поскольку микропрограмма уже дешифрована и открыта для программиста, то времени выборки из ОЗУ на дешифрацию не требуется.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4941-714A-4534-BAF0-D7B3F1DCFD06}" type="slidenum">
              <a:rPr lang="ru-RU" smtClean="0"/>
              <a:pPr/>
              <a:t>27</a:t>
            </a:fld>
            <a:endParaRPr lang="ru-RU"/>
          </a:p>
        </p:txBody>
      </p:sp>
      <p:pic>
        <p:nvPicPr>
          <p:cNvPr id="5" name="slide_27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VLIW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836712"/>
            <a:ext cx="8712968" cy="5832648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VLIW</a:t>
            </a:r>
            <a:r>
              <a:rPr lang="ru-RU" dirty="0"/>
              <a:t> (англ. </a:t>
            </a:r>
            <a:r>
              <a:rPr lang="en-US" dirty="0"/>
              <a:t>Very Long Instruction Word</a:t>
            </a:r>
            <a:r>
              <a:rPr lang="ru-RU" dirty="0"/>
              <a:t> — «очень длинная машинная команда») — архитектура процессоров с несколькими вычислительными устройствами. Характеризуется тем, что одна инструкция процессора содержит несколько операций, которые должны выполняться параллельно.</a:t>
            </a:r>
          </a:p>
          <a:p>
            <a:r>
              <a:rPr lang="ru-RU" dirty="0"/>
              <a:t> </a:t>
            </a:r>
            <a:r>
              <a:rPr lang="ru-RU" dirty="0" smtClean="0"/>
              <a:t>По </a:t>
            </a:r>
            <a:r>
              <a:rPr lang="ru-RU" dirty="0"/>
              <a:t>сути является архитектурой </a:t>
            </a:r>
            <a:r>
              <a:rPr lang="en-US" dirty="0"/>
              <a:t>CISC</a:t>
            </a:r>
            <a:r>
              <a:rPr lang="ru-RU" dirty="0"/>
              <a:t> со своим аналогом спекулятивного исполнения команд, только сама спекуляция выполняется во время компиляции, а не во время работы программы, из-за чего уязвимости </a:t>
            </a:r>
            <a:r>
              <a:rPr lang="en-US" dirty="0"/>
              <a:t>Meltdown</a:t>
            </a:r>
            <a:r>
              <a:rPr lang="ru-RU" dirty="0"/>
              <a:t> и </a:t>
            </a:r>
            <a:r>
              <a:rPr lang="en-US" dirty="0" err="1"/>
              <a:t>Spectre</a:t>
            </a:r>
            <a:r>
              <a:rPr lang="ru-RU" dirty="0"/>
              <a:t> невозможны для этих процессоров. Компиляторы для процессоров этой архитектуры сильно привязаны к конкретным процессорам. Например, в следующем поколении максимальная длина «очень длинной команды» может из условных 256 бит стать 512 бит, и тут приходится выбирать между увеличением производительности путём компиляции под новый процессор и обратной совместимостью со старым процессором. Опять же, </a:t>
            </a:r>
            <a:r>
              <a:rPr lang="en-US" dirty="0"/>
              <a:t>Open Sour</a:t>
            </a:r>
            <a:r>
              <a:rPr lang="ru-RU" dirty="0"/>
              <a:t>с</a:t>
            </a:r>
            <a:r>
              <a:rPr lang="en-US" dirty="0"/>
              <a:t>e</a:t>
            </a:r>
            <a:r>
              <a:rPr lang="ru-RU" dirty="0"/>
              <a:t> позволяет простой перекомпиляцией получить программу под конкретный процессор.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Примеры архитектуры: </a:t>
            </a:r>
            <a:r>
              <a:rPr lang="en-US" dirty="0"/>
              <a:t>Intel Itanium</a:t>
            </a:r>
            <a:r>
              <a:rPr lang="ru-RU" dirty="0"/>
              <a:t>, Эльбрус-3.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4941-714A-4534-BAF0-D7B3F1DCFD06}" type="slidenum">
              <a:rPr lang="ru-RU" smtClean="0"/>
              <a:pPr/>
              <a:t>28</a:t>
            </a:fld>
            <a:endParaRPr lang="ru-RU"/>
          </a:p>
        </p:txBody>
      </p:sp>
      <p:pic>
        <p:nvPicPr>
          <p:cNvPr id="5" name="slide_28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Регистры процессора </a:t>
            </a:r>
            <a:r>
              <a:rPr lang="en-US" sz="2800" dirty="0" smtClean="0"/>
              <a:t>x86</a:t>
            </a:r>
            <a:r>
              <a:rPr lang="ru-RU" sz="2800" dirty="0" smtClean="0"/>
              <a:t>, система прерываний, особенности и размерности шин адреса и данных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268760"/>
            <a:ext cx="8568952" cy="5328592"/>
          </a:xfrm>
        </p:spPr>
        <p:txBody>
          <a:bodyPr>
            <a:normAutofit fontScale="40000" lnSpcReduction="20000"/>
          </a:bodyPr>
          <a:lstStyle/>
          <a:p>
            <a:r>
              <a:rPr lang="ru-RU" sz="4500" b="1" dirty="0" smtClean="0"/>
              <a:t>Регистры и шины </a:t>
            </a:r>
            <a:r>
              <a:rPr lang="ru-RU" sz="4500" b="1" dirty="0" err="1" smtClean="0"/>
              <a:t>Intel</a:t>
            </a:r>
            <a:r>
              <a:rPr lang="ru-RU" sz="4500" b="1" dirty="0" smtClean="0"/>
              <a:t> 8086</a:t>
            </a:r>
          </a:p>
          <a:p>
            <a:r>
              <a:rPr lang="ru-RU" sz="4500" b="1" dirty="0" smtClean="0"/>
              <a:t>Регистры процессора (строго 16-битные):</a:t>
            </a:r>
            <a:endParaRPr lang="ru-RU" sz="4500" dirty="0" smtClean="0"/>
          </a:p>
          <a:p>
            <a:pPr lvl="1"/>
            <a:r>
              <a:rPr lang="ru-RU" sz="4500" b="1" dirty="0" smtClean="0"/>
              <a:t>Общего назначения (GPR):</a:t>
            </a:r>
            <a:r>
              <a:rPr lang="ru-RU" sz="4500" dirty="0" smtClean="0"/>
              <a:t> AX (аккумулятор), BX (базовый), CX (счетчик), DX (данные). Их можно делить на старшую и младшую 8-битные половины (например, AH / AL).</a:t>
            </a:r>
          </a:p>
          <a:p>
            <a:pPr lvl="1"/>
            <a:r>
              <a:rPr lang="ru-RU" sz="4500" b="1" dirty="0" smtClean="0"/>
              <a:t>Указатели и индексы:</a:t>
            </a:r>
            <a:r>
              <a:rPr lang="ru-RU" sz="4500" dirty="0" smtClean="0"/>
              <a:t> SP (указатель стека), BP (указатель базы), SI/DI (индексы источника/приемника).</a:t>
            </a:r>
          </a:p>
          <a:p>
            <a:pPr lvl="1"/>
            <a:r>
              <a:rPr lang="ru-RU" sz="4500" b="1" dirty="0" smtClean="0"/>
              <a:t>Сегментные регистры:</a:t>
            </a:r>
            <a:r>
              <a:rPr lang="ru-RU" sz="4500" dirty="0" smtClean="0"/>
              <a:t> CS (кода), DS (данных), SS (стека), ES (дополнительный). Нужны для сегментации памяти.</a:t>
            </a:r>
          </a:p>
          <a:p>
            <a:pPr lvl="1"/>
            <a:r>
              <a:rPr lang="ru-RU" sz="4500" b="1" dirty="0" smtClean="0"/>
              <a:t>IP и FLAGS:</a:t>
            </a:r>
            <a:r>
              <a:rPr lang="ru-RU" sz="4500" dirty="0" smtClean="0"/>
              <a:t> Указатель команд (IP) и регистр флагов состояния.</a:t>
            </a:r>
          </a:p>
          <a:p>
            <a:r>
              <a:rPr lang="ru-RU" sz="4500" b="1" dirty="0" smtClean="0"/>
              <a:t>Шины (Размерности и Особенности):</a:t>
            </a:r>
            <a:endParaRPr lang="ru-RU" sz="4500" dirty="0" smtClean="0"/>
          </a:p>
          <a:p>
            <a:pPr lvl="1"/>
            <a:r>
              <a:rPr lang="ru-RU" sz="4500" b="1" dirty="0" smtClean="0"/>
              <a:t>Шина данных:</a:t>
            </a:r>
            <a:r>
              <a:rPr lang="ru-RU" sz="4500" dirty="0" smtClean="0"/>
              <a:t> </a:t>
            </a:r>
            <a:r>
              <a:rPr lang="ru-RU" sz="4500" b="1" dirty="0" smtClean="0"/>
              <a:t>16 бит</a:t>
            </a:r>
            <a:r>
              <a:rPr lang="ru-RU" sz="4500" dirty="0" smtClean="0"/>
              <a:t>. Процессор считывает или записывает 16 бит информации за один цикл.</a:t>
            </a:r>
          </a:p>
          <a:p>
            <a:pPr lvl="1"/>
            <a:r>
              <a:rPr lang="ru-RU" sz="4500" b="1" dirty="0" smtClean="0"/>
              <a:t>Шина адреса:</a:t>
            </a:r>
            <a:r>
              <a:rPr lang="ru-RU" sz="4500" dirty="0" smtClean="0"/>
              <a:t> </a:t>
            </a:r>
            <a:r>
              <a:rPr lang="ru-RU" sz="4500" b="1" dirty="0" smtClean="0"/>
              <a:t>20 бит</a:t>
            </a:r>
            <a:r>
              <a:rPr lang="ru-RU" sz="4500" dirty="0" smtClean="0"/>
              <a:t>. Позволяет адресовать максимум </a:t>
            </a:r>
            <a:r>
              <a:rPr lang="ru-RU" sz="4500" b="1" dirty="0" smtClean="0"/>
              <a:t>1 МБ</a:t>
            </a:r>
            <a:r>
              <a:rPr lang="ru-RU" sz="4500" dirty="0" smtClean="0"/>
              <a:t> оперативной памяти.</a:t>
            </a:r>
          </a:p>
          <a:p>
            <a:pPr lvl="1"/>
            <a:r>
              <a:rPr lang="ru-RU" sz="4500" b="1" dirty="0" smtClean="0"/>
              <a:t>Мультиплексирование:</a:t>
            </a:r>
            <a:r>
              <a:rPr lang="ru-RU" sz="4500" dirty="0" smtClean="0"/>
              <a:t> Для экономии ножек на микросхеме выводы шины адреса и данных совмещены (AD0–AD15). В начале цикла по ним передается адрес, а затем — данные.</a:t>
            </a:r>
          </a:p>
          <a:p>
            <a:r>
              <a:rPr lang="ru-RU" sz="4500" b="1" dirty="0" smtClean="0"/>
              <a:t>Особенность адресации (Сегментная модель):</a:t>
            </a:r>
            <a:endParaRPr lang="ru-RU" sz="4500" dirty="0" smtClean="0"/>
          </a:p>
          <a:p>
            <a:pPr lvl="1"/>
            <a:r>
              <a:rPr lang="ru-RU" sz="4500" dirty="0" smtClean="0"/>
              <a:t>Чтобы получить 20-битный физический адрес из 16-битных регистров, используется формула: </a:t>
            </a:r>
            <a:r>
              <a:rPr lang="ru-RU" sz="4500" b="1" dirty="0" smtClean="0"/>
              <a:t>Физический адрес = (Сегмент × 16) + Смещение</a:t>
            </a:r>
            <a:r>
              <a:rPr lang="ru-RU" sz="4500" dirty="0" smtClean="0"/>
              <a:t>.</a:t>
            </a:r>
          </a:p>
          <a:p>
            <a:endParaRPr lang="ru-RU" sz="1600" dirty="0"/>
          </a:p>
        </p:txBody>
      </p:sp>
      <p:pic>
        <p:nvPicPr>
          <p:cNvPr id="4" name="slide_29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404664"/>
            <a:ext cx="8496944" cy="5976664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 smtClean="0"/>
              <a:t>Система прерываний </a:t>
            </a:r>
            <a:r>
              <a:rPr lang="ru-RU" b="1" dirty="0" err="1" smtClean="0"/>
              <a:t>Intel</a:t>
            </a:r>
            <a:r>
              <a:rPr lang="ru-RU" b="1" dirty="0" smtClean="0"/>
              <a:t> 8086</a:t>
            </a:r>
          </a:p>
          <a:p>
            <a:r>
              <a:rPr lang="ru-RU" b="1" dirty="0" smtClean="0"/>
              <a:t>Иерархия прерываний:</a:t>
            </a:r>
            <a:r>
              <a:rPr lang="ru-RU" dirty="0" smtClean="0"/>
              <a:t> Процессор поддерживает до </a:t>
            </a:r>
            <a:r>
              <a:rPr lang="ru-RU" b="1" dirty="0" smtClean="0"/>
              <a:t>256 векторов прерываний</a:t>
            </a:r>
            <a:r>
              <a:rPr lang="ru-RU" dirty="0" smtClean="0"/>
              <a:t> (с номерами от 0 до 255).</a:t>
            </a:r>
          </a:p>
          <a:p>
            <a:r>
              <a:rPr lang="ru-RU" b="1" dirty="0" smtClean="0"/>
              <a:t>Таблица векторов прерываний (IVT):</a:t>
            </a:r>
            <a:endParaRPr lang="ru-RU" dirty="0" smtClean="0"/>
          </a:p>
          <a:p>
            <a:pPr lvl="1"/>
            <a:r>
              <a:rPr lang="ru-RU" dirty="0" smtClean="0"/>
              <a:t>Располагается в самом начале оперативной памяти (адреса 00000h–003FFh).</a:t>
            </a:r>
          </a:p>
          <a:p>
            <a:pPr lvl="1"/>
            <a:r>
              <a:rPr lang="ru-RU" dirty="0" smtClean="0"/>
              <a:t>Каждый вектор занимает </a:t>
            </a:r>
            <a:r>
              <a:rPr lang="ru-RU" b="1" dirty="0" smtClean="0"/>
              <a:t>4 байта</a:t>
            </a:r>
            <a:r>
              <a:rPr lang="ru-RU" dirty="0" smtClean="0"/>
              <a:t> (2 байта для сегмента CS и 2 байта для смещения IP обработчика).</a:t>
            </a:r>
          </a:p>
          <a:p>
            <a:r>
              <a:rPr lang="ru-RU" b="1" dirty="0" smtClean="0"/>
              <a:t>Типы прерываний:</a:t>
            </a:r>
            <a:endParaRPr lang="ru-RU" dirty="0" smtClean="0"/>
          </a:p>
          <a:p>
            <a:pPr lvl="1"/>
            <a:r>
              <a:rPr lang="ru-RU" b="1" dirty="0" smtClean="0"/>
              <a:t>Аппаратные:</a:t>
            </a:r>
            <a:r>
              <a:rPr lang="ru-RU" dirty="0" smtClean="0"/>
              <a:t> Немаскируемые (</a:t>
            </a:r>
            <a:r>
              <a:rPr lang="ru-RU" b="1" dirty="0" smtClean="0"/>
              <a:t>NMI</a:t>
            </a:r>
            <a:r>
              <a:rPr lang="ru-RU" dirty="0" smtClean="0"/>
              <a:t> — критические сбои, </a:t>
            </a:r>
            <a:r>
              <a:rPr lang="ru-RU" dirty="0" err="1" smtClean="0"/>
              <a:t>пин</a:t>
            </a:r>
            <a:r>
              <a:rPr lang="ru-RU" dirty="0" smtClean="0"/>
              <a:t> 17) и маскируемые (</a:t>
            </a:r>
            <a:r>
              <a:rPr lang="ru-RU" b="1" dirty="0" smtClean="0"/>
              <a:t>INTR</a:t>
            </a:r>
            <a:r>
              <a:rPr lang="ru-RU" dirty="0" smtClean="0"/>
              <a:t> — запросы от периферии через контроллер 8259A, </a:t>
            </a:r>
            <a:r>
              <a:rPr lang="ru-RU" dirty="0" err="1" smtClean="0"/>
              <a:t>пин</a:t>
            </a:r>
            <a:r>
              <a:rPr lang="ru-RU" dirty="0" smtClean="0"/>
              <a:t> 18).</a:t>
            </a:r>
          </a:p>
          <a:p>
            <a:pPr lvl="1"/>
            <a:r>
              <a:rPr lang="ru-RU" b="1" dirty="0" smtClean="0"/>
              <a:t>Программные:</a:t>
            </a:r>
            <a:r>
              <a:rPr lang="ru-RU" dirty="0" smtClean="0"/>
              <a:t> Вызываются инструкцией INT &lt;номер&gt; (например, знаменитое INT 21h для вызова функций DOS) или INT 3 (точка останова для отладки).</a:t>
            </a:r>
          </a:p>
          <a:p>
            <a:pPr lvl="1"/>
            <a:r>
              <a:rPr lang="ru-RU" b="1" dirty="0" smtClean="0"/>
              <a:t>Исключения:</a:t>
            </a:r>
            <a:r>
              <a:rPr lang="ru-RU" dirty="0" smtClean="0"/>
              <a:t> Внутренние ошибки процессора, например, деление на ноль (прерывание INT 0).</a:t>
            </a:r>
          </a:p>
          <a:p>
            <a:endParaRPr lang="ru-RU" sz="1400" dirty="0"/>
          </a:p>
        </p:txBody>
      </p:sp>
      <p:pic>
        <p:nvPicPr>
          <p:cNvPr id="4" name="slide_30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7504" y="188640"/>
            <a:ext cx="9036496" cy="6669360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/>
              <a:t>Примеры команд для </a:t>
            </a:r>
            <a:r>
              <a:rPr lang="en-US" dirty="0" err="1" smtClean="0"/>
              <a:t>intel</a:t>
            </a:r>
            <a:r>
              <a:rPr lang="en-US" dirty="0" smtClean="0"/>
              <a:t> 8086</a:t>
            </a:r>
            <a:endParaRPr lang="ru-RU" dirty="0" smtClean="0"/>
          </a:p>
          <a:p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Команды пересылки данных (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mov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 и др.)</a:t>
            </a:r>
          </a:p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mov</a:t>
            </a:r>
            <a:r>
              <a:rPr lang="en-US" dirty="0" smtClean="0"/>
              <a:t> </a:t>
            </a:r>
            <a:r>
              <a:rPr lang="en-US" dirty="0" err="1" smtClean="0"/>
              <a:t>ax,bx</a:t>
            </a:r>
            <a:r>
              <a:rPr lang="en-US" dirty="0" smtClean="0"/>
              <a:t> – </a:t>
            </a:r>
            <a:r>
              <a:rPr lang="ru-RU" dirty="0" smtClean="0"/>
              <a:t>пересылка из </a:t>
            </a:r>
            <a:r>
              <a:rPr lang="en-US" dirty="0" smtClean="0"/>
              <a:t>16-</a:t>
            </a:r>
            <a:r>
              <a:rPr lang="ru-RU" dirty="0" smtClean="0"/>
              <a:t>и</a:t>
            </a:r>
            <a:r>
              <a:rPr lang="en-US" dirty="0" smtClean="0"/>
              <a:t> </a:t>
            </a:r>
            <a:r>
              <a:rPr lang="ru-RU" dirty="0" smtClean="0"/>
              <a:t>разрядного регистра </a:t>
            </a:r>
            <a:r>
              <a:rPr lang="en-US" dirty="0" err="1" smtClean="0"/>
              <a:t>bx</a:t>
            </a:r>
            <a:r>
              <a:rPr lang="en-US" dirty="0" smtClean="0"/>
              <a:t> </a:t>
            </a:r>
            <a:r>
              <a:rPr lang="ru-RU" dirty="0" smtClean="0"/>
              <a:t>в </a:t>
            </a:r>
            <a:r>
              <a:rPr lang="en-US" dirty="0" smtClean="0"/>
              <a:t>ax</a:t>
            </a:r>
          </a:p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mov</a:t>
            </a:r>
            <a:r>
              <a:rPr lang="en-US" dirty="0" smtClean="0"/>
              <a:t> </a:t>
            </a:r>
            <a:r>
              <a:rPr lang="en-US" dirty="0" err="1" smtClean="0"/>
              <a:t>ax,ds</a:t>
            </a:r>
            <a:r>
              <a:rPr lang="en-US" dirty="0" smtClean="0"/>
              <a:t>:[</a:t>
            </a:r>
            <a:r>
              <a:rPr lang="en-US" dirty="0" err="1" smtClean="0"/>
              <a:t>si</a:t>
            </a:r>
            <a:r>
              <a:rPr lang="en-US" dirty="0" smtClean="0"/>
              <a:t>]</a:t>
            </a:r>
            <a:r>
              <a:rPr lang="ru-RU" dirty="0" smtClean="0"/>
              <a:t> – пересылка из памяти по адресу </a:t>
            </a:r>
            <a:r>
              <a:rPr lang="en-US" dirty="0" err="1" smtClean="0"/>
              <a:t>ds</a:t>
            </a:r>
            <a:r>
              <a:rPr lang="en-US" dirty="0" smtClean="0"/>
              <a:t>:[</a:t>
            </a:r>
            <a:r>
              <a:rPr lang="en-US" dirty="0" err="1" smtClean="0"/>
              <a:t>si</a:t>
            </a:r>
            <a:r>
              <a:rPr lang="en-US" dirty="0" smtClean="0"/>
              <a:t>] </a:t>
            </a:r>
            <a:r>
              <a:rPr lang="ru-RU" dirty="0" smtClean="0"/>
              <a:t>в регистр </a:t>
            </a:r>
            <a:r>
              <a:rPr lang="en-US" dirty="0" smtClean="0"/>
              <a:t>ax</a:t>
            </a:r>
          </a:p>
          <a:p>
            <a:r>
              <a:rPr lang="en-US" dirty="0" err="1" smtClean="0"/>
              <a:t>ds</a:t>
            </a:r>
            <a:r>
              <a:rPr lang="en-US" dirty="0" smtClean="0"/>
              <a:t> – </a:t>
            </a:r>
            <a:r>
              <a:rPr lang="ru-RU" dirty="0" smtClean="0"/>
              <a:t>сегмент данных </a:t>
            </a:r>
            <a:r>
              <a:rPr lang="en-US" dirty="0" err="1" smtClean="0"/>
              <a:t>si</a:t>
            </a:r>
            <a:r>
              <a:rPr lang="en-US" dirty="0" smtClean="0"/>
              <a:t> – </a:t>
            </a:r>
            <a:r>
              <a:rPr lang="ru-RU" dirty="0" smtClean="0"/>
              <a:t>регистр смещения в сегменте. </a:t>
            </a:r>
          </a:p>
          <a:p>
            <a:r>
              <a:rPr lang="ru-RU" dirty="0" smtClean="0"/>
              <a:t>    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Арифметические команды (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add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sub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imul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 и др.)</a:t>
            </a:r>
          </a:p>
          <a:p>
            <a:r>
              <a:rPr lang="ru-RU" dirty="0" smtClean="0"/>
              <a:t>    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Логические и побитовые операции (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or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and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xor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shr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 и др.)</a:t>
            </a:r>
          </a:p>
          <a:p>
            <a:r>
              <a:rPr lang="ru-RU" dirty="0" smtClean="0"/>
              <a:t>    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Команды управления ходом выполнения программы (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jmp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loop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ret, call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 и др.)</a:t>
            </a:r>
          </a:p>
          <a:p>
            <a:r>
              <a:rPr lang="en-US" dirty="0" smtClean="0"/>
              <a:t>Ret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smtClean="0"/>
              <a:t>– </a:t>
            </a:r>
            <a:r>
              <a:rPr lang="ru-RU" dirty="0" smtClean="0"/>
              <a:t>возврат из прерывания, или процедуры путем извлечения адреса перехода из стека. </a:t>
            </a:r>
          </a:p>
          <a:p>
            <a:r>
              <a:rPr lang="ru-RU" dirty="0" smtClean="0"/>
              <a:t>    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Команды вызова прерываний (иногда относят к командам управления): 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int</a:t>
            </a:r>
            <a:endParaRPr lang="ru-RU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lvl="1"/>
            <a:r>
              <a:rPr lang="ru-RU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mov</a:t>
            </a:r>
            <a:r>
              <a:rPr lang="ru-RU" dirty="0" smtClean="0"/>
              <a:t>  </a:t>
            </a:r>
            <a:r>
              <a:rPr lang="ru-RU" dirty="0" err="1" smtClean="0"/>
              <a:t>ah</a:t>
            </a:r>
            <a:r>
              <a:rPr lang="ru-RU" dirty="0" smtClean="0"/>
              <a:t>, 9                ; Номер функции DOS - в AH</a:t>
            </a:r>
          </a:p>
          <a:p>
            <a:r>
              <a:rPr lang="ru-RU" dirty="0" smtClean="0"/>
              <a:t>         </a:t>
            </a:r>
            <a:r>
              <a:rPr lang="ru-RU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mov</a:t>
            </a:r>
            <a:r>
              <a:rPr lang="ru-RU" dirty="0" smtClean="0"/>
              <a:t>  </a:t>
            </a:r>
            <a:r>
              <a:rPr lang="ru-RU" dirty="0" err="1" smtClean="0"/>
              <a:t>dx</a:t>
            </a:r>
            <a:r>
              <a:rPr lang="ru-RU" dirty="0" smtClean="0"/>
              <a:t>, </a:t>
            </a:r>
            <a:r>
              <a:rPr lang="ru-RU" dirty="0" err="1" smtClean="0"/>
              <a:t>offset</a:t>
            </a:r>
            <a:r>
              <a:rPr lang="ru-RU" dirty="0" smtClean="0"/>
              <a:t> </a:t>
            </a:r>
            <a:r>
              <a:rPr lang="ru-RU" dirty="0" err="1" smtClean="0"/>
              <a:t>message</a:t>
            </a:r>
            <a:r>
              <a:rPr lang="ru-RU" dirty="0" smtClean="0"/>
              <a:t>   ; Адрес строки - в DX</a:t>
            </a:r>
          </a:p>
          <a:p>
            <a:r>
              <a:rPr lang="ru-RU" dirty="0" smtClean="0"/>
              <a:t>        </a:t>
            </a:r>
            <a:r>
              <a:rPr lang="ru-RU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ru-RU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int</a:t>
            </a:r>
            <a:r>
              <a:rPr lang="ru-RU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</a:t>
            </a:r>
            <a:r>
              <a:rPr lang="ru-RU" dirty="0" smtClean="0"/>
              <a:t>21h                  ; Вызов системной функции DOS</a:t>
            </a:r>
          </a:p>
          <a:p>
            <a:r>
              <a:rPr lang="ru-RU" dirty="0" smtClean="0"/>
              <a:t>         </a:t>
            </a:r>
            <a:r>
              <a:rPr lang="ru-RU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ret</a:t>
            </a:r>
            <a:r>
              <a:rPr lang="ru-RU" dirty="0" smtClean="0"/>
              <a:t>                       ; Завершение COM-программы</a:t>
            </a:r>
          </a:p>
          <a:p>
            <a:pPr lvl="1"/>
            <a:r>
              <a:rPr lang="ru-RU" dirty="0" err="1" smtClean="0"/>
              <a:t>message</a:t>
            </a:r>
            <a:r>
              <a:rPr lang="ru-RU" dirty="0" smtClean="0"/>
              <a:t>       </a:t>
            </a:r>
            <a:r>
              <a:rPr lang="ru-RU" dirty="0" err="1" smtClean="0"/>
              <a:t>db</a:t>
            </a:r>
            <a:r>
              <a:rPr lang="ru-RU" dirty="0" smtClean="0"/>
              <a:t>    "</a:t>
            </a:r>
            <a:r>
              <a:rPr lang="ru-RU" dirty="0" err="1" smtClean="0"/>
              <a:t>Hello</a:t>
            </a:r>
            <a:r>
              <a:rPr lang="ru-RU" dirty="0" smtClean="0"/>
              <a:t> </a:t>
            </a:r>
            <a:r>
              <a:rPr lang="ru-RU" dirty="0" err="1" smtClean="0"/>
              <a:t>World</a:t>
            </a:r>
            <a:r>
              <a:rPr lang="ru-RU" dirty="0" smtClean="0"/>
              <a:t>!", 0Dh, 0Ah, '$' ; Строка для </a:t>
            </a:r>
            <a:r>
              <a:rPr lang="ru-RU" dirty="0" err="1" smtClean="0"/>
              <a:t>выводаю</a:t>
            </a:r>
            <a:r>
              <a:rPr lang="ru-RU" dirty="0" smtClean="0"/>
              <a:t>, например:</a:t>
            </a:r>
          </a:p>
          <a:p>
            <a:r>
              <a:rPr lang="ru-RU" dirty="0" smtClean="0"/>
              <a:t>    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Команды ввода-вывода в порты (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in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out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r>
              <a:rPr lang="ru-RU" dirty="0" smtClean="0"/>
              <a:t>    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Для микроконтроллеров и микрокомпьютеров характерны также команды, выполняющие проверку и переход по условию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(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jne,jqe,jge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, например:</a:t>
            </a:r>
          </a:p>
          <a:p>
            <a:r>
              <a:rPr lang="en-US" dirty="0" err="1" smtClean="0"/>
              <a:t>cmp</a:t>
            </a:r>
            <a:r>
              <a:rPr lang="ru-RU" dirty="0" smtClean="0"/>
              <a:t> </a:t>
            </a:r>
            <a:r>
              <a:rPr lang="en-US" dirty="0" err="1" smtClean="0"/>
              <a:t>ax,bx</a:t>
            </a:r>
            <a:r>
              <a:rPr lang="ru-RU" dirty="0" smtClean="0"/>
              <a:t> 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Jne</a:t>
            </a:r>
            <a:r>
              <a:rPr lang="en-US" dirty="0" smtClean="0"/>
              <a:t> </a:t>
            </a:r>
            <a:r>
              <a:rPr lang="en-US" dirty="0" err="1" smtClean="0"/>
              <a:t>metka</a:t>
            </a:r>
            <a:r>
              <a:rPr lang="en-US" dirty="0" smtClean="0"/>
              <a:t> </a:t>
            </a:r>
            <a:r>
              <a:rPr lang="ru-RU" dirty="0" smtClean="0"/>
              <a:t>– переход </a:t>
            </a:r>
            <a:r>
              <a:rPr lang="en-US" dirty="0" smtClean="0"/>
              <a:t> </a:t>
            </a:r>
            <a:r>
              <a:rPr lang="ru-RU" dirty="0" smtClean="0"/>
              <a:t>если не равно</a:t>
            </a:r>
            <a:r>
              <a:rPr lang="en-US" dirty="0" smtClean="0"/>
              <a:t> </a:t>
            </a:r>
            <a:r>
              <a:rPr lang="ru-RU" dirty="0" smtClean="0"/>
              <a:t>в какую то область памяти где расположена метка</a:t>
            </a:r>
            <a:endParaRPr lang="en-US" dirty="0" smtClean="0"/>
          </a:p>
          <a:p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Работа со стеком –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push, pop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, регистры стека 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ss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- 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сегмент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, sp, 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bp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 - смещение</a:t>
            </a:r>
          </a:p>
          <a:p>
            <a:r>
              <a:rPr lang="en-US" dirty="0" smtClean="0"/>
              <a:t>push ax – </a:t>
            </a:r>
            <a:r>
              <a:rPr lang="ru-RU" dirty="0" smtClean="0"/>
              <a:t>занесли в стек регистр </a:t>
            </a:r>
            <a:r>
              <a:rPr lang="en-US" dirty="0" smtClean="0"/>
              <a:t>ax</a:t>
            </a:r>
          </a:p>
          <a:p>
            <a:r>
              <a:rPr lang="en-US" dirty="0" smtClean="0"/>
              <a:t>pop </a:t>
            </a:r>
            <a:r>
              <a:rPr lang="en-US" dirty="0" err="1" smtClean="0"/>
              <a:t>bx</a:t>
            </a:r>
            <a:r>
              <a:rPr lang="en-US" dirty="0" smtClean="0"/>
              <a:t> – </a:t>
            </a:r>
            <a:r>
              <a:rPr lang="ru-RU" dirty="0" smtClean="0"/>
              <a:t>извлекли из стека в </a:t>
            </a:r>
            <a:r>
              <a:rPr lang="en-US" dirty="0" err="1" smtClean="0"/>
              <a:t>bx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4941-714A-4534-BAF0-D7B3F1DCFD06}" type="slidenum">
              <a:rPr lang="ru-RU" smtClean="0"/>
              <a:pPr/>
              <a:t>31</a:t>
            </a:fld>
            <a:endParaRPr lang="ru-RU"/>
          </a:p>
        </p:txBody>
      </p:sp>
      <p:pic>
        <p:nvPicPr>
          <p:cNvPr id="5" name="slide_31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sz="2000" dirty="0" smtClean="0"/>
              <a:t>Отличие защищенного и реального режима процессора </a:t>
            </a:r>
            <a:r>
              <a:rPr lang="en-US" sz="2000" dirty="0" smtClean="0"/>
              <a:t>x256-x386</a:t>
            </a:r>
            <a:r>
              <a:rPr lang="ru-RU" sz="2000" dirty="0" smtClean="0"/>
              <a:t>,</a:t>
            </a:r>
            <a:r>
              <a:rPr lang="en-US" sz="2000" dirty="0" smtClean="0"/>
              <a:t> </a:t>
            </a:r>
            <a:r>
              <a:rPr lang="ru-RU" sz="2000" dirty="0" smtClean="0"/>
              <a:t> регистры</a:t>
            </a:r>
            <a:endParaRPr lang="ru-RU" sz="20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620688"/>
            <a:ext cx="8856984" cy="6048672"/>
          </a:xfrm>
        </p:spPr>
        <p:txBody>
          <a:bodyPr>
            <a:noAutofit/>
          </a:bodyPr>
          <a:lstStyle/>
          <a:p>
            <a:r>
              <a:rPr lang="ru-RU" sz="1800" b="1" dirty="0" smtClean="0"/>
              <a:t>Реальный </a:t>
            </a:r>
            <a:r>
              <a:rPr lang="ru-RU" sz="1800" b="1" dirty="0" smtClean="0"/>
              <a:t>режим (</a:t>
            </a:r>
            <a:r>
              <a:rPr lang="ru-RU" sz="1800" b="1" dirty="0" err="1" smtClean="0"/>
              <a:t>Real</a:t>
            </a:r>
            <a:r>
              <a:rPr lang="ru-RU" sz="1800" b="1" dirty="0" smtClean="0"/>
              <a:t> </a:t>
            </a:r>
            <a:r>
              <a:rPr lang="ru-RU" sz="1800" b="1" dirty="0" err="1" smtClean="0"/>
              <a:t>Mode</a:t>
            </a:r>
            <a:r>
              <a:rPr lang="ru-RU" sz="1800" b="1" dirty="0" smtClean="0"/>
              <a:t>):</a:t>
            </a:r>
            <a:r>
              <a:rPr lang="ru-RU" sz="1800" dirty="0" smtClean="0"/>
              <a:t> </a:t>
            </a:r>
            <a:r>
              <a:rPr lang="ru-RU" sz="1800" dirty="0" smtClean="0"/>
              <a:t>Процессор </a:t>
            </a:r>
            <a:r>
              <a:rPr lang="ru-RU" sz="1800" dirty="0" smtClean="0"/>
              <a:t>работает как быстрый </a:t>
            </a:r>
            <a:r>
              <a:rPr lang="ru-RU" sz="1800" dirty="0" smtClean="0"/>
              <a:t>8086 и включается </a:t>
            </a:r>
            <a:r>
              <a:rPr lang="ru-RU" sz="1800" dirty="0" smtClean="0"/>
              <a:t>по умолчанию при старте компьютера.</a:t>
            </a:r>
          </a:p>
          <a:p>
            <a:pPr lvl="1"/>
            <a:r>
              <a:rPr lang="ru-RU" sz="1800" b="1" dirty="0" smtClean="0"/>
              <a:t>Адресация:</a:t>
            </a:r>
            <a:r>
              <a:rPr lang="ru-RU" sz="1800" dirty="0" smtClean="0"/>
              <a:t> Прямой доступ к физической памяти по формуле Сегмент × 16 + Смещение.</a:t>
            </a:r>
          </a:p>
          <a:p>
            <a:pPr lvl="1"/>
            <a:r>
              <a:rPr lang="ru-RU" sz="1800" dirty="0" smtClean="0"/>
              <a:t>Полное </a:t>
            </a:r>
            <a:r>
              <a:rPr lang="ru-RU" sz="1800" b="1" dirty="0" smtClean="0"/>
              <a:t>отсутствие защиты памяти</a:t>
            </a:r>
            <a:r>
              <a:rPr lang="ru-RU" sz="1800" dirty="0" smtClean="0"/>
              <a:t> (любая программа может затереть код ОС). В 80286/80386 лимит памяти в этом режиме оставался </a:t>
            </a:r>
            <a:r>
              <a:rPr lang="ru-RU" sz="1800" b="1" dirty="0" smtClean="0"/>
              <a:t>1 МБ</a:t>
            </a:r>
            <a:r>
              <a:rPr lang="ru-RU" sz="1800" dirty="0" smtClean="0"/>
              <a:t>.</a:t>
            </a:r>
          </a:p>
          <a:p>
            <a:r>
              <a:rPr lang="ru-RU" sz="1800" b="1" dirty="0" smtClean="0"/>
              <a:t>Защищенный режим (</a:t>
            </a:r>
            <a:r>
              <a:rPr lang="ru-RU" sz="1800" b="1" dirty="0" err="1" smtClean="0"/>
              <a:t>Protected</a:t>
            </a:r>
            <a:r>
              <a:rPr lang="ru-RU" sz="1800" b="1" dirty="0" smtClean="0"/>
              <a:t> </a:t>
            </a:r>
            <a:r>
              <a:rPr lang="ru-RU" sz="1800" b="1" dirty="0" err="1" smtClean="0"/>
              <a:t>Mode</a:t>
            </a:r>
            <a:r>
              <a:rPr lang="ru-RU" sz="1800" b="1" dirty="0" smtClean="0"/>
              <a:t>): </a:t>
            </a:r>
            <a:r>
              <a:rPr lang="ru-RU" sz="1800" dirty="0" smtClean="0"/>
              <a:t>Обеспечивает </a:t>
            </a:r>
            <a:r>
              <a:rPr lang="ru-RU" sz="1800" dirty="0" smtClean="0"/>
              <a:t>многозадачность.</a:t>
            </a:r>
          </a:p>
          <a:p>
            <a:pPr lvl="1"/>
            <a:r>
              <a:rPr lang="ru-RU" sz="1800" b="1" dirty="0" smtClean="0"/>
              <a:t>Адресация через селекторы:</a:t>
            </a:r>
            <a:r>
              <a:rPr lang="ru-RU" sz="1800" dirty="0" smtClean="0"/>
              <a:t> Сегментные регистры больше не содержат адрес памяти. Они хранят </a:t>
            </a:r>
            <a:r>
              <a:rPr lang="ru-RU" sz="1800" b="1" dirty="0" smtClean="0"/>
              <a:t>селектор</a:t>
            </a:r>
            <a:r>
              <a:rPr lang="ru-RU" sz="1800" dirty="0" smtClean="0"/>
              <a:t> (индекс) указывающий на дескриптор в глобальной таблице (</a:t>
            </a:r>
            <a:r>
              <a:rPr lang="ru-RU" sz="1800" b="1" dirty="0" smtClean="0"/>
              <a:t>GDT</a:t>
            </a:r>
            <a:r>
              <a:rPr lang="ru-RU" sz="1800" dirty="0" smtClean="0"/>
              <a:t>). Дескриптор содержит реальный базовый адрес, размер сегмента и права доступа.</a:t>
            </a:r>
          </a:p>
          <a:p>
            <a:pPr lvl="2">
              <a:buNone/>
            </a:pPr>
            <a:r>
              <a:rPr lang="ru-RU" sz="1800" b="1" dirty="0" smtClean="0"/>
              <a:t>Защита </a:t>
            </a:r>
            <a:r>
              <a:rPr lang="ru-RU" sz="1800" b="1" dirty="0" smtClean="0"/>
              <a:t>уровней </a:t>
            </a:r>
            <a:r>
              <a:rPr lang="ru-RU" sz="1800" b="1" dirty="0" smtClean="0"/>
              <a:t>привилегий: </a:t>
            </a:r>
            <a:r>
              <a:rPr lang="ru-RU" sz="1800" dirty="0" smtClean="0"/>
              <a:t>Кольца </a:t>
            </a:r>
            <a:r>
              <a:rPr lang="ru-RU" sz="1800" dirty="0" smtClean="0"/>
              <a:t>защиты (</a:t>
            </a:r>
            <a:r>
              <a:rPr lang="ru-RU" sz="1800" dirty="0" err="1" smtClean="0"/>
              <a:t>Ring</a:t>
            </a:r>
            <a:r>
              <a:rPr lang="ru-RU" sz="1800" dirty="0" smtClean="0"/>
              <a:t> 0 для ОС, </a:t>
            </a:r>
            <a:r>
              <a:rPr lang="ru-RU" sz="1800" dirty="0" err="1" smtClean="0"/>
              <a:t>Ring</a:t>
            </a:r>
            <a:r>
              <a:rPr lang="ru-RU" sz="1800" dirty="0" smtClean="0"/>
              <a:t> 3 для программ) предотвращают </a:t>
            </a:r>
            <a:r>
              <a:rPr lang="ru-RU" sz="1800" dirty="0" err="1" smtClean="0"/>
              <a:t>краш</a:t>
            </a:r>
            <a:r>
              <a:rPr lang="ru-RU" sz="1800" dirty="0" smtClean="0"/>
              <a:t> системы приложениями.</a:t>
            </a:r>
          </a:p>
          <a:p>
            <a:pPr lvl="2">
              <a:buNone/>
            </a:pPr>
            <a:r>
              <a:rPr lang="ru-RU" sz="1800" b="1" dirty="0" smtClean="0"/>
              <a:t>Виртуальная память и Страничная адресация (в 80386):</a:t>
            </a:r>
            <a:r>
              <a:rPr lang="ru-RU" sz="1800" dirty="0" smtClean="0"/>
              <a:t> Возможность выносить неиспользуемую память на диск (файлы подкачки).</a:t>
            </a:r>
          </a:p>
          <a:p>
            <a:r>
              <a:rPr lang="ru-RU" sz="1800" b="1" dirty="0" smtClean="0"/>
              <a:t>Эволюция адресного пространства:</a:t>
            </a:r>
            <a:endParaRPr lang="ru-RU" sz="1800" dirty="0" smtClean="0"/>
          </a:p>
          <a:p>
            <a:pPr lvl="1"/>
            <a:r>
              <a:rPr lang="ru-RU" sz="1800" b="1" dirty="0" smtClean="0"/>
              <a:t>80286:</a:t>
            </a:r>
            <a:r>
              <a:rPr lang="ru-RU" sz="1800" dirty="0" smtClean="0"/>
              <a:t> 24-битная шина адреса в защищенном режиме </a:t>
            </a:r>
            <a:r>
              <a:rPr lang="ru-RU" sz="1800" dirty="0" smtClean="0"/>
              <a:t>до </a:t>
            </a:r>
            <a:r>
              <a:rPr lang="ru-RU" sz="1800" b="1" dirty="0" smtClean="0"/>
              <a:t>16 МБ</a:t>
            </a:r>
            <a:r>
              <a:rPr lang="ru-RU" sz="1800" dirty="0" smtClean="0"/>
              <a:t> RAM.</a:t>
            </a:r>
          </a:p>
          <a:p>
            <a:pPr lvl="1"/>
            <a:r>
              <a:rPr lang="ru-RU" sz="1800" b="1" dirty="0" smtClean="0"/>
              <a:t>80386:</a:t>
            </a:r>
            <a:r>
              <a:rPr lang="ru-RU" sz="1800" dirty="0" smtClean="0"/>
              <a:t> 32-битная шина адреса </a:t>
            </a:r>
            <a:r>
              <a:rPr lang="ru-RU" sz="1800" dirty="0" smtClean="0"/>
              <a:t>до </a:t>
            </a:r>
            <a:r>
              <a:rPr lang="ru-RU" sz="1800" b="1" dirty="0" smtClean="0"/>
              <a:t>4 ГБ</a:t>
            </a:r>
            <a:r>
              <a:rPr lang="ru-RU" sz="1800" dirty="0" smtClean="0"/>
              <a:t> физической памяти.</a:t>
            </a:r>
          </a:p>
          <a:p>
            <a:endParaRPr lang="ru-RU" sz="1800" dirty="0"/>
          </a:p>
        </p:txBody>
      </p:sp>
      <p:pic>
        <p:nvPicPr>
          <p:cNvPr id="4" name="slide_32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476672"/>
            <a:ext cx="8219256" cy="5649491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 smtClean="0"/>
              <a:t>Векторные расширения и </a:t>
            </a:r>
            <a:r>
              <a:rPr lang="ru-RU" b="1" dirty="0" err="1" smtClean="0"/>
              <a:t>спец-технологии</a:t>
            </a:r>
            <a:r>
              <a:rPr lang="ru-RU" b="1" dirty="0" smtClean="0"/>
              <a:t> CPU</a:t>
            </a:r>
          </a:p>
          <a:p>
            <a:r>
              <a:rPr lang="ru-RU" b="1" dirty="0" smtClean="0"/>
              <a:t>Технология SIMD (</a:t>
            </a:r>
            <a:r>
              <a:rPr lang="ru-RU" b="1" dirty="0" err="1" smtClean="0"/>
              <a:t>Single</a:t>
            </a:r>
            <a:r>
              <a:rPr lang="ru-RU" b="1" dirty="0" smtClean="0"/>
              <a:t> </a:t>
            </a:r>
            <a:r>
              <a:rPr lang="ru-RU" b="1" dirty="0" err="1" smtClean="0"/>
              <a:t>Instruction</a:t>
            </a:r>
            <a:r>
              <a:rPr lang="ru-RU" b="1" dirty="0" smtClean="0"/>
              <a:t>, </a:t>
            </a:r>
            <a:r>
              <a:rPr lang="ru-RU" b="1" dirty="0" err="1" smtClean="0"/>
              <a:t>Multiple</a:t>
            </a:r>
            <a:r>
              <a:rPr lang="ru-RU" b="1" dirty="0" smtClean="0"/>
              <a:t> </a:t>
            </a:r>
            <a:r>
              <a:rPr lang="ru-RU" b="1" dirty="0" err="1" smtClean="0"/>
              <a:t>Data</a:t>
            </a:r>
            <a:r>
              <a:rPr lang="ru-RU" b="1" dirty="0" smtClean="0"/>
              <a:t>):</a:t>
            </a:r>
            <a:endParaRPr lang="ru-RU" dirty="0" smtClean="0"/>
          </a:p>
          <a:p>
            <a:pPr lvl="1"/>
            <a:r>
              <a:rPr lang="ru-RU" dirty="0" smtClean="0"/>
              <a:t>Позволяет </a:t>
            </a:r>
            <a:r>
              <a:rPr lang="ru-RU" dirty="0" smtClean="0"/>
              <a:t>одной процессорной команде обрабатывать сразу массив (вектор) данных за один такт. Крайне важно для видео, графики, игр и </a:t>
            </a:r>
            <a:r>
              <a:rPr lang="ru-RU" dirty="0" err="1" smtClean="0"/>
              <a:t>нейросетей</a:t>
            </a:r>
            <a:r>
              <a:rPr lang="ru-RU" dirty="0" smtClean="0"/>
              <a:t>.</a:t>
            </a:r>
          </a:p>
          <a:p>
            <a:r>
              <a:rPr lang="ru-RU" b="1" dirty="0" smtClean="0"/>
              <a:t>Эволюция SIMD-расширений:</a:t>
            </a:r>
            <a:endParaRPr lang="ru-RU" dirty="0" smtClean="0"/>
          </a:p>
          <a:p>
            <a:pPr lvl="1"/>
            <a:r>
              <a:rPr lang="ru-RU" b="1" dirty="0" smtClean="0"/>
              <a:t>MMX (1996 год):</a:t>
            </a:r>
            <a:r>
              <a:rPr lang="ru-RU" dirty="0" smtClean="0"/>
              <a:t> Исторически первое расширение от </a:t>
            </a:r>
            <a:r>
              <a:rPr lang="ru-RU" dirty="0" err="1" smtClean="0"/>
              <a:t>Intel</a:t>
            </a:r>
            <a:r>
              <a:rPr lang="ru-RU" dirty="0" smtClean="0"/>
              <a:t> (64-битные регистры). Использовалось для ускорения 2D/3D графики и аудио. Сегодня полностью устарело.</a:t>
            </a:r>
          </a:p>
          <a:p>
            <a:pPr lvl="1"/>
            <a:r>
              <a:rPr lang="ru-RU" b="1" dirty="0" smtClean="0"/>
              <a:t>SSE (1–4.2):</a:t>
            </a:r>
            <a:r>
              <a:rPr lang="ru-RU" dirty="0" smtClean="0"/>
              <a:t> Переход на 128-битные регистры (XMM). Позволило одновременно обрабатывать до 4 чисел с плавающей запятой.</a:t>
            </a:r>
          </a:p>
          <a:p>
            <a:pPr lvl="1"/>
            <a:r>
              <a:rPr lang="ru-RU" b="1" dirty="0" smtClean="0"/>
              <a:t>AVX / AVX2 (256 бит):</a:t>
            </a:r>
            <a:r>
              <a:rPr lang="ru-RU" dirty="0" smtClean="0"/>
              <a:t> В разы ускорило кодирование видео, архивацию и физические симуляции в играх.</a:t>
            </a:r>
          </a:p>
          <a:p>
            <a:pPr lvl="1"/>
            <a:r>
              <a:rPr lang="ru-RU" b="1" dirty="0" smtClean="0"/>
              <a:t>AVX-512 / AVX10 (512 бит):</a:t>
            </a:r>
            <a:r>
              <a:rPr lang="ru-RU" dirty="0" smtClean="0"/>
              <a:t> Огромные векторные регистры (ZMM), которые сегодня активно применяются в серверах для суперкомпьютерных вычислений и тяжелой математики.</a:t>
            </a:r>
          </a:p>
          <a:p>
            <a:endParaRPr lang="ru-RU" dirty="0"/>
          </a:p>
        </p:txBody>
      </p:sp>
      <p:pic>
        <p:nvPicPr>
          <p:cNvPr id="4" name="slide_33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19256" cy="778098"/>
          </a:xfrm>
        </p:spPr>
        <p:txBody>
          <a:bodyPr>
            <a:normAutofit/>
          </a:bodyPr>
          <a:lstStyle/>
          <a:p>
            <a:r>
              <a:rPr lang="ru-RU" dirty="0" smtClean="0"/>
              <a:t>Конвейерное исполнение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052736"/>
            <a:ext cx="8640960" cy="3456384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способ организации вычислений, используемый в современных процессорах и контроллерах с целью повышения их производительности (увеличения числа инструкций, выполняемых в единицу времени — эксплуатация параллелизма на уровне инструкций), технология, используемая при разработке компьютеров и других цифровых электронных устройств</a:t>
            </a:r>
            <a:r>
              <a:rPr lang="ru-RU" dirty="0" smtClean="0"/>
              <a:t>.</a:t>
            </a:r>
          </a:p>
          <a:p>
            <a:r>
              <a:rPr lang="en-US" dirty="0"/>
              <a:t>IF</a:t>
            </a:r>
            <a:r>
              <a:rPr lang="ru-RU" dirty="0"/>
              <a:t> (англ. </a:t>
            </a:r>
            <a:r>
              <a:rPr lang="en-US" dirty="0"/>
              <a:t>Instruction Fetch</a:t>
            </a:r>
            <a:r>
              <a:rPr lang="ru-RU" dirty="0"/>
              <a:t>) — получение инструкции,</a:t>
            </a:r>
          </a:p>
          <a:p>
            <a:r>
              <a:rPr lang="en-US" dirty="0"/>
              <a:t>I</a:t>
            </a:r>
            <a:r>
              <a:rPr lang="en-US" dirty="0" smtClean="0"/>
              <a:t>D</a:t>
            </a:r>
            <a:r>
              <a:rPr lang="ru-RU" dirty="0" smtClean="0"/>
              <a:t> </a:t>
            </a:r>
            <a:r>
              <a:rPr lang="ru-RU" dirty="0"/>
              <a:t>(англ. </a:t>
            </a:r>
            <a:r>
              <a:rPr lang="en-US" dirty="0"/>
              <a:t>Instruction Decode</a:t>
            </a:r>
            <a:r>
              <a:rPr lang="ru-RU" dirty="0"/>
              <a:t>) — раскодирование инструкции,</a:t>
            </a:r>
          </a:p>
          <a:p>
            <a:r>
              <a:rPr lang="ru-RU" dirty="0"/>
              <a:t> </a:t>
            </a:r>
            <a:r>
              <a:rPr lang="en-US" dirty="0" smtClean="0"/>
              <a:t>EX</a:t>
            </a:r>
            <a:r>
              <a:rPr lang="ru-RU" dirty="0" smtClean="0"/>
              <a:t> </a:t>
            </a:r>
            <a:r>
              <a:rPr lang="ru-RU" dirty="0"/>
              <a:t>(англ. </a:t>
            </a:r>
            <a:r>
              <a:rPr lang="en-US" dirty="0"/>
              <a:t>Execute</a:t>
            </a:r>
            <a:r>
              <a:rPr lang="ru-RU" dirty="0"/>
              <a:t>) — выполнение,</a:t>
            </a:r>
          </a:p>
          <a:p>
            <a:r>
              <a:rPr lang="ru-RU" dirty="0"/>
              <a:t> </a:t>
            </a:r>
            <a:r>
              <a:rPr lang="en-US" dirty="0" smtClean="0"/>
              <a:t>MEM</a:t>
            </a:r>
            <a:r>
              <a:rPr lang="ru-RU" dirty="0" smtClean="0"/>
              <a:t> </a:t>
            </a:r>
            <a:r>
              <a:rPr lang="ru-RU" dirty="0"/>
              <a:t>(англ. </a:t>
            </a:r>
            <a:r>
              <a:rPr lang="en-US" dirty="0"/>
              <a:t>Memory access) —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памяти</a:t>
            </a:r>
            <a:r>
              <a:rPr lang="en-US" dirty="0"/>
              <a:t>,</a:t>
            </a:r>
            <a:endParaRPr lang="ru-RU" dirty="0"/>
          </a:p>
          <a:p>
            <a:r>
              <a:rPr lang="en-US" dirty="0"/>
              <a:t> </a:t>
            </a:r>
            <a:r>
              <a:rPr lang="en-US" dirty="0" smtClean="0"/>
              <a:t>WB </a:t>
            </a:r>
            <a:r>
              <a:rPr lang="en-US" dirty="0"/>
              <a:t>(</a:t>
            </a:r>
            <a:r>
              <a:rPr lang="en-US" dirty="0" err="1"/>
              <a:t>англ</a:t>
            </a:r>
            <a:r>
              <a:rPr lang="en-US" dirty="0"/>
              <a:t>. Register write back) — </a:t>
            </a:r>
            <a:r>
              <a:rPr lang="en-US" dirty="0" err="1"/>
              <a:t>запись</a:t>
            </a:r>
            <a:r>
              <a:rPr lang="en-US" dirty="0"/>
              <a:t> в </a:t>
            </a:r>
            <a:r>
              <a:rPr lang="en-US" dirty="0" err="1"/>
              <a:t>регистр</a:t>
            </a:r>
            <a:r>
              <a:rPr lang="en-US" dirty="0" smtClean="0"/>
              <a:t>.</a:t>
            </a:r>
          </a:p>
          <a:p>
            <a:endParaRPr lang="ru-RU" dirty="0" smtClean="0"/>
          </a:p>
          <a:p>
            <a:endParaRPr lang="ru-RU" dirty="0" smtClean="0"/>
          </a:p>
          <a:p>
            <a:pPr lvl="8"/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869160"/>
            <a:ext cx="5940425" cy="172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Скругленный прямоугольник 4"/>
          <p:cNvSpPr/>
          <p:nvPr/>
        </p:nvSpPr>
        <p:spPr>
          <a:xfrm>
            <a:off x="6623720" y="4725144"/>
            <a:ext cx="2520280" cy="1944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 smtClean="0"/>
              <a:t>Нековейерное</a:t>
            </a:r>
            <a:r>
              <a:rPr lang="ru-RU" dirty="0" smtClean="0"/>
              <a:t> время исполнения пропорционально 5*5 = 25</a:t>
            </a:r>
          </a:p>
          <a:p>
            <a:pPr algn="ctr"/>
            <a:r>
              <a:rPr lang="ru-RU" dirty="0" smtClean="0"/>
              <a:t>Конвейерное</a:t>
            </a:r>
          </a:p>
          <a:p>
            <a:pPr algn="ctr"/>
            <a:r>
              <a:rPr lang="ru-RU" dirty="0"/>
              <a:t>9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4941-714A-4534-BAF0-D7B3F1DCFD06}" type="slidenum">
              <a:rPr lang="ru-RU" smtClean="0"/>
              <a:pPr/>
              <a:t>34</a:t>
            </a:fld>
            <a:endParaRPr lang="ru-RU"/>
          </a:p>
        </p:txBody>
      </p:sp>
      <p:pic>
        <p:nvPicPr>
          <p:cNvPr id="7" name="slide_34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Конфликты по управлению </a:t>
            </a:r>
            <a:r>
              <a:rPr lang="ru-RU" dirty="0" smtClean="0"/>
              <a:t>возникают при конвейерном выполнении условных передач управления и других команд, которые изменяют значение программного счетчика. Существует много способов обработки остановов конвейера, вызванных задержкой передачи управления, но для глубоких конвейеров в основном используются агрессивные средства, такие как предсказания передач управления.</a:t>
            </a:r>
          </a:p>
          <a:p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Предсказание ветвлений </a:t>
            </a:r>
            <a:r>
              <a:rPr lang="ru-RU" dirty="0" smtClean="0"/>
              <a:t>позволяет сократить время простоя конвейера за счёт предварительной загрузки и исполнения инструкций, которые должны выполниться после выполнения инструкции условного перехода. Прогнозирование ветвлений играет критическую роль, так как в большинстве случаев (точность предсказания переходов в современных процессорах превышает 90 %) позволяет оптимально использовать вычислительные ресурсы процессора</a:t>
            </a:r>
          </a:p>
          <a:p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Статические методы </a:t>
            </a:r>
            <a:r>
              <a:rPr lang="ru-RU" dirty="0" smtClean="0"/>
              <a:t>предсказания ветвлений являются наиболее простыми. Суть этих методов состоит в том, что различные типы переходов:  либо выполняются всегда;    либо не выполняются никогда.</a:t>
            </a:r>
          </a:p>
          <a:p>
            <a:r>
              <a:rPr lang="ru-RU" dirty="0" smtClean="0">
                <a:solidFill>
                  <a:schemeClr val="accent5">
                    <a:lumMod val="75000"/>
                  </a:schemeClr>
                </a:solidFill>
              </a:rPr>
              <a:t>Динамические методы, </a:t>
            </a:r>
            <a:r>
              <a:rPr lang="ru-RU" dirty="0" smtClean="0"/>
              <a:t>широко используемые в современных процессорах, подразумевают анализ истории ветвлений.</a:t>
            </a:r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4941-714A-4534-BAF0-D7B3F1DCFD06}" type="slidenum">
              <a:rPr lang="ru-RU" smtClean="0"/>
              <a:pPr/>
              <a:t>35</a:t>
            </a:fld>
            <a:endParaRPr lang="ru-RU"/>
          </a:p>
        </p:txBody>
      </p:sp>
      <p:pic>
        <p:nvPicPr>
          <p:cNvPr id="5" name="slide_35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6" name="Picture 4" descr="opimage0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340768"/>
            <a:ext cx="5976938" cy="143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468313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ru-RU" sz="4400">
                <a:solidFill>
                  <a:schemeClr val="tx2"/>
                </a:solidFill>
              </a:rPr>
              <a:t>Оперативная память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520" y="3284984"/>
            <a:ext cx="43924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RAM (random access memory)</a:t>
            </a:r>
          </a:p>
          <a:p>
            <a:r>
              <a:rPr lang="en-US" sz="2400" dirty="0" smtClean="0"/>
              <a:t>SRAM (static ram)</a:t>
            </a:r>
          </a:p>
          <a:p>
            <a:r>
              <a:rPr lang="en-US" sz="2400" dirty="0" smtClean="0"/>
              <a:t>DRAM (dynamic ram)</a:t>
            </a:r>
          </a:p>
          <a:p>
            <a:r>
              <a:rPr lang="en-US" sz="2400" dirty="0" smtClean="0"/>
              <a:t>SDRAM (synchronous dram)  </a:t>
            </a:r>
          </a:p>
          <a:p>
            <a:r>
              <a:rPr lang="en-US" sz="2400" dirty="0" smtClean="0"/>
              <a:t>DDR (double data rate)</a:t>
            </a:r>
            <a:endParaRPr lang="ru-RU" sz="2400" dirty="0"/>
          </a:p>
        </p:txBody>
      </p:sp>
      <p:cxnSp>
        <p:nvCxnSpPr>
          <p:cNvPr id="6" name="Прямая со стрелкой 5"/>
          <p:cNvCxnSpPr/>
          <p:nvPr/>
        </p:nvCxnSpPr>
        <p:spPr>
          <a:xfrm>
            <a:off x="5220072" y="4941168"/>
            <a:ext cx="29523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V="1">
            <a:off x="5220072" y="2996952"/>
            <a:ext cx="0" cy="19442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5436096" y="4581128"/>
            <a:ext cx="21602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5868144" y="4581128"/>
            <a:ext cx="21602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6372200" y="4581128"/>
            <a:ext cx="21602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6876256" y="4581128"/>
            <a:ext cx="21602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 flipV="1">
            <a:off x="5724128" y="4941168"/>
            <a:ext cx="0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 flipV="1">
            <a:off x="6228184" y="4941168"/>
            <a:ext cx="0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 flipV="1">
            <a:off x="6732240" y="4941168"/>
            <a:ext cx="0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97C59-5629-4460-9A54-A1015B2EDC30}" type="slidenum">
              <a:rPr lang="ru-RU" smtClean="0"/>
              <a:pPr/>
              <a:t>36</a:t>
            </a:fld>
            <a:endParaRPr lang="ru-RU"/>
          </a:p>
        </p:txBody>
      </p:sp>
      <p:pic>
        <p:nvPicPr>
          <p:cNvPr id="23558" name="slide_36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5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764704"/>
            <a:ext cx="820891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/>
              <a:t>SRAM против DRAM (Физика ячеек)</a:t>
            </a:r>
          </a:p>
          <a:p>
            <a:r>
              <a:rPr lang="ru-RU" sz="2000" b="1" dirty="0" smtClean="0"/>
              <a:t>SRAM (Статическая память):</a:t>
            </a:r>
            <a:endParaRPr lang="ru-RU" sz="2000" dirty="0" smtClean="0"/>
          </a:p>
          <a:p>
            <a:pPr lvl="1"/>
            <a:r>
              <a:rPr lang="ru-RU" sz="2000" b="1" dirty="0" smtClean="0"/>
              <a:t>База:</a:t>
            </a:r>
            <a:r>
              <a:rPr lang="ru-RU" sz="2000" dirty="0" smtClean="0"/>
              <a:t> Построена на </a:t>
            </a:r>
            <a:r>
              <a:rPr lang="ru-RU" sz="2000" b="1" dirty="0" smtClean="0"/>
              <a:t>триггерах</a:t>
            </a:r>
            <a:r>
              <a:rPr lang="ru-RU" sz="2000" dirty="0" smtClean="0"/>
              <a:t> (схемах из 4–6 транзисторов).</a:t>
            </a:r>
          </a:p>
          <a:p>
            <a:pPr lvl="1"/>
            <a:r>
              <a:rPr lang="ru-RU" sz="2000" b="1" dirty="0" smtClean="0"/>
              <a:t>Свойства:</a:t>
            </a:r>
            <a:r>
              <a:rPr lang="ru-RU" sz="2000" dirty="0" smtClean="0"/>
              <a:t> Хранит состояние стабильно, пока есть питание. Не требует обновления данных.</a:t>
            </a:r>
          </a:p>
          <a:p>
            <a:pPr lvl="1"/>
            <a:r>
              <a:rPr lang="ru-RU" sz="2000" b="1" dirty="0" smtClean="0"/>
              <a:t>Характеристики:</a:t>
            </a:r>
            <a:r>
              <a:rPr lang="ru-RU" sz="2000" dirty="0" smtClean="0"/>
              <a:t> Максимальная скорость, высокая стоимость, крупный размер ячейки.</a:t>
            </a:r>
          </a:p>
          <a:p>
            <a:pPr lvl="1"/>
            <a:r>
              <a:rPr lang="ru-RU" sz="2000" b="1" dirty="0" smtClean="0"/>
              <a:t>Применение:</a:t>
            </a:r>
            <a:r>
              <a:rPr lang="ru-RU" sz="2000" dirty="0" smtClean="0"/>
              <a:t> Регистры и кэш-память процессора (L1, L2, L3).</a:t>
            </a:r>
          </a:p>
          <a:p>
            <a:r>
              <a:rPr lang="ru-RU" sz="2000" b="1" dirty="0" smtClean="0"/>
              <a:t>DRAM (Динамическая память):</a:t>
            </a:r>
            <a:endParaRPr lang="ru-RU" sz="2000" dirty="0" smtClean="0"/>
          </a:p>
          <a:p>
            <a:pPr lvl="1"/>
            <a:r>
              <a:rPr lang="ru-RU" sz="2000" b="1" dirty="0" smtClean="0"/>
              <a:t>База:</a:t>
            </a:r>
            <a:r>
              <a:rPr lang="ru-RU" sz="2000" dirty="0" smtClean="0"/>
              <a:t> Построена на </a:t>
            </a:r>
            <a:r>
              <a:rPr lang="ru-RU" sz="2000" b="1" dirty="0" smtClean="0"/>
              <a:t>конденсаторах</a:t>
            </a:r>
            <a:r>
              <a:rPr lang="ru-RU" sz="2000" dirty="0" smtClean="0"/>
              <a:t> (1 транзистор + 1 </a:t>
            </a:r>
            <a:r>
              <a:rPr lang="ru-RU" sz="2000" dirty="0" err="1" smtClean="0"/>
              <a:t>микроконденсатор</a:t>
            </a:r>
            <a:r>
              <a:rPr lang="ru-RU" sz="2000" dirty="0" smtClean="0"/>
              <a:t>).</a:t>
            </a:r>
          </a:p>
          <a:p>
            <a:pPr lvl="1"/>
            <a:r>
              <a:rPr lang="ru-RU" sz="2000" b="1" dirty="0" smtClean="0"/>
              <a:t>Свойства:</a:t>
            </a:r>
            <a:r>
              <a:rPr lang="ru-RU" sz="2000" dirty="0" smtClean="0"/>
              <a:t> Заряд из конденсаторов постоянно утекает. Требует циклической </a:t>
            </a:r>
            <a:r>
              <a:rPr lang="ru-RU" sz="2000" b="1" dirty="0" smtClean="0"/>
              <a:t>регенерации</a:t>
            </a:r>
            <a:r>
              <a:rPr lang="ru-RU" sz="2000" dirty="0" smtClean="0"/>
              <a:t> (перезарядки ячеек) тысячи раз в секунду.</a:t>
            </a:r>
          </a:p>
          <a:p>
            <a:pPr lvl="1"/>
            <a:r>
              <a:rPr lang="ru-RU" sz="2000" b="1" dirty="0" smtClean="0"/>
              <a:t>Характеристики:</a:t>
            </a:r>
            <a:r>
              <a:rPr lang="ru-RU" sz="2000" dirty="0" smtClean="0"/>
              <a:t> Медленнее, чем SRAM, но дешевая и обладает огромной плотностью (миллиарды ячеек на чипе).</a:t>
            </a:r>
          </a:p>
          <a:p>
            <a:pPr lvl="1"/>
            <a:r>
              <a:rPr lang="ru-RU" sz="2000" b="1" dirty="0" smtClean="0"/>
              <a:t>Применение:</a:t>
            </a:r>
            <a:r>
              <a:rPr lang="ru-RU" sz="2000" dirty="0" smtClean="0"/>
              <a:t> Оперативная память (модули RAM).</a:t>
            </a:r>
          </a:p>
          <a:p>
            <a:endParaRPr lang="ru-RU" sz="2000" dirty="0"/>
          </a:p>
        </p:txBody>
      </p:sp>
      <p:pic>
        <p:nvPicPr>
          <p:cNvPr id="3" name="slide_37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188640"/>
            <a:ext cx="8568952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/>
              <a:t>Принцип работы (</a:t>
            </a:r>
            <a:r>
              <a:rPr lang="ru-RU" sz="2000" b="1" dirty="0" err="1" smtClean="0"/>
              <a:t>Double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Data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Rate</a:t>
            </a:r>
            <a:r>
              <a:rPr lang="ru-RU" sz="2000" b="1" dirty="0" smtClean="0"/>
              <a:t>):</a:t>
            </a:r>
            <a:endParaRPr lang="ru-RU" sz="2000" dirty="0" smtClean="0"/>
          </a:p>
          <a:p>
            <a:pPr lvl="1"/>
            <a:r>
              <a:rPr lang="ru-RU" sz="2000" dirty="0" smtClean="0"/>
              <a:t>Обычная память (SDRAM) передает данные 1 раз за такт — только при росте сигнала (на «взлете» волны).</a:t>
            </a:r>
          </a:p>
          <a:p>
            <a:pPr lvl="1"/>
            <a:r>
              <a:rPr lang="ru-RU" sz="2000" dirty="0" smtClean="0"/>
              <a:t>Память </a:t>
            </a:r>
            <a:r>
              <a:rPr lang="ru-RU" sz="2000" b="1" dirty="0" smtClean="0"/>
              <a:t>DDR передает данные 2 раза за такт</a:t>
            </a:r>
            <a:endParaRPr lang="ru-RU" sz="2000" dirty="0" smtClean="0"/>
          </a:p>
          <a:p>
            <a:pPr lvl="1"/>
            <a:r>
              <a:rPr lang="ru-RU" sz="2000" dirty="0" smtClean="0"/>
              <a:t>— и при росте, и при спаде сигнала (в начале и в конце тактового импульса).</a:t>
            </a:r>
          </a:p>
          <a:p>
            <a:pPr lvl="1"/>
            <a:r>
              <a:rPr lang="ru-RU" sz="2000" i="1" dirty="0" smtClean="0"/>
              <a:t>Результат:</a:t>
            </a:r>
            <a:r>
              <a:rPr lang="ru-RU" sz="2000" dirty="0" smtClean="0"/>
              <a:t> Скорость передачи удваивается без увеличения тактовой частоты.</a:t>
            </a:r>
          </a:p>
          <a:p>
            <a:r>
              <a:rPr lang="ru-RU" sz="2000" b="1" dirty="0" smtClean="0"/>
              <a:t>Развитие в DDR5:</a:t>
            </a:r>
            <a:endParaRPr lang="ru-RU" sz="2000" dirty="0" smtClean="0"/>
          </a:p>
          <a:p>
            <a:pPr lvl="1"/>
            <a:r>
              <a:rPr lang="ru-RU" sz="2000" b="1" dirty="0" smtClean="0"/>
              <a:t>Архитектура предвыборки (</a:t>
            </a:r>
            <a:r>
              <a:rPr lang="ru-RU" sz="2000" b="1" dirty="0" err="1" smtClean="0"/>
              <a:t>Prefetch</a:t>
            </a:r>
            <a:r>
              <a:rPr lang="ru-RU" sz="2000" b="1" dirty="0" smtClean="0"/>
              <a:t>):</a:t>
            </a:r>
            <a:r>
              <a:rPr lang="ru-RU" sz="2000" dirty="0" smtClean="0"/>
              <a:t> DDR1 считывала 2 бита за цикл, DDR4 — 8 бит, а </a:t>
            </a:r>
            <a:r>
              <a:rPr lang="ru-RU" sz="2000" b="1" dirty="0" smtClean="0"/>
              <a:t>DDR5 считывает 16 бит</a:t>
            </a:r>
            <a:r>
              <a:rPr lang="ru-RU" sz="2000" dirty="0" smtClean="0"/>
              <a:t> за один внутренний доступ.</a:t>
            </a:r>
          </a:p>
          <a:p>
            <a:pPr lvl="1"/>
            <a:r>
              <a:rPr lang="ru-RU" sz="2000" b="1" dirty="0" err="1" smtClean="0"/>
              <a:t>Двухканальность</a:t>
            </a:r>
            <a:r>
              <a:rPr lang="ru-RU" sz="2000" b="1" dirty="0" smtClean="0"/>
              <a:t>:</a:t>
            </a:r>
            <a:r>
              <a:rPr lang="ru-RU" sz="2000" dirty="0" smtClean="0"/>
              <a:t> Одна планка DDR5 теперь делится на два независимых 32-битных подканала, что устраняет очереди при обращении ядер процессора к памяти.</a:t>
            </a:r>
          </a:p>
          <a:p>
            <a:endParaRPr lang="ru-RU" dirty="0"/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4653136"/>
            <a:ext cx="4476750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15" name="slide_38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45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706438"/>
          </a:xfrm>
        </p:spPr>
        <p:txBody>
          <a:bodyPr/>
          <a:lstStyle/>
          <a:p>
            <a:pPr eaLnBrk="1" hangingPunct="1"/>
            <a:r>
              <a:rPr lang="ru-RU" sz="4000" smtClean="0"/>
              <a:t>Кэш память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2133600"/>
            <a:ext cx="8064500" cy="1150938"/>
          </a:xfrm>
        </p:spPr>
        <p:txBody>
          <a:bodyPr/>
          <a:lstStyle/>
          <a:p>
            <a:pPr eaLnBrk="1" hangingPunct="1"/>
            <a:r>
              <a:rPr lang="ru-RU" sz="2000" smtClean="0"/>
              <a:t>Кэш прямого доступа</a:t>
            </a:r>
          </a:p>
          <a:p>
            <a:pPr eaLnBrk="1" hangingPunct="1"/>
            <a:r>
              <a:rPr lang="ru-RU" sz="2000" smtClean="0"/>
              <a:t>Наборно-ассоциативный кэш</a:t>
            </a:r>
          </a:p>
          <a:p>
            <a:pPr eaLnBrk="1" hangingPunct="1"/>
            <a:r>
              <a:rPr lang="ru-RU" sz="2000" smtClean="0"/>
              <a:t>Ассоциативный кэш</a:t>
            </a:r>
          </a:p>
          <a:p>
            <a:pPr eaLnBrk="1" hangingPunct="1"/>
            <a:endParaRPr lang="ru-RU" sz="2000" smtClean="0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280988" y="692150"/>
            <a:ext cx="8863012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ru-RU"/>
              <a:t>Промежуточный буфер с быстрым доступом, содержащий информацию, которая может быть запрошена с наибольшей вероятностью. Доступ к данным в кэше осуществляется быстрее, чем выборка исходных данных из более медленной памяти или удаленного источника, однако её объём существенно ограничен по сравнению с хранилищем исходных данных.</a:t>
            </a:r>
          </a:p>
        </p:txBody>
      </p:sp>
      <p:pic>
        <p:nvPicPr>
          <p:cNvPr id="3077" name="Picture 5" descr="cache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619250" y="3357563"/>
            <a:ext cx="6551613" cy="3276600"/>
          </a:xfrm>
          <a:noFill/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37BF36-D4CF-46F1-AFBC-06A887148B36}" type="slidenum">
              <a:rPr lang="ru-RU" smtClean="0"/>
              <a:pPr>
                <a:defRPr/>
              </a:pPr>
              <a:t>39</a:t>
            </a:fld>
            <a:endParaRPr lang="ru-RU"/>
          </a:p>
        </p:txBody>
      </p:sp>
      <p:pic>
        <p:nvPicPr>
          <p:cNvPr id="3078" name="slide_39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7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mtClean="0"/>
              <a:t>Ассоциативный  кэш</a:t>
            </a:r>
          </a:p>
        </p:txBody>
      </p:sp>
      <p:pic>
        <p:nvPicPr>
          <p:cNvPr id="4099" name="Picture 4" descr="adress_match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124075" y="1196975"/>
            <a:ext cx="5545138" cy="5353050"/>
          </a:xfrm>
          <a:noFill/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EC346F-F062-4865-AA78-21B699532AE0}" type="slidenum">
              <a:rPr lang="ru-RU" smtClean="0"/>
              <a:pPr>
                <a:defRPr/>
              </a:pPr>
              <a:t>40</a:t>
            </a:fld>
            <a:endParaRPr lang="ru-RU"/>
          </a:p>
        </p:txBody>
      </p:sp>
      <p:pic>
        <p:nvPicPr>
          <p:cNvPr id="4100" name="slide_40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1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4" descr="line_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417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5" descr="line_mod_fla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700213"/>
            <a:ext cx="9144000" cy="157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6" descr="more_dat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388" y="4508500"/>
            <a:ext cx="8964612" cy="2163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5" name="Rectangle 7"/>
          <p:cNvSpPr>
            <a:spLocks noChangeArrowheads="1"/>
          </p:cNvSpPr>
          <p:nvPr/>
        </p:nvSpPr>
        <p:spPr bwMode="auto">
          <a:xfrm>
            <a:off x="179388" y="1268413"/>
            <a:ext cx="8569325" cy="5762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Возраст добавляется для удаления самой неиспользуемой строки в кэше</a:t>
            </a:r>
          </a:p>
        </p:txBody>
      </p:sp>
      <p:sp>
        <p:nvSpPr>
          <p:cNvPr id="5126" name="Rectangle 8"/>
          <p:cNvSpPr>
            <a:spLocks noChangeArrowheads="1"/>
          </p:cNvSpPr>
          <p:nvPr/>
        </p:nvSpPr>
        <p:spPr bwMode="auto">
          <a:xfrm>
            <a:off x="0" y="3221038"/>
            <a:ext cx="9144000" cy="12001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ru-RU"/>
              <a:t>Бит модификации добавляется чтобы не забыть записать строку в ОЗУ, если она изменялась, при этом не была сброшена в ОЗУ. Не сбрасывается чтобы ускорить доступ если есть последовательные считывания и записи в ту же строку. Если есть сбрасывание сразу – называется сквозная запись.  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23B133-9196-4E31-ABCE-DFFD23D934D1}" type="slidenum">
              <a:rPr lang="ru-RU" smtClean="0"/>
              <a:pPr>
                <a:defRPr/>
              </a:pPr>
              <a:t>41</a:t>
            </a:fld>
            <a:endParaRPr lang="ru-RU"/>
          </a:p>
        </p:txBody>
      </p:sp>
      <p:pic>
        <p:nvPicPr>
          <p:cNvPr id="5127" name="slide_41.mp3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1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 smtClean="0"/>
              <a:t>Кэш прямого отображения</a:t>
            </a:r>
          </a:p>
        </p:txBody>
      </p:sp>
      <p:pic>
        <p:nvPicPr>
          <p:cNvPr id="6147" name="Picture 4" descr="Pic_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763713" y="1341438"/>
            <a:ext cx="5545137" cy="4737100"/>
          </a:xfrm>
          <a:noFill/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EC346F-F062-4865-AA78-21B699532AE0}" type="slidenum">
              <a:rPr lang="ru-RU" smtClean="0"/>
              <a:pPr>
                <a:defRPr/>
              </a:pPr>
              <a:t>42</a:t>
            </a:fld>
            <a:endParaRPr lang="ru-RU"/>
          </a:p>
        </p:txBody>
      </p:sp>
      <p:pic>
        <p:nvPicPr>
          <p:cNvPr id="6148" name="slide_42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14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4" descr="CashDir"/>
          <p:cNvPicPr>
            <a:picLocks noChangeAspect="1" noChangeArrowheads="1"/>
          </p:cNvPicPr>
          <p:nvPr/>
        </p:nvPicPr>
        <p:blipFill>
          <a:blip r:embed="rId2" cstate="print"/>
          <a:srcRect b="7487"/>
          <a:stretch>
            <a:fillRect/>
          </a:stretch>
        </p:blipFill>
        <p:spPr bwMode="auto">
          <a:xfrm>
            <a:off x="0" y="0"/>
            <a:ext cx="9144000" cy="6577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23B133-9196-4E31-ABCE-DFFD23D934D1}" type="slidenum">
              <a:rPr lang="ru-RU" smtClean="0"/>
              <a:pPr>
                <a:defRPr/>
              </a:pPr>
              <a:t>43</a:t>
            </a:fld>
            <a:endParaRPr lang="ru-RU"/>
          </a:p>
        </p:txBody>
      </p:sp>
      <p:pic>
        <p:nvPicPr>
          <p:cNvPr id="7171" name="slide_43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17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/>
          <a:lstStyle/>
          <a:p>
            <a:pPr eaLnBrk="1" hangingPunct="1"/>
            <a:r>
              <a:rPr lang="ru-RU" smtClean="0"/>
              <a:t>Наборно-ассоциативный кэш</a:t>
            </a:r>
          </a:p>
        </p:txBody>
      </p:sp>
      <p:pic>
        <p:nvPicPr>
          <p:cNvPr id="8195" name="Picture 4" descr="Pic_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258888" y="1196975"/>
            <a:ext cx="5905500" cy="5111750"/>
          </a:xfrm>
          <a:noFill/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EC346F-F062-4865-AA78-21B699532AE0}" type="slidenum">
              <a:rPr lang="ru-RU" smtClean="0"/>
              <a:pPr>
                <a:defRPr/>
              </a:pPr>
              <a:t>44</a:t>
            </a:fld>
            <a:endParaRPr lang="ru-RU"/>
          </a:p>
        </p:txBody>
      </p:sp>
      <p:pic>
        <p:nvPicPr>
          <p:cNvPr id="8196" name="slide_44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19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4" descr="CashSeAs"/>
          <p:cNvPicPr>
            <a:picLocks noChangeAspect="1" noChangeArrowheads="1"/>
          </p:cNvPicPr>
          <p:nvPr/>
        </p:nvPicPr>
        <p:blipFill>
          <a:blip r:embed="rId2" cstate="print"/>
          <a:srcRect b="6435"/>
          <a:stretch>
            <a:fillRect/>
          </a:stretch>
        </p:blipFill>
        <p:spPr bwMode="auto">
          <a:xfrm>
            <a:off x="684213" y="0"/>
            <a:ext cx="7524750" cy="679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23B133-9196-4E31-ABCE-DFFD23D934D1}" type="slidenum">
              <a:rPr lang="ru-RU" smtClean="0"/>
              <a:pPr>
                <a:defRPr/>
              </a:pPr>
              <a:t>45</a:t>
            </a:fld>
            <a:endParaRPr lang="ru-RU"/>
          </a:p>
        </p:txBody>
      </p:sp>
      <p:pic>
        <p:nvPicPr>
          <p:cNvPr id="9219" name="slide_45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2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3836</Words>
  <Application>Microsoft Office PowerPoint</Application>
  <PresentationFormat>Экран (4:3)</PresentationFormat>
  <Paragraphs>314</Paragraphs>
  <Slides>45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45</vt:i4>
      </vt:variant>
    </vt:vector>
  </HeadingPairs>
  <TitlesOfParts>
    <vt:vector size="46" baseType="lpstr">
      <vt:lpstr>Тема Office</vt:lpstr>
      <vt:lpstr>Основные элементы и принципы работы компьютерной техники по архитектуре фон Неймана</vt:lpstr>
      <vt:lpstr>Фотолитография — ключевой метод производства микросхем. Это процесс «печати» схемы на кремниевой пластине с помощью света.</vt:lpstr>
      <vt:lpstr>Технологический предел: Литография на пути к 2 нм и менее</vt:lpstr>
      <vt:lpstr>Что используется в архитектуре чипов 2 нм и менее?</vt:lpstr>
      <vt:lpstr>Полупроводниковая логика. P-N переход.</vt:lpstr>
      <vt:lpstr>Биполярные и полевые транзисторы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Архитектура процессоров</vt:lpstr>
      <vt:lpstr>CISC</vt:lpstr>
      <vt:lpstr>RISC</vt:lpstr>
      <vt:lpstr>MISC</vt:lpstr>
      <vt:lpstr>VLIW</vt:lpstr>
      <vt:lpstr>Регистры процессора x86, система прерываний, особенности и размерности шин адреса и данных</vt:lpstr>
      <vt:lpstr>Слайд 30</vt:lpstr>
      <vt:lpstr>Слайд 31</vt:lpstr>
      <vt:lpstr>Отличие защищенного и реального режима процессора x256-x386,  регистры</vt:lpstr>
      <vt:lpstr>Слайд 33</vt:lpstr>
      <vt:lpstr>Конвейерное исполнение</vt:lpstr>
      <vt:lpstr>Слайд 35</vt:lpstr>
      <vt:lpstr>Слайд 36</vt:lpstr>
      <vt:lpstr>Слайд 37</vt:lpstr>
      <vt:lpstr>Слайд 38</vt:lpstr>
      <vt:lpstr>Кэш память</vt:lpstr>
      <vt:lpstr>Ассоциативный  кэш</vt:lpstr>
      <vt:lpstr>Слайд 41</vt:lpstr>
      <vt:lpstr>Кэш прямого отображения</vt:lpstr>
      <vt:lpstr>Слайд 43</vt:lpstr>
      <vt:lpstr>Наборно-ассоциативный кэш</vt:lpstr>
      <vt:lpstr>Слайд 45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Алекс Алексов</dc:creator>
  <cp:lastModifiedBy>Алекс Алексов</cp:lastModifiedBy>
  <cp:revision>14</cp:revision>
  <dcterms:created xsi:type="dcterms:W3CDTF">2026-10-22T15:00:56Z</dcterms:created>
  <dcterms:modified xsi:type="dcterms:W3CDTF">2026-10-24T10:20:39Z</dcterms:modified>
</cp:coreProperties>
</file>