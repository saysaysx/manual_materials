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10.mp3" ContentType="audio/mpeg"/>
  <Override PartName="/ppt/media/media11.mp3" ContentType="audio/mpeg"/>
  <Override PartName="/ppt/media/media12.mp3" ContentType="audio/mpeg"/>
  <Override PartName="/ppt/media/media13.mp3" ContentType="audio/mpeg"/>
  <Override PartName="/ppt/media/media14.mp3" ContentType="audio/mpeg"/>
  <Override PartName="/ppt/media/media15.mp3" ContentType="audio/mpeg"/>
  <Override PartName="/ppt/media/media16.mp3" ContentType="audio/mpeg"/>
  <Override PartName="/ppt/media/media17.mp3" ContentType="audio/mpeg"/>
  <Override PartName="/ppt/media/media18.mp3" ContentType="audio/mpeg"/>
  <Override PartName="/ppt/media/media19.mp3" ContentType="audio/mpeg"/>
  <Override PartName="/ppt/media/media2.mp3" ContentType="audio/mpeg"/>
  <Override PartName="/ppt/media/media20.mp3" ContentType="audio/mpeg"/>
  <Override PartName="/ppt/media/media21.mp3" ContentType="audio/mpeg"/>
  <Override PartName="/ppt/media/media22.mp3" ContentType="audio/mpeg"/>
  <Override PartName="/ppt/media/media23.mp3" ContentType="audio/mpeg"/>
  <Override PartName="/ppt/media/media24.mp3" ContentType="audio/mpeg"/>
  <Override PartName="/ppt/media/media25.mp3" ContentType="audio/mpeg"/>
  <Override PartName="/ppt/media/media26.mp3" ContentType="audio/mpeg"/>
  <Override PartName="/ppt/media/media27.mp3" ContentType="audio/mpeg"/>
  <Override PartName="/ppt/media/media3.mp3" ContentType="audio/mpeg"/>
  <Override PartName="/ppt/media/media4.mp3" ContentType="audio/mpeg"/>
  <Override PartName="/ppt/media/media5.mp3" ContentType="audio/mpeg"/>
  <Override PartName="/ppt/media/media6.mp3" ContentType="audio/mpeg"/>
  <Override PartName="/ppt/media/media7.mp3" ContentType="audio/mpeg"/>
  <Override PartName="/ppt/media/media8.mp3" ContentType="audio/mpeg"/>
  <Override PartName="/ppt/media/media9.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301" r:id="rId9"/>
    <p:sldId id="302" r:id="rId10"/>
    <p:sldId id="263" r:id="rId11"/>
    <p:sldId id="264" r:id="rId12"/>
    <p:sldId id="265" r:id="rId13"/>
    <p:sldId id="293" r:id="rId14"/>
    <p:sldId id="294" r:id="rId15"/>
    <p:sldId id="295" r:id="rId16"/>
    <p:sldId id="296" r:id="rId17"/>
    <p:sldId id="297" r:id="rId18"/>
    <p:sldId id="298" r:id="rId19"/>
    <p:sldId id="299" r:id="rId20"/>
    <p:sldId id="304" r:id="rId21"/>
    <p:sldId id="305" r:id="rId22"/>
    <p:sldId id="306" r:id="rId23"/>
    <p:sldId id="303" r:id="rId24"/>
    <p:sldId id="307" r:id="rId25"/>
    <p:sldId id="308" r:id="rId26"/>
    <p:sldId id="267" r:id="rId27"/>
    <p:sldId id="268" r:id="rId28"/>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457" y="-43"/>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D2EAEE-C947-4472-A24A-A195A8F31C95}" type="datetimeFigureOut">
              <a:rPr lang="ru-RU" smtClean="0"/>
              <a:pPr/>
              <a:t>22.10.2026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C51427-13BD-4DF9-80C8-56EE510F36D9}"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Добро пожаловать на лекцию о технических средствах информационных технологий.</a:t>
            </a:r>
          </a:p>
          <a:p>
            <a:r>
              <a:t>Сегодня мы пройдём путь длиной в полвека — от первых электромеханических машин 1940-х годов</a:t>
            </a:r>
          </a:p>
          <a:p>
            <a:r>
              <a:t>до современных процессоров с миллиардами транзисторов.</a:t>
            </a:r>
          </a:p>
          <a:p>
            <a:r>
              <a:t>Рассмотрим ключевые вычислительные машины XX века, разберём, как формировалась архитектура компьютера,</a:t>
            </a:r>
          </a:p>
          <a:p>
            <a:r>
              <a:t>как развивалась отечественная школа вычислительной техники, и как индустрия пришла к сегодняшнему дню.</a:t>
            </a:r>
          </a:p>
          <a:p>
            <a:r>
              <a:t>Материал лекции опирается на реальные исторические документы, стенограммы совещаний и свидетельства участников событий.</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1 — первая универсальная цифровая вычислительная машина.</a:t>
            </a:r>
          </a:p>
          <a:p>
            <a:r>
              <a:t>Создана в 1943 году по заказу военно-морского флота США под руководством Говарда Эйкена,</a:t>
            </a:r>
          </a:p>
          <a:p>
            <a:r>
              <a:t>при финансовой и технической поддержке компании IBM.</a:t>
            </a:r>
          </a:p>
          <a:p>
            <a:r>
              <a:t>Размеры впечатляют: 17 метров в длину и 2,5 метра в высоту — целый зал, заполненный реле и проводами.</a:t>
            </a:r>
          </a:p>
          <a:p>
            <a:r>
              <a:t>В качестве переключательных элементов использовались электромеханические реле — не электронные лампы,</a:t>
            </a:r>
          </a:p>
          <a:p>
            <a:r>
              <a:t>как в более поздних машинах.</a:t>
            </a:r>
          </a:p>
          <a:p>
            <a:r>
              <a:t>Данные вводились с перфоленты в десятичной системе счисления.</a:t>
            </a:r>
          </a:p>
          <a:p>
            <a:r>
              <a:t>Скорость: сложение и вычитание 23-разрядных чисел за 0,3 секунды, умножение — за 3 секунды.</a:t>
            </a:r>
          </a:p>
          <a:p>
            <a:r>
              <a:t>Применение — расчёт траектории полёта артиллерийских снарядов.</a:t>
            </a:r>
          </a:p>
          <a:p>
            <a:r>
              <a:t>Для 1943 года это была фантастическая скорость.</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Z-3 — электромеханическая вычислительная машина, созданная в Германии в 1941 году</a:t>
            </a:r>
          </a:p>
          <a:p>
            <a:r>
              <a:t>под руководством Конрада Цузе.</a:t>
            </a:r>
          </a:p>
          <a:p>
            <a:r>
              <a:t>Она появилась на два года раньше Mark 1 и работала на двоичной системе счисления —</a:t>
            </a:r>
          </a:p>
          <a:p>
            <a:r>
              <a:t>это принципиальное отличие от десятичной арифметики Mark 1.</a:t>
            </a:r>
          </a:p>
          <a:p>
            <a:r>
              <a:t>Двоичная логика позже стала стандартом для всей вычислительной техники.</a:t>
            </a:r>
          </a:p>
          <a:p>
            <a:r>
              <a:t>Z-3 была значительно меньше машины Эйкена и гораздо дешевле в производстве.</a:t>
            </a:r>
          </a:p>
          <a:p>
            <a:r>
              <a:t>Применялась для расчётов, связанных с конструированием самолётов и ракет.</a:t>
            </a:r>
          </a:p>
          <a:p>
            <a:r>
              <a:t>Но дальнейшее развитие, в частности идея перевода на вакуумные электронные лампы,</a:t>
            </a:r>
          </a:p>
          <a:p>
            <a:r>
              <a:t>не получила поддержки правительства Германии.</a:t>
            </a:r>
          </a:p>
          <a:p>
            <a:r>
              <a:t>Цузе опередил своё время, но остался без финансирования — его работы были забыты на десятилетия.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Colossus — первая электронная вычислительная машина, хотя и не универсальная.</a:t>
            </a:r>
          </a:p>
          <a:p>
            <a:r>
              <a:t>В Великобритании в конце 1943 года вошла в строй вычислительная машина Colossus,</a:t>
            </a:r>
          </a:p>
          <a:p>
            <a:r>
              <a:t>в которой вместо электромеханических реле содержалось около 2000 электронных ламп.</a:t>
            </a:r>
          </a:p>
          <a:p>
            <a:r>
              <a:t>Это был принципиальный шаг вперёд по скорости.</a:t>
            </a:r>
          </a:p>
          <a:p>
            <a:r>
              <a:t>В разработке активное участие принял математик Алан Тьюринг со своими идеями</a:t>
            </a:r>
          </a:p>
          <a:p>
            <a:r>
              <a:t>по формализации описания расчётных задач.</a:t>
            </a:r>
          </a:p>
          <a:p>
            <a:r>
              <a:t>Тьюринг — фигура, которая связывает вычислительную технику и теоретическую информатику.</a:t>
            </a:r>
          </a:p>
          <a:p>
            <a:r>
              <a:t>Машина имела узкоспециализированный характер: была предназначена для дешифровки немецких кодов</a:t>
            </a:r>
          </a:p>
          <a:p>
            <a:r>
              <a:t>путём перебора различных вариантов.</a:t>
            </a:r>
          </a:p>
          <a:p>
            <a:r>
              <a:t>Скорость обработки достигала 5000 символов в секунду.</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ENIAC — первая ламповая универсальная цифровая вычислительная машина.</a:t>
            </a:r>
          </a:p>
          <a:p>
            <a:r>
              <a:t>Создана в 1946 году по заказу Министерства обороны США под руководством Преспера Экерта.</a:t>
            </a:r>
          </a:p>
          <a:p>
            <a:r>
              <a:t>Более 17 тысяч электронных ламп, десятичная арифметика.</a:t>
            </a:r>
          </a:p>
          <a:p>
            <a:r>
              <a:t>Размеры — около 6 метров в высоту и 26 метров в длину, более чем вдвое превосходила Mark 1.</a:t>
            </a:r>
          </a:p>
          <a:p>
            <a:r>
              <a:t>Быстродействие — до 300 операций умножения в секунду.</a:t>
            </a:r>
          </a:p>
          <a:p>
            <a:r>
              <a:t>На этом компьютере были проведены расчёты, подтверждающие принципиальную возможность создания водородной бомбы.</a:t>
            </a:r>
          </a:p>
          <a:p>
            <a:r>
              <a:t>В 1973 году Окружной суд США официально признал Джона Атанасоффа, профессора физики из штата Айова,</a:t>
            </a:r>
          </a:p>
          <a:p>
            <a:r>
              <a:t>изобретателем первого компьютера. Это поставило точку в многолетней тяжбе</a:t>
            </a:r>
          </a:p>
          <a:p>
            <a:r>
              <a:t>о заимствовании Экертом идей Атанасоффа.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EDVAC — следующая модель тех же разработчиков, созданная в 1945–1951 годах.</a:t>
            </a:r>
          </a:p>
          <a:p>
            <a:r>
              <a:t>Ключевое отличие от ENIAC: более вместительная внутренняя память, в которую можно было записывать</a:t>
            </a:r>
          </a:p>
          <a:p>
            <a:r>
              <a:t>не только данные, но и программу.</a:t>
            </a:r>
          </a:p>
          <a:p>
            <a:r>
              <a:t>Система кодировки стала двоичной, что позволило значительно сократить количество электронных ламп.</a:t>
            </a:r>
          </a:p>
          <a:p>
            <a:r>
              <a:t>В разработке в качестве консультанта принимал участие математик Джон фон Нейман.</a:t>
            </a:r>
          </a:p>
          <a:p>
            <a:r>
              <a:t>В 1945 году он опубликовал «Предварительный доклад о машине EDVAC», в котором описал</a:t>
            </a:r>
          </a:p>
          <a:p>
            <a:r>
              <a:t>не только конкретную машину, но и формальную логическую организацию компьютера.</a:t>
            </a:r>
          </a:p>
          <a:p>
            <a:r>
              <a:t>Он выделил и детально обрисовал ключевые компоненты того, что сейчас называют</a:t>
            </a:r>
          </a:p>
          <a:p>
            <a:r>
              <a:t>«архитектурой фон Неймана».</a:t>
            </a:r>
          </a:p>
          <a:p>
            <a:r>
              <a:t>Историческое замечание: первым в мире компьютером с программами, хранимыми в памяти,</a:t>
            </a:r>
          </a:p>
          <a:p>
            <a:r>
              <a:t>стал EDSAC, созданный в 1947 году в Кембриджском университете под руководством Мориса Уилкса.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схеме — архитектура «машины фон Неймана».</a:t>
            </a:r>
          </a:p>
          <a:p>
            <a:r>
              <a:t>Процессор состоит из двух ключевых компонентов: устройства управления и арифметико-логического устройства.</a:t>
            </a:r>
          </a:p>
          <a:p>
            <a:r>
              <a:t>Устройство управления читает команды из памяти, декодирует их и управляет выполнением.</a:t>
            </a:r>
          </a:p>
          <a:p>
            <a:r>
              <a:t>Арифметико-логическое устройство выполняет сами вычисления — арифметические и логические операции.</a:t>
            </a:r>
          </a:p>
          <a:p>
            <a:r>
              <a:t>Память — единое хранилище и для команд, и для данных.</a:t>
            </a:r>
          </a:p>
          <a:p>
            <a:r>
              <a:t>Устройства ввода-вывода управляются через устройство управления и служат связью с внешним миром.</a:t>
            </a:r>
          </a:p>
          <a:p>
            <a:r>
              <a:t>Обратите внимание на двунаправленные стрелки: обмен с памятью идёт в обе стороны —</a:t>
            </a:r>
          </a:p>
          <a:p>
            <a:r>
              <a:t>как чтение, так и запись.</a:t>
            </a:r>
          </a:p>
          <a:p>
            <a:r>
              <a:t>Эта архитектура стала основой всех последующих компьютеров на десятилетия вперёд.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Принстонская архитектура — это и есть архитектура фон Неймана, названная по месту разработки.</a:t>
            </a:r>
          </a:p>
          <a:p>
            <a:r>
              <a:t>Три ключевых принципа.</a:t>
            </a:r>
          </a:p>
          <a:p>
            <a:r>
              <a:t>Принцип однородности памяти: команды и данные хранятся в одной и той же памяти и внешне неразличимы.</a:t>
            </a:r>
          </a:p>
          <a:p>
            <a:r>
              <a:t>Это позволяет производить над командами те же операции, что и над числами —</a:t>
            </a:r>
          </a:p>
          <a:p>
            <a:r>
              <a:t>циклически изменяя адресную часть команды, можно обеспечить обращение к последовательным элементам массива данных.</a:t>
            </a:r>
          </a:p>
          <a:p>
            <a:r>
              <a:t>Принцип адресности: память состоит из пронумерованных ячеек,</a:t>
            </a:r>
          </a:p>
          <a:p>
            <a:r>
              <a:t>процессору в любой момент доступна любая ячейка по её адресу.</a:t>
            </a:r>
          </a:p>
          <a:p>
            <a:r>
              <a:t>Принцип программного управления: все вычисления представлены в виде программы —</a:t>
            </a:r>
          </a:p>
          <a:p>
            <a:r>
              <a:t>последовательности управляющих слов-команд.</a:t>
            </a:r>
          </a:p>
          <a:p>
            <a:r>
              <a:t>Команды выполняются в естественной последовательности, но специальными командами эта последовательность</a:t>
            </a:r>
          </a:p>
          <a:p>
            <a:r>
              <a:t>может быть изменена в зависимости от результатов предыдущих вычислений или безусловно.</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Гарвардская архитектура — альтернативный подход.</a:t>
            </a:r>
          </a:p>
          <a:p>
            <a:r>
              <a:t>Хранилище инструкций и хранилище данных представляют собой разные физические устройства.</a:t>
            </a:r>
          </a:p>
          <a:p>
            <a:r>
              <a:t>Канал инструкций и канал данных также физически разделены.</a:t>
            </a:r>
          </a:p>
          <a:p>
            <a:r>
              <a:t>Архитектура была разработана Говардом Эйкеном в конце 1930-х годов в Гарвардском университете —</a:t>
            </a:r>
          </a:p>
          <a:p>
            <a:r>
              <a:t>интересно, что тот же Эйкен позже создал Mark 1 на принстонской архитектуре.</a:t>
            </a:r>
          </a:p>
          <a:p>
            <a:r>
              <a:t>Программа может размещаться только в памяти команд, данные — только в памяти данных.</a:t>
            </a:r>
          </a:p>
          <a:p>
            <a:r>
              <a:t>Нет гибкого перераспределения памяти, объёмы ограничены.</a:t>
            </a:r>
          </a:p>
          <a:p>
            <a:r>
              <a:t>Преимущество — в быстродействии: две шины работают параллельно, обмен по обеим может быть независимым.</a:t>
            </a:r>
          </a:p>
          <a:p>
            <a:r>
              <a:t>Это ускоряет работу микропроцессорной системы, хотя и требует дополнительных затрат на аппаратуру.</a:t>
            </a:r>
          </a:p>
          <a:p>
            <a:r>
              <a:t>Сегодня гарвардская архитектура широко используется в микроконтроллерах и DSP-процессорах.</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МЭСМ — малая электронная счётная машина, первая советская ЭВМ.</a:t>
            </a:r>
          </a:p>
          <a:p>
            <a:r>
              <a:t>Исходной точкой отсчёта истории отечественной вычислительной техники считается 1948 год.</a:t>
            </a:r>
          </a:p>
          <a:p>
            <a:r>
              <a:t>Тогда сотрудники Энергетического института АН СССР Исаак Брук и Башир Рамеев</a:t>
            </a:r>
          </a:p>
          <a:p>
            <a:r>
              <a:t>получили авторское свидетельство на изобретение «Автоматическая цифровая вычислительная машина».</a:t>
            </a:r>
          </a:p>
          <a:p>
            <a:r>
              <a:t>В том же году в Институте электротехники АН УССР под руководством академика Сергея Лебедева</a:t>
            </a:r>
          </a:p>
          <a:p>
            <a:r>
              <a:t>начались работы над проектом МЭСМ.</a:t>
            </a:r>
          </a:p>
          <a:p>
            <a:r>
              <a:t>С 1948 по 1952 год создавались опытные образцы, единичные экземпляры.</a:t>
            </a:r>
          </a:p>
          <a:p>
            <a:r>
              <a:t>Они использовались как для проведения особо важных расчётов, зачастую засекреченных,</a:t>
            </a:r>
          </a:p>
          <a:p>
            <a:r>
              <a:t>так и для отладки конструкторских и технологических решений.</a:t>
            </a:r>
          </a:p>
          <a:p>
            <a:r>
              <a:t>МЭСМ заложила основу советской школы вычислительной техники.</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БЭСМ-1 — следующая ступень советской школы.</a:t>
            </a:r>
          </a:p>
          <a:p>
            <a:r>
              <a:t>В 1953 году Сергей Лебедев стал директором московского Института точной механики</a:t>
            </a:r>
          </a:p>
          <a:p>
            <a:r>
              <a:t>и вычислительной техники и возглавил разработку серии знаменитых БЭСМ —</a:t>
            </a:r>
          </a:p>
          <a:p>
            <a:r>
              <a:t>больших электронных счётных машин, от БЭСМ-1 до БЭСМ-6.</a:t>
            </a:r>
          </a:p>
          <a:p>
            <a:r>
              <a:t>БЭСМ-1 имела 5000 электронных ламп, выполняла 8–10 тысяч операций в секунду.</a:t>
            </a:r>
          </a:p>
          <a:p>
            <a:r>
              <a:t>Её особенностью стало введение операций над числами с плавающей запятой</a:t>
            </a:r>
          </a:p>
          <a:p>
            <a:r>
              <a:t>с обеспечением большого диапазона используемых чисел.</a:t>
            </a:r>
          </a:p>
          <a:p>
            <a:r>
              <a:t>На БЭСМ-1 были испытаны в реальной эксплуатации три типа оперативной памяти</a:t>
            </a:r>
          </a:p>
          <a:p>
            <a:r>
              <a:t>объёмом 1024 39-разрядных слова: на ртутных трубках-линиях задержки, на потенциалоскопах</a:t>
            </a:r>
          </a:p>
          <a:p>
            <a:r>
              <a:t>и на ферритовых магнитных сердечниках.</a:t>
            </a:r>
          </a:p>
          <a:p>
            <a:r>
              <a:t>Победили ферриты — они использовались в компьютерах следующие 20 лет.</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БЭСМ-6 — вершина советской вычислительной техники.</a:t>
            </a:r>
          </a:p>
          <a:p>
            <a:r>
              <a:t>Серийно выпускалась с 1967 года в течение 17 лет — рекорд для СССР.</a:t>
            </a:r>
          </a:p>
          <a:p>
            <a:r>
              <a:t>В её архитектуре был реализован принцип распараллеливания вычислительных процессов.</a:t>
            </a:r>
          </a:p>
          <a:p>
            <a:r>
              <a:t>Производительность — 1 миллион операций в секунду — была рекордной для середины 60-х годов.</a:t>
            </a:r>
          </a:p>
          <a:p>
            <a:r>
              <a:t>На БЭСМ-6 появились первые полноценные операционные системы, мощные трансляторы,</a:t>
            </a:r>
          </a:p>
          <a:p>
            <a:r>
              <a:t>ценнейшие библиотеки стандартных подпрограмм, реализующих численные методы решения различных задач.</a:t>
            </a:r>
          </a:p>
          <a:p>
            <a:r>
              <a:t>Всё — отечественного производства.</a:t>
            </a:r>
          </a:p>
          <a:p>
            <a:r>
              <a:t>БЭСМ-6 по праву считается вершиной советской ламповой и полупроводниковой техники.</a:t>
            </a:r>
          </a:p>
          <a:p>
            <a:r>
              <a:t>Многие её программные решения позже перешли на другие платформы.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Проблема привязки прикладных программ и архитектуры к физическому уровню.</a:t>
            </a:r>
          </a:p>
          <a:p>
            <a:r>
              <a:t>В 1960-е годы каждая вычислительная машина была независимой системой.</a:t>
            </a:r>
          </a:p>
          <a:p>
            <a:r>
              <a:t>У них различались разрядность, кодировка, набор команд.</a:t>
            </a:r>
          </a:p>
          <a:p>
            <a:r>
              <a:t>Пример с перестановкой байт в многоразрядном слове: в БЭСМ-6 и «Мир» байт был шестибитным,</a:t>
            </a:r>
          </a:p>
          <a:p>
            <a:r>
              <a:t>в «Минск-32» — семибитным, а в серии «Урал» длина слова была произвольной, от 1 до 48 бит.</a:t>
            </a:r>
          </a:p>
          <a:p>
            <a:r>
              <a:t>Это значило, что программу, написанную для одной ЭВМ, нельзя было просто так перенести на другую.</a:t>
            </a:r>
          </a:p>
          <a:p>
            <a:r>
              <a:t>Программист фактически был привязан к конкретной машине.</a:t>
            </a:r>
          </a:p>
          <a:p>
            <a:r>
              <a:t>Такая несовместимость тормозила развитие индустрии программного обеспечения.</a:t>
            </a:r>
          </a:p>
          <a:p>
            <a:r>
              <a:t>Нужен был промышленный стандарт.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Микрокод — технология, которая решила проблему совместимости.</a:t>
            </a:r>
          </a:p>
          <a:p>
            <a:r>
              <a:t>В 1964 году IBM применила технологию микрокода: каждая машинная инструкция реализовывалась</a:t>
            </a:r>
          </a:p>
          <a:p>
            <a:r>
              <a:t>в виде серии более мелких программ.</a:t>
            </a:r>
          </a:p>
          <a:p>
            <a:r>
              <a:t>Благодаря этой идее при появлении новых моделей можно было использовать программное обеспечение</a:t>
            </a:r>
          </a:p>
          <a:p>
            <a:r>
              <a:t>со старых компьютеров — операционные системы, трансляторы, и совместимость не терялась.</a:t>
            </a:r>
          </a:p>
          <a:p>
            <a:r>
              <a:t>Это свойство реализовали в компьютерах семейства IBM System/360 —</a:t>
            </a:r>
          </a:p>
          <a:p>
            <a:r>
              <a:t>целой линейке машин для разных нужд, с разной производительностью, объёмом памяти и возможностями.</a:t>
            </a:r>
          </a:p>
          <a:p>
            <a:r>
              <a:t>Проект стал вторым по стоимости американским НИОКР 60-х после программы Apollo.</a:t>
            </a:r>
          </a:p>
          <a:p>
            <a:r>
              <a:t>В компьютерах этой серии использовались уже интегральные микросхемы,</a:t>
            </a:r>
          </a:p>
          <a:p>
            <a:r>
              <a:t>впервые применялась виртуальная память и виртуальные машины.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 концу 60-х годов в СССР выпускалось около 20 типов ЭВМ общего назначения.</a:t>
            </a:r>
          </a:p>
          <a:p>
            <a:r>
              <a:t>Серии БЭСМ — Москва, Лебедев; Урал — Пенза, Рамеев; Днепр; Мир — Киев, Глушков;</a:t>
            </a:r>
          </a:p>
          <a:p>
            <a:r>
              <a:t>Минск — Пржиялковский.</a:t>
            </a:r>
          </a:p>
          <a:p>
            <a:r>
              <a:t>Отличие от Запада: там двигателями прогресса были не только военные, но и бизнес,</a:t>
            </a:r>
          </a:p>
          <a:p>
            <a:r>
              <a:t>в СССР — в основном военные.</a:t>
            </a:r>
          </a:p>
          <a:p>
            <a:r>
              <a:t>В декабре 1969 года на правительственном уровне было принято решение</a:t>
            </a:r>
          </a:p>
          <a:p>
            <a:r>
              <a:t>выбрать в качестве промышленного стандарта для универсальных машин единой серии — ЕС ЭВМ —</a:t>
            </a:r>
          </a:p>
          <a:p>
            <a:r>
              <a:t>серию IBM System/360.</a:t>
            </a:r>
          </a:p>
          <a:p>
            <a:r>
              <a:t>Первая машина этой серии, ЕС-1020, была выпущена в 1971 году.</a:t>
            </a:r>
          </a:p>
          <a:p>
            <a:r>
              <a:t>Производство налажено совместно с другими социалистическими странами в рамках СЭВ.</a:t>
            </a:r>
          </a:p>
          <a:p>
            <a:r>
              <a:t>Многие учёные выступили против копирования IBM, но предложить что-то взамен не смогли.</a:t>
            </a:r>
          </a:p>
          <a:p>
            <a:r>
              <a:t>Так начался закат отечественной индустрии вычислительной техники.</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Споры о выборе пути — 1968 год, часть первая.</a:t>
            </a:r>
          </a:p>
          <a:p>
            <a:r>
              <a:t>В архивах сохранились стенограммы совещаний, и они показывают, насколько непростым было решение.</a:t>
            </a:r>
          </a:p>
          <a:p>
            <a:r>
              <a:t>Сулим: вариант IBM-360 даёт совместимость с ГДР и доступ к немецкой документации.</a:t>
            </a:r>
          </a:p>
          <a:p>
            <a:r>
              <a:t>Пряжилковский: по IBM-360 у нас есть задел — система из 6 тысяч микрокоманд,</a:t>
            </a:r>
          </a:p>
          <a:p>
            <a:r>
              <a:t>90% схем ТЭЗов, 7000 единиц конструкторской документации.</a:t>
            </a:r>
          </a:p>
          <a:p>
            <a:r>
              <a:t>При переориентации на ICL придётся всё переработать, это задержит работы на 1–1,5 года.</a:t>
            </a:r>
          </a:p>
          <a:p>
            <a:r>
              <a:t>Крутовских: наш проект предусматривал систему моделей IBM-360, переориентация изменит технические характеристики.</a:t>
            </a:r>
          </a:p>
          <a:p>
            <a:r>
              <a:t>Дородницын: освоение IBM-360 подаётся в упрощённом виде, на освоение ОС надо не менее четырёх лет.</a:t>
            </a:r>
          </a:p>
          <a:p>
            <a:r>
              <a:t>Надо самим создавать ДОС и ОС и ориентироваться на разработки машин совместно с ICL.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Продолжение споров.</a:t>
            </a:r>
          </a:p>
          <a:p>
            <a:r>
              <a:t>Лебедев: система IBM-360 — это ряд ЭВМ десятилетней давности.</a:t>
            </a:r>
          </a:p>
          <a:p>
            <a:r>
              <a:t>Создаваемый у нас ряд машин надо ограничить машинами малой и средней производительности.</a:t>
            </a:r>
          </a:p>
          <a:p>
            <a:r>
              <a:t>Архитектура IBM-360 не приспособлена для больших моделей-суперЭВМ.</a:t>
            </a:r>
          </a:p>
          <a:p>
            <a:r>
              <a:t>Шура-Бура: с точки зрения системы математического обеспечения американский вариант предпочтительнее.</a:t>
            </a:r>
          </a:p>
          <a:p>
            <a:r>
              <a:t>Келдыш: нужно купить лицензии и делать свои машины, иначе мы будем просто повторять чужое.</a:t>
            </a:r>
          </a:p>
          <a:p>
            <a:r>
              <a:t>Раковский: нужно думать о перспективе. Если ориентироваться на ICL, будет трудно с ГДР.</a:t>
            </a:r>
          </a:p>
          <a:p>
            <a:r>
              <a:t>Всё-таки следует принять предложение ICL.</a:t>
            </a:r>
          </a:p>
          <a:p>
            <a:r>
              <a:t>Калмыков подвёл итог: переориентироваться на ICL не будем, но переговоры по четвёртому поколению вести нужно.</a:t>
            </a:r>
          </a:p>
          <a:p>
            <a:r>
              <a:t>Этот эпизод показывает, как стратегические решения в области технологий упираются</a:t>
            </a:r>
          </a:p>
          <a:p>
            <a:r>
              <a:t>не только в инженерные, но и в экономические и политические ограничения.</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Борис Бабаян о копировании IBM.</a:t>
            </a:r>
          </a:p>
          <a:p>
            <a:r>
              <a:t>Советский и российский учёный, разработчик вычислительной техники, член-корреспондент АН СССР,</a:t>
            </a:r>
          </a:p>
          <a:p>
            <a:r>
              <a:t>разработчик Эльбрус-3, позже директор по архитектуре одного из подразделений Intel.</a:t>
            </a:r>
          </a:p>
          <a:p>
            <a:r>
              <a:t>Его оценка: «Расчёт был на то, что можно будет наворовать много матобеспечения — и наступит расцвет.</a:t>
            </a:r>
          </a:p>
          <a:p>
            <a:r>
              <a:t>Этого не произошло. После того как все были согнаны в одно место, творчество кончилось.</a:t>
            </a:r>
          </a:p>
          <a:p>
            <a:r>
              <a:t>Мозги начали сохнуть от совершенно нетворческой работы».</a:t>
            </a:r>
          </a:p>
          <a:p>
            <a:r>
              <a:t>Итог: «Вскоре стало ясно, что матобеспечение не хлынуло, уворованные куски не подходили друг к другу,</a:t>
            </a:r>
          </a:p>
          <a:p>
            <a:r>
              <a:t>программы не работали. Всё приходилось переписывать. Это был оглушительный провал».</a:t>
            </a:r>
          </a:p>
          <a:p>
            <a:r>
              <a:t>Эта цитата — важное свидетельство из первых уст.</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Башир Рамеев и серия «Урал».</a:t>
            </a:r>
          </a:p>
          <a:p>
            <a:r>
              <a:t>Разработчик серии «Урал» и машины «Стрела» — 1953 год, 2000 операций в секунду.</a:t>
            </a:r>
          </a:p>
          <a:p>
            <a:r>
              <a:t>В 1968 году перешёл на работу в НИЦЭВТ, был назначен заместителем генерального конструктора</a:t>
            </a:r>
          </a:p>
          <a:p>
            <a:r>
              <a:t>будущей ЕС ЭВМ. В 1970 году из-за несогласия с линией на копирование IBM уволился.</a:t>
            </a:r>
          </a:p>
          <a:p>
            <a:r>
              <a:t>Рамеев не был членом КПСС и не любил публичных выступлений.</a:t>
            </a:r>
          </a:p>
          <a:p>
            <a:r>
              <a:t>Сотрудники Пензенского НИИ приписывали ему слова: «Мне проще сделать ещё одну ЭВМ,</a:t>
            </a:r>
          </a:p>
          <a:p>
            <a:r>
              <a:t>чем выйти на трибуну и выступить с докладом!»</a:t>
            </a:r>
          </a:p>
          <a:p>
            <a:r>
              <a:t>«Урал-1» — 1955 год, малая ламповая ЭВМ, одноадресная система команд, быстродействие 100 операций в секунду,</a:t>
            </a:r>
          </a:p>
          <a:p>
            <a:r>
              <a:t>ОЗУ на магнитном барабане. Выпускалась серийно с 1957 года, использовалась даже в школах в 1970-х.</a:t>
            </a:r>
          </a:p>
          <a:p>
            <a:r>
              <a:t>«Урал-11»–«Урал-16» — уже полупроводниковые, аппаратно и программно совместимые между собой.</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Интегральные схемы — предыстория.</a:t>
            </a:r>
          </a:p>
          <a:p>
            <a:r>
              <a:t>1958 год: Джек Килби из компании Texas Instruments создал первую в мире гибридную интегральную схему.</a:t>
            </a:r>
          </a:p>
          <a:p>
            <a:r>
              <a:t>Она была сделана из германия, компоненты соединялись вручную тонкими проводками.</a:t>
            </a:r>
          </a:p>
          <a:p>
            <a:r>
              <a:t>1959 год: Роберт Нойс из Fairchild Semiconductor изобрёл кремниевую монолитную интегральную схему.</a:t>
            </a:r>
          </a:p>
          <a:p>
            <a:r>
              <a:t>Он придумал использовать плоскую планарную технологию и алюминиевые дорожки</a:t>
            </a:r>
          </a:p>
          <a:p>
            <a:r>
              <a:t>для соединения компонентов прямо внутри кристалла.</a:t>
            </a:r>
          </a:p>
          <a:p>
            <a:r>
              <a:t>Именно Нойс считается отцом современной микросхемы.</a:t>
            </a:r>
          </a:p>
          <a:p>
            <a:r>
              <a:t>1965 год: Гордон Мур сформулировал знаменитый «Закон Мура», согласно которому</a:t>
            </a:r>
          </a:p>
          <a:p>
            <a:r>
              <a:t>количество транзисторов на кристалле удваивается каждые 24 месяца,</a:t>
            </a:r>
          </a:p>
          <a:p>
            <a:r>
              <a:t>позже скорректировано до 18–24 месяцев.</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История Intel.</a:t>
            </a:r>
          </a:p>
          <a:p>
            <a:r>
              <a:t>1968 год: Роберт Нойс и Гордон Мур уходят из Fairchild и основывают компанию Intel —</a:t>
            </a:r>
          </a:p>
          <a:p>
            <a:r>
              <a:t>сокращение от Integrated Electronics.</a:t>
            </a:r>
          </a:p>
          <a:p>
            <a:r>
              <a:t>Изначально компания планировала заниматься только микросхемами памяти.</a:t>
            </a:r>
          </a:p>
          <a:p>
            <a:r>
              <a:t>1971 год: по заказу японской компании Busicom для калькуляторов Intel создаёт Intel 4004 —</a:t>
            </a:r>
          </a:p>
          <a:p>
            <a:r>
              <a:t>первый в мире коммерческий микропроцессор.</a:t>
            </a:r>
          </a:p>
          <a:p>
            <a:r>
              <a:t>Он объединил все функции центрального процессора на одном кристалле.</a:t>
            </a:r>
          </a:p>
          <a:p>
            <a:r>
              <a:t>Процессор содержал всего 2300 транзисторов.</a:t>
            </a:r>
          </a:p>
          <a:p>
            <a:r>
              <a:t>1974 год: выходит Intel 8080, который стал сердцем первых персональных компьютеров</a:t>
            </a:r>
          </a:p>
          <a:p>
            <a:r>
              <a:t>и заложил основу индустрии ПК.</a:t>
            </a:r>
          </a:p>
          <a:p>
            <a:r>
              <a:t>1978 год: выпущен 16-битный Intel 8086 — именно его архитектура x86 до сих пор используется</a:t>
            </a:r>
          </a:p>
          <a:p>
            <a:r>
              <a:t>в большинстве современных ПК.</a:t>
            </a:r>
          </a:p>
          <a:p>
            <a:r>
              <a:t>1981 год: IBM выбирает Intel 8088 для своего первого массового компьютера IBM PC.</a:t>
            </a:r>
          </a:p>
          <a:p>
            <a:r>
              <a:t>1993 год: появляется бренд Pentium — переход от номеров моделей к запоминающимся именам.</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Конкуренция и мобильная эра.</a:t>
            </a:r>
          </a:p>
          <a:p>
            <a:r>
              <a:t>Главным конкурентом Intel на рынке ПК становится компания AMD.</a:t>
            </a:r>
          </a:p>
          <a:p>
            <a:r>
              <a:t>В 2000-х годах AMD первой преодолевает барьер частоты в 1 ГГц</a:t>
            </a:r>
          </a:p>
          <a:p>
            <a:r>
              <a:t>и выпускает удачную 64-битную архитектуру, заставив Intel догонять.</a:t>
            </a:r>
          </a:p>
          <a:p>
            <a:r>
              <a:t>В 2006 году Intel запускает линейку Intel Core (i3, i5, i7),</a:t>
            </a:r>
          </a:p>
          <a:p>
            <a:r>
              <a:t>сделав ставку не на рост частоты, а на энергоэффективность и многоядерность.</a:t>
            </a:r>
          </a:p>
          <a:p>
            <a:r>
              <a:t>Пока Intel доминировала на рынке ПК, на рынке смартфонов и мобильных устройств</a:t>
            </a:r>
          </a:p>
          <a:p>
            <a:r>
              <a:t>победили процессоры на архитектуре ARM — их производят TSMC, Apple, Samsung, Qualcomm.</a:t>
            </a:r>
          </a:p>
          <a:p>
            <a:r>
              <a:t>Они потребляют гораздо меньше энергии, что критично для мобильных устройств.</a:t>
            </a:r>
          </a:p>
          <a:p>
            <a:r>
              <a:t>Так закончилась эра безраздельного господства x86 в масштабах всей индустрии.</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Аналог Intel x86 в СССР — микропроцессорный комплект серии K1810.</a:t>
            </a:r>
          </a:p>
          <a:p>
            <a:r>
              <a:t>Набор микросхем, аналогичных набору для процессора Intel 8086,</a:t>
            </a:r>
          </a:p>
          <a:p>
            <a:r>
              <a:t>дальнейшее развитие микропроцессорного комплекта K580.</a:t>
            </a:r>
          </a:p>
          <a:p>
            <a:r>
              <a:t>Использовался в отечественных IBM PC-совместимых компьютерах:</a:t>
            </a:r>
          </a:p>
          <a:p>
            <a:r>
              <a:t>ЕС ПЭВМ, Нейрон И9.66, Искра-1030, Поиск, Агат-П.</a:t>
            </a:r>
          </a:p>
          <a:p>
            <a:r>
              <a:t>Разрядность 16 бит, n-МОП технология, напряжение источника питания 5 вольт.</a:t>
            </a:r>
          </a:p>
          <a:p>
            <a:r>
              <a:t>Система команд совместима с MCS-86.</a:t>
            </a:r>
          </a:p>
          <a:p>
            <a:r>
              <a:t>БИС этого комплекта полностью совместимы по электрическим и техническим параметрам с БИС K580,</a:t>
            </a:r>
          </a:p>
          <a:p>
            <a:r>
              <a:t>а также программно снизу вверх на уровне ассемблера.</a:t>
            </a:r>
          </a:p>
          <a:p>
            <a:r>
              <a:t>Для сравнения: БЭСМ-6 — 240 тысяч полупроводников, 60 тысяч транзисторов, 1 миллион операций в секунду,</a:t>
            </a:r>
          </a:p>
          <a:p>
            <a:r>
              <a:t>48-битное слово, кэш 16 слов, площадь 225 квадратных метров.</a:t>
            </a:r>
          </a:p>
          <a:p>
            <a:r>
              <a:t>Intel 8086 — 29 тысяч транзисторов, 330–750 тысяч операций в секунду.</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Отечественные архитектуры сегодня.</a:t>
            </a:r>
          </a:p>
          <a:p>
            <a:r>
              <a:t>Российские компании не копируют Intel, а проектируют свои процессоры,</a:t>
            </a:r>
          </a:p>
          <a:p>
            <a:r>
              <a:t>используя две основные бизнес-модели: создание уникальной отечественной архитектуры</a:t>
            </a:r>
          </a:p>
          <a:p>
            <a:r>
              <a:t>или лицензирование зарубежных ядер (ARM и RISC-V).</a:t>
            </a:r>
          </a:p>
          <a:p>
            <a:r>
              <a:t>Семейство «Эльбрус», разработчик МЦСТ.</a:t>
            </a:r>
          </a:p>
          <a:p>
            <a:r>
              <a:t>Особенность — созданы на базе полностью оригинальной отечественной архитектуры VLIW,</a:t>
            </a:r>
          </a:p>
          <a:p>
            <a:r>
              <a:t>запуск нескольких инструкций за один такт.</a:t>
            </a:r>
          </a:p>
          <a:p>
            <a:r>
              <a:t>Специфика: аппаратно не совместимы с кодом x86, но используют специальную программную эмуляцию,</a:t>
            </a:r>
          </a:p>
          <a:p>
            <a:r>
              <a:t>позволяющую запускать Windows и привычные программы.</a:t>
            </a:r>
          </a:p>
          <a:p>
            <a:r>
              <a:t>Изначально рассчитаны на работу под управлением ОС «Эльбрус» на базе Linux.</a:t>
            </a:r>
          </a:p>
          <a:p>
            <a:r>
              <a:t>Применение: мощные серверы, защищённые рабочие станции для госсектора, силовых ведомств</a:t>
            </a:r>
          </a:p>
          <a:p>
            <a:r>
              <a:t>и критической инфраструктуры, где важна аппаратная безопасность.</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Семейство «Байкал», разработчик «Байкал Электроникс».</a:t>
            </a:r>
          </a:p>
          <a:p>
            <a:r>
              <a:t>Построены на базе открытых или лицензируемых мировых архитектур — ARM и MIPS,</a:t>
            </a:r>
          </a:p>
          <a:p>
            <a:r>
              <a:t>а в новых контроллерах — RISC-V.</a:t>
            </a:r>
          </a:p>
          <a:p>
            <a:r>
              <a:t>Линейка: Baikal-M — энергоэффективный чип для офисных ПК, моноблоков и тонких клиентов,</a:t>
            </a:r>
          </a:p>
          <a:p>
            <a:r>
              <a:t>по производительности сравним с базовыми Intel Core i3 или Atom прошлых поколений.</a:t>
            </a:r>
          </a:p>
          <a:p>
            <a:r>
              <a:t>Baikal-S — серверный процессор до 48 ядер для дата-центров и облачных вычислений.</a:t>
            </a:r>
          </a:p>
          <a:p>
            <a:r>
              <a:t>Применение: корпоративные ПК, ноутбуки брендов Aquarius, Depo и серверные стойки.</a:t>
            </a:r>
          </a:p>
          <a:p>
            <a:r>
              <a:t>Другие нишевые процессоры: «Комдив» НИИСИ РАН на архитектуре MIPS,</a:t>
            </a:r>
          </a:p>
          <a:p>
            <a:r>
              <a:t>используется в оборонной промышленности, космосе и спецвычислителях.</a:t>
            </a:r>
          </a:p>
          <a:p>
            <a:r>
              <a:t>«Скиф» и «Гиперком» от НПЦ «Элвис» — мобильные многоядерные процессоры для планшетов,</a:t>
            </a:r>
          </a:p>
          <a:p>
            <a:r>
              <a:t>систем связи и умных камер.</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Поколения ЭВМ — таблица, часть первая.</a:t>
            </a:r>
          </a:p>
          <a:p>
            <a:r>
              <a:t>Принято выделять четыре поколения, каждое связано с революцией в элементной базе.</a:t>
            </a:r>
          </a:p>
          <a:p>
            <a:r>
              <a:t>Первое поколение: 1946–1960, вакуумные электронные лампы, архитектура фон Неймана,</a:t>
            </a:r>
          </a:p>
          <a:p>
            <a:r>
              <a:t>быстродействие 10–20 тысяч операций в секунду, программное обеспечение — машинные языки,</a:t>
            </a:r>
          </a:p>
          <a:p>
            <a:r>
              <a:t>устройства ввода с перфолент и перфокарт, АЦПУ, телетайпы.</a:t>
            </a:r>
          </a:p>
          <a:p>
            <a:r>
              <a:t>Второе поколение: 1955–1970, полупроводниковые диоды и транзисторы,</a:t>
            </a:r>
          </a:p>
          <a:p>
            <a:r>
              <a:t>мультипрограммный режим, 100–500 тысяч операций в секунду,</a:t>
            </a:r>
          </a:p>
          <a:p>
            <a:r>
              <a:t>операционные системы и трансляторы с алгоритмических языков,</a:t>
            </a:r>
          </a:p>
          <a:p>
            <a:r>
              <a:t>видеотерминалы и НЖМД.</a:t>
            </a:r>
          </a:p>
          <a:p>
            <a:r>
              <a:t>Третье поколение: 1965–1980, интегральные схемы,</a:t>
            </a:r>
          </a:p>
          <a:p>
            <a:r>
              <a:t>локальные сети ЭВМ и вычислительные системы коллективного пользования,</a:t>
            </a:r>
          </a:p>
          <a:p>
            <a:r>
              <a:t>порядка 1 миллиона операций в секунду,</a:t>
            </a:r>
          </a:p>
          <a:p>
            <a:r>
              <a:t>диалоговые системы и системы машинной графики.</a:t>
            </a:r>
          </a:p>
          <a:p>
            <a:r>
              <a:t>Четвёртое поколение: с 1980 года, сверхбольшие интегральные схемы,</a:t>
            </a:r>
          </a:p>
          <a:p>
            <a:r>
              <a:t>многопроцессорные системы, персональные компьютеры, глобальные сети,</a:t>
            </a:r>
          </a:p>
          <a:p>
            <a:r>
              <a:t>десятки и сотни миллионов операций в секунду.</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Поколения ЭВМ — таблица, часть вторая. Применение и характеристики.</a:t>
            </a:r>
          </a:p>
          <a:p>
            <a:r>
              <a:t>Первое поколение: расчётные задачи, однопрограммный режим, низкая интеграция данных,</a:t>
            </a:r>
          </a:p>
          <a:p>
            <a:r>
              <a:t>пользователи — инженеры-программисты, работа за пультом ЭВМ в машинном зале.</a:t>
            </a:r>
          </a:p>
          <a:p>
            <a:r>
              <a:t>Примеры: ENIAC, UNIVAC в США; БЭСМ-1, БЭСМ-2, М-1, М-20 в СССР.</a:t>
            </a:r>
          </a:p>
          <a:p>
            <a:r>
              <a:t>Второе поколение: инженерные, научные, экономические задачи, пакетная обработка,</a:t>
            </a:r>
          </a:p>
          <a:p>
            <a:r>
              <a:t>пользователи — профессиональные программисты, обмен перфоносителями и машинограммами.</a:t>
            </a:r>
          </a:p>
          <a:p>
            <a:r>
              <a:t>Примеры: IBM 701/709 в США, БЭСМ-4, М-220, Минск, БЭСМ-6 в СССР.</a:t>
            </a:r>
          </a:p>
          <a:p>
            <a:r>
              <a:t>Третье поколение: АСУ, САПР, научно-технические задачи, разделение времени,</a:t>
            </a:r>
          </a:p>
          <a:p>
            <a:r>
              <a:t>интерактивный диалог через клавиатуру и экран.</a:t>
            </a:r>
          </a:p>
          <a:p>
            <a:r>
              <a:t>Примеры: IBM 360/370, PDP-11/20, Cray-1 в США; ЕС 1050, 1066, Эльбрус 1, 2 в СССР.</a:t>
            </a:r>
          </a:p>
          <a:p>
            <a:r>
              <a:t>Четвёртое: задачи управления, телекоммуникации, АРМ, обработка текстов, мультимедиа,</a:t>
            </a:r>
          </a:p>
          <a:p>
            <a:r>
              <a:t>персональная и сетевая обработка, пользователи с общей компьютерной подготовкой.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9F162857-05FD-4BF5-818A-EA49C3CCCA4A}" type="slidenum">
              <a:rPr lang="ru-RU"/>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4563337D-4521-475E-A86D-AB608776E4E4}" type="slidenum">
              <a:rPr lang="ru-RU"/>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smtClean="0"/>
              <a:t>Образец текста</a:t>
            </a:r>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A82ECF1D-8B3F-4323-A07E-5D4F981A16E5}" type="slidenum">
              <a:rPr lang="ru-RU"/>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CE4C05E6-B4DC-4C96-8262-BBF06EC359B9}" type="slidenum">
              <a:rPr lang="ru-RU"/>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lvl1pPr>
              <a:defRPr/>
            </a:lvl1pPr>
          </a:lstStyle>
          <a:p>
            <a:endParaRPr lang="ru-RU"/>
          </a:p>
        </p:txBody>
      </p:sp>
      <p:sp>
        <p:nvSpPr>
          <p:cNvPr id="8" name="Нижний колонтитул 7"/>
          <p:cNvSpPr>
            <a:spLocks noGrp="1"/>
          </p:cNvSpPr>
          <p:nvPr>
            <p:ph type="ftr" sz="quarter" idx="11"/>
          </p:nvPr>
        </p:nvSpPr>
        <p:spPr/>
        <p:txBody>
          <a:bodyPr/>
          <a:lstStyle>
            <a:lvl1pPr>
              <a:defRPr/>
            </a:lvl1pPr>
          </a:lstStyle>
          <a:p>
            <a:endParaRPr lang="ru-RU"/>
          </a:p>
        </p:txBody>
      </p:sp>
      <p:sp>
        <p:nvSpPr>
          <p:cNvPr id="9" name="Номер слайда 8"/>
          <p:cNvSpPr>
            <a:spLocks noGrp="1"/>
          </p:cNvSpPr>
          <p:nvPr>
            <p:ph type="sldNum" sz="quarter" idx="12"/>
          </p:nvPr>
        </p:nvSpPr>
        <p:spPr/>
        <p:txBody>
          <a:bodyPr/>
          <a:lstStyle>
            <a:lvl1pPr>
              <a:defRPr/>
            </a:lvl1pPr>
          </a:lstStyle>
          <a:p>
            <a:fld id="{13245750-4B2E-4D62-A93C-0C0EBBE96B5E}" type="slidenum">
              <a:rPr lang="ru-RU"/>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lvl1pPr>
              <a:defRPr/>
            </a:lvl1pPr>
          </a:lstStyle>
          <a:p>
            <a:endParaRPr lang="ru-RU"/>
          </a:p>
        </p:txBody>
      </p:sp>
      <p:sp>
        <p:nvSpPr>
          <p:cNvPr id="4" name="Нижний колонтитул 3"/>
          <p:cNvSpPr>
            <a:spLocks noGrp="1"/>
          </p:cNvSpPr>
          <p:nvPr>
            <p:ph type="ftr" sz="quarter" idx="11"/>
          </p:nvPr>
        </p:nvSpPr>
        <p:spPr/>
        <p:txBody>
          <a:bodyPr/>
          <a:lstStyle>
            <a:lvl1pPr>
              <a:defRPr/>
            </a:lvl1pPr>
          </a:lstStyle>
          <a:p>
            <a:endParaRPr lang="ru-RU"/>
          </a:p>
        </p:txBody>
      </p:sp>
      <p:sp>
        <p:nvSpPr>
          <p:cNvPr id="5" name="Номер слайда 4"/>
          <p:cNvSpPr>
            <a:spLocks noGrp="1"/>
          </p:cNvSpPr>
          <p:nvPr>
            <p:ph type="sldNum" sz="quarter" idx="12"/>
          </p:nvPr>
        </p:nvSpPr>
        <p:spPr/>
        <p:txBody>
          <a:bodyPr/>
          <a:lstStyle>
            <a:lvl1pPr>
              <a:defRPr/>
            </a:lvl1pPr>
          </a:lstStyle>
          <a:p>
            <a:fld id="{95D97339-DB0C-448F-8460-03CAAE9296D9}" type="slidenum">
              <a:rPr lang="ru-RU"/>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lvl1pPr>
              <a:defRPr/>
            </a:lvl1pPr>
          </a:lstStyle>
          <a:p>
            <a:endParaRPr lang="ru-RU"/>
          </a:p>
        </p:txBody>
      </p:sp>
      <p:sp>
        <p:nvSpPr>
          <p:cNvPr id="3" name="Нижний колонтитул 2"/>
          <p:cNvSpPr>
            <a:spLocks noGrp="1"/>
          </p:cNvSpPr>
          <p:nvPr>
            <p:ph type="ftr" sz="quarter" idx="11"/>
          </p:nvPr>
        </p:nvSpPr>
        <p:spPr/>
        <p:txBody>
          <a:bodyPr/>
          <a:lstStyle>
            <a:lvl1pPr>
              <a:defRPr/>
            </a:lvl1pPr>
          </a:lstStyle>
          <a:p>
            <a:endParaRPr lang="ru-RU"/>
          </a:p>
        </p:txBody>
      </p:sp>
      <p:sp>
        <p:nvSpPr>
          <p:cNvPr id="4" name="Номер слайда 3"/>
          <p:cNvSpPr>
            <a:spLocks noGrp="1"/>
          </p:cNvSpPr>
          <p:nvPr>
            <p:ph type="sldNum" sz="quarter" idx="12"/>
          </p:nvPr>
        </p:nvSpPr>
        <p:spPr/>
        <p:txBody>
          <a:bodyPr/>
          <a:lstStyle>
            <a:lvl1pPr>
              <a:defRPr/>
            </a:lvl1pPr>
          </a:lstStyle>
          <a:p>
            <a:fld id="{56397C59-5629-4460-9A54-A1015B2EDC30}" type="slidenum">
              <a:rPr lang="ru-RU"/>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6A279542-3CA6-4CB6-999F-38B5444F70A6}" type="slidenum">
              <a:rPr lang="ru-RU"/>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lvl1pPr>
              <a:defRPr/>
            </a:lvl1pPr>
          </a:lstStyle>
          <a:p>
            <a:endParaRPr lang="ru-RU"/>
          </a:p>
        </p:txBody>
      </p:sp>
      <p:sp>
        <p:nvSpPr>
          <p:cNvPr id="6" name="Нижний колонтитул 5"/>
          <p:cNvSpPr>
            <a:spLocks noGrp="1"/>
          </p:cNvSpPr>
          <p:nvPr>
            <p:ph type="ftr" sz="quarter" idx="11"/>
          </p:nvPr>
        </p:nvSpPr>
        <p:spPr/>
        <p:txBody>
          <a:bodyPr/>
          <a:lstStyle>
            <a:lvl1pPr>
              <a:defRPr/>
            </a:lvl1pPr>
          </a:lstStyle>
          <a:p>
            <a:endParaRPr lang="ru-RU"/>
          </a:p>
        </p:txBody>
      </p:sp>
      <p:sp>
        <p:nvSpPr>
          <p:cNvPr id="7" name="Номер слайда 6"/>
          <p:cNvSpPr>
            <a:spLocks noGrp="1"/>
          </p:cNvSpPr>
          <p:nvPr>
            <p:ph type="sldNum" sz="quarter" idx="12"/>
          </p:nvPr>
        </p:nvSpPr>
        <p:spPr/>
        <p:txBody>
          <a:bodyPr/>
          <a:lstStyle>
            <a:lvl1pPr>
              <a:defRPr/>
            </a:lvl1pPr>
          </a:lstStyle>
          <a:p>
            <a:fld id="{E03DA14B-27ED-4C3C-AFA7-3C4497488A11}" type="slidenum">
              <a:rPr lang="ru-RU"/>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5287DB09-2777-4BEC-8399-A9D26BDCC221}" type="slidenum">
              <a:rPr lang="ru-RU"/>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lvl1pPr>
              <a:defRPr/>
            </a:lvl1pPr>
          </a:lstStyle>
          <a:p>
            <a:endParaRPr lang="ru-RU"/>
          </a:p>
        </p:txBody>
      </p:sp>
      <p:sp>
        <p:nvSpPr>
          <p:cNvPr id="5" name="Нижний колонтитул 4"/>
          <p:cNvSpPr>
            <a:spLocks noGrp="1"/>
          </p:cNvSpPr>
          <p:nvPr>
            <p:ph type="ftr" sz="quarter" idx="11"/>
          </p:nvPr>
        </p:nvSpPr>
        <p:spPr/>
        <p:txBody>
          <a:bodyPr/>
          <a:lstStyle>
            <a:lvl1pPr>
              <a:defRPr/>
            </a:lvl1pPr>
          </a:lstStyle>
          <a:p>
            <a:endParaRPr lang="ru-RU"/>
          </a:p>
        </p:txBody>
      </p:sp>
      <p:sp>
        <p:nvSpPr>
          <p:cNvPr id="6" name="Номер слайда 5"/>
          <p:cNvSpPr>
            <a:spLocks noGrp="1"/>
          </p:cNvSpPr>
          <p:nvPr>
            <p:ph type="sldNum" sz="quarter" idx="12"/>
          </p:nvPr>
        </p:nvSpPr>
        <p:spPr/>
        <p:txBody>
          <a:bodyPr/>
          <a:lstStyle>
            <a:lvl1pPr>
              <a:defRPr/>
            </a:lvl1pPr>
          </a:lstStyle>
          <a:p>
            <a:fld id="{FE38A8D5-8AF7-42F7-A123-456600BC7239}" type="slidenum">
              <a:rPr lang="ru-RU"/>
              <a:pPr/>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p:spPr>
        <p:txBody>
          <a:bodyPr/>
          <a:lstStyle/>
          <a:p>
            <a:r>
              <a:rPr lang="ru-RU" smtClean="0"/>
              <a:t>Образец заголовка</a:t>
            </a:r>
            <a:endParaRPr lang="ru-RU"/>
          </a:p>
        </p:txBody>
      </p:sp>
      <p:sp>
        <p:nvSpPr>
          <p:cNvPr id="3" name="Таблица 2"/>
          <p:cNvSpPr>
            <a:spLocks noGrp="1"/>
          </p:cNvSpPr>
          <p:nvPr>
            <p:ph type="tbl" idx="1"/>
          </p:nvPr>
        </p:nvSpPr>
        <p:spPr>
          <a:xfrm>
            <a:off x="457200" y="1600200"/>
            <a:ext cx="8229600" cy="4525963"/>
          </a:xfrm>
        </p:spPr>
        <p:txBody>
          <a:bodyPr/>
          <a:lstStyle/>
          <a:p>
            <a:endParaRPr lang="ru-RU"/>
          </a:p>
        </p:txBody>
      </p:sp>
      <p:sp>
        <p:nvSpPr>
          <p:cNvPr id="4" name="Дата 3"/>
          <p:cNvSpPr>
            <a:spLocks noGrp="1"/>
          </p:cNvSpPr>
          <p:nvPr>
            <p:ph type="dt" sz="half" idx="10"/>
          </p:nvPr>
        </p:nvSpPr>
        <p:spPr>
          <a:xfrm>
            <a:off x="457200" y="6245225"/>
            <a:ext cx="2133600" cy="476250"/>
          </a:xfrm>
        </p:spPr>
        <p:txBody>
          <a:bodyPr/>
          <a:lstStyle>
            <a:lvl1pPr>
              <a:defRPr/>
            </a:lvl1pPr>
          </a:lstStyle>
          <a:p>
            <a:endParaRPr lang="ru-RU"/>
          </a:p>
        </p:txBody>
      </p:sp>
      <p:sp>
        <p:nvSpPr>
          <p:cNvPr id="5" name="Нижний колонтитул 4"/>
          <p:cNvSpPr>
            <a:spLocks noGrp="1"/>
          </p:cNvSpPr>
          <p:nvPr>
            <p:ph type="ftr" sz="quarter" idx="11"/>
          </p:nvPr>
        </p:nvSpPr>
        <p:spPr>
          <a:xfrm>
            <a:off x="3124200" y="6245225"/>
            <a:ext cx="2895600" cy="476250"/>
          </a:xfrm>
        </p:spPr>
        <p:txBody>
          <a:bodyPr/>
          <a:lstStyle>
            <a:lvl1pPr>
              <a:defRPr/>
            </a:lvl1pPr>
          </a:lstStyle>
          <a:p>
            <a:endParaRPr lang="ru-RU"/>
          </a:p>
        </p:txBody>
      </p:sp>
      <p:sp>
        <p:nvSpPr>
          <p:cNvPr id="6" name="Номер слайда 5"/>
          <p:cNvSpPr>
            <a:spLocks noGrp="1"/>
          </p:cNvSpPr>
          <p:nvPr>
            <p:ph type="sldNum" sz="quarter" idx="12"/>
          </p:nvPr>
        </p:nvSpPr>
        <p:spPr>
          <a:xfrm>
            <a:off x="6553200" y="6245225"/>
            <a:ext cx="2133600" cy="476250"/>
          </a:xfrm>
        </p:spPr>
        <p:txBody>
          <a:bodyPr/>
          <a:lstStyle>
            <a:lvl1pPr>
              <a:defRPr/>
            </a:lvl1pPr>
          </a:lstStyle>
          <a:p>
            <a:fld id="{8166FF53-609C-4890-836E-AB3355CC0B24}" type="slidenum">
              <a:rPr lang="ru-RU"/>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ru-RU" smtClean="0"/>
              <a:t>Образец заголовка</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ru-R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ru-R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E45B89CE-F6F5-4CCA-81B9-13460802D79E}" type="slidenum">
              <a:rPr lang="ru-RU"/>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microsoft.com/office/2007/relationships/media" Target="../media/media3.mp3"/><Relationship Id="rId4" Type="http://schemas.openxmlformats.org/officeDocument/2006/relationships/video" Target="../media/media3.mp3"/><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microsoft.com/office/2007/relationships/media" Target="../media/media6.mp3"/><Relationship Id="rId4" Type="http://schemas.openxmlformats.org/officeDocument/2006/relationships/video" Target="../media/media6.mp3"/><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microsoft.com/office/2007/relationships/media" Target="../media/media7.mp3"/><Relationship Id="rId4" Type="http://schemas.openxmlformats.org/officeDocument/2006/relationships/video" Target="../media/media7.mp3"/><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microsoft.com/office/2007/relationships/media" Target="../media/media8.mp3"/><Relationship Id="rId5" Type="http://schemas.openxmlformats.org/officeDocument/2006/relationships/video" Target="../media/media8.mp3"/><Relationship Id="rId6"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 Id="rId4" Type="http://schemas.microsoft.com/office/2007/relationships/media" Target="../media/media9.mp3"/><Relationship Id="rId5" Type="http://schemas.openxmlformats.org/officeDocument/2006/relationships/video" Target="../media/media9.mp3"/><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microsoft.com/office/2007/relationships/media" Target="../media/media10.mp3"/><Relationship Id="rId4" Type="http://schemas.openxmlformats.org/officeDocument/2006/relationships/video" Target="../media/media10.mp3"/><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microsoft.com/office/2007/relationships/media" Target="../media/media11.mp3"/><Relationship Id="rId4" Type="http://schemas.openxmlformats.org/officeDocument/2006/relationships/video" Target="../media/media11.mp3"/><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microsoft.com/office/2007/relationships/media" Target="../media/media12.mp3"/><Relationship Id="rId4" Type="http://schemas.openxmlformats.org/officeDocument/2006/relationships/video" Target="../media/media12.mp3"/><Relationship Id="rId5"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microsoft.com/office/2007/relationships/media" Target="../media/media13.mp3"/><Relationship Id="rId4" Type="http://schemas.openxmlformats.org/officeDocument/2006/relationships/video" Target="../media/media13.mp3"/><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microsoft.com/office/2007/relationships/media" Target="../media/media14.mp3"/><Relationship Id="rId4" Type="http://schemas.openxmlformats.org/officeDocument/2006/relationships/video" Target="../media/media14.mp3"/><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microsoft.com/office/2007/relationships/media" Target="../media/media15.mp3"/><Relationship Id="rId4" Type="http://schemas.openxmlformats.org/officeDocument/2006/relationships/video" Target="../media/media15.mp3"/><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microsoft.com/office/2007/relationships/media" Target="../media/media16.mp3"/><Relationship Id="rId4" Type="http://schemas.openxmlformats.org/officeDocument/2006/relationships/video" Target="../media/media16.mp3"/><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microsoft.com/office/2007/relationships/media" Target="../media/media17.mp3"/><Relationship Id="rId4" Type="http://schemas.openxmlformats.org/officeDocument/2006/relationships/video" Target="../media/media17.mp3"/><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microsoft.com/office/2007/relationships/media" Target="../media/media19.mp3"/><Relationship Id="rId4" Type="http://schemas.openxmlformats.org/officeDocument/2006/relationships/video" Target="../media/media19.mp3"/><Relationship Id="rId5"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microsoft.com/office/2007/relationships/media" Target="../media/media20.mp3"/><Relationship Id="rId4" Type="http://schemas.openxmlformats.org/officeDocument/2006/relationships/video" Target="../media/media20.mp3"/><Relationship Id="rId5"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microsoft.com/office/2007/relationships/media" Target="../media/media21.mp3"/><Relationship Id="rId4" Type="http://schemas.openxmlformats.org/officeDocument/2006/relationships/video" Target="../media/media21.mp3"/><Relationship Id="rId5"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microsoft.com/office/2007/relationships/media" Target="../media/media22.mp3"/><Relationship Id="rId4" Type="http://schemas.openxmlformats.org/officeDocument/2006/relationships/video" Target="../media/media22.mp3"/><Relationship Id="rId5"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 Id="rId6" Type="http://schemas.microsoft.com/office/2007/relationships/media" Target="../media/media23.mp3"/><Relationship Id="rId7" Type="http://schemas.openxmlformats.org/officeDocument/2006/relationships/video" Target="../media/media23.mp3"/><Relationship Id="rId8"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microsoft.com/office/2007/relationships/media" Target="../media/media24.mp3"/><Relationship Id="rId4" Type="http://schemas.openxmlformats.org/officeDocument/2006/relationships/video" Target="../media/media24.mp3"/><Relationship Id="rId5"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microsoft.com/office/2007/relationships/media" Target="../media/media25.mp3"/><Relationship Id="rId4" Type="http://schemas.openxmlformats.org/officeDocument/2006/relationships/video" Target="../media/media25.mp3"/><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microsoft.com/office/2007/relationships/media" Target="../media/media26.mp3"/><Relationship Id="rId4" Type="http://schemas.openxmlformats.org/officeDocument/2006/relationships/video" Target="../media/media26.mp3"/><Relationship Id="rId5"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microsoft.com/office/2007/relationships/media" Target="../media/media27.mp3"/><Relationship Id="rId4" Type="http://schemas.openxmlformats.org/officeDocument/2006/relationships/video" Target="../media/media27.mp3"/><Relationship Id="rId5"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ru-RU" i="1"/>
              <a:t>Технические средства ИТ</a:t>
            </a:r>
            <a:r>
              <a:rPr lang="ru-RU"/>
              <a:t> </a:t>
            </a:r>
          </a:p>
        </p:txBody>
      </p:sp>
      <p:sp>
        <p:nvSpPr>
          <p:cNvPr id="3" name="Номер слайда 2"/>
          <p:cNvSpPr>
            <a:spLocks noGrp="1"/>
          </p:cNvSpPr>
          <p:nvPr>
            <p:ph type="sldNum" sz="quarter" idx="12"/>
          </p:nvPr>
        </p:nvSpPr>
        <p:spPr/>
        <p:txBody>
          <a:bodyPr/>
          <a:lstStyle/>
          <a:p>
            <a:fld id="{9F162857-05FD-4BF5-818A-EA49C3CCCA4A}" type="slidenum">
              <a:rPr lang="ru-RU" smtClean="0"/>
              <a:pPr/>
              <a:t>1</a:t>
            </a:fld>
            <a:endParaRPr lang="ru-RU"/>
          </a:p>
        </p:txBody>
      </p:sp>
      <p:pic>
        <p:nvPicPr>
          <p:cNvPr id="2051" name="slide_0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51"/>
                                        </p:tgtEl>
                                      </p:cBhvr>
                                    </p:cmd>
                                  </p:childTnLst>
                                </p:cTn>
                              </p:par>
                            </p:childTnLst>
                          </p:cTn>
                        </p:par>
                      </p:childTnLst>
                    </p:cTn>
                  </p:par>
                </p:childTnLst>
              </p:cTn>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body" idx="1"/>
          </p:nvPr>
        </p:nvSpPr>
        <p:spPr/>
        <p:txBody>
          <a:bodyPr/>
          <a:lstStyle/>
          <a:p>
            <a:pPr>
              <a:lnSpc>
                <a:spcPct val="90000"/>
              </a:lnSpc>
            </a:pPr>
            <a:r>
              <a:rPr lang="ru-RU" sz="2400"/>
              <a:t>В </a:t>
            </a:r>
            <a:r>
              <a:rPr lang="ru-RU" sz="2400">
                <a:solidFill>
                  <a:srgbClr val="FF0000"/>
                </a:solidFill>
              </a:rPr>
              <a:t>1943</a:t>
            </a:r>
            <a:r>
              <a:rPr lang="ru-RU" sz="2400"/>
              <a:t> году по заказу ВМФ США при финансовой и технической поддержке фирмы </a:t>
            </a:r>
            <a:r>
              <a:rPr lang="en-US" sz="2400"/>
              <a:t>IBM</a:t>
            </a:r>
            <a:r>
              <a:rPr lang="ru-RU" sz="2400"/>
              <a:t> под руководством Г. Эйкена была создана первая универсальная цифровая вычислительная машина </a:t>
            </a:r>
            <a:r>
              <a:rPr lang="ru-RU" sz="2400">
                <a:solidFill>
                  <a:srgbClr val="FF0000"/>
                </a:solidFill>
              </a:rPr>
              <a:t>Mark 1</a:t>
            </a:r>
            <a:r>
              <a:rPr lang="ru-RU" sz="2400"/>
              <a:t>.</a:t>
            </a:r>
            <a:r>
              <a:rPr lang="en-US" sz="2400"/>
              <a:t> </a:t>
            </a:r>
            <a:r>
              <a:rPr lang="ru-RU" sz="2400"/>
              <a:t>Она достигала </a:t>
            </a:r>
            <a:r>
              <a:rPr lang="ru-RU" sz="2400">
                <a:solidFill>
                  <a:schemeClr val="accent2"/>
                </a:solidFill>
              </a:rPr>
              <a:t>17 м</a:t>
            </a:r>
            <a:r>
              <a:rPr lang="ru-RU" sz="2400"/>
              <a:t> в длину и более </a:t>
            </a:r>
            <a:r>
              <a:rPr lang="ru-RU" sz="2400">
                <a:solidFill>
                  <a:schemeClr val="accent2"/>
                </a:solidFill>
              </a:rPr>
              <a:t>2,5 м</a:t>
            </a:r>
            <a:r>
              <a:rPr lang="ru-RU" sz="2400"/>
              <a:t> в высоту. В качестве переключательных устройств использовались электромеханические реле, данные вводились на перфоленте в десятичной системе счисления. Эта машина могла выполнять сложение и вычитание </a:t>
            </a:r>
            <a:r>
              <a:rPr lang="ru-RU" sz="2400">
                <a:solidFill>
                  <a:schemeClr val="accent2"/>
                </a:solidFill>
              </a:rPr>
              <a:t>23</a:t>
            </a:r>
            <a:r>
              <a:rPr lang="ru-RU" sz="2400"/>
              <a:t>-разрядных чисел за </a:t>
            </a:r>
            <a:r>
              <a:rPr lang="ru-RU" sz="2400">
                <a:solidFill>
                  <a:schemeClr val="accent2"/>
                </a:solidFill>
              </a:rPr>
              <a:t>0,3</a:t>
            </a:r>
            <a:r>
              <a:rPr lang="ru-RU" sz="2400"/>
              <a:t> с, умножать два числа за </a:t>
            </a:r>
            <a:r>
              <a:rPr lang="ru-RU" sz="2400">
                <a:solidFill>
                  <a:schemeClr val="accent2"/>
                </a:solidFill>
              </a:rPr>
              <a:t>3 с</a:t>
            </a:r>
            <a:r>
              <a:rPr lang="ru-RU" sz="2400"/>
              <a:t> и использовалась для расчета траектории полета артиллерийских снарядов.</a:t>
            </a:r>
          </a:p>
        </p:txBody>
      </p:sp>
      <p:sp>
        <p:nvSpPr>
          <p:cNvPr id="3076" name="Rectangle 4"/>
          <p:cNvSpPr>
            <a:spLocks noChangeArrowheads="1"/>
          </p:cNvSpPr>
          <p:nvPr/>
        </p:nvSpPr>
        <p:spPr bwMode="auto">
          <a:xfrm>
            <a:off x="3635375" y="404813"/>
            <a:ext cx="2160588" cy="579437"/>
          </a:xfrm>
          <a:prstGeom prst="rect">
            <a:avLst/>
          </a:prstGeom>
          <a:noFill/>
          <a:ln w="9525">
            <a:noFill/>
            <a:miter lim="800000"/>
            <a:headEnd/>
            <a:tailEnd/>
          </a:ln>
          <a:effectLst/>
        </p:spPr>
        <p:txBody>
          <a:bodyPr>
            <a:spAutoFit/>
          </a:bodyPr>
          <a:lstStyle/>
          <a:p>
            <a:r>
              <a:rPr lang="ru-RU" sz="3200"/>
              <a:t>Mark 1</a:t>
            </a:r>
          </a:p>
        </p:txBody>
      </p:sp>
      <p:sp>
        <p:nvSpPr>
          <p:cNvPr id="4" name="Номер слайда 3"/>
          <p:cNvSpPr>
            <a:spLocks noGrp="1"/>
          </p:cNvSpPr>
          <p:nvPr>
            <p:ph type="sldNum" sz="quarter" idx="12"/>
          </p:nvPr>
        </p:nvSpPr>
        <p:spPr/>
        <p:txBody>
          <a:bodyPr/>
          <a:lstStyle/>
          <a:p>
            <a:fld id="{4563337D-4521-475E-A86D-AB608776E4E4}" type="slidenum">
              <a:rPr lang="ru-RU" smtClean="0"/>
              <a:pPr/>
              <a:t>2</a:t>
            </a:fld>
            <a:endParaRPr lang="ru-RU"/>
          </a:p>
        </p:txBody>
      </p:sp>
      <p:pic>
        <p:nvPicPr>
          <p:cNvPr id="3077" name="slide_0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77"/>
                                        </p:tgtEl>
                                      </p:cBhvr>
                                    </p:cmd>
                                  </p:childTnLst>
                                </p:cTn>
                              </p:par>
                            </p:childTnLst>
                          </p:cTn>
                        </p:par>
                      </p:childTnLst>
                    </p:cTn>
                  </p:par>
                </p:childTnLst>
              </p:cTn>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Z</a:t>
            </a:r>
            <a:r>
              <a:rPr lang="ru-RU"/>
              <a:t>-3 </a:t>
            </a:r>
          </a:p>
        </p:txBody>
      </p:sp>
      <p:sp>
        <p:nvSpPr>
          <p:cNvPr id="5123" name="Rectangle 3"/>
          <p:cNvSpPr>
            <a:spLocks noGrp="1" noChangeArrowheads="1"/>
          </p:cNvSpPr>
          <p:nvPr>
            <p:ph type="body" idx="1"/>
          </p:nvPr>
        </p:nvSpPr>
        <p:spPr/>
        <p:txBody>
          <a:bodyPr/>
          <a:lstStyle/>
          <a:p>
            <a:pPr>
              <a:lnSpc>
                <a:spcPct val="80000"/>
              </a:lnSpc>
            </a:pPr>
            <a:r>
              <a:rPr lang="ru-RU" sz="2800"/>
              <a:t>В </a:t>
            </a:r>
            <a:r>
              <a:rPr lang="ru-RU" sz="2800">
                <a:solidFill>
                  <a:srgbClr val="FF0000"/>
                </a:solidFill>
              </a:rPr>
              <a:t>1941</a:t>
            </a:r>
            <a:r>
              <a:rPr lang="ru-RU" sz="2800"/>
              <a:t> в Германии под руководством К. Цузе была создана электромеханическая вычислительная машина </a:t>
            </a:r>
            <a:r>
              <a:rPr lang="en-US" sz="2800">
                <a:solidFill>
                  <a:srgbClr val="FF0000"/>
                </a:solidFill>
              </a:rPr>
              <a:t>Z</a:t>
            </a:r>
            <a:r>
              <a:rPr lang="ru-RU" sz="2800">
                <a:solidFill>
                  <a:srgbClr val="FF0000"/>
                </a:solidFill>
              </a:rPr>
              <a:t>-3</a:t>
            </a:r>
            <a:r>
              <a:rPr lang="ru-RU" sz="2800"/>
              <a:t>, основанная на двоичной системе счисления. Эта машина была значительно меньше машины Эйкена и гораздо дешевле в производстве. Она использовалась для расчетов, связанных с конструированием самолетов и ракет. Но дальнейшее ее развитие (в частности, идеи перевода на вакуумные электронные лампы) не получили поддержки правительства Германии.</a:t>
            </a:r>
          </a:p>
        </p:txBody>
      </p:sp>
      <p:sp>
        <p:nvSpPr>
          <p:cNvPr id="4" name="Номер слайда 3"/>
          <p:cNvSpPr>
            <a:spLocks noGrp="1"/>
          </p:cNvSpPr>
          <p:nvPr>
            <p:ph type="sldNum" sz="quarter" idx="12"/>
          </p:nvPr>
        </p:nvSpPr>
        <p:spPr/>
        <p:txBody>
          <a:bodyPr/>
          <a:lstStyle/>
          <a:p>
            <a:fld id="{4563337D-4521-475E-A86D-AB608776E4E4}" type="slidenum">
              <a:rPr lang="ru-RU" smtClean="0"/>
              <a:pPr/>
              <a:t>3</a:t>
            </a:fld>
            <a:endParaRPr lang="ru-RU"/>
          </a:p>
        </p:txBody>
      </p:sp>
      <p:pic>
        <p:nvPicPr>
          <p:cNvPr id="5124" name="slide_0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124"/>
                                        </p:tgtEl>
                                      </p:cBhvr>
                                    </p:cmd>
                                  </p:childTnLst>
                                </p:cTn>
                              </p:par>
                            </p:childTnLst>
                          </p:cTn>
                        </p:par>
                      </p:childTnLst>
                    </p:cTn>
                  </p:par>
                </p:childTnLst>
              </p:cTn>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Colossus</a:t>
            </a:r>
            <a:endParaRPr lang="ru-RU"/>
          </a:p>
        </p:txBody>
      </p:sp>
      <p:sp>
        <p:nvSpPr>
          <p:cNvPr id="6147" name="Rectangle 3"/>
          <p:cNvSpPr>
            <a:spLocks noGrp="1" noChangeArrowheads="1"/>
          </p:cNvSpPr>
          <p:nvPr>
            <p:ph type="body" idx="1"/>
          </p:nvPr>
        </p:nvSpPr>
        <p:spPr/>
        <p:txBody>
          <a:bodyPr/>
          <a:lstStyle/>
          <a:p>
            <a:pPr>
              <a:lnSpc>
                <a:spcPct val="90000"/>
              </a:lnSpc>
            </a:pPr>
            <a:r>
              <a:rPr lang="ru-RU" sz="2400"/>
              <a:t>В Великобритании в конце </a:t>
            </a:r>
            <a:r>
              <a:rPr lang="ru-RU" sz="2400">
                <a:solidFill>
                  <a:srgbClr val="FF0000"/>
                </a:solidFill>
              </a:rPr>
              <a:t>1943</a:t>
            </a:r>
            <a:r>
              <a:rPr lang="ru-RU" sz="2400"/>
              <a:t> года вошла в строй вычислительная машина </a:t>
            </a:r>
            <a:r>
              <a:rPr lang="en-US" sz="2400"/>
              <a:t>Colossus</a:t>
            </a:r>
            <a:r>
              <a:rPr lang="ru-RU" sz="2400"/>
              <a:t>, в которой вместо электромеханических реле содержалось около </a:t>
            </a:r>
            <a:r>
              <a:rPr lang="ru-RU" sz="2400">
                <a:solidFill>
                  <a:schemeClr val="accent2"/>
                </a:solidFill>
              </a:rPr>
              <a:t>2000</a:t>
            </a:r>
            <a:r>
              <a:rPr lang="ru-RU" sz="2400"/>
              <a:t> электронных ламп. В ее разработке активное участие принял математик А. Тьюринг с его идеями по формализации описания расчетных задач. Но эта машина имела узкоспециализированный характер: была предназначена для дешифровки немецких кодов путем перебора различных вариантов. Скорость обработки достигала </a:t>
            </a:r>
            <a:r>
              <a:rPr lang="ru-RU" sz="2400">
                <a:solidFill>
                  <a:schemeClr val="accent2"/>
                </a:solidFill>
              </a:rPr>
              <a:t>5000 символов в секунду.</a:t>
            </a:r>
          </a:p>
        </p:txBody>
      </p:sp>
      <p:sp>
        <p:nvSpPr>
          <p:cNvPr id="4" name="Номер слайда 3"/>
          <p:cNvSpPr>
            <a:spLocks noGrp="1"/>
          </p:cNvSpPr>
          <p:nvPr>
            <p:ph type="sldNum" sz="quarter" idx="12"/>
          </p:nvPr>
        </p:nvSpPr>
        <p:spPr/>
        <p:txBody>
          <a:bodyPr/>
          <a:lstStyle/>
          <a:p>
            <a:fld id="{4563337D-4521-475E-A86D-AB608776E4E4}" type="slidenum">
              <a:rPr lang="ru-RU" smtClean="0"/>
              <a:pPr/>
              <a:t>4</a:t>
            </a:fld>
            <a:endParaRPr lang="ru-RU"/>
          </a:p>
        </p:txBody>
      </p:sp>
      <p:pic>
        <p:nvPicPr>
          <p:cNvPr id="6148" name="slide_0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148"/>
                                        </p:tgtEl>
                                      </p:cBhvr>
                                    </p:cmd>
                                  </p:childTnLst>
                                </p:cTn>
                              </p:par>
                            </p:childTnLst>
                          </p:cTn>
                        </p:par>
                      </p:childTnLst>
                    </p:cTn>
                  </p:par>
                </p:childTnLst>
              </p:cTn>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sz="4000"/>
              <a:t>ENIAC</a:t>
            </a:r>
            <a:r>
              <a:rPr lang="ru-RU" sz="4000"/>
              <a:t> (</a:t>
            </a:r>
            <a:r>
              <a:rPr lang="en-US" sz="4000"/>
              <a:t>Electronic Numerical Integrator and Computer</a:t>
            </a:r>
            <a:r>
              <a:rPr lang="ru-RU" sz="4000"/>
              <a:t>)</a:t>
            </a:r>
          </a:p>
        </p:txBody>
      </p:sp>
      <p:sp>
        <p:nvSpPr>
          <p:cNvPr id="7171" name="Rectangle 3"/>
          <p:cNvSpPr>
            <a:spLocks noGrp="1" noChangeArrowheads="1"/>
          </p:cNvSpPr>
          <p:nvPr>
            <p:ph type="body" idx="1"/>
          </p:nvPr>
        </p:nvSpPr>
        <p:spPr>
          <a:xfrm>
            <a:off x="179388" y="1600200"/>
            <a:ext cx="8856662" cy="5068888"/>
          </a:xfrm>
        </p:spPr>
        <p:txBody>
          <a:bodyPr/>
          <a:lstStyle/>
          <a:p>
            <a:pPr>
              <a:lnSpc>
                <a:spcPct val="80000"/>
              </a:lnSpc>
            </a:pPr>
            <a:r>
              <a:rPr lang="ru-RU" sz="2000"/>
              <a:t>Первой ламповой универсальной цифровой вычислительной машиной считают </a:t>
            </a:r>
            <a:r>
              <a:rPr lang="en-US" sz="2000"/>
              <a:t>ENIAC</a:t>
            </a:r>
            <a:r>
              <a:rPr lang="ru-RU" sz="2000"/>
              <a:t> (</a:t>
            </a:r>
            <a:r>
              <a:rPr lang="en-US" sz="2000"/>
              <a:t>Electronic Numerical Integrator and Computer</a:t>
            </a:r>
            <a:r>
              <a:rPr lang="ru-RU" sz="2000"/>
              <a:t>), которая была создана в </a:t>
            </a:r>
            <a:r>
              <a:rPr lang="ru-RU" sz="2000">
                <a:solidFill>
                  <a:srgbClr val="FF0000"/>
                </a:solidFill>
              </a:rPr>
              <a:t>1946</a:t>
            </a:r>
            <a:r>
              <a:rPr lang="ru-RU" sz="2000"/>
              <a:t> году по заказу Министерства обороны США под руководством </a:t>
            </a:r>
            <a:r>
              <a:rPr lang="ru-RU" sz="2000">
                <a:solidFill>
                  <a:srgbClr val="FF0000"/>
                </a:solidFill>
              </a:rPr>
              <a:t>П. Экерта</a:t>
            </a:r>
            <a:r>
              <a:rPr lang="ru-RU" sz="2000"/>
              <a:t>. Она содержала более </a:t>
            </a:r>
            <a:r>
              <a:rPr lang="ru-RU" sz="2000">
                <a:solidFill>
                  <a:schemeClr val="accent2"/>
                </a:solidFill>
              </a:rPr>
              <a:t>17000</a:t>
            </a:r>
            <a:r>
              <a:rPr lang="ru-RU" sz="2000"/>
              <a:t> электронных ламп и работала с десятичной арифметикой. По своим размерам (около </a:t>
            </a:r>
            <a:r>
              <a:rPr lang="ru-RU" sz="2000">
                <a:solidFill>
                  <a:schemeClr val="accent2"/>
                </a:solidFill>
              </a:rPr>
              <a:t>6 м</a:t>
            </a:r>
            <a:r>
              <a:rPr lang="ru-RU" sz="2000"/>
              <a:t> в высоту и </a:t>
            </a:r>
            <a:r>
              <a:rPr lang="ru-RU" sz="2000">
                <a:solidFill>
                  <a:schemeClr val="accent2"/>
                </a:solidFill>
              </a:rPr>
              <a:t>26 м</a:t>
            </a:r>
            <a:r>
              <a:rPr lang="ru-RU" sz="2000"/>
              <a:t> в длину) машина более чем вдвое превосходила </a:t>
            </a:r>
            <a:r>
              <a:rPr lang="en-US" sz="2000"/>
              <a:t>Mark</a:t>
            </a:r>
            <a:r>
              <a:rPr lang="ru-RU" sz="2000"/>
              <a:t>-1, но и быстродействие ее было намного больше – до </a:t>
            </a:r>
            <a:r>
              <a:rPr lang="ru-RU" sz="2000">
                <a:solidFill>
                  <a:schemeClr val="accent2"/>
                </a:solidFill>
              </a:rPr>
              <a:t>300</a:t>
            </a:r>
            <a:r>
              <a:rPr lang="ru-RU" sz="2000"/>
              <a:t> операций умножения в секунду. На этом компьютере были проведены расчеты, подтверждающие принципиальную возможность создания водородной бомбы.</a:t>
            </a:r>
          </a:p>
          <a:p>
            <a:pPr>
              <a:lnSpc>
                <a:spcPct val="80000"/>
              </a:lnSpc>
            </a:pPr>
            <a:r>
              <a:rPr lang="ru-RU" sz="2000"/>
              <a:t/>
            </a:r>
            <a:br>
              <a:rPr lang="ru-RU" sz="2000"/>
            </a:br>
            <a:r>
              <a:rPr lang="ru-RU" sz="2000">
                <a:solidFill>
                  <a:schemeClr val="accent2"/>
                </a:solidFill>
              </a:rPr>
              <a:t>В 1973 году Окружной суд США вынес вердикт, в соответствии с которым профессор физики из штата Айова Джон Атанасофф был официально признан изобретателем первого компьютера. Этим самым была поставлена точка в многолетней тяжбе о заимствовании Экертом идей Атанасоффа, который создал первый прототип компьютера, содержащий электронные лампы.</a:t>
            </a:r>
          </a:p>
        </p:txBody>
      </p:sp>
      <p:sp>
        <p:nvSpPr>
          <p:cNvPr id="4" name="Номер слайда 3"/>
          <p:cNvSpPr>
            <a:spLocks noGrp="1"/>
          </p:cNvSpPr>
          <p:nvPr>
            <p:ph type="sldNum" sz="quarter" idx="12"/>
          </p:nvPr>
        </p:nvSpPr>
        <p:spPr/>
        <p:txBody>
          <a:bodyPr/>
          <a:lstStyle/>
          <a:p>
            <a:fld id="{4563337D-4521-475E-A86D-AB608776E4E4}" type="slidenum">
              <a:rPr lang="ru-RU" smtClean="0"/>
              <a:pPr/>
              <a:t>5</a:t>
            </a:fld>
            <a:endParaRPr lang="ru-RU"/>
          </a:p>
        </p:txBody>
      </p:sp>
      <p:pic>
        <p:nvPicPr>
          <p:cNvPr id="7172" name="slide_0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172"/>
                                        </p:tgtEl>
                                      </p:cBhvr>
                                    </p:cmd>
                                  </p:childTnLst>
                                </p:cTn>
                              </p:par>
                            </p:childTnLst>
                          </p:cTn>
                        </p:par>
                      </p:childTnLst>
                    </p:cTn>
                  </p:par>
                </p:childTnLst>
              </p:cTn>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sz="4000"/>
              <a:t>EDVAC</a:t>
            </a:r>
            <a:r>
              <a:rPr lang="ru-RU" sz="4000"/>
              <a:t> (</a:t>
            </a:r>
            <a:r>
              <a:rPr lang="en-US" sz="4000"/>
              <a:t>Electronic Discrete Variable Automatic Computer</a:t>
            </a:r>
            <a:r>
              <a:rPr lang="ru-RU" sz="4000"/>
              <a:t>)</a:t>
            </a:r>
          </a:p>
        </p:txBody>
      </p:sp>
      <p:sp>
        <p:nvSpPr>
          <p:cNvPr id="8195" name="Rectangle 3"/>
          <p:cNvSpPr>
            <a:spLocks noGrp="1" noChangeArrowheads="1"/>
          </p:cNvSpPr>
          <p:nvPr>
            <p:ph type="body" idx="1"/>
          </p:nvPr>
        </p:nvSpPr>
        <p:spPr>
          <a:xfrm>
            <a:off x="457200" y="1600200"/>
            <a:ext cx="8229600" cy="5141913"/>
          </a:xfrm>
        </p:spPr>
        <p:txBody>
          <a:bodyPr/>
          <a:lstStyle/>
          <a:p>
            <a:pPr>
              <a:lnSpc>
                <a:spcPct val="80000"/>
              </a:lnSpc>
            </a:pPr>
            <a:r>
              <a:rPr lang="ru-RU" sz="2000"/>
              <a:t>Следующая модель (</a:t>
            </a:r>
            <a:r>
              <a:rPr lang="ru-RU" sz="2000">
                <a:solidFill>
                  <a:srgbClr val="FF0000"/>
                </a:solidFill>
              </a:rPr>
              <a:t>1945-1951 </a:t>
            </a:r>
            <a:r>
              <a:rPr lang="ru-RU" sz="2000"/>
              <a:t>гг.) тех же разработчиков – машина </a:t>
            </a:r>
            <a:r>
              <a:rPr lang="en-US" sz="2000"/>
              <a:t>EDVAC</a:t>
            </a:r>
            <a:r>
              <a:rPr lang="ru-RU" sz="2000"/>
              <a:t> (</a:t>
            </a:r>
            <a:r>
              <a:rPr lang="en-US" sz="2000"/>
              <a:t>Electronic Discrete Variable Automatic Computer</a:t>
            </a:r>
            <a:r>
              <a:rPr lang="ru-RU" sz="2000"/>
              <a:t>) имела более вместительную внутреннюю память, в которую можно было записывать не только данные, но и программу. Система кодировки была уже двоичной, что позволило значительно сократить количество электронных ламп.</a:t>
            </a:r>
          </a:p>
          <a:p>
            <a:pPr>
              <a:lnSpc>
                <a:spcPct val="80000"/>
              </a:lnSpc>
            </a:pPr>
            <a:r>
              <a:rPr lang="ru-RU" sz="2000"/>
              <a:t>В этой разработке в качестве консультанта принимал участие талантливый математик Д. фон Нейман. В 1945 году он опубликовал «Предварительный доклад о машине </a:t>
            </a:r>
            <a:r>
              <a:rPr lang="en-US" sz="2000"/>
              <a:t>EDVAC</a:t>
            </a:r>
            <a:r>
              <a:rPr lang="ru-RU" sz="2000"/>
              <a:t>», в котором описал не только конкретную машину, но и обрисовал формальную, логическую организацию компьютера, выделил и детально обрисовал ключевые компоненты того, что сейчас называют «архитектурой фон Неймана» </a:t>
            </a:r>
            <a:br>
              <a:rPr lang="ru-RU" sz="2000"/>
            </a:br>
            <a:r>
              <a:rPr lang="ru-RU" sz="2000">
                <a:hlinkClick r:id="" action="ppaction://noaction"/>
              </a:rPr>
              <a:t>[1]</a:t>
            </a:r>
            <a:r>
              <a:rPr lang="ru-RU" sz="2000"/>
              <a:t> </a:t>
            </a:r>
            <a:r>
              <a:rPr lang="ru-RU" sz="2000">
                <a:solidFill>
                  <a:schemeClr val="hlink"/>
                </a:solidFill>
              </a:rPr>
              <a:t>Справедливости ради следует отметить, что первым в мире компьютером с программами, хранимыми в памяти, стал </a:t>
            </a:r>
            <a:r>
              <a:rPr lang="en-US" sz="2000">
                <a:solidFill>
                  <a:schemeClr val="hlink"/>
                </a:solidFill>
              </a:rPr>
              <a:t>EDSAC</a:t>
            </a:r>
            <a:r>
              <a:rPr lang="ru-RU" sz="2000">
                <a:solidFill>
                  <a:schemeClr val="hlink"/>
                </a:solidFill>
              </a:rPr>
              <a:t> (</a:t>
            </a:r>
            <a:r>
              <a:rPr lang="en-US" sz="2000">
                <a:solidFill>
                  <a:schemeClr val="hlink"/>
                </a:solidFill>
              </a:rPr>
              <a:t>Electronic Delay Storage Automatic Computer</a:t>
            </a:r>
            <a:r>
              <a:rPr lang="ru-RU" sz="2000">
                <a:solidFill>
                  <a:schemeClr val="hlink"/>
                </a:solidFill>
              </a:rPr>
              <a:t>), созданный в 1947 году в Кембриджском университете (Великобритания) группой ученых под руководством Мориса Уилкса.</a:t>
            </a:r>
          </a:p>
        </p:txBody>
      </p:sp>
      <p:sp>
        <p:nvSpPr>
          <p:cNvPr id="4" name="Номер слайда 3"/>
          <p:cNvSpPr>
            <a:spLocks noGrp="1"/>
          </p:cNvSpPr>
          <p:nvPr>
            <p:ph type="sldNum" sz="quarter" idx="12"/>
          </p:nvPr>
        </p:nvSpPr>
        <p:spPr/>
        <p:txBody>
          <a:bodyPr/>
          <a:lstStyle/>
          <a:p>
            <a:fld id="{4563337D-4521-475E-A86D-AB608776E4E4}" type="slidenum">
              <a:rPr lang="ru-RU" smtClean="0"/>
              <a:pPr/>
              <a:t>6</a:t>
            </a:fld>
            <a:endParaRPr lang="ru-RU"/>
          </a:p>
        </p:txBody>
      </p:sp>
      <p:pic>
        <p:nvPicPr>
          <p:cNvPr id="8196" name="slide_0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196"/>
                                        </p:tgtEl>
                                      </p:cBhvr>
                                    </p:cmd>
                                  </p:childTnLst>
                                </p:cTn>
                              </p:par>
                            </p:childTnLst>
                          </p:cTn>
                        </p:par>
                      </p:childTnLst>
                    </p:cTn>
                  </p:par>
                </p:childTnLst>
              </p:cTn>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20" name="Group 4"/>
          <p:cNvGrpSpPr>
            <a:grpSpLocks/>
          </p:cNvGrpSpPr>
          <p:nvPr/>
        </p:nvGrpSpPr>
        <p:grpSpPr bwMode="auto">
          <a:xfrm>
            <a:off x="1042988" y="981075"/>
            <a:ext cx="6913562" cy="4679950"/>
            <a:chOff x="3141" y="3474"/>
            <a:chExt cx="6303" cy="3957"/>
          </a:xfrm>
        </p:grpSpPr>
        <p:grpSp>
          <p:nvGrpSpPr>
            <p:cNvPr id="9221" name="Group 5"/>
            <p:cNvGrpSpPr>
              <a:grpSpLocks/>
            </p:cNvGrpSpPr>
            <p:nvPr/>
          </p:nvGrpSpPr>
          <p:grpSpPr bwMode="auto">
            <a:xfrm>
              <a:off x="3501" y="3474"/>
              <a:ext cx="5943" cy="3240"/>
              <a:chOff x="2446" y="1150"/>
              <a:chExt cx="4477" cy="2160"/>
            </a:xfrm>
          </p:grpSpPr>
          <p:sp>
            <p:nvSpPr>
              <p:cNvPr id="9222" name="Text Box 6"/>
              <p:cNvSpPr txBox="1">
                <a:spLocks noChangeArrowheads="1"/>
              </p:cNvSpPr>
              <p:nvPr/>
            </p:nvSpPr>
            <p:spPr bwMode="auto">
              <a:xfrm>
                <a:off x="2446" y="2590"/>
                <a:ext cx="1584" cy="720"/>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rIns="0"/>
              <a:lstStyle/>
              <a:p>
                <a:pPr algn="ctr"/>
                <a:r>
                  <a:rPr lang="ru-RU">
                    <a:latin typeface="Times New Roman" pitchFamily="18" charset="0"/>
                    <a:ea typeface="Mangal" pitchFamily="2"/>
                    <a:cs typeface="Mangal" pitchFamily="2"/>
                  </a:rPr>
                  <a:t>Запоминающее </a:t>
                </a:r>
              </a:p>
              <a:p>
                <a:pPr algn="ctr"/>
                <a:r>
                  <a:rPr lang="ru-RU">
                    <a:latin typeface="Times New Roman" pitchFamily="18" charset="0"/>
                    <a:ea typeface="Mangal" pitchFamily="2"/>
                    <a:cs typeface="Mangal" pitchFamily="2"/>
                  </a:rPr>
                  <a:t>устройство</a:t>
                </a:r>
              </a:p>
              <a:p>
                <a:pPr algn="ctr"/>
                <a:r>
                  <a:rPr lang="ru-RU">
                    <a:latin typeface="Times New Roman" pitchFamily="18" charset="0"/>
                    <a:ea typeface="Mangal" pitchFamily="2"/>
                    <a:cs typeface="Mangal" pitchFamily="2"/>
                  </a:rPr>
                  <a:t>(память)</a:t>
                </a:r>
                <a:endParaRPr lang="ru-RU"/>
              </a:p>
            </p:txBody>
          </p:sp>
          <p:sp>
            <p:nvSpPr>
              <p:cNvPr id="9223" name="Text Box 7"/>
              <p:cNvSpPr txBox="1">
                <a:spLocks noChangeArrowheads="1"/>
              </p:cNvSpPr>
              <p:nvPr/>
            </p:nvSpPr>
            <p:spPr bwMode="auto">
              <a:xfrm>
                <a:off x="4894" y="2590"/>
                <a:ext cx="1584" cy="720"/>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rIns="0"/>
              <a:lstStyle/>
              <a:p>
                <a:pPr algn="just"/>
                <a:endParaRPr lang="ru-RU">
                  <a:latin typeface="Times New Roman" pitchFamily="18" charset="0"/>
                  <a:ea typeface="Mangal" pitchFamily="2"/>
                  <a:cs typeface="Mangal" pitchFamily="2"/>
                </a:endParaRPr>
              </a:p>
              <a:p>
                <a:pPr algn="ctr"/>
                <a:r>
                  <a:rPr lang="ru-RU">
                    <a:latin typeface="Times New Roman" pitchFamily="18" charset="0"/>
                    <a:ea typeface="Mangal" pitchFamily="2"/>
                    <a:cs typeface="Mangal" pitchFamily="2"/>
                  </a:rPr>
                  <a:t>Устройства</a:t>
                </a:r>
              </a:p>
              <a:p>
                <a:pPr algn="ctr"/>
                <a:r>
                  <a:rPr lang="ru-RU">
                    <a:latin typeface="Times New Roman" pitchFamily="18" charset="0"/>
                    <a:ea typeface="Mangal" pitchFamily="2"/>
                    <a:cs typeface="Mangal" pitchFamily="2"/>
                  </a:rPr>
                  <a:t>ввода-вывода</a:t>
                </a:r>
                <a:endParaRPr lang="ru-RU"/>
              </a:p>
            </p:txBody>
          </p:sp>
          <p:sp>
            <p:nvSpPr>
              <p:cNvPr id="9224" name="Text Box 8"/>
              <p:cNvSpPr txBox="1">
                <a:spLocks noChangeArrowheads="1"/>
              </p:cNvSpPr>
              <p:nvPr/>
            </p:nvSpPr>
            <p:spPr bwMode="auto">
              <a:xfrm>
                <a:off x="2878" y="1150"/>
                <a:ext cx="3456" cy="1008"/>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rIns="0"/>
              <a:lstStyle/>
              <a:p>
                <a:pPr algn="ctr"/>
                <a:r>
                  <a:rPr lang="ru-RU">
                    <a:latin typeface="Times New Roman" pitchFamily="18" charset="0"/>
                    <a:ea typeface="Mangal" pitchFamily="2"/>
                    <a:cs typeface="Mangal" pitchFamily="2"/>
                  </a:rPr>
                  <a:t>Процессор</a:t>
                </a:r>
                <a:endParaRPr lang="ru-RU"/>
              </a:p>
            </p:txBody>
          </p:sp>
          <p:sp>
            <p:nvSpPr>
              <p:cNvPr id="9225" name="Text Box 9"/>
              <p:cNvSpPr txBox="1">
                <a:spLocks noChangeArrowheads="1"/>
              </p:cNvSpPr>
              <p:nvPr/>
            </p:nvSpPr>
            <p:spPr bwMode="auto">
              <a:xfrm>
                <a:off x="3022" y="1582"/>
                <a:ext cx="1440" cy="576"/>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rIns="0"/>
              <a:lstStyle/>
              <a:p>
                <a:pPr algn="ctr"/>
                <a:r>
                  <a:rPr lang="ru-RU">
                    <a:latin typeface="Times New Roman" pitchFamily="18" charset="0"/>
                    <a:ea typeface="Mangal" pitchFamily="2"/>
                    <a:cs typeface="Mangal" pitchFamily="2"/>
                  </a:rPr>
                  <a:t>Устройство</a:t>
                </a:r>
              </a:p>
              <a:p>
                <a:pPr algn="ctr"/>
                <a:r>
                  <a:rPr lang="ru-RU">
                    <a:latin typeface="Times New Roman" pitchFamily="18" charset="0"/>
                    <a:ea typeface="Mangal" pitchFamily="2"/>
                    <a:cs typeface="Mangal" pitchFamily="2"/>
                  </a:rPr>
                  <a:t>управления</a:t>
                </a:r>
                <a:endParaRPr lang="ru-RU"/>
              </a:p>
            </p:txBody>
          </p:sp>
          <p:sp>
            <p:nvSpPr>
              <p:cNvPr id="9226" name="Text Box 10"/>
              <p:cNvSpPr txBox="1">
                <a:spLocks noChangeArrowheads="1"/>
              </p:cNvSpPr>
              <p:nvPr/>
            </p:nvSpPr>
            <p:spPr bwMode="auto">
              <a:xfrm>
                <a:off x="4750" y="1582"/>
                <a:ext cx="1440" cy="576"/>
              </a:xfrm>
              <a:prstGeom prst="rect">
                <a:avLst/>
              </a:prstGeom>
              <a:solidFill>
                <a:srgbClr val="FFFFFF"/>
              </a:solidFill>
              <a:ln w="9525">
                <a:solidFill>
                  <a:srgbClr val="000000"/>
                </a:solidFill>
                <a:miter lim="800000"/>
                <a:headEnd/>
                <a:tailEnd/>
              </a:ln>
              <a:effectLst>
                <a:outerShdw dist="28398" dir="1593903" algn="ctr" rotWithShape="0">
                  <a:srgbClr val="808080"/>
                </a:outerShdw>
              </a:effectLst>
            </p:spPr>
            <p:txBody>
              <a:bodyPr lIns="0" tIns="0" rIns="0" bIns="0"/>
              <a:lstStyle/>
              <a:p>
                <a:pPr algn="ctr"/>
                <a:r>
                  <a:rPr lang="ru-RU">
                    <a:latin typeface="Times New Roman" pitchFamily="18" charset="0"/>
                    <a:ea typeface="Mangal" pitchFamily="2"/>
                    <a:cs typeface="Mangal" pitchFamily="2"/>
                  </a:rPr>
                  <a:t>Арифметико-логическое</a:t>
                </a:r>
              </a:p>
              <a:p>
                <a:pPr algn="ctr"/>
                <a:r>
                  <a:rPr lang="ru-RU">
                    <a:latin typeface="Times New Roman" pitchFamily="18" charset="0"/>
                    <a:ea typeface="Mangal" pitchFamily="2"/>
                    <a:cs typeface="Mangal" pitchFamily="2"/>
                  </a:rPr>
                  <a:t>устройство</a:t>
                </a:r>
                <a:endParaRPr lang="ru-RU"/>
              </a:p>
            </p:txBody>
          </p:sp>
          <p:sp>
            <p:nvSpPr>
              <p:cNvPr id="9227" name="Line 11"/>
              <p:cNvSpPr>
                <a:spLocks noChangeShapeType="1"/>
              </p:cNvSpPr>
              <p:nvPr/>
            </p:nvSpPr>
            <p:spPr bwMode="auto">
              <a:xfrm flipV="1">
                <a:off x="3179" y="2158"/>
                <a:ext cx="0" cy="432"/>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28" name="Line 12"/>
              <p:cNvSpPr>
                <a:spLocks noChangeShapeType="1"/>
              </p:cNvSpPr>
              <p:nvPr/>
            </p:nvSpPr>
            <p:spPr bwMode="auto">
              <a:xfrm>
                <a:off x="3467" y="2158"/>
                <a:ext cx="0" cy="432"/>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29" name="Line 13"/>
              <p:cNvSpPr>
                <a:spLocks noChangeShapeType="1"/>
              </p:cNvSpPr>
              <p:nvPr/>
            </p:nvSpPr>
            <p:spPr bwMode="auto">
              <a:xfrm>
                <a:off x="4030" y="2721"/>
                <a:ext cx="864" cy="0"/>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30" name="Line 14"/>
              <p:cNvSpPr>
                <a:spLocks noChangeShapeType="1"/>
              </p:cNvSpPr>
              <p:nvPr/>
            </p:nvSpPr>
            <p:spPr bwMode="auto">
              <a:xfrm flipH="1">
                <a:off x="4030" y="3009"/>
                <a:ext cx="864" cy="0"/>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31" name="Line 15"/>
              <p:cNvSpPr>
                <a:spLocks noChangeShapeType="1"/>
              </p:cNvSpPr>
              <p:nvPr/>
            </p:nvSpPr>
            <p:spPr bwMode="auto">
              <a:xfrm>
                <a:off x="6478" y="2734"/>
                <a:ext cx="144" cy="0"/>
              </a:xfrm>
              <a:prstGeom prst="line">
                <a:avLst/>
              </a:prstGeom>
              <a:noFill/>
              <a:ln w="9525">
                <a:solidFill>
                  <a:srgbClr val="000000"/>
                </a:solidFill>
                <a:round/>
                <a:headEnd/>
                <a:tailEnd type="none" w="sm" len="lg"/>
              </a:ln>
              <a:effectLst>
                <a:outerShdw dist="28398" dir="1593903" algn="ctr" rotWithShape="0">
                  <a:srgbClr val="808080"/>
                </a:outerShdw>
              </a:effectLst>
            </p:spPr>
            <p:txBody>
              <a:bodyPr lIns="0" rIns="0"/>
              <a:lstStyle/>
              <a:p>
                <a:endParaRPr lang="ru-RU"/>
              </a:p>
            </p:txBody>
          </p:sp>
          <p:sp>
            <p:nvSpPr>
              <p:cNvPr id="9232" name="Line 16"/>
              <p:cNvSpPr>
                <a:spLocks noChangeShapeType="1"/>
              </p:cNvSpPr>
              <p:nvPr/>
            </p:nvSpPr>
            <p:spPr bwMode="auto">
              <a:xfrm flipH="1">
                <a:off x="6334" y="1870"/>
                <a:ext cx="288" cy="0"/>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sp>
            <p:nvSpPr>
              <p:cNvPr id="9233" name="Line 17"/>
              <p:cNvSpPr>
                <a:spLocks noChangeShapeType="1"/>
              </p:cNvSpPr>
              <p:nvPr/>
            </p:nvSpPr>
            <p:spPr bwMode="auto">
              <a:xfrm flipV="1">
                <a:off x="6609" y="1870"/>
                <a:ext cx="0" cy="864"/>
              </a:xfrm>
              <a:prstGeom prst="line">
                <a:avLst/>
              </a:prstGeom>
              <a:noFill/>
              <a:ln w="9525">
                <a:solidFill>
                  <a:srgbClr val="000000"/>
                </a:solidFill>
                <a:round/>
                <a:headEnd/>
                <a:tailEnd type="none" w="sm" len="lg"/>
              </a:ln>
              <a:effectLst>
                <a:outerShdw dist="28398" dir="1593903" algn="ctr" rotWithShape="0">
                  <a:srgbClr val="808080"/>
                </a:outerShdw>
              </a:effectLst>
            </p:spPr>
            <p:txBody>
              <a:bodyPr lIns="0" rIns="0"/>
              <a:lstStyle/>
              <a:p>
                <a:endParaRPr lang="ru-RU"/>
              </a:p>
            </p:txBody>
          </p:sp>
          <p:sp>
            <p:nvSpPr>
              <p:cNvPr id="9234" name="Line 18"/>
              <p:cNvSpPr>
                <a:spLocks noChangeShapeType="1"/>
              </p:cNvSpPr>
              <p:nvPr/>
            </p:nvSpPr>
            <p:spPr bwMode="auto">
              <a:xfrm>
                <a:off x="6923" y="1582"/>
                <a:ext cx="0" cy="1440"/>
              </a:xfrm>
              <a:prstGeom prst="line">
                <a:avLst/>
              </a:prstGeom>
              <a:noFill/>
              <a:ln w="9525">
                <a:solidFill>
                  <a:srgbClr val="000000"/>
                </a:solidFill>
                <a:round/>
                <a:headEnd/>
                <a:tailEnd type="none" w="sm" len="lg"/>
              </a:ln>
              <a:effectLst>
                <a:outerShdw dist="28398" dir="1593903" algn="ctr" rotWithShape="0">
                  <a:srgbClr val="808080"/>
                </a:outerShdw>
              </a:effectLst>
            </p:spPr>
            <p:txBody>
              <a:bodyPr lIns="0" rIns="0"/>
              <a:lstStyle/>
              <a:p>
                <a:endParaRPr lang="ru-RU"/>
              </a:p>
            </p:txBody>
          </p:sp>
          <p:sp>
            <p:nvSpPr>
              <p:cNvPr id="9235" name="Line 19"/>
              <p:cNvSpPr>
                <a:spLocks noChangeShapeType="1"/>
              </p:cNvSpPr>
              <p:nvPr/>
            </p:nvSpPr>
            <p:spPr bwMode="auto">
              <a:xfrm flipH="1">
                <a:off x="6334" y="1569"/>
                <a:ext cx="576" cy="0"/>
              </a:xfrm>
              <a:prstGeom prst="line">
                <a:avLst/>
              </a:prstGeom>
              <a:noFill/>
              <a:ln w="9525">
                <a:solidFill>
                  <a:srgbClr val="000000"/>
                </a:solidFill>
                <a:round/>
                <a:headEnd/>
                <a:tailEnd type="none" w="sm" len="lg"/>
              </a:ln>
              <a:effectLst>
                <a:outerShdw dist="28398" dir="1593903" algn="ctr" rotWithShape="0">
                  <a:srgbClr val="808080"/>
                </a:outerShdw>
              </a:effectLst>
            </p:spPr>
            <p:txBody>
              <a:bodyPr lIns="0" rIns="0"/>
              <a:lstStyle/>
              <a:p>
                <a:endParaRPr lang="ru-RU"/>
              </a:p>
            </p:txBody>
          </p:sp>
          <p:sp>
            <p:nvSpPr>
              <p:cNvPr id="9236" name="Line 20"/>
              <p:cNvSpPr>
                <a:spLocks noChangeShapeType="1"/>
              </p:cNvSpPr>
              <p:nvPr/>
            </p:nvSpPr>
            <p:spPr bwMode="auto">
              <a:xfrm flipH="1">
                <a:off x="6478" y="3022"/>
                <a:ext cx="432" cy="0"/>
              </a:xfrm>
              <a:prstGeom prst="line">
                <a:avLst/>
              </a:prstGeom>
              <a:noFill/>
              <a:ln w="9525">
                <a:solidFill>
                  <a:srgbClr val="000000"/>
                </a:solidFill>
                <a:round/>
                <a:headEnd/>
                <a:tailEnd type="triangle" w="sm" len="lg"/>
              </a:ln>
              <a:effectLst>
                <a:outerShdw dist="28398" dir="1593903" algn="ctr" rotWithShape="0">
                  <a:srgbClr val="808080"/>
                </a:outerShdw>
              </a:effectLst>
            </p:spPr>
            <p:txBody>
              <a:bodyPr lIns="0" rIns="0"/>
              <a:lstStyle/>
              <a:p>
                <a:endParaRPr lang="ru-RU"/>
              </a:p>
            </p:txBody>
          </p:sp>
        </p:grpSp>
        <p:sp>
          <p:nvSpPr>
            <p:cNvPr id="9237" name="Text Box 21"/>
            <p:cNvSpPr txBox="1">
              <a:spLocks noChangeArrowheads="1"/>
            </p:cNvSpPr>
            <p:nvPr/>
          </p:nvSpPr>
          <p:spPr bwMode="auto">
            <a:xfrm>
              <a:off x="3141" y="6891"/>
              <a:ext cx="5825" cy="540"/>
            </a:xfrm>
            <a:prstGeom prst="rect">
              <a:avLst/>
            </a:prstGeom>
            <a:solidFill>
              <a:srgbClr val="FFFFFF"/>
            </a:solidFill>
            <a:ln w="9525">
              <a:noFill/>
              <a:miter lim="800000"/>
              <a:headEnd/>
              <a:tailEnd/>
            </a:ln>
          </p:spPr>
          <p:txBody>
            <a:bodyPr/>
            <a:lstStyle/>
            <a:p>
              <a:pPr algn="ctr"/>
              <a:r>
                <a:rPr lang="ru-RU">
                  <a:solidFill>
                    <a:srgbClr val="000000"/>
                  </a:solidFill>
                  <a:latin typeface="Times New Roman" pitchFamily="18" charset="0"/>
                  <a:ea typeface="Mangal" pitchFamily="2"/>
                  <a:cs typeface="Mangal" pitchFamily="2"/>
                </a:rPr>
                <a:t>Архитектура «машины фон Неймана»</a:t>
              </a:r>
              <a:endParaRPr lang="ru-RU"/>
            </a:p>
          </p:txBody>
        </p:sp>
      </p:grpSp>
      <p:sp>
        <p:nvSpPr>
          <p:cNvPr id="20" name="Номер слайда 19"/>
          <p:cNvSpPr>
            <a:spLocks noGrp="1"/>
          </p:cNvSpPr>
          <p:nvPr>
            <p:ph type="sldNum" sz="quarter" idx="12"/>
          </p:nvPr>
        </p:nvSpPr>
        <p:spPr/>
        <p:txBody>
          <a:bodyPr/>
          <a:lstStyle/>
          <a:p>
            <a:fld id="{56397C59-5629-4460-9A54-A1015B2EDC30}" type="slidenum">
              <a:rPr lang="ru-RU" smtClean="0"/>
              <a:pPr/>
              <a:t>7</a:t>
            </a:fld>
            <a:endParaRPr lang="ru-RU"/>
          </a:p>
        </p:txBody>
      </p:sp>
      <p:pic>
        <p:nvPicPr>
          <p:cNvPr id="9238" name="slide_0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238"/>
                                        </p:tgtEl>
                                      </p:cBhvr>
                                    </p:cmd>
                                  </p:childTnLst>
                                </p:cTn>
                              </p:par>
                            </p:childTnLst>
                          </p:cTn>
                        </p:par>
                      </p:childTnLst>
                    </p:cTn>
                  </p:par>
                </p:childTnLst>
              </p:cTn>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0" y="3861048"/>
            <a:ext cx="9144000" cy="28623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Принцип программного управления</a:t>
            </a:r>
            <a:endParaRPr kumimoji="0" lang="ru-RU" b="0" i="0" u="none" strike="noStrike" cap="none" normalizeH="0" baseline="0" dirty="0" smtClean="0">
              <a:ln>
                <a:noFill/>
              </a:ln>
              <a:solidFill>
                <a:srgbClr val="C00000"/>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Все вычисления, предусмотренные алгоритмом решения задачи, должны быть представлены в виде программы, состоящей из последовательности управляющих слов — команд. Каждая команда предписывает некоторую операцию из набора операций, реализуемых вычислительной машиной. Команды программы хранятся в последовательных ячейках памяти вычислительной машины и выполняются в естественной последовательности, то есть в порядке их положения в программе. При необходимости, с помощью специальных команд, эта последовательность может быть изменена. Решение об изменении порядка выполнения команд программы принимается либо на основании анализа результатов предшествующих вычислений, либо безусловно.</a:t>
            </a:r>
            <a:endParaRPr kumimoji="0" lang="ru-RU" b="0" i="0" u="none" strike="noStrike" cap="none" normalizeH="0" baseline="0" dirty="0" smtClean="0">
              <a:ln>
                <a:noFill/>
              </a:ln>
              <a:solidFill>
                <a:schemeClr val="tx1"/>
              </a:solidFill>
              <a:effectLst/>
              <a:latin typeface="Arial" pitchFamily="34" charset="0"/>
            </a:endParaRPr>
          </a:p>
        </p:txBody>
      </p:sp>
      <p:pic>
        <p:nvPicPr>
          <p:cNvPr id="21" name="Рисунок 20"/>
          <p:cNvPicPr/>
          <p:nvPr/>
        </p:nvPicPr>
        <p:blipFill>
          <a:blip r:embed="rId2" cstate="print"/>
          <a:srcRect/>
          <a:stretch>
            <a:fillRect/>
          </a:stretch>
        </p:blipFill>
        <p:spPr bwMode="auto">
          <a:xfrm>
            <a:off x="0" y="620688"/>
            <a:ext cx="2879304" cy="2232248"/>
          </a:xfrm>
          <a:prstGeom prst="rect">
            <a:avLst/>
          </a:prstGeom>
          <a:noFill/>
          <a:ln w="9525">
            <a:noFill/>
            <a:miter lim="800000"/>
            <a:headEnd/>
            <a:tailEnd/>
          </a:ln>
        </p:spPr>
      </p:pic>
      <p:sp>
        <p:nvSpPr>
          <p:cNvPr id="22" name="Прямоугольник 21"/>
          <p:cNvSpPr/>
          <p:nvPr/>
        </p:nvSpPr>
        <p:spPr>
          <a:xfrm>
            <a:off x="2951312" y="404664"/>
            <a:ext cx="6192688" cy="3416320"/>
          </a:xfrm>
          <a:prstGeom prst="rect">
            <a:avLst/>
          </a:prstGeom>
        </p:spPr>
        <p:txBody>
          <a:bodyPr wrap="square">
            <a:spAutoFit/>
          </a:bodyPr>
          <a:lstStyle/>
          <a:p>
            <a:pPr lvl="0"/>
            <a:r>
              <a:rPr kumimoji="0" lang="ru-RU"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Принцип однородности памяти</a:t>
            </a:r>
            <a:endParaRPr kumimoji="0" lang="ru-RU" b="0" i="0" u="none" strike="noStrike" cap="none" normalizeH="0" baseline="0" dirty="0" smtClean="0">
              <a:ln>
                <a:noFill/>
              </a:ln>
              <a:solidFill>
                <a:srgbClr val="C00000"/>
              </a:solidFill>
              <a:effectLst/>
              <a:latin typeface="Arial" pitchFamily="34" charset="0"/>
            </a:endParaRPr>
          </a:p>
          <a:p>
            <a:pPr lvl="0" eaLnBrk="0" hangingPunct="0"/>
            <a:r>
              <a:rPr kumimoji="0" lang="ru-RU"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Команды и данные хранятся в одной и той же памяти и внешне в памяти неразличимы. Это позволяет производить над командами те же операции, что и над числами. Так, циклически изменяя адресную часть команды, можно обеспечить обращение к последовательным элементам массива данных. </a:t>
            </a:r>
            <a:endParaRPr kumimoji="0" lang="ru-RU" b="0" i="0" u="none" strike="noStrike" cap="none" normalizeH="0" baseline="0" dirty="0" smtClean="0">
              <a:ln>
                <a:noFill/>
              </a:ln>
              <a:solidFill>
                <a:schemeClr val="tx1"/>
              </a:solidFill>
              <a:effectLst/>
              <a:latin typeface="Arial" pitchFamily="34" charset="0"/>
            </a:endParaRPr>
          </a:p>
          <a:p>
            <a:pPr lvl="0" eaLnBrk="0" hangingPunct="0"/>
            <a:r>
              <a:rPr kumimoji="0" lang="ru-RU"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Принцип </a:t>
            </a:r>
            <a:r>
              <a:rPr kumimoji="0" lang="ru-RU" b="0" i="0" u="none" strike="noStrike" cap="none" normalizeH="0" baseline="0" dirty="0" err="1" smtClean="0">
                <a:ln>
                  <a:noFill/>
                </a:ln>
                <a:solidFill>
                  <a:srgbClr val="C00000"/>
                </a:solidFill>
                <a:effectLst/>
                <a:latin typeface="Calibri" pitchFamily="34" charset="0"/>
                <a:ea typeface="Calibri" pitchFamily="34" charset="0"/>
                <a:cs typeface="Times New Roman" pitchFamily="18" charset="0"/>
              </a:rPr>
              <a:t>адресности</a:t>
            </a:r>
            <a:endParaRPr kumimoji="0" lang="ru-RU" b="0" i="0" u="none" strike="noStrike" cap="none" normalizeH="0" baseline="0" dirty="0" smtClean="0">
              <a:ln>
                <a:noFill/>
              </a:ln>
              <a:solidFill>
                <a:srgbClr val="C00000"/>
              </a:solidFill>
              <a:effectLst/>
              <a:latin typeface="Arial" pitchFamily="34" charset="0"/>
            </a:endParaRPr>
          </a:p>
          <a:p>
            <a:pPr lvl="0" eaLnBrk="0" hangingPunct="0"/>
            <a:r>
              <a:rPr kumimoji="0" lang="ru-RU"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Структурно основная память состоит из пронумерованных ячеек, причём процессору в произвольный момент доступна любая ячейка. Для доступа к ним используются номера соответствующих ячеек — адреса.</a:t>
            </a:r>
            <a:endParaRPr lang="ru-RU" dirty="0"/>
          </a:p>
        </p:txBody>
      </p:sp>
      <p:sp>
        <p:nvSpPr>
          <p:cNvPr id="23" name="Text Box 21"/>
          <p:cNvSpPr txBox="1">
            <a:spLocks noChangeArrowheads="1"/>
          </p:cNvSpPr>
          <p:nvPr/>
        </p:nvSpPr>
        <p:spPr bwMode="auto">
          <a:xfrm>
            <a:off x="323528" y="0"/>
            <a:ext cx="8450547" cy="418812"/>
          </a:xfrm>
          <a:prstGeom prst="rect">
            <a:avLst/>
          </a:prstGeom>
          <a:solidFill>
            <a:srgbClr val="FFFFFF"/>
          </a:solidFill>
          <a:ln w="9525">
            <a:noFill/>
            <a:miter lim="800000"/>
            <a:headEnd/>
            <a:tailEnd/>
          </a:ln>
        </p:spPr>
        <p:txBody>
          <a:bodyPr/>
          <a:lstStyle/>
          <a:p>
            <a:pPr algn="ctr"/>
            <a:r>
              <a:rPr lang="ru-RU" dirty="0" smtClean="0">
                <a:solidFill>
                  <a:srgbClr val="000000"/>
                </a:solidFill>
                <a:latin typeface="Times New Roman" pitchFamily="18" charset="0"/>
                <a:ea typeface="Mangal" pitchFamily="2"/>
                <a:cs typeface="Mangal" pitchFamily="2"/>
              </a:rPr>
              <a:t>Принстонская Архитектура (Машина фон Неймана)</a:t>
            </a:r>
            <a:endParaRPr lang="ru-RU" dirty="0"/>
          </a:p>
        </p:txBody>
      </p:sp>
      <p:sp>
        <p:nvSpPr>
          <p:cNvPr id="6" name="Номер слайда 5"/>
          <p:cNvSpPr>
            <a:spLocks noGrp="1"/>
          </p:cNvSpPr>
          <p:nvPr>
            <p:ph type="sldNum" sz="quarter" idx="12"/>
          </p:nvPr>
        </p:nvSpPr>
        <p:spPr/>
        <p:txBody>
          <a:bodyPr/>
          <a:lstStyle/>
          <a:p>
            <a:fld id="{56397C59-5629-4460-9A54-A1015B2EDC30}" type="slidenum">
              <a:rPr lang="ru-RU" smtClean="0"/>
              <a:pPr/>
              <a:t>8</a:t>
            </a:fld>
            <a:endParaRPr lang="ru-RU"/>
          </a:p>
        </p:txBody>
      </p:sp>
      <p:pic>
        <p:nvPicPr>
          <p:cNvPr id="27650" name="slide_08.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650"/>
                                        </p:tgtEl>
                                      </p:cBhvr>
                                    </p:cmd>
                                  </p:childTnLst>
                                </p:cTn>
                              </p:par>
                            </p:childTnLst>
                          </p:cTn>
                        </p:par>
                      </p:childTnLst>
                    </p:cTn>
                  </p:par>
                </p:childTnLst>
              </p:cTn>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cstate="print"/>
          <a:srcRect/>
          <a:stretch>
            <a:fillRect/>
          </a:stretch>
        </p:blipFill>
        <p:spPr bwMode="auto">
          <a:xfrm>
            <a:off x="0" y="692696"/>
            <a:ext cx="4139952" cy="1944216"/>
          </a:xfrm>
          <a:prstGeom prst="rect">
            <a:avLst/>
          </a:prstGeom>
          <a:noFill/>
          <a:ln w="9525">
            <a:noFill/>
            <a:miter lim="800000"/>
            <a:headEnd/>
            <a:tailEnd/>
          </a:ln>
        </p:spPr>
      </p:pic>
      <p:sp>
        <p:nvSpPr>
          <p:cNvPr id="3" name="Text Box 21"/>
          <p:cNvSpPr txBox="1">
            <a:spLocks noChangeArrowheads="1"/>
          </p:cNvSpPr>
          <p:nvPr/>
        </p:nvSpPr>
        <p:spPr bwMode="auto">
          <a:xfrm>
            <a:off x="323528" y="0"/>
            <a:ext cx="8450547" cy="418812"/>
          </a:xfrm>
          <a:prstGeom prst="rect">
            <a:avLst/>
          </a:prstGeom>
          <a:solidFill>
            <a:srgbClr val="FFFFFF"/>
          </a:solidFill>
          <a:ln w="9525">
            <a:noFill/>
            <a:miter lim="800000"/>
            <a:headEnd/>
            <a:tailEnd/>
          </a:ln>
        </p:spPr>
        <p:txBody>
          <a:bodyPr/>
          <a:lstStyle/>
          <a:p>
            <a:pPr algn="ctr"/>
            <a:r>
              <a:rPr lang="ru-RU" b="1" dirty="0" smtClean="0">
                <a:solidFill>
                  <a:srgbClr val="000000"/>
                </a:solidFill>
                <a:latin typeface="Times New Roman" pitchFamily="18" charset="0"/>
                <a:ea typeface="Mangal" pitchFamily="2"/>
                <a:cs typeface="Mangal" pitchFamily="2"/>
              </a:rPr>
              <a:t>Гарвардская Архитектура</a:t>
            </a:r>
            <a:endParaRPr lang="ru-RU" b="1" dirty="0"/>
          </a:p>
        </p:txBody>
      </p:sp>
      <p:sp>
        <p:nvSpPr>
          <p:cNvPr id="44033" name="Rectangle 1"/>
          <p:cNvSpPr>
            <a:spLocks noChangeArrowheads="1"/>
          </p:cNvSpPr>
          <p:nvPr/>
        </p:nvSpPr>
        <p:spPr bwMode="auto">
          <a:xfrm>
            <a:off x="4067944" y="332656"/>
            <a:ext cx="5436096" cy="255454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000"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Хранилище</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инструкций и хранилище данных представляют собой разные физические устройства;</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ru-RU" sz="2000" dirty="0">
                <a:solidFill>
                  <a:srgbClr val="C00000"/>
                </a:solidFill>
                <a:latin typeface="Calibri" pitchFamily="34" charset="0"/>
                <a:ea typeface="Calibri" pitchFamily="34" charset="0"/>
                <a:cs typeface="Times New Roman" pitchFamily="18" charset="0"/>
              </a:rPr>
              <a:t>К</a:t>
            </a:r>
            <a:r>
              <a:rPr kumimoji="0" lang="ru-RU" sz="2000"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анал </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инструкций и канал данных также физически разделены.</a:t>
            </a:r>
            <a:endParaRPr kumimoji="0" lang="ru-RU" sz="2000" b="0" i="0" u="none" strike="noStrike" cap="none" normalizeH="0" baseline="0" dirty="0" smtClean="0">
              <a:ln>
                <a:noFill/>
              </a:ln>
              <a:solidFill>
                <a:schemeClr val="tx1"/>
              </a:solidFill>
              <a:effectLst/>
              <a:latin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2000" b="0" i="0" u="none" strike="noStrike" cap="none" normalizeH="0" baseline="0" dirty="0" smtClean="0">
                <a:ln>
                  <a:noFill/>
                </a:ln>
                <a:solidFill>
                  <a:srgbClr val="C00000"/>
                </a:solidFill>
                <a:effectLst/>
                <a:latin typeface="Calibri" pitchFamily="34" charset="0"/>
                <a:ea typeface="Calibri" pitchFamily="34" charset="0"/>
                <a:cs typeface="Times New Roman" pitchFamily="18" charset="0"/>
              </a:rPr>
              <a:t>Архитектура</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была разработана </a:t>
            </a:r>
            <a:r>
              <a:rPr kumimoji="0" lang="ru-RU" sz="2000" b="0" i="0" u="none" strike="noStrike" cap="none" normalizeH="0" baseline="0" dirty="0" err="1" smtClean="0">
                <a:ln>
                  <a:noFill/>
                </a:ln>
                <a:solidFill>
                  <a:schemeClr val="tx1"/>
                </a:solidFill>
                <a:effectLst/>
                <a:latin typeface="Calibri" pitchFamily="34" charset="0"/>
                <a:ea typeface="Calibri" pitchFamily="34" charset="0"/>
                <a:cs typeface="Times New Roman" pitchFamily="18" charset="0"/>
              </a:rPr>
              <a:t>Говардом</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a:t>
            </a:r>
            <a:r>
              <a:rPr kumimoji="0" lang="ru-RU" sz="2000" b="0" i="0" u="none" strike="noStrike" cap="none" normalizeH="0" baseline="0" dirty="0" err="1" smtClean="0">
                <a:ln>
                  <a:noFill/>
                </a:ln>
                <a:solidFill>
                  <a:schemeClr val="tx1"/>
                </a:solidFill>
                <a:effectLst/>
                <a:latin typeface="Calibri" pitchFamily="34" charset="0"/>
                <a:ea typeface="Calibri" pitchFamily="34" charset="0"/>
                <a:cs typeface="Times New Roman" pitchFamily="18" charset="0"/>
              </a:rPr>
              <a:t>Эйкеном</a:t>
            </a:r>
            <a:r>
              <a:rPr kumimoji="0" lang="ru-RU" sz="2000"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 в конце 1930-х годов в Гарвардском университете.</a:t>
            </a:r>
            <a:endParaRPr kumimoji="0" lang="ru-RU" sz="2000" b="0" i="0" u="none" strike="noStrike" cap="none" normalizeH="0" baseline="0" dirty="0" smtClean="0">
              <a:ln>
                <a:noFill/>
              </a:ln>
              <a:solidFill>
                <a:schemeClr val="tx1"/>
              </a:solidFill>
              <a:effectLst/>
              <a:latin typeface="Arial" pitchFamily="34" charset="0"/>
            </a:endParaRPr>
          </a:p>
        </p:txBody>
      </p:sp>
      <p:sp>
        <p:nvSpPr>
          <p:cNvPr id="5" name="Прямоугольник 4"/>
          <p:cNvSpPr/>
          <p:nvPr/>
        </p:nvSpPr>
        <p:spPr>
          <a:xfrm>
            <a:off x="0" y="2780928"/>
            <a:ext cx="9144000" cy="3970318"/>
          </a:xfrm>
          <a:prstGeom prst="rect">
            <a:avLst/>
          </a:prstGeom>
        </p:spPr>
        <p:txBody>
          <a:bodyPr wrap="square">
            <a:spAutoFit/>
          </a:bodyPr>
          <a:lstStyle/>
          <a:p>
            <a:r>
              <a:rPr lang="ru-RU" dirty="0"/>
              <a:t>Программа может размещаться только в памяти команд, данные - только в памяти данных. Нет  возможности гибкого перераспределения памяти. Память данных и память команд </a:t>
            </a:r>
            <a:r>
              <a:rPr lang="ru-RU" dirty="0" smtClean="0"/>
              <a:t>имеют </a:t>
            </a:r>
            <a:r>
              <a:rPr lang="ru-RU" dirty="0"/>
              <a:t>не слишком большой </a:t>
            </a:r>
            <a:r>
              <a:rPr lang="ru-RU" dirty="0" smtClean="0"/>
              <a:t>объем. Предназначена </a:t>
            </a:r>
            <a:r>
              <a:rPr lang="ru-RU" dirty="0"/>
              <a:t>для не слишком сложных задач.</a:t>
            </a:r>
          </a:p>
          <a:p>
            <a:r>
              <a:rPr lang="ru-RU" dirty="0"/>
              <a:t>Преимущество архитектуры с двумя шинами  в быстродействии.</a:t>
            </a:r>
          </a:p>
          <a:p>
            <a:r>
              <a:rPr lang="ru-RU" dirty="0"/>
              <a:t>При единственной шине команд и данных процессор вынужден по одной этой шине принимать и передавать данные,  читать команды из памяти. Пересылки должны производиться по очереди. </a:t>
            </a:r>
          </a:p>
          <a:p>
            <a:r>
              <a:rPr lang="ru-RU" dirty="0"/>
              <a:t>В случае </a:t>
            </a:r>
            <a:r>
              <a:rPr lang="ru-RU" dirty="0" smtClean="0"/>
              <a:t>двух шин </a:t>
            </a:r>
            <a:r>
              <a:rPr lang="ru-RU" dirty="0"/>
              <a:t>обмен по обеим шинам может быть независимым, параллельным во времени. </a:t>
            </a:r>
            <a:r>
              <a:rPr lang="ru-RU" dirty="0" smtClean="0"/>
              <a:t>Структуры </a:t>
            </a:r>
            <a:r>
              <a:rPr lang="ru-RU" dirty="0"/>
              <a:t>шин (количество разрядов кода адреса и кода </a:t>
            </a:r>
            <a:r>
              <a:rPr lang="ru-RU" dirty="0" smtClean="0"/>
              <a:t>данных) </a:t>
            </a:r>
            <a:r>
              <a:rPr lang="ru-RU" dirty="0"/>
              <a:t>могут быть выбраны оптимально для той задачи, которая решается каждой шиной. </a:t>
            </a:r>
            <a:r>
              <a:rPr lang="ru-RU" dirty="0" smtClean="0"/>
              <a:t>Это </a:t>
            </a:r>
            <a:r>
              <a:rPr lang="ru-RU" dirty="0"/>
              <a:t>ускоряет работу микропроцессорной системы, хотя и требует дополнительных затрат на аппаратуру, усложнения структуры процессора. Память данных в этом случае имеет свое распределение адресов, а память команд – свое.</a:t>
            </a:r>
          </a:p>
        </p:txBody>
      </p:sp>
      <p:sp>
        <p:nvSpPr>
          <p:cNvPr id="6" name="Номер слайда 5"/>
          <p:cNvSpPr>
            <a:spLocks noGrp="1"/>
          </p:cNvSpPr>
          <p:nvPr>
            <p:ph type="sldNum" sz="quarter" idx="12"/>
          </p:nvPr>
        </p:nvSpPr>
        <p:spPr/>
        <p:txBody>
          <a:bodyPr/>
          <a:lstStyle/>
          <a:p>
            <a:fld id="{56397C59-5629-4460-9A54-A1015B2EDC30}" type="slidenum">
              <a:rPr lang="ru-RU" smtClean="0"/>
              <a:pPr/>
              <a:t>9</a:t>
            </a:fld>
            <a:endParaRPr lang="ru-RU"/>
          </a:p>
        </p:txBody>
      </p:sp>
      <p:pic>
        <p:nvPicPr>
          <p:cNvPr id="44034" name="slide_09.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6"/>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4034"/>
                                        </p:tgtEl>
                                      </p:cBhvr>
                                    </p:cmd>
                                  </p:childTnLst>
                                </p:cTn>
                              </p:par>
                            </p:childTnLst>
                          </p:cTn>
                        </p:par>
                      </p:childTnLst>
                    </p:cTn>
                  </p:par>
                </p:childTnLst>
              </p:cTn>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ru-RU"/>
              <a:t>МЭСМ</a:t>
            </a:r>
          </a:p>
        </p:txBody>
      </p:sp>
      <p:sp>
        <p:nvSpPr>
          <p:cNvPr id="10243" name="Rectangle 3"/>
          <p:cNvSpPr>
            <a:spLocks noGrp="1" noChangeArrowheads="1"/>
          </p:cNvSpPr>
          <p:nvPr>
            <p:ph type="body" idx="1"/>
          </p:nvPr>
        </p:nvSpPr>
        <p:spPr>
          <a:xfrm>
            <a:off x="539750" y="1268413"/>
            <a:ext cx="8229600" cy="5257800"/>
          </a:xfrm>
        </p:spPr>
        <p:txBody>
          <a:bodyPr/>
          <a:lstStyle/>
          <a:p>
            <a:pPr>
              <a:lnSpc>
                <a:spcPct val="80000"/>
              </a:lnSpc>
            </a:pPr>
            <a:r>
              <a:rPr lang="ru-RU" sz="2400"/>
              <a:t>Исходной точкой отсчета истории нашей отечественной вычислительной техники считается </a:t>
            </a:r>
            <a:r>
              <a:rPr lang="ru-RU" sz="2400">
                <a:solidFill>
                  <a:srgbClr val="FF0000"/>
                </a:solidFill>
              </a:rPr>
              <a:t>1948</a:t>
            </a:r>
            <a:r>
              <a:rPr lang="ru-RU" sz="2400"/>
              <a:t> год, когда сотрудники Энергетического института АН СССР Исаак Брук и Башир Рамеев получили авторское свидетельство на изобретение «Автоматическая цифровая вычислительная машина». В том же 1948 году в Институте электротехники АН УССР под руководством академика Сергея Лебедева начались работы над проектом создания МЭСМ – малой электронной счетной машины. </a:t>
            </a:r>
          </a:p>
          <a:p>
            <a:pPr>
              <a:lnSpc>
                <a:spcPct val="80000"/>
              </a:lnSpc>
            </a:pPr>
            <a:r>
              <a:rPr lang="ru-RU" sz="2400"/>
              <a:t>В период с 1948 по 1952 гг. создавались опытные образцы, единичные экземпляры вычислительных машин, которые, также как и в США, использовались одновременно как для проведения особо важных расчетов (зачастую засекреченных), так и для отладки конструкторских и технологических решений.</a:t>
            </a:r>
          </a:p>
        </p:txBody>
      </p:sp>
      <p:sp>
        <p:nvSpPr>
          <p:cNvPr id="4" name="Номер слайда 3"/>
          <p:cNvSpPr>
            <a:spLocks noGrp="1"/>
          </p:cNvSpPr>
          <p:nvPr>
            <p:ph type="sldNum" sz="quarter" idx="12"/>
          </p:nvPr>
        </p:nvSpPr>
        <p:spPr/>
        <p:txBody>
          <a:bodyPr/>
          <a:lstStyle/>
          <a:p>
            <a:fld id="{4563337D-4521-475E-A86D-AB608776E4E4}" type="slidenum">
              <a:rPr lang="ru-RU" smtClean="0"/>
              <a:pPr/>
              <a:t>10</a:t>
            </a:fld>
            <a:endParaRPr lang="ru-RU"/>
          </a:p>
        </p:txBody>
      </p:sp>
      <p:pic>
        <p:nvPicPr>
          <p:cNvPr id="10244" name="slide_1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244"/>
                                        </p:tgtEl>
                                      </p:cBhvr>
                                    </p:cmd>
                                  </p:childTnLst>
                                </p:cTn>
                              </p:par>
                            </p:childTnLst>
                          </p:cTn>
                        </p:par>
                      </p:childTnLst>
                    </p:cTn>
                  </p:par>
                </p:childTnLst>
              </p:cTn>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274638"/>
            <a:ext cx="8229600" cy="850900"/>
          </a:xfrm>
        </p:spPr>
        <p:txBody>
          <a:bodyPr/>
          <a:lstStyle/>
          <a:p>
            <a:r>
              <a:rPr lang="ru-RU"/>
              <a:t>БЭСМ-1</a:t>
            </a:r>
          </a:p>
        </p:txBody>
      </p:sp>
      <p:sp>
        <p:nvSpPr>
          <p:cNvPr id="11267" name="Rectangle 3"/>
          <p:cNvSpPr>
            <a:spLocks noGrp="1" noChangeArrowheads="1"/>
          </p:cNvSpPr>
          <p:nvPr>
            <p:ph type="body" idx="1"/>
          </p:nvPr>
        </p:nvSpPr>
        <p:spPr>
          <a:xfrm>
            <a:off x="179388" y="1196975"/>
            <a:ext cx="8785225" cy="5545138"/>
          </a:xfrm>
        </p:spPr>
        <p:txBody>
          <a:bodyPr/>
          <a:lstStyle/>
          <a:p>
            <a:pPr>
              <a:lnSpc>
                <a:spcPct val="80000"/>
              </a:lnSpc>
            </a:pPr>
            <a:r>
              <a:rPr lang="ru-RU" sz="2400"/>
              <a:t>В </a:t>
            </a:r>
            <a:r>
              <a:rPr lang="ru-RU" sz="2400">
                <a:solidFill>
                  <a:srgbClr val="FF0000"/>
                </a:solidFill>
              </a:rPr>
              <a:t>1953</a:t>
            </a:r>
            <a:r>
              <a:rPr lang="ru-RU" sz="2400"/>
              <a:t> году С.А. Лебедев стал директором московского Института точной механики и вычислительной техники (ИТМ и ВТ) и возглавил разработку серии знаменитых БЭСМ (больших электронных счетных машин): от БЭСМ-1 до БЭСМ-6. </a:t>
            </a:r>
          </a:p>
          <a:p>
            <a:pPr>
              <a:lnSpc>
                <a:spcPct val="80000"/>
              </a:lnSpc>
            </a:pPr>
            <a:r>
              <a:rPr lang="ru-RU" sz="2400"/>
              <a:t>БЭСМ-1 (</a:t>
            </a:r>
            <a:r>
              <a:rPr lang="ru-RU" sz="2400">
                <a:solidFill>
                  <a:srgbClr val="FF0000"/>
                </a:solidFill>
              </a:rPr>
              <a:t>1953</a:t>
            </a:r>
            <a:r>
              <a:rPr lang="ru-RU" sz="2400"/>
              <a:t> г.) имела 5000 электронных ламп, выполняла 8...10 тыс. операций в секунду. Ее особенностью стало введение операций над числами с плавающей запятой с обеспечением большого диапазона используемых чисел. На БЭСМ-1 были испытаны в реальной эксплуатации три типа оперативной памяти объемом 1024 39-разрядных слова:</a:t>
            </a:r>
          </a:p>
          <a:p>
            <a:pPr>
              <a:lnSpc>
                <a:spcPct val="80000"/>
              </a:lnSpc>
            </a:pPr>
            <a:r>
              <a:rPr lang="ru-RU" sz="2400"/>
              <a:t>1) на электроакустических ртутных трубках (линиях задержки); память такого типа использовалась в </a:t>
            </a:r>
            <a:r>
              <a:rPr lang="en-US" sz="2400"/>
              <a:t>EDSAC</a:t>
            </a:r>
            <a:r>
              <a:rPr lang="ru-RU" sz="2400"/>
              <a:t> и </a:t>
            </a:r>
            <a:r>
              <a:rPr lang="en-US" sz="2400"/>
              <a:t>EDVAC</a:t>
            </a:r>
            <a:r>
              <a:rPr lang="ru-RU" sz="2400"/>
              <a:t>;</a:t>
            </a:r>
          </a:p>
          <a:p>
            <a:pPr>
              <a:lnSpc>
                <a:spcPct val="80000"/>
              </a:lnSpc>
            </a:pPr>
            <a:r>
              <a:rPr lang="ru-RU" sz="2400"/>
              <a:t>2) на электронно-лучевых трубках (потенциалоскопах);</a:t>
            </a:r>
          </a:p>
          <a:p>
            <a:pPr>
              <a:lnSpc>
                <a:spcPct val="80000"/>
              </a:lnSpc>
            </a:pPr>
            <a:r>
              <a:rPr lang="ru-RU" sz="2400"/>
              <a:t>3) на ферритовых магнитных сердечниках.</a:t>
            </a:r>
          </a:p>
        </p:txBody>
      </p:sp>
      <p:sp>
        <p:nvSpPr>
          <p:cNvPr id="4" name="Номер слайда 3"/>
          <p:cNvSpPr>
            <a:spLocks noGrp="1"/>
          </p:cNvSpPr>
          <p:nvPr>
            <p:ph type="sldNum" sz="quarter" idx="12"/>
          </p:nvPr>
        </p:nvSpPr>
        <p:spPr/>
        <p:txBody>
          <a:bodyPr/>
          <a:lstStyle/>
          <a:p>
            <a:fld id="{4563337D-4521-475E-A86D-AB608776E4E4}" type="slidenum">
              <a:rPr lang="ru-RU" smtClean="0"/>
              <a:pPr/>
              <a:t>11</a:t>
            </a:fld>
            <a:endParaRPr lang="ru-RU"/>
          </a:p>
        </p:txBody>
      </p:sp>
      <p:pic>
        <p:nvPicPr>
          <p:cNvPr id="11268" name="slide_1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268"/>
                                        </p:tgtEl>
                                      </p:cBhvr>
                                    </p:cmd>
                                  </p:childTnLst>
                                </p:cTn>
                              </p:par>
                            </p:childTnLst>
                          </p:cTn>
                        </p:par>
                      </p:childTnLst>
                    </p:cTn>
                  </p:par>
                </p:childTnLst>
              </p:cTn>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ru-RU"/>
              <a:t> БЭСМ-6</a:t>
            </a:r>
          </a:p>
        </p:txBody>
      </p:sp>
      <p:sp>
        <p:nvSpPr>
          <p:cNvPr id="12291" name="Rectangle 3"/>
          <p:cNvSpPr>
            <a:spLocks noGrp="1" noChangeArrowheads="1"/>
          </p:cNvSpPr>
          <p:nvPr>
            <p:ph type="body" idx="1"/>
          </p:nvPr>
        </p:nvSpPr>
        <p:spPr/>
        <p:txBody>
          <a:bodyPr/>
          <a:lstStyle/>
          <a:p>
            <a:pPr>
              <a:lnSpc>
                <a:spcPct val="90000"/>
              </a:lnSpc>
            </a:pPr>
            <a:r>
              <a:rPr lang="ru-RU" sz="2400"/>
              <a:t>Особое место в истории развития отечественной вычислительной техники занимает БЭСМ-6, серийно выпускавшаяся с </a:t>
            </a:r>
            <a:r>
              <a:rPr lang="ru-RU" sz="2400">
                <a:solidFill>
                  <a:srgbClr val="FF0000"/>
                </a:solidFill>
              </a:rPr>
              <a:t>1967</a:t>
            </a:r>
            <a:r>
              <a:rPr lang="ru-RU" sz="2400"/>
              <a:t> года в течение 17 лет. В ее архитектуре был реализован принцип распараллеливания вычислительных процессов, и ее производительность – 1 млн. операций в секунду – была рекордной для середины 60-х годов. На БЭСМ-6 появились первые полноценные операционные системы, мощные трансляторы, ценнейшие библиотеки стандартных подпрограмм, реализующих численные методы решения различных задач, всё – отечественного производства. </a:t>
            </a:r>
          </a:p>
        </p:txBody>
      </p:sp>
      <p:sp>
        <p:nvSpPr>
          <p:cNvPr id="4" name="Номер слайда 3"/>
          <p:cNvSpPr>
            <a:spLocks noGrp="1"/>
          </p:cNvSpPr>
          <p:nvPr>
            <p:ph type="sldNum" sz="quarter" idx="12"/>
          </p:nvPr>
        </p:nvSpPr>
        <p:spPr/>
        <p:txBody>
          <a:bodyPr/>
          <a:lstStyle/>
          <a:p>
            <a:fld id="{4563337D-4521-475E-A86D-AB608776E4E4}" type="slidenum">
              <a:rPr lang="ru-RU" smtClean="0"/>
              <a:pPr/>
              <a:t>12</a:t>
            </a:fld>
            <a:endParaRPr lang="ru-RU"/>
          </a:p>
        </p:txBody>
      </p:sp>
      <p:pic>
        <p:nvPicPr>
          <p:cNvPr id="12292" name="slide_1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292"/>
                                        </p:tgtEl>
                                      </p:cBhvr>
                                    </p:cmd>
                                  </p:childTnLst>
                                </p:cTn>
                              </p:par>
                            </p:childTnLst>
                          </p:cTn>
                        </p:par>
                      </p:childTnLst>
                    </p:cTn>
                  </p:par>
                </p:childTnLst>
              </p:cTn>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200" dirty="0" smtClean="0"/>
              <a:t>Проблема привязки прикладных программ или архитектуры к физическому уровню</a:t>
            </a:r>
            <a:endParaRPr lang="ru-RU" sz="3200" dirty="0"/>
          </a:p>
        </p:txBody>
      </p:sp>
      <p:sp>
        <p:nvSpPr>
          <p:cNvPr id="3" name="Содержимое 2"/>
          <p:cNvSpPr>
            <a:spLocks noGrp="1"/>
          </p:cNvSpPr>
          <p:nvPr>
            <p:ph idx="1"/>
          </p:nvPr>
        </p:nvSpPr>
        <p:spPr/>
        <p:txBody>
          <a:bodyPr/>
          <a:lstStyle/>
          <a:p>
            <a:r>
              <a:rPr lang="ru-RU" dirty="0" smtClean="0"/>
              <a:t>Все системы были независимы (</a:t>
            </a:r>
            <a:r>
              <a:rPr lang="ru-RU" dirty="0" smtClean="0">
                <a:solidFill>
                  <a:srgbClr val="0070C0"/>
                </a:solidFill>
              </a:rPr>
              <a:t>пример с перестановкой байт в многоразрядном слове</a:t>
            </a:r>
            <a:r>
              <a:rPr lang="ru-RU" dirty="0" smtClean="0"/>
              <a:t>).</a:t>
            </a:r>
          </a:p>
          <a:p>
            <a:r>
              <a:rPr lang="ru-RU" dirty="0" smtClean="0"/>
              <a:t>в БЭСМ-6 и «Мир» «байт» был </a:t>
            </a:r>
            <a:r>
              <a:rPr lang="ru-RU" dirty="0" err="1" smtClean="0"/>
              <a:t>шестибитным</a:t>
            </a:r>
            <a:r>
              <a:rPr lang="ru-RU" dirty="0" smtClean="0"/>
              <a:t>, в «Минск-32» — </a:t>
            </a:r>
            <a:r>
              <a:rPr lang="ru-RU" dirty="0" err="1" smtClean="0"/>
              <a:t>семибитным</a:t>
            </a:r>
            <a:r>
              <a:rPr lang="ru-RU" dirty="0" smtClean="0"/>
              <a:t>, а в серии «Урал» длина «слова» была произвольной, от 1 до 48 бит. </a:t>
            </a:r>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13</a:t>
            </a:fld>
            <a:endParaRPr lang="ru-RU"/>
          </a:p>
        </p:txBody>
      </p:sp>
      <p:pic>
        <p:nvPicPr>
          <p:cNvPr id="5" name="slide_13.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0"/>
            <a:ext cx="8229600" cy="562074"/>
          </a:xfrm>
        </p:spPr>
        <p:txBody>
          <a:bodyPr/>
          <a:lstStyle/>
          <a:p>
            <a:r>
              <a:rPr lang="ru-RU" dirty="0" smtClean="0"/>
              <a:t>Микрокод</a:t>
            </a:r>
            <a:endParaRPr lang="ru-RU" dirty="0"/>
          </a:p>
        </p:txBody>
      </p:sp>
      <p:sp>
        <p:nvSpPr>
          <p:cNvPr id="3" name="Содержимое 2"/>
          <p:cNvSpPr>
            <a:spLocks noGrp="1"/>
          </p:cNvSpPr>
          <p:nvPr>
            <p:ph idx="1"/>
          </p:nvPr>
        </p:nvSpPr>
        <p:spPr>
          <a:xfrm>
            <a:off x="0" y="548680"/>
            <a:ext cx="9144000" cy="6165304"/>
          </a:xfrm>
        </p:spPr>
        <p:txBody>
          <a:bodyPr/>
          <a:lstStyle/>
          <a:p>
            <a:r>
              <a:rPr lang="ru-RU" sz="2400" dirty="0" smtClean="0"/>
              <a:t>IBM в 1964 году применила технологию микрокода, когда каждая машинная инструкция реализовывалась в виде серий более мелких программ (микрокода). Благодаря этой идее с появлением новых моделей можно использовать ПО  с более старых компьютеров (например ос</a:t>
            </a:r>
            <a:r>
              <a:rPr lang="ru-RU" sz="2400" smtClean="0"/>
              <a:t>, трансляторы), </a:t>
            </a:r>
            <a:r>
              <a:rPr lang="ru-RU" sz="2400" dirty="0" smtClean="0"/>
              <a:t>и совместимость не терялась. Такое  свойство реализовали в компьютерах семейства IBM </a:t>
            </a:r>
            <a:r>
              <a:rPr lang="ru-RU" sz="2400" dirty="0" err="1" smtClean="0"/>
              <a:t>System</a:t>
            </a:r>
            <a:r>
              <a:rPr lang="ru-RU" sz="2400" dirty="0" smtClean="0"/>
              <a:t>/360. </a:t>
            </a:r>
          </a:p>
          <a:p>
            <a:r>
              <a:rPr lang="ru-RU" sz="2400" dirty="0" smtClean="0"/>
              <a:t>Второй по стоимости американский НИОКР 60-х (после программы </a:t>
            </a:r>
            <a:r>
              <a:rPr lang="ru-RU" sz="2400" dirty="0" err="1" smtClean="0"/>
              <a:t>Apollo</a:t>
            </a:r>
            <a:r>
              <a:rPr lang="ru-RU" sz="2400" dirty="0" smtClean="0"/>
              <a:t>), этот проект представлял собой целую линейку компьютеров для разных нужд, с разной производительностью, объемом памяти и возможностями. В компьютерах этой серии, относящихся к третьему поколению, использовались уже не транзисторы, а интегральные микросхемы, впервые применялась виртуальная память и виртуальные машины.</a:t>
            </a:r>
          </a:p>
          <a:p>
            <a:endParaRPr lang="ru-RU" sz="24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14</a:t>
            </a:fld>
            <a:endParaRPr lang="ru-RU"/>
          </a:p>
        </p:txBody>
      </p:sp>
      <p:pic>
        <p:nvPicPr>
          <p:cNvPr id="5" name="slide_1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0" y="188913"/>
            <a:ext cx="9036050" cy="6669087"/>
          </a:xfrm>
        </p:spPr>
        <p:txBody>
          <a:bodyPr/>
          <a:lstStyle/>
          <a:p>
            <a:pPr>
              <a:lnSpc>
                <a:spcPct val="80000"/>
              </a:lnSpc>
            </a:pPr>
            <a:r>
              <a:rPr lang="ru-RU" sz="1800"/>
              <a:t>К концу 60-х годов в нашей стране выпускалось около 20 типов ЭВМ общего назначения – серии БЭСМ (Москва, С.А.Лебедев), Урал (Пенза, Б.И.Рамеев), Днепр, Мир (Киев, В.М.Глушков), Минск (Минск, В. Пржиялковский) и другие, а также специализированные машины преимущественно для оборонного ведомства. Кстати, в отличие от Запада, где «двигателями прогресса» в области вычислительной техники были не только военные, но и представители делового мира, в СССР ими были, в основном, военные. Но постепенно и ученые, и хозяйственники, и чиновники стали осознавать роль вычислительных машин в экономике страны и насущную необходимость в разработке машин нового поколения.  </a:t>
            </a:r>
          </a:p>
          <a:p>
            <a:pPr>
              <a:lnSpc>
                <a:spcPct val="80000"/>
              </a:lnSpc>
            </a:pPr>
            <a:r>
              <a:rPr lang="ru-RU" sz="1800"/>
              <a:t>Встал вопрос о переходе к индустрии ЭВМ. В декабре 1969 году на правительственном уровне было принято решение выбрать в качестве промышленного стандарта для универсальных вычислительных машин единой серии (ЕС ЭВМ) серию машин </a:t>
            </a:r>
            <a:r>
              <a:rPr lang="en-US" sz="1800"/>
              <a:t>IBM S</a:t>
            </a:r>
            <a:r>
              <a:rPr lang="ru-RU" sz="1800"/>
              <a:t>/360. Первая машина этой серии – ЕС-1020 была выпущена в 1971 году.</a:t>
            </a:r>
          </a:p>
          <a:p>
            <a:pPr>
              <a:lnSpc>
                <a:spcPct val="80000"/>
              </a:lnSpc>
            </a:pPr>
            <a:r>
              <a:rPr lang="ru-RU" sz="1800"/>
              <a:t>Производство ЕС ЭВМ было налажено совместно с другими социалистическими странами в рамках СЭВ (Совета по экономической взаимопомощи). Многие ученые выступили против копирования систем </a:t>
            </a:r>
            <a:r>
              <a:rPr lang="en-US" sz="1800"/>
              <a:t>IBM</a:t>
            </a:r>
            <a:r>
              <a:rPr lang="ru-RU" sz="1800"/>
              <a:t>, но предложить что-то взамен в качестве единого стандарта не смогли.</a:t>
            </a:r>
          </a:p>
          <a:p>
            <a:pPr>
              <a:lnSpc>
                <a:spcPct val="80000"/>
              </a:lnSpc>
            </a:pPr>
            <a:r>
              <a:rPr lang="ru-RU" sz="1800"/>
              <a:t>Конечно, идеальным вариантом была бы реализация архитектурных принципов </a:t>
            </a:r>
            <a:r>
              <a:rPr lang="en-US" sz="1800"/>
              <a:t>IBM</a:t>
            </a:r>
            <a:r>
              <a:rPr lang="ru-RU" sz="1800"/>
              <a:t> в сотрудничестве с самой компанией, и не семейства почти пятилетней давности, а самых современных моделей, и в сочетании с всесторонней поддержкой собственных разработок. Но на всё у государства не хватало средств, и пошли по более простому варианту. Так начался закат отечественной индустрии вычислительной техники. </a:t>
            </a:r>
          </a:p>
        </p:txBody>
      </p:sp>
      <p:sp>
        <p:nvSpPr>
          <p:cNvPr id="3" name="Номер слайда 2"/>
          <p:cNvSpPr>
            <a:spLocks noGrp="1"/>
          </p:cNvSpPr>
          <p:nvPr>
            <p:ph type="sldNum" sz="quarter" idx="12"/>
          </p:nvPr>
        </p:nvSpPr>
        <p:spPr/>
        <p:txBody>
          <a:bodyPr/>
          <a:lstStyle/>
          <a:p>
            <a:fld id="{4563337D-4521-475E-A86D-AB608776E4E4}" type="slidenum">
              <a:rPr lang="ru-RU" smtClean="0"/>
              <a:pPr/>
              <a:t>15</a:t>
            </a:fld>
            <a:endParaRPr lang="ru-RU"/>
          </a:p>
        </p:txBody>
      </p:sp>
      <p:pic>
        <p:nvPicPr>
          <p:cNvPr id="13316" name="slide_1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316"/>
                                        </p:tgtEl>
                                      </p:cBhvr>
                                    </p:cmd>
                                  </p:childTnLst>
                                </p:cTn>
                              </p:par>
                            </p:childTnLst>
                          </p:cTn>
                        </p:par>
                      </p:childTnLst>
                    </p:cTn>
                  </p:par>
                </p:childTnLst>
              </p:cTn>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95536" y="260648"/>
            <a:ext cx="8568952" cy="6264696"/>
          </a:xfrm>
        </p:spPr>
        <p:txBody>
          <a:bodyPr/>
          <a:lstStyle/>
          <a:p>
            <a:r>
              <a:rPr lang="ru-RU" sz="1200" dirty="0" smtClean="0">
                <a:solidFill>
                  <a:srgbClr val="0070C0"/>
                </a:solidFill>
              </a:rPr>
              <a:t>Сулим. </a:t>
            </a:r>
            <a:r>
              <a:rPr lang="ru-RU" sz="1200" dirty="0" smtClean="0"/>
              <a:t>О состоянии переговоров с ГДР и ICL.</a:t>
            </a:r>
          </a:p>
          <a:p>
            <a:r>
              <a:rPr lang="ru-RU" sz="1200" dirty="0" smtClean="0">
                <a:solidFill>
                  <a:srgbClr val="0070C0"/>
                </a:solidFill>
              </a:rPr>
              <a:t>Вариант IBM-360</a:t>
            </a:r>
            <a:r>
              <a:rPr lang="ru-RU" sz="1200" dirty="0" smtClean="0"/>
              <a:t>. В ГДР принята ориентация на IBM-360. Успешно разрабатывается одна из моделей (Р-40). У нас есть задел, есть коллектив, способный начать работу. На освоение операционной системы IBM-360 потребуется 2200 </a:t>
            </a:r>
            <a:r>
              <a:rPr lang="ru-RU" sz="1200" dirty="0" err="1" smtClean="0"/>
              <a:t>человеко-лет</a:t>
            </a:r>
            <a:r>
              <a:rPr lang="ru-RU" sz="1200" dirty="0" smtClean="0"/>
              <a:t> и 700 разработчиков. С фирмой IBM отсутствуют всякие контакты. Возникнут трудности в приобретении машины-аналога. Ее стоимость 4-5 млн. долларов. В ГДР имеется только часть необходимой документации.</a:t>
            </a:r>
          </a:p>
          <a:p>
            <a:r>
              <a:rPr lang="ru-RU" sz="1200" dirty="0" smtClean="0"/>
              <a:t> </a:t>
            </a:r>
            <a:r>
              <a:rPr lang="ru-RU" sz="1200" dirty="0" smtClean="0">
                <a:solidFill>
                  <a:srgbClr val="0070C0"/>
                </a:solidFill>
              </a:rPr>
              <a:t>Вариант ICL. </a:t>
            </a:r>
            <a:r>
              <a:rPr lang="ru-RU" sz="1200" dirty="0" smtClean="0"/>
              <a:t>Получим всю техническую документацию, помощь в ее освоении. Придется провести небольшие переделки. Фирма предлагает закупить партию выпускаемых ею машин. Есть возможность использовать коллектив программистов для подготовки прикладных программ.</a:t>
            </a:r>
          </a:p>
          <a:p>
            <a:r>
              <a:rPr lang="ru-RU" sz="1200" dirty="0" smtClean="0"/>
              <a:t>Группа наших программистов уже проходит стажировку на фирме. В перспективе совместная разработка ЭВМ четвертого поколения. Фирма старается помочь во всем, поскольку надеется в союзе с европейскими фирмами, в том числе нами, выступить конкурентом IBM. Согласие фирм Италии и Франции об участии в создании вычислительной техники четвертого поколения имеется.</a:t>
            </a:r>
          </a:p>
          <a:p>
            <a:r>
              <a:rPr lang="ru-RU" sz="1200" dirty="0" smtClean="0"/>
              <a:t> </a:t>
            </a:r>
            <a:r>
              <a:rPr lang="ru-RU" sz="1200" dirty="0" err="1" smtClean="0">
                <a:solidFill>
                  <a:srgbClr val="0070C0"/>
                </a:solidFill>
              </a:rPr>
              <a:t>Пржиалковский</a:t>
            </a:r>
            <a:r>
              <a:rPr lang="ru-RU" sz="1200" dirty="0" smtClean="0"/>
              <a:t>. По IBM-360 имеем систему из 6 тыс. микрокоманд, 90% схем </a:t>
            </a:r>
            <a:r>
              <a:rPr lang="ru-RU" sz="1200" dirty="0" err="1" smtClean="0"/>
              <a:t>ТЭЗов</a:t>
            </a:r>
            <a:r>
              <a:rPr lang="ru-RU" sz="1200" dirty="0" smtClean="0"/>
              <a:t>, 70% </a:t>
            </a:r>
            <a:r>
              <a:rPr lang="ru-RU" sz="1200" dirty="0" err="1" smtClean="0"/>
              <a:t>растрассировано</a:t>
            </a:r>
            <a:r>
              <a:rPr lang="ru-RU" sz="1200" dirty="0" smtClean="0"/>
              <a:t>, 7000 единиц конструкторской документации. При переориентировке на ICL придется переработать весь этот задел, это задержит работы на 1-1,5 года. Понадобится много валюты (для закупки ЭВМ фирмы ICL). Вариант сотрудничества с ГДР, успешно ведущей работу по IBM-360, предпочтительнее. Если усилить коллектив математиков, то ДОС можно разработать к 1971 г. Пора прекратить колебания.</a:t>
            </a:r>
          </a:p>
          <a:p>
            <a:r>
              <a:rPr lang="ru-RU" sz="1200" dirty="0" smtClean="0"/>
              <a:t> </a:t>
            </a:r>
            <a:r>
              <a:rPr lang="ru-RU" sz="1200" dirty="0" err="1" smtClean="0">
                <a:solidFill>
                  <a:srgbClr val="0070C0"/>
                </a:solidFill>
              </a:rPr>
              <a:t>Крутовских</a:t>
            </a:r>
            <a:r>
              <a:rPr lang="ru-RU" sz="1200" dirty="0" smtClean="0">
                <a:solidFill>
                  <a:srgbClr val="0070C0"/>
                </a:solidFill>
              </a:rPr>
              <a:t>. </a:t>
            </a:r>
            <a:r>
              <a:rPr lang="ru-RU" sz="1200" dirty="0" smtClean="0"/>
              <a:t>Наш проект предусматривал систему моделей IBM-360. При переориентации на фирму ICL состав моделей должен быть другим. Меняются технические характеристики. Нужно 4-5 месяцев на </a:t>
            </a:r>
            <a:r>
              <a:rPr lang="ru-RU" sz="1200" dirty="0" err="1" smtClean="0"/>
              <a:t>аван-проект</a:t>
            </a:r>
            <a:r>
              <a:rPr lang="ru-RU" sz="1200" dirty="0" smtClean="0"/>
              <a:t>. В фирме ICL нет ясности по старшим моделям. Они добавляются к ряду малых и средних ЭВМ, как суперЭВМ. Этого лучше не делать. При переориентации задержатся сроки подготовки техдокументации на 1,5-2 года, а может и больше. Работая с ГДР по IBM-360, можно получить ДОС и ОС к началу серийного производства, снимается вопрос об их разработке. Немцы ушли дальше нас. Они переориентироваться не смогут. Англичанам нужен рынок. Они будут водить нас за нос. По большим машинам они сотрудничать не будут. 150 машин у них купить нельзя.</a:t>
            </a:r>
          </a:p>
          <a:p>
            <a:r>
              <a:rPr lang="ru-RU" sz="1200" dirty="0" smtClean="0"/>
              <a:t> </a:t>
            </a:r>
            <a:r>
              <a:rPr lang="ru-RU" sz="1200" dirty="0" err="1" smtClean="0">
                <a:solidFill>
                  <a:srgbClr val="0070C0"/>
                </a:solidFill>
              </a:rPr>
              <a:t>Дородницын</a:t>
            </a:r>
            <a:r>
              <a:rPr lang="ru-RU" sz="1200" dirty="0" smtClean="0">
                <a:solidFill>
                  <a:srgbClr val="0070C0"/>
                </a:solidFill>
              </a:rPr>
              <a:t>. </a:t>
            </a:r>
            <a:r>
              <a:rPr lang="ru-RU" sz="1200" dirty="0" smtClean="0"/>
              <a:t>Вопрос освоения IBM-360 подается в упрощенном виде. Все значительно сложнее. На освоение ОС надо не менее четырех лет, и неизвестно, что получим. Надо самим (вместе с ICL) создавать ДОС и ОС и ориентироваться на разработки машин совместно с ICL.</a:t>
            </a:r>
          </a:p>
          <a:p>
            <a:r>
              <a:rPr lang="ru-RU" sz="1200" dirty="0" smtClean="0"/>
              <a:t> </a:t>
            </a:r>
          </a:p>
        </p:txBody>
      </p:sp>
      <p:sp>
        <p:nvSpPr>
          <p:cNvPr id="4" name="Номер слайда 3"/>
          <p:cNvSpPr>
            <a:spLocks noGrp="1"/>
          </p:cNvSpPr>
          <p:nvPr>
            <p:ph type="sldNum" sz="quarter" idx="12"/>
          </p:nvPr>
        </p:nvSpPr>
        <p:spPr/>
        <p:txBody>
          <a:bodyPr/>
          <a:lstStyle/>
          <a:p>
            <a:fld id="{4563337D-4521-475E-A86D-AB608776E4E4}" type="slidenum">
              <a:rPr lang="ru-RU" smtClean="0"/>
              <a:pPr/>
              <a:t>16</a:t>
            </a:fld>
            <a:endParaRPr lang="ru-RU"/>
          </a:p>
        </p:txBody>
      </p:sp>
      <p:pic>
        <p:nvPicPr>
          <p:cNvPr id="5" name="slide_1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188640"/>
            <a:ext cx="8496944" cy="6336704"/>
          </a:xfrm>
        </p:spPr>
        <p:txBody>
          <a:bodyPr/>
          <a:lstStyle/>
          <a:p>
            <a:r>
              <a:rPr lang="ru-RU" sz="1200" dirty="0" smtClean="0">
                <a:solidFill>
                  <a:srgbClr val="0070C0"/>
                </a:solidFill>
              </a:rPr>
              <a:t>Лебедев. </a:t>
            </a:r>
            <a:r>
              <a:rPr lang="ru-RU" sz="1200" dirty="0" smtClean="0"/>
              <a:t>Система IBM-360 - это ряд ЭВМ десятилетней давности. Создаваемый у нас ряд машин надо ограничить машинами малой и средней производительности. Архитектура IBM-360 не приспособлена для больших моделей (суперЭВМ). Англичане хотят конкурировать с американцами при переходе к ЭВМ четвертого поколения. Чем выше производительность машины, тем в ней больше структурных особенностей. Англичане закладывают автоматизацию проектирования. Система математического обеспечения для "Системы-4" динамична, при наличии контактов ее вполне можно разработать. Это будет способствовать подготовке собственных кадров. Их лучше обучать путем разработки собственной системы (совместно с англичанами).</a:t>
            </a:r>
          </a:p>
          <a:p>
            <a:r>
              <a:rPr lang="ru-RU" sz="1200" dirty="0" smtClean="0">
                <a:solidFill>
                  <a:srgbClr val="0070C0"/>
                </a:solidFill>
              </a:rPr>
              <a:t> Шура-Бура</a:t>
            </a:r>
            <a:r>
              <a:rPr lang="ru-RU" sz="1200" dirty="0" smtClean="0"/>
              <a:t>. С точки зрения системы математического обеспечения американский вариант предпочтительнее. ОС требуется усовершенствовать. Для этого надо знать все программы.</a:t>
            </a:r>
          </a:p>
          <a:p>
            <a:r>
              <a:rPr lang="ru-RU" sz="1200" dirty="0" smtClean="0"/>
              <a:t> </a:t>
            </a:r>
            <a:r>
              <a:rPr lang="ru-RU" sz="1200" dirty="0" smtClean="0">
                <a:solidFill>
                  <a:srgbClr val="0070C0"/>
                </a:solidFill>
              </a:rPr>
              <a:t>Келдыш. </a:t>
            </a:r>
            <a:r>
              <a:rPr lang="ru-RU" sz="1200" dirty="0" smtClean="0"/>
              <a:t>Нужно купить лицензии и делать свои машины. Иначе мы будем просто повторять то, что сделали другие. В принципе, большие машины надо создавать самим.</a:t>
            </a:r>
          </a:p>
          <a:p>
            <a:r>
              <a:rPr lang="ru-RU" sz="1200" dirty="0" smtClean="0">
                <a:solidFill>
                  <a:srgbClr val="0070C0"/>
                </a:solidFill>
              </a:rPr>
              <a:t> Лебедев</a:t>
            </a:r>
            <a:r>
              <a:rPr lang="ru-RU" sz="1200" dirty="0" smtClean="0"/>
              <a:t>. Наши математики считают, что готовить программистов лучше по методике англичан.</a:t>
            </a:r>
          </a:p>
          <a:p>
            <a:r>
              <a:rPr lang="ru-RU" sz="1200" dirty="0" smtClean="0"/>
              <a:t> Раковский. Нужно думать о перспективе. Нужна единая концепция. Все говорили, что система математического обеспечения IBM совершеннее, но ОС громоздка. В течение четырех-пяти лет ее нельзя полностью освоить. Трудно, но сегодня нужно принять решение. Если ориентироваться на ICL, то будет трудно с ГДР; за пять лет немцы выпустят 200 экземпляров Р-40. И все-таки следует принять предложение ICL.</a:t>
            </a:r>
          </a:p>
          <a:p>
            <a:r>
              <a:rPr lang="ru-RU" sz="1200" dirty="0" smtClean="0"/>
              <a:t> </a:t>
            </a:r>
            <a:r>
              <a:rPr lang="ru-RU" sz="1200" dirty="0" err="1" smtClean="0">
                <a:solidFill>
                  <a:srgbClr val="0070C0"/>
                </a:solidFill>
              </a:rPr>
              <a:t>Крутовских</a:t>
            </a:r>
            <a:r>
              <a:rPr lang="ru-RU" sz="1200" dirty="0" smtClean="0">
                <a:solidFill>
                  <a:srgbClr val="0070C0"/>
                </a:solidFill>
              </a:rPr>
              <a:t>. </a:t>
            </a:r>
            <a:r>
              <a:rPr lang="ru-RU" sz="1200" dirty="0" smtClean="0"/>
              <a:t>Все разработчики, кроме </a:t>
            </a:r>
            <a:r>
              <a:rPr lang="ru-RU" sz="1200" dirty="0" err="1" smtClean="0"/>
              <a:t>Рамеева</a:t>
            </a:r>
            <a:r>
              <a:rPr lang="ru-RU" sz="1200" dirty="0" smtClean="0"/>
              <a:t>, не хотят переориентироваться на фирму ICL. P-50 будет готова в 1971 г.</a:t>
            </a:r>
          </a:p>
          <a:p>
            <a:r>
              <a:rPr lang="ru-RU" sz="1200" dirty="0" smtClean="0"/>
              <a:t> </a:t>
            </a:r>
            <a:r>
              <a:rPr lang="ru-RU" sz="1200" dirty="0" smtClean="0">
                <a:solidFill>
                  <a:srgbClr val="0070C0"/>
                </a:solidFill>
              </a:rPr>
              <a:t>Калмыков. </a:t>
            </a:r>
            <a:r>
              <a:rPr lang="ru-RU" sz="1200" dirty="0" smtClean="0"/>
              <a:t>Наличие ДОС сразу дает возможность использовать машины, которые мы начнем выпускать. Много программ можем получить у немцев. Отрицательные моменты. Мы не имеем машин IBM-360. И не будем иметь контактов с фирмой IBM. Если переориентироваться на фирму ICL, то потеряем время. Но с ними возможны прямой контакт и сотрудничество при создании ЭВМ четвертого поколения. Это большое преимущество. Четвертое поколение ЭВМ они будут делать без американцев, хотят быть конкурентоспособными по отношению к IBM.</a:t>
            </a:r>
          </a:p>
          <a:p>
            <a:r>
              <a:rPr lang="ru-RU" sz="1200" dirty="0" smtClean="0"/>
              <a:t> </a:t>
            </a:r>
            <a:r>
              <a:rPr lang="ru-RU" sz="1200" dirty="0" smtClean="0">
                <a:solidFill>
                  <a:srgbClr val="0070C0"/>
                </a:solidFill>
              </a:rPr>
              <a:t>Келдыш. </a:t>
            </a:r>
            <a:r>
              <a:rPr lang="ru-RU" sz="1200" dirty="0" smtClean="0"/>
              <a:t>Не следует переориентироваться на ICL, но переговоры с ними по четвертому поколению ЭВМ нужно вести.</a:t>
            </a:r>
          </a:p>
          <a:p>
            <a:r>
              <a:rPr lang="ru-RU" sz="1200" dirty="0" smtClean="0"/>
              <a:t> </a:t>
            </a:r>
            <a:r>
              <a:rPr lang="ru-RU" sz="1200" dirty="0" smtClean="0">
                <a:solidFill>
                  <a:srgbClr val="0070C0"/>
                </a:solidFill>
              </a:rPr>
              <a:t>Калмыков. </a:t>
            </a:r>
            <a:r>
              <a:rPr lang="ru-RU" sz="1200" dirty="0" smtClean="0"/>
              <a:t>Переориентироваться на ICL не будем. Перед немцами поставим вопрос о том, чтобы больше помогали".</a:t>
            </a:r>
          </a:p>
          <a:p>
            <a:endParaRPr lang="ru-RU" sz="1200" dirty="0" smtClean="0"/>
          </a:p>
          <a:p>
            <a:endParaRPr lang="ru-RU" sz="12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17</a:t>
            </a:fld>
            <a:endParaRPr lang="ru-RU"/>
          </a:p>
        </p:txBody>
      </p:sp>
      <p:pic>
        <p:nvPicPr>
          <p:cNvPr id="5" name="slide_1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91264" cy="850106"/>
          </a:xfrm>
        </p:spPr>
        <p:txBody>
          <a:bodyPr/>
          <a:lstStyle/>
          <a:p>
            <a:r>
              <a:rPr lang="ru-RU" dirty="0" smtClean="0"/>
              <a:t>Известные комментарии</a:t>
            </a:r>
            <a:endParaRPr lang="ru-RU" dirty="0"/>
          </a:p>
        </p:txBody>
      </p:sp>
      <p:sp>
        <p:nvSpPr>
          <p:cNvPr id="3" name="Содержимое 2"/>
          <p:cNvSpPr>
            <a:spLocks noGrp="1"/>
          </p:cNvSpPr>
          <p:nvPr>
            <p:ph idx="1"/>
          </p:nvPr>
        </p:nvSpPr>
        <p:spPr>
          <a:xfrm>
            <a:off x="395536" y="1268760"/>
            <a:ext cx="8496944" cy="5400600"/>
          </a:xfrm>
        </p:spPr>
        <p:txBody>
          <a:bodyPr/>
          <a:lstStyle/>
          <a:p>
            <a:r>
              <a:rPr lang="ru-RU" sz="2000" dirty="0" smtClean="0"/>
              <a:t>Борис Бабаян (Советский и российский учёный, педагог, разработчик вычислительной техники, член-корреспондент АН СССР, разработчик Эльбрус-3 (1,2) (применение РЛС ДОН-2Н), директор по архитектуре одного из подразделений </a:t>
            </a:r>
            <a:r>
              <a:rPr lang="en-US" sz="2000" dirty="0" smtClean="0"/>
              <a:t>Intel</a:t>
            </a:r>
            <a:r>
              <a:rPr lang="ru-RU" sz="2000" dirty="0" smtClean="0"/>
              <a:t>): "Расчет был на то, что можно будет наворовать много </a:t>
            </a:r>
            <a:r>
              <a:rPr lang="ru-RU" sz="2000" dirty="0" err="1" smtClean="0"/>
              <a:t>матобеспечения</a:t>
            </a:r>
            <a:r>
              <a:rPr lang="ru-RU" sz="2000" dirty="0" smtClean="0"/>
              <a:t> — и наступит расцвет вычислительной техники. Этого, конечно, не произошло. Потому что после того, как все были согнаны в одно место, творчество кончилось. Образно говоря, мозги начали сохнуть от совершенно нетворческой работы. Нужно было просто угадать, как сделаны западные, в действительности устаревшие, вычислительные машины. Передовой уровень известен не был, передовыми разработками не занимались, была надежда на то, что хлынет </a:t>
            </a:r>
            <a:r>
              <a:rPr lang="ru-RU" sz="2000" dirty="0" err="1" smtClean="0"/>
              <a:t>матобеспечение</a:t>
            </a:r>
            <a:r>
              <a:rPr lang="ru-RU" sz="2000" dirty="0" smtClean="0"/>
              <a:t>… Вскоре стало ясно, что </a:t>
            </a:r>
            <a:r>
              <a:rPr lang="ru-RU" sz="2000" dirty="0" err="1" smtClean="0"/>
              <a:t>матобеспечение</a:t>
            </a:r>
            <a:r>
              <a:rPr lang="ru-RU" sz="2000" dirty="0" smtClean="0"/>
              <a:t> не хлынуло, уворованные куски не подходили друг к другу, программы не работали. Все приходилось переписывать, а то, что доставали, было древнее, плохо работало. Это был оглушительный провал..</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18</a:t>
            </a:fld>
            <a:endParaRPr lang="ru-RU"/>
          </a:p>
        </p:txBody>
      </p:sp>
      <p:pic>
        <p:nvPicPr>
          <p:cNvPr id="5" name="slide_18.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0" y="188640"/>
            <a:ext cx="9144000" cy="6408712"/>
          </a:xfrm>
        </p:spPr>
        <p:txBody>
          <a:bodyPr/>
          <a:lstStyle/>
          <a:p>
            <a:r>
              <a:rPr lang="ru-RU" sz="1400" dirty="0" err="1" smtClean="0"/>
              <a:t>Башир</a:t>
            </a:r>
            <a:r>
              <a:rPr lang="ru-RU" sz="1400" dirty="0" smtClean="0"/>
              <a:t> </a:t>
            </a:r>
            <a:r>
              <a:rPr lang="ru-RU" sz="1400" dirty="0" err="1" smtClean="0"/>
              <a:t>Рамеев</a:t>
            </a:r>
            <a:r>
              <a:rPr lang="ru-RU" sz="1400" dirty="0" smtClean="0"/>
              <a:t>. Разработчик Урал, Стрела (1953, 2000 оп</a:t>
            </a:r>
            <a:r>
              <a:rPr lang="en-US" sz="1400" dirty="0" smtClean="0"/>
              <a:t>/c</a:t>
            </a:r>
            <a:r>
              <a:rPr lang="ru-RU" sz="1400" dirty="0" smtClean="0"/>
              <a:t>). </a:t>
            </a:r>
          </a:p>
          <a:p>
            <a:r>
              <a:rPr lang="ru-RU" sz="1400" dirty="0" smtClean="0"/>
              <a:t>1968 году перешел на работу в НИЦЭВТ и был назначен на должность заместителя генерального конструктора будущей ЕС ЭВМ. </a:t>
            </a:r>
            <a:r>
              <a:rPr lang="ru-RU" sz="1400" dirty="0" smtClean="0">
                <a:solidFill>
                  <a:srgbClr val="0070C0"/>
                </a:solidFill>
              </a:rPr>
              <a:t>В 1970 году из-за несогласия с линией на копирование IBM/360 уволился с должности заместителя генерального конструктора</a:t>
            </a:r>
            <a:r>
              <a:rPr lang="ru-RU" sz="1400" dirty="0" smtClean="0"/>
              <a:t>, в 1971 году перешел на работу заместителем начальника Главного управления вычислительной техники и систем управления ГКНТ при СМ СССР.</a:t>
            </a:r>
          </a:p>
          <a:p>
            <a:r>
              <a:rPr lang="ru-RU" sz="1400" dirty="0" smtClean="0"/>
              <a:t> </a:t>
            </a:r>
            <a:r>
              <a:rPr lang="ru-RU" sz="1400" dirty="0" err="1" smtClean="0"/>
              <a:t>Рамеев</a:t>
            </a:r>
            <a:r>
              <a:rPr lang="ru-RU" sz="1400" dirty="0" smtClean="0"/>
              <a:t> не был членом КПСС (этот факт вместе с отсутствием диплома о высшем образовании обрекал его быть «вечным заместителем») и не любил публичных выступлений. Сотрудники Пензенского НИИ приписывали ему такие слова: «Мне проще сделать еще одну ЭВМ, чем выйти на трибуну и выступить с докладом!»</a:t>
            </a:r>
          </a:p>
          <a:p>
            <a:r>
              <a:rPr lang="ru-RU" sz="1400" dirty="0" smtClean="0"/>
              <a:t>Ламповые</a:t>
            </a:r>
          </a:p>
          <a:p>
            <a:r>
              <a:rPr lang="ru-RU" sz="1400" dirty="0" smtClean="0"/>
              <a:t> «Урал-1»</a:t>
            </a:r>
            <a:r>
              <a:rPr lang="en-US" sz="1400" dirty="0" smtClean="0"/>
              <a:t> (1955, </a:t>
            </a:r>
            <a:r>
              <a:rPr lang="ru-RU" sz="1400" dirty="0" smtClean="0"/>
              <a:t>для расчетов полета ракет на Байконуре, моделирование процесса обучения связанного с творчеством, использовалась даже в школах в 1970-х</a:t>
            </a:r>
            <a:r>
              <a:rPr lang="en-US" sz="1400" dirty="0" smtClean="0"/>
              <a:t>)</a:t>
            </a:r>
            <a:endParaRPr lang="ru-RU" sz="1400" dirty="0" smtClean="0"/>
          </a:p>
          <a:p>
            <a:r>
              <a:rPr lang="ru-RU" sz="1400" dirty="0" smtClean="0"/>
              <a:t>Малая ЭВМ на ламповой основе. Одноадресная система команд. Быстродействие — 100 оп/с. ОЗУ на магнитном барабане (1024 слова). Внешнее запоминающее устройство на магнитной ленте (40 000 слов). Устройство ввода-вывода — перфолента (10 000 слов). Выпускалась серийно с 1957 года в Пензе.</a:t>
            </a:r>
          </a:p>
          <a:p>
            <a:r>
              <a:rPr lang="ru-RU" sz="1400" dirty="0" smtClean="0"/>
              <a:t> «Урал-2», «Урал-3» ОЗУ на ферритовых сердечниках.</a:t>
            </a:r>
          </a:p>
          <a:p>
            <a:r>
              <a:rPr lang="ru-RU" sz="1400" dirty="0" smtClean="0"/>
              <a:t> Урал-4»     Выпускалась с 1961 года.  Машины ряда «Урал-2» — «Урал-3» — «Урал-4» программно и аппаратно совместимы между собой.</a:t>
            </a:r>
          </a:p>
          <a:p>
            <a:r>
              <a:rPr lang="ru-RU" sz="1400" dirty="0" smtClean="0"/>
              <a:t>Полупроводниковые</a:t>
            </a:r>
          </a:p>
          <a:p>
            <a:r>
              <a:rPr lang="ru-RU" sz="1400" dirty="0" smtClean="0"/>
              <a:t> «Урал-11»     Первая полупроводниковая машина семейства «Урал». Одноадресная система команд. Выпускалась с 1964 года.  «Урал-14»     Выпускалась с 1965 года</a:t>
            </a:r>
          </a:p>
          <a:p>
            <a:r>
              <a:rPr lang="ru-RU" sz="1400" dirty="0" smtClean="0"/>
              <a:t> «Урал-16»     Старшая и наиболее производительная машина серии. Была выпущена в единственном экземпляре, в 1969 году.</a:t>
            </a:r>
          </a:p>
          <a:p>
            <a:r>
              <a:rPr lang="ru-RU" sz="1400" dirty="0" smtClean="0"/>
              <a:t> Модели ряда «Урал-11» — «Урал-14» — «Урал-16» были аппаратно и программно совместимы между собой, имелся широкий набор периферийных устройств с унифицированным способом подключения. Это позволяло собирать комплект, оптимально подходящий для каждого конкретного заказчика.</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19</a:t>
            </a:fld>
            <a:endParaRPr lang="ru-RU"/>
          </a:p>
        </p:txBody>
      </p:sp>
      <p:pic>
        <p:nvPicPr>
          <p:cNvPr id="5" name="slide_19.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200" dirty="0" smtClean="0"/>
              <a:t>Рождение </a:t>
            </a:r>
            <a:r>
              <a:rPr lang="ru-RU" sz="3200" dirty="0" smtClean="0"/>
              <a:t>технологии (1950-е — 1960-е) </a:t>
            </a:r>
            <a:r>
              <a:rPr lang="ru-RU" sz="3200" dirty="0" smtClean="0"/>
              <a:t>интегральных микросхем</a:t>
            </a:r>
            <a:endParaRPr lang="ru-RU" sz="3200" dirty="0"/>
          </a:p>
        </p:txBody>
      </p:sp>
      <p:sp>
        <p:nvSpPr>
          <p:cNvPr id="3" name="Содержимое 2"/>
          <p:cNvSpPr>
            <a:spLocks noGrp="1"/>
          </p:cNvSpPr>
          <p:nvPr>
            <p:ph idx="1"/>
          </p:nvPr>
        </p:nvSpPr>
        <p:spPr/>
        <p:txBody>
          <a:bodyPr/>
          <a:lstStyle/>
          <a:p>
            <a:r>
              <a:rPr lang="ru-RU" sz="1800" b="1" dirty="0" smtClean="0"/>
              <a:t>1958 год:</a:t>
            </a:r>
            <a:r>
              <a:rPr lang="ru-RU" sz="1800" dirty="0" smtClean="0"/>
              <a:t> Джек </a:t>
            </a:r>
            <a:r>
              <a:rPr lang="ru-RU" sz="1800" dirty="0" err="1" smtClean="0"/>
              <a:t>Килби</a:t>
            </a:r>
            <a:r>
              <a:rPr lang="ru-RU" sz="1800" dirty="0" smtClean="0"/>
              <a:t> из компании </a:t>
            </a:r>
            <a:r>
              <a:rPr lang="ru-RU" sz="1800" b="1" dirty="0" err="1" smtClean="0"/>
              <a:t>Texas</a:t>
            </a:r>
            <a:r>
              <a:rPr lang="ru-RU" sz="1800" b="1" dirty="0" smtClean="0"/>
              <a:t> </a:t>
            </a:r>
            <a:r>
              <a:rPr lang="ru-RU" sz="1800" b="1" dirty="0" err="1" smtClean="0"/>
              <a:t>Instruments</a:t>
            </a:r>
            <a:r>
              <a:rPr lang="ru-RU" sz="1800" dirty="0" smtClean="0"/>
              <a:t> создал первую в мире гибридную интегральную схему. Она была сделана из германия, а компоненты соединялись вручную тонкими проводками.</a:t>
            </a:r>
          </a:p>
          <a:p>
            <a:r>
              <a:rPr lang="ru-RU" sz="1800" b="1" dirty="0" smtClean="0"/>
              <a:t>1959 год:</a:t>
            </a:r>
            <a:r>
              <a:rPr lang="ru-RU" sz="1800" dirty="0" smtClean="0"/>
              <a:t> Роберт </a:t>
            </a:r>
            <a:r>
              <a:rPr lang="ru-RU" sz="1800" dirty="0" err="1" smtClean="0"/>
              <a:t>Нойс</a:t>
            </a:r>
            <a:r>
              <a:rPr lang="ru-RU" sz="1800" dirty="0" smtClean="0"/>
              <a:t> из </a:t>
            </a:r>
            <a:r>
              <a:rPr lang="ru-RU" sz="1800" b="1" dirty="0" err="1" smtClean="0"/>
              <a:t>Fairchild</a:t>
            </a:r>
            <a:r>
              <a:rPr lang="ru-RU" sz="1800" b="1" dirty="0" smtClean="0"/>
              <a:t> </a:t>
            </a:r>
            <a:r>
              <a:rPr lang="ru-RU" sz="1800" b="1" dirty="0" err="1" smtClean="0"/>
              <a:t>Semiconductor</a:t>
            </a:r>
            <a:r>
              <a:rPr lang="ru-RU" sz="1800" dirty="0" smtClean="0"/>
              <a:t> изобрел кремниевую монолитную интегральную схему. Он придумал использовать плоскую (планарную) технологию и алюминиевые дорожки для соединения компонентов прямо внутри кристалла. Именно </a:t>
            </a:r>
            <a:r>
              <a:rPr lang="ru-RU" sz="1800" dirty="0" err="1" smtClean="0"/>
              <a:t>Нойс</a:t>
            </a:r>
            <a:r>
              <a:rPr lang="ru-RU" sz="1800" dirty="0" smtClean="0"/>
              <a:t> считается отцом современной микросхемы.</a:t>
            </a:r>
          </a:p>
          <a:p>
            <a:r>
              <a:rPr lang="ru-RU" sz="1800" b="1" dirty="0" smtClean="0"/>
              <a:t>1965 год:</a:t>
            </a:r>
            <a:r>
              <a:rPr lang="ru-RU" sz="1800" dirty="0" smtClean="0"/>
              <a:t> Гордон </a:t>
            </a:r>
            <a:r>
              <a:rPr lang="ru-RU" sz="1800" dirty="0" err="1" smtClean="0"/>
              <a:t>Мур</a:t>
            </a:r>
            <a:r>
              <a:rPr lang="ru-RU" sz="1800" dirty="0" smtClean="0"/>
              <a:t> сформулировал знаменитый </a:t>
            </a:r>
            <a:r>
              <a:rPr lang="ru-RU" sz="1800" b="1" dirty="0" smtClean="0"/>
              <a:t>«Закон Мура»</a:t>
            </a:r>
            <a:r>
              <a:rPr lang="ru-RU" sz="1800" dirty="0" smtClean="0"/>
              <a:t>, согласно которому количество транзисторов на кристалле микросхемы удваивается каждые 24 месяца (позже скорректировано до 18-24 месяцев).</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20</a:t>
            </a:fld>
            <a:endParaRPr lang="ru-RU"/>
          </a:p>
        </p:txBody>
      </p:sp>
      <p:pic>
        <p:nvPicPr>
          <p:cNvPr id="5" name="slide_20.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2800" b="1" dirty="0" smtClean="0"/>
              <a:t>Основание </a:t>
            </a:r>
            <a:r>
              <a:rPr lang="ru-RU" sz="2800" b="1" dirty="0" err="1" smtClean="0"/>
              <a:t>Intel</a:t>
            </a:r>
            <a:r>
              <a:rPr lang="ru-RU" sz="2800" b="1" dirty="0" smtClean="0"/>
              <a:t> и первый микропроцессор (1968 — 1970-е)</a:t>
            </a:r>
            <a:r>
              <a:rPr lang="ru-RU" b="1" dirty="0" smtClean="0"/>
              <a:t/>
            </a:r>
            <a:br>
              <a:rPr lang="ru-RU" b="1" dirty="0" smtClean="0"/>
            </a:br>
            <a:endParaRPr lang="ru-RU" dirty="0"/>
          </a:p>
        </p:txBody>
      </p:sp>
      <p:sp>
        <p:nvSpPr>
          <p:cNvPr id="3" name="Содержимое 2"/>
          <p:cNvSpPr>
            <a:spLocks noGrp="1"/>
          </p:cNvSpPr>
          <p:nvPr>
            <p:ph idx="1"/>
          </p:nvPr>
        </p:nvSpPr>
        <p:spPr>
          <a:xfrm>
            <a:off x="395536" y="1052736"/>
            <a:ext cx="8280920" cy="5328592"/>
          </a:xfrm>
        </p:spPr>
        <p:txBody>
          <a:bodyPr/>
          <a:lstStyle/>
          <a:p>
            <a:r>
              <a:rPr lang="ru-RU" sz="1600" b="1" dirty="0" smtClean="0"/>
              <a:t>1968 </a:t>
            </a:r>
            <a:r>
              <a:rPr lang="ru-RU" sz="1600" b="1" dirty="0" smtClean="0"/>
              <a:t>год:</a:t>
            </a:r>
            <a:r>
              <a:rPr lang="ru-RU" sz="1600" dirty="0" smtClean="0"/>
              <a:t> Роберт </a:t>
            </a:r>
            <a:r>
              <a:rPr lang="ru-RU" sz="1600" dirty="0" err="1" smtClean="0"/>
              <a:t>Нойс</a:t>
            </a:r>
            <a:r>
              <a:rPr lang="ru-RU" sz="1600" dirty="0" smtClean="0"/>
              <a:t> и Гордон </a:t>
            </a:r>
            <a:r>
              <a:rPr lang="ru-RU" sz="1600" dirty="0" err="1" smtClean="0"/>
              <a:t>Мур</a:t>
            </a:r>
            <a:r>
              <a:rPr lang="ru-RU" sz="1600" dirty="0" smtClean="0"/>
              <a:t> уходят из </a:t>
            </a:r>
            <a:r>
              <a:rPr lang="ru-RU" sz="1600" dirty="0" err="1" smtClean="0"/>
              <a:t>Fairchild</a:t>
            </a:r>
            <a:r>
              <a:rPr lang="ru-RU" sz="1600" dirty="0" smtClean="0"/>
              <a:t> и основывают компанию </a:t>
            </a:r>
            <a:r>
              <a:rPr lang="ru-RU" sz="1600" b="1" dirty="0" err="1" smtClean="0"/>
              <a:t>Intel</a:t>
            </a:r>
            <a:r>
              <a:rPr lang="ru-RU" sz="1600" dirty="0" smtClean="0"/>
              <a:t> (сокращение от </a:t>
            </a:r>
            <a:r>
              <a:rPr lang="ru-RU" sz="1600" b="1" dirty="0" err="1" smtClean="0"/>
              <a:t>Int</a:t>
            </a:r>
            <a:r>
              <a:rPr lang="ru-RU" sz="1600" dirty="0" err="1" smtClean="0"/>
              <a:t>egrated</a:t>
            </a:r>
            <a:r>
              <a:rPr lang="ru-RU" sz="1600" dirty="0" smtClean="0"/>
              <a:t> </a:t>
            </a:r>
            <a:r>
              <a:rPr lang="ru-RU" sz="1600" b="1" dirty="0" err="1" smtClean="0"/>
              <a:t>el</a:t>
            </a:r>
            <a:r>
              <a:rPr lang="ru-RU" sz="1600" dirty="0" err="1" smtClean="0"/>
              <a:t>ectronics</a:t>
            </a:r>
            <a:r>
              <a:rPr lang="ru-RU" sz="1600" dirty="0" smtClean="0"/>
              <a:t>). Изначально компания планировала заниматься только микросхемами памяти.</a:t>
            </a:r>
          </a:p>
          <a:p>
            <a:r>
              <a:rPr lang="ru-RU" sz="1600" b="1" dirty="0" smtClean="0"/>
              <a:t>1971 год:</a:t>
            </a:r>
            <a:r>
              <a:rPr lang="ru-RU" sz="1600" dirty="0" smtClean="0"/>
              <a:t> По заказу японской компании </a:t>
            </a:r>
            <a:r>
              <a:rPr lang="ru-RU" sz="1600" dirty="0" err="1" smtClean="0"/>
              <a:t>Busicom</a:t>
            </a:r>
            <a:r>
              <a:rPr lang="ru-RU" sz="1600" dirty="0" smtClean="0"/>
              <a:t> для калькуляторов </a:t>
            </a:r>
            <a:r>
              <a:rPr lang="ru-RU" sz="1600" dirty="0" err="1" smtClean="0"/>
              <a:t>Intel</a:t>
            </a:r>
            <a:r>
              <a:rPr lang="ru-RU" sz="1600" dirty="0" smtClean="0"/>
              <a:t> создает </a:t>
            </a:r>
            <a:r>
              <a:rPr lang="ru-RU" sz="1600" b="1" dirty="0" err="1" smtClean="0"/>
              <a:t>Intel</a:t>
            </a:r>
            <a:r>
              <a:rPr lang="ru-RU" sz="1600" b="1" dirty="0" smtClean="0"/>
              <a:t> 4004</a:t>
            </a:r>
            <a:r>
              <a:rPr lang="ru-RU" sz="1600" dirty="0" smtClean="0"/>
              <a:t> — </a:t>
            </a:r>
            <a:r>
              <a:rPr lang="ru-RU" sz="1600" b="1" dirty="0" smtClean="0"/>
              <a:t>первый в мире коммерческий микропроцессор</a:t>
            </a:r>
            <a:r>
              <a:rPr lang="ru-RU" sz="1600" dirty="0" smtClean="0"/>
              <a:t>. Он объединил все функции центрального процессора на одном кристалле. Процессор содержал всего </a:t>
            </a:r>
            <a:r>
              <a:rPr lang="ru-RU" sz="1600" b="1" dirty="0" smtClean="0"/>
              <a:t>2300 транзисторов</a:t>
            </a:r>
            <a:r>
              <a:rPr lang="ru-RU" sz="1600" dirty="0" smtClean="0"/>
              <a:t>.</a:t>
            </a:r>
          </a:p>
          <a:p>
            <a:r>
              <a:rPr lang="ru-RU" sz="1600" b="1" dirty="0" smtClean="0"/>
              <a:t>1974 год:</a:t>
            </a:r>
            <a:r>
              <a:rPr lang="ru-RU" sz="1600" dirty="0" smtClean="0"/>
              <a:t> Выходит процессор </a:t>
            </a:r>
            <a:r>
              <a:rPr lang="ru-RU" sz="1600" b="1" dirty="0" err="1" smtClean="0"/>
              <a:t>Intel</a:t>
            </a:r>
            <a:r>
              <a:rPr lang="ru-RU" sz="1600" b="1" dirty="0" smtClean="0"/>
              <a:t> 8080</a:t>
            </a:r>
            <a:r>
              <a:rPr lang="ru-RU" sz="1600" dirty="0" smtClean="0"/>
              <a:t>, который стал сердцем первых персональных компьютеров (например, </a:t>
            </a:r>
            <a:r>
              <a:rPr lang="ru-RU" sz="1600" dirty="0" err="1" smtClean="0"/>
              <a:t>Altair</a:t>
            </a:r>
            <a:r>
              <a:rPr lang="ru-RU" sz="1600" dirty="0" smtClean="0"/>
              <a:t> 8800) и заложил основу для индустрии ПК.</a:t>
            </a:r>
          </a:p>
          <a:p>
            <a:r>
              <a:rPr lang="ru-RU" sz="1600" b="1" dirty="0" smtClean="0"/>
              <a:t>Эпоха </a:t>
            </a:r>
            <a:r>
              <a:rPr lang="ru-RU" sz="1600" b="1" dirty="0" smtClean="0"/>
              <a:t>x86 и доминирование </a:t>
            </a:r>
            <a:r>
              <a:rPr lang="ru-RU" sz="1600" b="1" dirty="0" err="1" smtClean="0"/>
              <a:t>Intel</a:t>
            </a:r>
            <a:r>
              <a:rPr lang="ru-RU" sz="1600" b="1" dirty="0" smtClean="0"/>
              <a:t> (1978 — 1990-е)</a:t>
            </a:r>
          </a:p>
          <a:p>
            <a:r>
              <a:rPr lang="ru-RU" sz="1600" b="1" dirty="0" smtClean="0"/>
              <a:t>1978 год:</a:t>
            </a:r>
            <a:r>
              <a:rPr lang="ru-RU" sz="1600" dirty="0" smtClean="0"/>
              <a:t> Выпущен 16-битный процессор </a:t>
            </a:r>
            <a:r>
              <a:rPr lang="ru-RU" sz="1600" b="1" dirty="0" err="1" smtClean="0"/>
              <a:t>Intel</a:t>
            </a:r>
            <a:r>
              <a:rPr lang="ru-RU" sz="1600" b="1" dirty="0" smtClean="0"/>
              <a:t> 8086</a:t>
            </a:r>
            <a:r>
              <a:rPr lang="ru-RU" sz="1600" dirty="0" smtClean="0"/>
              <a:t>. Именно его архитектура (</a:t>
            </a:r>
            <a:r>
              <a:rPr lang="ru-RU" sz="1600" b="1" dirty="0" smtClean="0"/>
              <a:t>x86</a:t>
            </a:r>
            <a:r>
              <a:rPr lang="ru-RU" sz="1600" dirty="0" smtClean="0"/>
              <a:t>) до сих пор используется в большинстве современных ПК и ноутбуков.</a:t>
            </a:r>
          </a:p>
          <a:p>
            <a:r>
              <a:rPr lang="ru-RU" sz="1600" b="1" dirty="0" smtClean="0"/>
              <a:t>1981 год:</a:t>
            </a:r>
            <a:r>
              <a:rPr lang="ru-RU" sz="1600" dirty="0" smtClean="0"/>
              <a:t> Компания IBM выбирает преемника 8086 (процессор </a:t>
            </a:r>
            <a:r>
              <a:rPr lang="ru-RU" sz="1600" dirty="0" err="1" smtClean="0"/>
              <a:t>Intel</a:t>
            </a:r>
            <a:r>
              <a:rPr lang="ru-RU" sz="1600" dirty="0" smtClean="0"/>
              <a:t> 8088) для своего первого массового компьютера </a:t>
            </a:r>
            <a:r>
              <a:rPr lang="ru-RU" sz="1600" b="1" dirty="0" smtClean="0"/>
              <a:t>IBM PC</a:t>
            </a:r>
            <a:r>
              <a:rPr lang="ru-RU" sz="1600" dirty="0" smtClean="0"/>
              <a:t>. Это превращает </a:t>
            </a:r>
            <a:r>
              <a:rPr lang="ru-RU" sz="1600" dirty="0" err="1" smtClean="0"/>
              <a:t>Intel</a:t>
            </a:r>
            <a:r>
              <a:rPr lang="ru-RU" sz="1600" dirty="0" smtClean="0"/>
              <a:t> в мирового лидера индустрии.</a:t>
            </a:r>
          </a:p>
          <a:p>
            <a:r>
              <a:rPr lang="ru-RU" sz="1600" b="1" dirty="0" smtClean="0"/>
              <a:t>1993 год:</a:t>
            </a:r>
            <a:r>
              <a:rPr lang="ru-RU" sz="1600" dirty="0" smtClean="0"/>
              <a:t> Появляется бренд </a:t>
            </a:r>
            <a:r>
              <a:rPr lang="ru-RU" sz="1600" b="1" dirty="0" err="1" smtClean="0"/>
              <a:t>Pentium</a:t>
            </a:r>
            <a:r>
              <a:rPr lang="ru-RU" sz="1600" dirty="0" smtClean="0"/>
              <a:t>. </a:t>
            </a:r>
            <a:r>
              <a:rPr lang="ru-RU" sz="1600" dirty="0" err="1" smtClean="0"/>
              <a:t>Intel</a:t>
            </a:r>
            <a:r>
              <a:rPr lang="ru-RU" sz="1600" dirty="0" smtClean="0"/>
              <a:t> переходит от номеров моделей к запоминающимся именам. Процессоры </a:t>
            </a:r>
            <a:r>
              <a:rPr lang="ru-RU" sz="1600" dirty="0" err="1" smtClean="0"/>
              <a:t>Pentium</a:t>
            </a:r>
            <a:r>
              <a:rPr lang="ru-RU" sz="1600" dirty="0" smtClean="0"/>
              <a:t> совершают революцию в мультимедиа и графике, а количество транзисторов перешагивает отметку в </a:t>
            </a:r>
            <a:r>
              <a:rPr lang="ru-RU" sz="1600" b="1" dirty="0" smtClean="0"/>
              <a:t>3 миллиона</a:t>
            </a:r>
            <a:r>
              <a:rPr lang="ru-RU" sz="1600" dirty="0" smtClean="0"/>
              <a:t>.</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21</a:t>
            </a:fld>
            <a:endParaRPr lang="ru-RU"/>
          </a:p>
        </p:txBody>
      </p:sp>
      <p:pic>
        <p:nvPicPr>
          <p:cNvPr id="5" name="slide_21.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200" b="1" dirty="0" smtClean="0"/>
              <a:t>Конкуренция и мобильная эра (2000-е </a:t>
            </a:r>
            <a:r>
              <a:rPr lang="en-US" sz="3200" b="1" dirty="0" smtClean="0"/>
              <a:t>-</a:t>
            </a:r>
            <a:r>
              <a:rPr lang="ru-RU" sz="3200" b="1" dirty="0" smtClean="0"/>
              <a:t> настоящее время</a:t>
            </a:r>
            <a:r>
              <a:rPr lang="ru-RU" sz="3200" b="1" dirty="0" smtClean="0"/>
              <a:t>)</a:t>
            </a:r>
            <a:endParaRPr lang="ru-RU" dirty="0"/>
          </a:p>
        </p:txBody>
      </p:sp>
      <p:sp>
        <p:nvSpPr>
          <p:cNvPr id="3" name="Содержимое 2"/>
          <p:cNvSpPr>
            <a:spLocks noGrp="1"/>
          </p:cNvSpPr>
          <p:nvPr>
            <p:ph idx="1"/>
          </p:nvPr>
        </p:nvSpPr>
        <p:spPr/>
        <p:txBody>
          <a:bodyPr/>
          <a:lstStyle/>
          <a:p>
            <a:r>
              <a:rPr lang="ru-RU" sz="2000" b="1" dirty="0" smtClean="0"/>
              <a:t>Борьба </a:t>
            </a:r>
            <a:r>
              <a:rPr lang="ru-RU" sz="2000" b="1" dirty="0" smtClean="0"/>
              <a:t>с AMD:</a:t>
            </a:r>
            <a:r>
              <a:rPr lang="ru-RU" sz="2000" dirty="0" smtClean="0"/>
              <a:t> Главным конкурентом </a:t>
            </a:r>
            <a:r>
              <a:rPr lang="ru-RU" sz="2000" dirty="0" err="1" smtClean="0"/>
              <a:t>Intel</a:t>
            </a:r>
            <a:r>
              <a:rPr lang="ru-RU" sz="2000" dirty="0" smtClean="0"/>
              <a:t> на рынке ПК становится компания </a:t>
            </a:r>
            <a:r>
              <a:rPr lang="ru-RU" sz="2000" b="1" dirty="0" smtClean="0"/>
              <a:t>AMD</a:t>
            </a:r>
            <a:r>
              <a:rPr lang="ru-RU" sz="2000" dirty="0" smtClean="0"/>
              <a:t>. В 2000-х годах AMD первой преодолевает барьер частоты в 1 ГГц и выпускает удачную 64-битную архитектуру, заставив </a:t>
            </a:r>
            <a:r>
              <a:rPr lang="ru-RU" sz="2000" dirty="0" err="1" smtClean="0"/>
              <a:t>Intel</a:t>
            </a:r>
            <a:r>
              <a:rPr lang="ru-RU" sz="2000" dirty="0" smtClean="0"/>
              <a:t> догонять.</a:t>
            </a:r>
          </a:p>
          <a:p>
            <a:r>
              <a:rPr lang="ru-RU" sz="2000" b="1" dirty="0" smtClean="0"/>
              <a:t>Эра </a:t>
            </a:r>
            <a:r>
              <a:rPr lang="ru-RU" sz="2000" b="1" dirty="0" err="1" smtClean="0"/>
              <a:t>Core</a:t>
            </a:r>
            <a:r>
              <a:rPr lang="ru-RU" sz="2000" b="1" dirty="0" smtClean="0"/>
              <a:t> и </a:t>
            </a:r>
            <a:r>
              <a:rPr lang="ru-RU" sz="2000" b="1" dirty="0" err="1" smtClean="0"/>
              <a:t>многоядерность</a:t>
            </a:r>
            <a:r>
              <a:rPr lang="ru-RU" sz="2000" b="1" dirty="0" smtClean="0"/>
              <a:t>:</a:t>
            </a:r>
            <a:r>
              <a:rPr lang="ru-RU" sz="2000" dirty="0" smtClean="0"/>
              <a:t> В 2006 году </a:t>
            </a:r>
            <a:r>
              <a:rPr lang="ru-RU" sz="2000" dirty="0" err="1" smtClean="0"/>
              <a:t>Intel</a:t>
            </a:r>
            <a:r>
              <a:rPr lang="ru-RU" sz="2000" dirty="0" smtClean="0"/>
              <a:t> запускает линейку </a:t>
            </a:r>
            <a:r>
              <a:rPr lang="ru-RU" sz="2000" b="1" dirty="0" err="1" smtClean="0"/>
              <a:t>Intel</a:t>
            </a:r>
            <a:r>
              <a:rPr lang="ru-RU" sz="2000" b="1" dirty="0" smtClean="0"/>
              <a:t> </a:t>
            </a:r>
            <a:r>
              <a:rPr lang="ru-RU" sz="2000" b="1" dirty="0" err="1" smtClean="0"/>
              <a:t>Core</a:t>
            </a:r>
            <a:r>
              <a:rPr lang="ru-RU" sz="2000" dirty="0" smtClean="0"/>
              <a:t> (i3, i5, i7), сделав ставку не на рост частоты, а на </a:t>
            </a:r>
            <a:r>
              <a:rPr lang="ru-RU" sz="2000" dirty="0" err="1" smtClean="0"/>
              <a:t>энергоэффективность</a:t>
            </a:r>
            <a:r>
              <a:rPr lang="ru-RU" sz="2000" dirty="0" smtClean="0"/>
              <a:t> и </a:t>
            </a:r>
            <a:r>
              <a:rPr lang="ru-RU" sz="2000" dirty="0" err="1" smtClean="0"/>
              <a:t>многоядерность</a:t>
            </a:r>
            <a:r>
              <a:rPr lang="ru-RU" sz="2000" dirty="0" smtClean="0"/>
              <a:t>.</a:t>
            </a:r>
          </a:p>
          <a:p>
            <a:r>
              <a:rPr lang="ru-RU" sz="2000" b="1" dirty="0" smtClean="0"/>
              <a:t>«Прочее» в индустрии:</a:t>
            </a:r>
            <a:r>
              <a:rPr lang="ru-RU" sz="2000" dirty="0" smtClean="0"/>
              <a:t> Пока </a:t>
            </a:r>
            <a:r>
              <a:rPr lang="ru-RU" sz="2000" dirty="0" err="1" smtClean="0"/>
              <a:t>Intel</a:t>
            </a:r>
            <a:r>
              <a:rPr lang="ru-RU" sz="2000" dirty="0" smtClean="0"/>
              <a:t> доминировала на рынке ПК, на рынке смартфонов и мобильных устройств победили процессоры на архитектуре </a:t>
            </a:r>
            <a:r>
              <a:rPr lang="ru-RU" sz="2000" b="1" dirty="0" smtClean="0"/>
              <a:t>ARM</a:t>
            </a:r>
            <a:r>
              <a:rPr lang="ru-RU" sz="2000" dirty="0" smtClean="0"/>
              <a:t> (их производят TSMC, </a:t>
            </a:r>
            <a:r>
              <a:rPr lang="ru-RU" sz="2000" dirty="0" err="1" smtClean="0"/>
              <a:t>Apple</a:t>
            </a:r>
            <a:r>
              <a:rPr lang="ru-RU" sz="2000" dirty="0" smtClean="0"/>
              <a:t>, </a:t>
            </a:r>
            <a:r>
              <a:rPr lang="ru-RU" sz="2000" dirty="0" err="1" smtClean="0"/>
              <a:t>Samsung</a:t>
            </a:r>
            <a:r>
              <a:rPr lang="ru-RU" sz="2000" dirty="0" smtClean="0"/>
              <a:t>, </a:t>
            </a:r>
            <a:r>
              <a:rPr lang="ru-RU" sz="2000" dirty="0" err="1" smtClean="0"/>
              <a:t>Qualcomm</a:t>
            </a:r>
            <a:r>
              <a:rPr lang="ru-RU" sz="2000" dirty="0" smtClean="0"/>
              <a:t>). Они потребляют гораздо меньше энергии.</a:t>
            </a:r>
          </a:p>
          <a:p>
            <a:endParaRPr lang="ru-RU"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22</a:t>
            </a:fld>
            <a:endParaRPr lang="ru-RU"/>
          </a:p>
        </p:txBody>
      </p:sp>
      <p:pic>
        <p:nvPicPr>
          <p:cNvPr id="5" name="slide_22.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4860032" cy="1417638"/>
          </a:xfrm>
        </p:spPr>
        <p:txBody>
          <a:bodyPr/>
          <a:lstStyle/>
          <a:p>
            <a:r>
              <a:rPr lang="ru-RU" sz="1800" dirty="0" smtClean="0"/>
              <a:t>Аналог </a:t>
            </a:r>
            <a:r>
              <a:rPr lang="en-US" sz="1800" dirty="0" smtClean="0"/>
              <a:t>Intel x86 (1978-1990</a:t>
            </a:r>
            <a:r>
              <a:rPr lang="ru-RU" sz="1800" dirty="0" smtClean="0"/>
              <a:t>, 4-16 МГц</a:t>
            </a:r>
            <a:r>
              <a:rPr lang="en-US" sz="1800" dirty="0" smtClean="0"/>
              <a:t>) К1810ВМ86 (2-5 </a:t>
            </a:r>
            <a:r>
              <a:rPr lang="ru-RU" sz="1800" dirty="0" smtClean="0"/>
              <a:t>МГц</a:t>
            </a:r>
            <a:r>
              <a:rPr lang="en-US" sz="1800" dirty="0" smtClean="0"/>
              <a:t>)</a:t>
            </a:r>
            <a:endParaRPr lang="ru-RU" sz="1800" dirty="0"/>
          </a:p>
        </p:txBody>
      </p:sp>
      <p:sp>
        <p:nvSpPr>
          <p:cNvPr id="3" name="Содержимое 2"/>
          <p:cNvSpPr>
            <a:spLocks noGrp="1"/>
          </p:cNvSpPr>
          <p:nvPr>
            <p:ph idx="1"/>
          </p:nvPr>
        </p:nvSpPr>
        <p:spPr>
          <a:xfrm>
            <a:off x="0" y="1484784"/>
            <a:ext cx="8964488" cy="4997152"/>
          </a:xfrm>
        </p:spPr>
        <p:txBody>
          <a:bodyPr/>
          <a:lstStyle/>
          <a:p>
            <a:r>
              <a:rPr lang="ru-RU" sz="1800" dirty="0" smtClean="0"/>
              <a:t>Микропроцессорный комплект </a:t>
            </a:r>
            <a:r>
              <a:rPr lang="ru-RU" sz="1800" dirty="0" err="1" smtClean="0"/>
              <a:t>cерии</a:t>
            </a:r>
            <a:r>
              <a:rPr lang="ru-RU" sz="1800" dirty="0" smtClean="0"/>
              <a:t> К1810 — набор микросхем, аналогичных набору микросхем для процессора </a:t>
            </a:r>
            <a:r>
              <a:rPr lang="ru-RU" sz="1800" dirty="0" err="1" smtClean="0"/>
              <a:t>Intel</a:t>
            </a:r>
            <a:r>
              <a:rPr lang="ru-RU" sz="1800" dirty="0" smtClean="0"/>
              <a:t> 8086, дальнейшее развитие микропроцессорного комплекта К580. Использовался в отечественных IBM PC-совместимых компьютерах, таких как ЕС ПЭВМ, Нейрон И9.66, Искра-1030, Поиск, </a:t>
            </a:r>
            <a:r>
              <a:rPr lang="ru-RU" sz="1800" dirty="0" err="1" smtClean="0"/>
              <a:t>Агат-П</a:t>
            </a:r>
            <a:r>
              <a:rPr lang="ru-RU" sz="1800" dirty="0" smtClean="0"/>
              <a:t>. Разрядность 16 бит, </a:t>
            </a:r>
            <a:r>
              <a:rPr lang="ru-RU" sz="1800" dirty="0" err="1" smtClean="0"/>
              <a:t>n-МОП</a:t>
            </a:r>
            <a:r>
              <a:rPr lang="ru-RU" sz="1800" dirty="0" smtClean="0"/>
              <a:t> технология, напряжение источника питания 5 В. Система команд совместима с MCS-86.</a:t>
            </a:r>
          </a:p>
          <a:p>
            <a:r>
              <a:rPr lang="ru-RU" sz="1800" dirty="0" smtClean="0"/>
              <a:t>БИС этого микропроцессорного комплекта полностью совместимы по электрическим и техническим параметрам с БИС К580, а также программно снизу вверх на уровне ассемблера.</a:t>
            </a:r>
          </a:p>
          <a:p>
            <a:r>
              <a:rPr lang="ru-RU" sz="1800" dirty="0" smtClean="0"/>
              <a:t>БЭСМ–6 240 </a:t>
            </a:r>
            <a:r>
              <a:rPr lang="ru-RU" sz="1800" dirty="0" err="1" smtClean="0"/>
              <a:t>тыс</a:t>
            </a:r>
            <a:r>
              <a:rPr lang="ru-RU" sz="1800" dirty="0" smtClean="0"/>
              <a:t> полупроводников (60 </a:t>
            </a:r>
            <a:r>
              <a:rPr lang="ru-RU" sz="1800" dirty="0" err="1" smtClean="0"/>
              <a:t>тыс</a:t>
            </a:r>
            <a:r>
              <a:rPr lang="ru-RU" sz="1800" dirty="0" smtClean="0"/>
              <a:t> транзисторов) (1 </a:t>
            </a:r>
            <a:r>
              <a:rPr lang="ru-RU" sz="1800" dirty="0" err="1" smtClean="0"/>
              <a:t>млн</a:t>
            </a:r>
            <a:r>
              <a:rPr lang="ru-RU" sz="1800" dirty="0" smtClean="0"/>
              <a:t> оп</a:t>
            </a:r>
            <a:r>
              <a:rPr lang="en-US" sz="1800" dirty="0" smtClean="0"/>
              <a:t>/c) 9</a:t>
            </a:r>
            <a:r>
              <a:rPr lang="ru-RU" sz="1800" dirty="0" err="1" smtClean="0"/>
              <a:t>Мгц</a:t>
            </a:r>
            <a:r>
              <a:rPr lang="ru-RU" sz="1800" dirty="0" smtClean="0"/>
              <a:t> 48 битное слово, кэш 16 слов, 225 м</a:t>
            </a:r>
            <a:r>
              <a:rPr lang="ru-RU" sz="1800" baseline="30000" dirty="0" smtClean="0"/>
              <a:t>2</a:t>
            </a:r>
            <a:r>
              <a:rPr lang="ru-RU" sz="1800" dirty="0" smtClean="0"/>
              <a:t>)</a:t>
            </a:r>
          </a:p>
          <a:p>
            <a:r>
              <a:rPr lang="en-US" sz="1800" dirty="0" smtClean="0"/>
              <a:t>Intel 8086 – 29 </a:t>
            </a:r>
            <a:r>
              <a:rPr lang="ru-RU" sz="1800" dirty="0" err="1" smtClean="0"/>
              <a:t>тыс</a:t>
            </a:r>
            <a:r>
              <a:rPr lang="ru-RU" sz="1800" dirty="0" smtClean="0"/>
              <a:t> транзисторов, 330-750 тыс. операций в сек. </a:t>
            </a:r>
            <a:endParaRPr lang="ru-RU" sz="1800" dirty="0"/>
          </a:p>
        </p:txBody>
      </p:sp>
      <p:pic>
        <p:nvPicPr>
          <p:cNvPr id="4" name="Рисунок 3"/>
          <p:cNvPicPr/>
          <p:nvPr/>
        </p:nvPicPr>
        <p:blipFill>
          <a:blip r:embed="rId2" cstate="print"/>
          <a:srcRect/>
          <a:stretch>
            <a:fillRect/>
          </a:stretch>
        </p:blipFill>
        <p:spPr bwMode="auto">
          <a:xfrm>
            <a:off x="5148064" y="0"/>
            <a:ext cx="3744416" cy="1412776"/>
          </a:xfrm>
          <a:prstGeom prst="rect">
            <a:avLst/>
          </a:prstGeom>
          <a:noFill/>
          <a:ln w="9525">
            <a:noFill/>
            <a:miter lim="800000"/>
            <a:headEnd/>
            <a:tailEnd/>
          </a:ln>
        </p:spPr>
      </p:pic>
      <p:pic>
        <p:nvPicPr>
          <p:cNvPr id="5" name="Рисунок 4"/>
          <p:cNvPicPr/>
          <p:nvPr/>
        </p:nvPicPr>
        <p:blipFill>
          <a:blip r:embed="rId3" cstate="print"/>
          <a:srcRect/>
          <a:stretch>
            <a:fillRect/>
          </a:stretch>
        </p:blipFill>
        <p:spPr bwMode="auto">
          <a:xfrm>
            <a:off x="4860032" y="5229200"/>
            <a:ext cx="4283968" cy="1440160"/>
          </a:xfrm>
          <a:prstGeom prst="rect">
            <a:avLst/>
          </a:prstGeom>
          <a:noFill/>
          <a:ln w="9525">
            <a:noFill/>
            <a:miter lim="800000"/>
            <a:headEnd/>
            <a:tailEnd/>
          </a:ln>
        </p:spPr>
      </p:pic>
      <p:pic>
        <p:nvPicPr>
          <p:cNvPr id="7" name="Рисунок 6"/>
          <p:cNvPicPr/>
          <p:nvPr/>
        </p:nvPicPr>
        <p:blipFill>
          <a:blip r:embed="rId4" cstate="print"/>
          <a:srcRect t="15069" b="16438"/>
          <a:stretch>
            <a:fillRect/>
          </a:stretch>
        </p:blipFill>
        <p:spPr bwMode="auto">
          <a:xfrm>
            <a:off x="323528" y="5013176"/>
            <a:ext cx="4248472" cy="1844824"/>
          </a:xfrm>
          <a:prstGeom prst="rect">
            <a:avLst/>
          </a:prstGeom>
          <a:noFill/>
          <a:ln w="9525">
            <a:noFill/>
            <a:miter lim="800000"/>
            <a:headEnd/>
            <a:tailEnd/>
          </a:ln>
        </p:spPr>
      </p:pic>
      <p:sp>
        <p:nvSpPr>
          <p:cNvPr id="8" name="Номер слайда 7"/>
          <p:cNvSpPr>
            <a:spLocks noGrp="1"/>
          </p:cNvSpPr>
          <p:nvPr>
            <p:ph type="sldNum" sz="quarter" idx="12"/>
          </p:nvPr>
        </p:nvSpPr>
        <p:spPr/>
        <p:txBody>
          <a:bodyPr/>
          <a:lstStyle/>
          <a:p>
            <a:fld id="{4563337D-4521-475E-A86D-AB608776E4E4}" type="slidenum">
              <a:rPr lang="ru-RU" smtClean="0"/>
              <a:pPr/>
              <a:t>23</a:t>
            </a:fld>
            <a:endParaRPr lang="ru-RU"/>
          </a:p>
        </p:txBody>
      </p:sp>
      <p:pic>
        <p:nvPicPr>
          <p:cNvPr id="9" name="slide_23.mp3">
            <a:hlinkClick r:id="" action="ppaction://media"/>
          </p:cNvPr>
          <p:cNvPicPr>
            <a:picLocks noChangeAspect="1"/>
          </p:cNvPicPr>
          <p:nvPr>
            <a:audioFile r:link="rId7"/>
            <p:extLst>
              <p:ext uri="{DAA4B4D4-6D71-4841-9C94-3DE7FCFB9230}">
                <p14:media xmlns:p14="http://schemas.microsoft.com/office/powerpoint/2010/main" r:embed="rId6"/>
              </p:ext>
            </p:extLst>
          </p:nvPr>
        </p:nvPicPr>
        <p:blipFill>
          <a:blip r:embed="rId8"/>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Отечественные архитектуры</a:t>
            </a:r>
            <a:endParaRPr lang="ru-RU" dirty="0"/>
          </a:p>
        </p:txBody>
      </p:sp>
      <p:sp>
        <p:nvSpPr>
          <p:cNvPr id="3" name="Содержимое 2"/>
          <p:cNvSpPr>
            <a:spLocks noGrp="1"/>
          </p:cNvSpPr>
          <p:nvPr>
            <p:ph idx="1"/>
          </p:nvPr>
        </p:nvSpPr>
        <p:spPr/>
        <p:txBody>
          <a:bodyPr/>
          <a:lstStyle/>
          <a:p>
            <a:r>
              <a:rPr lang="ru-RU" sz="1800" dirty="0" smtClean="0"/>
              <a:t>Сегодня </a:t>
            </a:r>
            <a:r>
              <a:rPr lang="ru-RU" sz="1800" dirty="0" smtClean="0"/>
              <a:t>российские компании не копируют </a:t>
            </a:r>
            <a:r>
              <a:rPr lang="ru-RU" sz="1800" dirty="0" err="1" smtClean="0"/>
              <a:t>Intel</a:t>
            </a:r>
            <a:r>
              <a:rPr lang="ru-RU" sz="1800" dirty="0" smtClean="0"/>
              <a:t>, а проектируют свои процессоры, используя две основные </a:t>
            </a:r>
            <a:r>
              <a:rPr lang="ru-RU" sz="1800" dirty="0" err="1" smtClean="0"/>
              <a:t>бизнес-модели</a:t>
            </a:r>
            <a:r>
              <a:rPr lang="ru-RU" sz="1800" dirty="0" smtClean="0"/>
              <a:t>: создание уникальной отечественной архитектуры или лицензирование зарубежных ядер (ARM и RISC-V). </a:t>
            </a:r>
          </a:p>
          <a:p>
            <a:r>
              <a:rPr lang="ru-RU" sz="1800" dirty="0" smtClean="0"/>
              <a:t>Главные российские линейки процессоров:</a:t>
            </a:r>
          </a:p>
          <a:p>
            <a:r>
              <a:rPr lang="ru-RU" sz="1800" b="1" dirty="0" smtClean="0"/>
              <a:t>Семейство </a:t>
            </a:r>
            <a:r>
              <a:rPr lang="ru-RU" sz="1800" b="1" dirty="0" smtClean="0"/>
              <a:t>«Эльбрус» (разработчик МЦСТ)</a:t>
            </a:r>
          </a:p>
          <a:p>
            <a:r>
              <a:rPr lang="ru-RU" sz="1800" b="1" dirty="0" smtClean="0"/>
              <a:t>Особенность:</a:t>
            </a:r>
            <a:r>
              <a:rPr lang="ru-RU" sz="1800" dirty="0" smtClean="0"/>
              <a:t> Созданы на базе полностью оригинальной отечественной архитектуры </a:t>
            </a:r>
            <a:r>
              <a:rPr lang="ru-RU" sz="1800" b="1" dirty="0" smtClean="0"/>
              <a:t>VLIW</a:t>
            </a:r>
            <a:r>
              <a:rPr lang="ru-RU" sz="1800" dirty="0" smtClean="0"/>
              <a:t> (запуск нескольких инструкций за один такт).</a:t>
            </a:r>
          </a:p>
          <a:p>
            <a:r>
              <a:rPr lang="ru-RU" sz="1800" b="1" dirty="0" smtClean="0"/>
              <a:t>Специфика:</a:t>
            </a:r>
            <a:r>
              <a:rPr lang="ru-RU" sz="1800" dirty="0" smtClean="0"/>
              <a:t> Они аппаратно не совместимы с кодом x86 (</a:t>
            </a:r>
            <a:r>
              <a:rPr lang="ru-RU" sz="1800" dirty="0" err="1" smtClean="0"/>
              <a:t>Intel</a:t>
            </a:r>
            <a:r>
              <a:rPr lang="ru-RU" sz="1800" dirty="0" smtClean="0"/>
              <a:t>/AMD), но используют специальную программную эмуляцию, позволяющую запускать </a:t>
            </a:r>
            <a:r>
              <a:rPr lang="ru-RU" sz="1800" dirty="0" err="1" smtClean="0"/>
              <a:t>Windows</a:t>
            </a:r>
            <a:r>
              <a:rPr lang="ru-RU" sz="1800" dirty="0" smtClean="0"/>
              <a:t> и привычные программы, хотя изначально рассчитаны на работу под управлением ОС «Эльбрус» (на базе </a:t>
            </a:r>
            <a:r>
              <a:rPr lang="ru-RU" sz="1800" dirty="0" err="1" smtClean="0"/>
              <a:t>Linux</a:t>
            </a:r>
            <a:r>
              <a:rPr lang="ru-RU" sz="1800" dirty="0" smtClean="0"/>
              <a:t>).</a:t>
            </a:r>
          </a:p>
          <a:p>
            <a:r>
              <a:rPr lang="ru-RU" sz="1800" b="1" dirty="0" smtClean="0"/>
              <a:t>Применение:</a:t>
            </a:r>
            <a:r>
              <a:rPr lang="ru-RU" sz="1800" dirty="0" smtClean="0"/>
              <a:t> Мощные серверы, защищенные рабочие станции для госсектора, силовых ведомств и критической инфраструктуры, где важна аппаратная безопасность</a:t>
            </a:r>
          </a:p>
          <a:p>
            <a:endParaRPr lang="ru-RU" sz="18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24</a:t>
            </a:fld>
            <a:endParaRPr lang="ru-RU"/>
          </a:p>
        </p:txBody>
      </p:sp>
      <p:pic>
        <p:nvPicPr>
          <p:cNvPr id="5" name="slide_24.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39552" y="404664"/>
            <a:ext cx="8280920" cy="6048672"/>
          </a:xfrm>
        </p:spPr>
        <p:txBody>
          <a:bodyPr/>
          <a:lstStyle/>
          <a:p>
            <a:r>
              <a:rPr lang="ru-RU" sz="1800" b="1" dirty="0" smtClean="0"/>
              <a:t>Семейство «Байкал» (разработчик «Байкал </a:t>
            </a:r>
            <a:r>
              <a:rPr lang="ru-RU" sz="1800" b="1" dirty="0" err="1" smtClean="0"/>
              <a:t>Электроникс</a:t>
            </a:r>
            <a:r>
              <a:rPr lang="ru-RU" sz="1800" b="1" dirty="0" smtClean="0"/>
              <a:t>»)</a:t>
            </a:r>
          </a:p>
          <a:p>
            <a:r>
              <a:rPr lang="ru-RU" sz="1800" b="1" dirty="0" smtClean="0"/>
              <a:t>Особенность:</a:t>
            </a:r>
            <a:r>
              <a:rPr lang="ru-RU" sz="1800" dirty="0" smtClean="0"/>
              <a:t> Построены на базе открытых или лицензируемых мировых архитектур — </a:t>
            </a:r>
            <a:r>
              <a:rPr lang="ru-RU" sz="1800" b="1" dirty="0" smtClean="0"/>
              <a:t>ARM</a:t>
            </a:r>
            <a:r>
              <a:rPr lang="ru-RU" sz="1800" dirty="0" smtClean="0"/>
              <a:t> и </a:t>
            </a:r>
            <a:r>
              <a:rPr lang="ru-RU" sz="1800" b="1" dirty="0" smtClean="0"/>
              <a:t>MIPS</a:t>
            </a:r>
            <a:r>
              <a:rPr lang="ru-RU" sz="1800" dirty="0" smtClean="0"/>
              <a:t> (а в новых контроллерах — </a:t>
            </a:r>
            <a:r>
              <a:rPr lang="ru-RU" sz="1800" b="1" dirty="0" smtClean="0"/>
              <a:t>RISC-V</a:t>
            </a:r>
            <a:r>
              <a:rPr lang="ru-RU" sz="1800" dirty="0" smtClean="0"/>
              <a:t>). </a:t>
            </a:r>
            <a:r>
              <a:rPr lang="ru-RU" sz="1800" b="1" dirty="0" smtClean="0"/>
              <a:t>Линейка</a:t>
            </a:r>
            <a:r>
              <a:rPr lang="ru-RU" sz="1800" b="1" dirty="0" smtClean="0"/>
              <a:t>:</a:t>
            </a:r>
            <a:endParaRPr lang="ru-RU" sz="1800" dirty="0" smtClean="0"/>
          </a:p>
          <a:p>
            <a:pPr lvl="1"/>
            <a:r>
              <a:rPr lang="ru-RU" sz="1800" i="1" dirty="0" err="1" smtClean="0"/>
              <a:t>Baikal-M</a:t>
            </a:r>
            <a:r>
              <a:rPr lang="ru-RU" sz="1800" i="1" dirty="0" smtClean="0"/>
              <a:t>:</a:t>
            </a:r>
            <a:r>
              <a:rPr lang="ru-RU" sz="1800" dirty="0" smtClean="0"/>
              <a:t> </a:t>
            </a:r>
            <a:r>
              <a:rPr lang="ru-RU" sz="1800" dirty="0" err="1" smtClean="0"/>
              <a:t>Энергоэффективный</a:t>
            </a:r>
            <a:r>
              <a:rPr lang="ru-RU" sz="1800" dirty="0" smtClean="0"/>
              <a:t> чип для офисных ПК, моноблоков и тонких клиентов (по производительности сравним с базовыми </a:t>
            </a:r>
            <a:r>
              <a:rPr lang="ru-RU" sz="1800" dirty="0" err="1" smtClean="0"/>
              <a:t>Intel</a:t>
            </a:r>
            <a:r>
              <a:rPr lang="ru-RU" sz="1800" dirty="0" smtClean="0"/>
              <a:t> </a:t>
            </a:r>
            <a:r>
              <a:rPr lang="ru-RU" sz="1800" dirty="0" err="1" smtClean="0"/>
              <a:t>Core</a:t>
            </a:r>
            <a:r>
              <a:rPr lang="ru-RU" sz="1800" dirty="0" smtClean="0"/>
              <a:t> i3 / </a:t>
            </a:r>
            <a:r>
              <a:rPr lang="ru-RU" sz="1800" dirty="0" err="1" smtClean="0"/>
              <a:t>Atom</a:t>
            </a:r>
            <a:r>
              <a:rPr lang="ru-RU" sz="1800" dirty="0" smtClean="0"/>
              <a:t> прошлых поколений).</a:t>
            </a:r>
          </a:p>
          <a:p>
            <a:pPr lvl="1"/>
            <a:r>
              <a:rPr lang="ru-RU" sz="1800" i="1" dirty="0" err="1" smtClean="0"/>
              <a:t>Baikal-S</a:t>
            </a:r>
            <a:r>
              <a:rPr lang="ru-RU" sz="1800" i="1" dirty="0" smtClean="0"/>
              <a:t>:</a:t>
            </a:r>
            <a:r>
              <a:rPr lang="ru-RU" sz="1800" dirty="0" smtClean="0"/>
              <a:t> Серверный процессор (до 48 ядер) для </a:t>
            </a:r>
            <a:r>
              <a:rPr lang="ru-RU" sz="1800" dirty="0" err="1" smtClean="0"/>
              <a:t>дата-центров</a:t>
            </a:r>
            <a:r>
              <a:rPr lang="ru-RU" sz="1800" dirty="0" smtClean="0"/>
              <a:t> и облачных вычислений.</a:t>
            </a:r>
          </a:p>
          <a:p>
            <a:r>
              <a:rPr lang="ru-RU" sz="1800" b="1" dirty="0" smtClean="0"/>
              <a:t>Применение</a:t>
            </a:r>
            <a:r>
              <a:rPr lang="ru-RU" sz="1800" b="1" dirty="0" smtClean="0"/>
              <a:t>:</a:t>
            </a:r>
            <a:r>
              <a:rPr lang="ru-RU" sz="1800" dirty="0" smtClean="0"/>
              <a:t> Корпоративные ПК, ноутбуки (например, брендов </a:t>
            </a:r>
            <a:r>
              <a:rPr lang="ru-RU" sz="1800" dirty="0" err="1" smtClean="0"/>
              <a:t>Aquarius</a:t>
            </a:r>
            <a:r>
              <a:rPr lang="ru-RU" sz="1800" dirty="0" smtClean="0"/>
              <a:t>, </a:t>
            </a:r>
            <a:r>
              <a:rPr lang="ru-RU" sz="1800" dirty="0" err="1" smtClean="0"/>
              <a:t>Depo</a:t>
            </a:r>
            <a:r>
              <a:rPr lang="ru-RU" sz="1800" dirty="0" smtClean="0"/>
              <a:t>) и серверные стойки. </a:t>
            </a:r>
          </a:p>
          <a:p>
            <a:r>
              <a:rPr lang="ru-RU" sz="1800" b="1" dirty="0" smtClean="0"/>
              <a:t>В. Другие </a:t>
            </a:r>
            <a:r>
              <a:rPr lang="ru-RU" sz="1800" b="1" dirty="0" err="1" smtClean="0"/>
              <a:t>нишевые</a:t>
            </a:r>
            <a:r>
              <a:rPr lang="ru-RU" sz="1800" b="1" dirty="0" smtClean="0"/>
              <a:t> процессоры</a:t>
            </a:r>
          </a:p>
          <a:p>
            <a:r>
              <a:rPr lang="ru-RU" sz="1800" b="1" dirty="0" smtClean="0"/>
              <a:t>«Комдив» (НИИСИ РАН):</a:t>
            </a:r>
            <a:r>
              <a:rPr lang="ru-RU" sz="1800" dirty="0" smtClean="0"/>
              <a:t> Процессоры на архитектуре MIPS. Используются в оборонной промышленности, космосе и </a:t>
            </a:r>
            <a:r>
              <a:rPr lang="ru-RU" sz="1800" dirty="0" err="1" smtClean="0"/>
              <a:t>спецвычислителях</a:t>
            </a:r>
            <a:r>
              <a:rPr lang="ru-RU" sz="1800" dirty="0" smtClean="0"/>
              <a:t>.</a:t>
            </a:r>
          </a:p>
          <a:p>
            <a:r>
              <a:rPr lang="ru-RU" sz="1800" b="1" dirty="0" smtClean="0"/>
              <a:t>«Скиф» / «</a:t>
            </a:r>
            <a:r>
              <a:rPr lang="ru-RU" sz="1800" b="1" dirty="0" err="1" smtClean="0"/>
              <a:t>Гиперком</a:t>
            </a:r>
            <a:r>
              <a:rPr lang="ru-RU" sz="1800" b="1" dirty="0" smtClean="0"/>
              <a:t>» (НПЦ «Элвис»):</a:t>
            </a:r>
            <a:r>
              <a:rPr lang="ru-RU" sz="1800" dirty="0" smtClean="0"/>
              <a:t> Мобильные многоядерные процессоры для планшетов, систем связи и «умных» камер.</a:t>
            </a:r>
          </a:p>
          <a:p>
            <a:endParaRPr lang="ru-RU" sz="1800" dirty="0"/>
          </a:p>
        </p:txBody>
      </p:sp>
      <p:sp>
        <p:nvSpPr>
          <p:cNvPr id="4" name="Номер слайда 3"/>
          <p:cNvSpPr>
            <a:spLocks noGrp="1"/>
          </p:cNvSpPr>
          <p:nvPr>
            <p:ph type="sldNum" sz="quarter" idx="12"/>
          </p:nvPr>
        </p:nvSpPr>
        <p:spPr/>
        <p:txBody>
          <a:bodyPr/>
          <a:lstStyle/>
          <a:p>
            <a:fld id="{4563337D-4521-475E-A86D-AB608776E4E4}" type="slidenum">
              <a:rPr lang="ru-RU" smtClean="0"/>
              <a:pPr/>
              <a:t>25</a:t>
            </a:fld>
            <a:endParaRPr lang="ru-RU"/>
          </a:p>
        </p:txBody>
      </p:sp>
      <p:pic>
        <p:nvPicPr>
          <p:cNvPr id="5" name="slide_25.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502" name="Group 166"/>
          <p:cNvGraphicFramePr>
            <a:graphicFrameLocks noGrp="1"/>
          </p:cNvGraphicFramePr>
          <p:nvPr/>
        </p:nvGraphicFramePr>
        <p:xfrm>
          <a:off x="0" y="188913"/>
          <a:ext cx="9144000" cy="6248400"/>
        </p:xfrm>
        <a:graphic>
          <a:graphicData uri="http://schemas.openxmlformats.org/drawingml/2006/table">
            <a:tbl>
              <a:tblPr/>
              <a:tblGrid>
                <a:gridCol w="1670050"/>
                <a:gridCol w="1808163"/>
                <a:gridCol w="2016125"/>
                <a:gridCol w="1698625"/>
                <a:gridCol w="1951037"/>
              </a:tblGrid>
              <a:tr h="146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a:t>
                      </a: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Поколение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2</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3</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4</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49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Период, годы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1946 -1960</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1955-1970</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1965-1980</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1980-наст. вр.</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8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Элементная база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Вакуумные электронные лампы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Полупроводниковые диоды и транзисторы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Интегральные схемы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Сверхбольшие интегральные схемы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3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Архитектура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Архитектура фон Неймана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Мультипрограммный режим</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Локальные сети ЭВМ, вычислительные системы коллективного пользования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Многопроцессорные системы, персональные компьютеры, глобальные сети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36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Быстродействие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10 – 20 тыс. оп/с</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100-500 тыс. оп/с</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Порядка 1 млн. оп/с</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Десятки и сотни млн. оп/с</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143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Программное обеспечение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Машинные языки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Операционные системы, трансляторы с алгоритмических языков </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Операционные системы, диалоговые системы, системы машинной графики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Пакеты прикладных программ, базы данных и знаний, браузеры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381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Внешние устройства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Устройства ввода с перфолент и перфокарт, </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АЦПУ, телетайпы, НМЛ, НМБ</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Видеотерминалы, НЖМД</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НГМД, модемы, сканеры, лазерные принтеры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Номер слайда 2"/>
          <p:cNvSpPr>
            <a:spLocks noGrp="1"/>
          </p:cNvSpPr>
          <p:nvPr>
            <p:ph type="sldNum" sz="quarter" idx="12"/>
          </p:nvPr>
        </p:nvSpPr>
        <p:spPr/>
        <p:txBody>
          <a:bodyPr/>
          <a:lstStyle/>
          <a:p>
            <a:fld id="{56397C59-5629-4460-9A54-A1015B2EDC30}" type="slidenum">
              <a:rPr lang="ru-RU" smtClean="0"/>
              <a:pPr/>
              <a:t>26</a:t>
            </a:fld>
            <a:endParaRPr lang="ru-RU"/>
          </a:p>
        </p:txBody>
      </p:sp>
      <p:pic>
        <p:nvPicPr>
          <p:cNvPr id="14503" name="slide_26.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503"/>
                                        </p:tgtEl>
                                      </p:cBhvr>
                                    </p:cmd>
                                  </p:childTnLst>
                                </p:cTn>
                              </p:par>
                            </p:childTnLst>
                          </p:cTn>
                        </p:par>
                      </p:childTnLst>
                    </p:cTn>
                  </p:par>
                </p:childTnLst>
              </p:cTn>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528" name="Group 168"/>
          <p:cNvGraphicFramePr>
            <a:graphicFrameLocks noGrp="1"/>
          </p:cNvGraphicFramePr>
          <p:nvPr/>
        </p:nvGraphicFramePr>
        <p:xfrm>
          <a:off x="0" y="0"/>
          <a:ext cx="9144000" cy="6736080"/>
        </p:xfrm>
        <a:graphic>
          <a:graphicData uri="http://schemas.openxmlformats.org/drawingml/2006/table">
            <a:tbl>
              <a:tblPr/>
              <a:tblGrid>
                <a:gridCol w="1600200"/>
                <a:gridCol w="1878013"/>
                <a:gridCol w="2016125"/>
                <a:gridCol w="1698625"/>
                <a:gridCol w="1951037"/>
              </a:tblGrid>
              <a:tr h="571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Применение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Расчетные задачи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Инженерные, научные, экономические задачи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АСУ, САПР, научно-технические задачи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Задачи управления, телекоммуникации, создание АРМ, обработка текстов, мультимедиа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cap="flat">
                      <a:noFill/>
                    </a:lnT>
                    <a:lnB w="12700" cap="flat" cmpd="sng" algn="ctr">
                      <a:solidFill>
                        <a:srgbClr val="000000"/>
                      </a:solidFill>
                      <a:prstDash val="solid"/>
                      <a:round/>
                      <a:headEnd type="none" w="med" len="med"/>
                      <a:tailEnd type="none" w="med" len="med"/>
                    </a:lnB>
                    <a:lnTlToBr>
                      <a:noFill/>
                    </a:lnTlToBr>
                    <a:lnBlToTr>
                      <a:noFill/>
                    </a:lnBlToTr>
                    <a:noFill/>
                  </a:tcPr>
                </a:tc>
              </a:tr>
              <a:tr h="2762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Режим работы ЭВМ</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Однопрограммный</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Пакетная обработка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Разделение времени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Персональная и сетевая обработка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3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Интеграция данных</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Низкая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Средняя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Высокая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Очень высокая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9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Расположение пользователей</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Машинный зал</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Отдельное помещение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Терминальный зал</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Рабочий стол и мобильное расположение</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19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Тип пользователя</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Инженеры–программисты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Профессиональные программисты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Программисты-пользователи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Пользователи с общей комп-ой подготовкой</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3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rgbClr val="000000"/>
                          </a:solidFill>
                          <a:effectLst/>
                          <a:latin typeface="Times New Roman" pitchFamily="18" charset="0"/>
                          <a:cs typeface="Times New Roman" pitchFamily="18" charset="0"/>
                        </a:rPr>
                        <a:t>Тип диалога</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Работа за пультом ЭВМ</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Обмен перфоносителями и машинограммами</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Интерактивный (через клавиатуру и экран)</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Интерактивный типа «вопрос-ответ»</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61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smtClean="0">
                          <a:ln>
                            <a:noFill/>
                          </a:ln>
                          <a:solidFill>
                            <a:schemeClr val="tx1"/>
                          </a:solidFill>
                          <a:effectLst/>
                          <a:latin typeface="Times New Roman" pitchFamily="18" charset="0"/>
                          <a:cs typeface="Times New Roman" pitchFamily="18" charset="0"/>
                        </a:rPr>
                        <a:t>Примеры</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ENIAC</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UNIVAC</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(США);</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БЭСМ - 1,2, М-1, М-20 (СССР)</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IBM 701/709 (США)</a:t>
                      </a:r>
                      <a:endParaRPr kumimoji="0" lang="ru-RU" sz="1600" b="0" i="0" u="none" strike="noStrike" cap="none" normalizeH="0" baseline="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rgbClr val="000000"/>
                          </a:solidFill>
                          <a:effectLst/>
                          <a:latin typeface="Times New Roman" pitchFamily="18" charset="0"/>
                          <a:cs typeface="Times New Roman" pitchFamily="18" charset="0"/>
                        </a:rPr>
                        <a:t>БЭСМ-4, , М-220, Минск, БЭСМ-6 (СССР)</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IBM </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360/370,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PDP</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-11/20,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Cray</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-1 (США);</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ЕС 1050, 1066,</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Эльбрус 1,2 (СССР)</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Cray T</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3</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E</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a:t>
                      </a:r>
                      <a:r>
                        <a:rPr kumimoji="0" lang="en-US" sz="1600" b="0" i="0" u="none" strike="noStrike" cap="none" normalizeH="0" baseline="0" smtClean="0">
                          <a:ln>
                            <a:noFill/>
                          </a:ln>
                          <a:solidFill>
                            <a:schemeClr val="tx1"/>
                          </a:solidFill>
                          <a:effectLst/>
                          <a:latin typeface="Times New Roman" pitchFamily="18" charset="0"/>
                          <a:cs typeface="Times New Roman" pitchFamily="18" charset="0"/>
                        </a:rPr>
                        <a:t>SGI</a:t>
                      </a: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 (США), </a:t>
                      </a:r>
                    </a:p>
                    <a:p>
                      <a:pPr marL="0" marR="0" lvl="0" indent="0" algn="ctr"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smtClean="0">
                          <a:ln>
                            <a:noFill/>
                          </a:ln>
                          <a:solidFill>
                            <a:schemeClr val="tx1"/>
                          </a:solidFill>
                          <a:effectLst/>
                          <a:latin typeface="Times New Roman" pitchFamily="18" charset="0"/>
                          <a:cs typeface="Times New Roman" pitchFamily="18" charset="0"/>
                        </a:rPr>
                        <a:t>ПК, серверы, рабочие станции различных производителей</a:t>
                      </a:r>
                      <a:endParaRPr kumimoji="0" lang="ru-RU" sz="1600" b="0" i="0" u="none" strike="noStrike" cap="none" normalizeH="0" baseline="0" smtClean="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Номер слайда 2"/>
          <p:cNvSpPr>
            <a:spLocks noGrp="1"/>
          </p:cNvSpPr>
          <p:nvPr>
            <p:ph type="sldNum" sz="quarter" idx="12"/>
          </p:nvPr>
        </p:nvSpPr>
        <p:spPr/>
        <p:txBody>
          <a:bodyPr/>
          <a:lstStyle/>
          <a:p>
            <a:fld id="{56397C59-5629-4460-9A54-A1015B2EDC30}" type="slidenum">
              <a:rPr lang="ru-RU" smtClean="0"/>
              <a:pPr/>
              <a:t>27</a:t>
            </a:fld>
            <a:endParaRPr lang="ru-RU"/>
          </a:p>
        </p:txBody>
      </p:sp>
      <p:pic>
        <p:nvPicPr>
          <p:cNvPr id="15529" name="slide_27.mp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5"/>
          <a:stretch>
            <a:fillRect/>
          </a:stretch>
        </p:blipFill>
        <p:spPr>
          <a:xfrm>
            <a:off x="8275320" y="5806440"/>
            <a:ext cx="411480" cy="4114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529"/>
                                        </p:tgtEl>
                                      </p:cBhvr>
                                    </p:cmd>
                                  </p:childTnLst>
                                </p:cTn>
                              </p:par>
                            </p:childTnLst>
                          </p:cTn>
                        </p:par>
                      </p:childTnLst>
                    </p:cTn>
                  </p:par>
                </p:childTnLst>
              </p:cTn>
            </p:seq>
          </p:childTnLst>
        </p:cTn>
      </p:par>
    </p:tnLst>
  </p:timing>
</p:sld>
</file>

<file path=ppt/theme/theme1.xml><?xml version="1.0" encoding="utf-8"?>
<a:theme xmlns:a="http://schemas.openxmlformats.org/drawingml/2006/main" name="Оформление по умолчанию">
  <a:themeElements>
    <a:clrScheme name="Другая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Оформление по умолчанию">
      <a:majorFont>
        <a:latin typeface="Arial"/>
        <a:ea typeface=""/>
        <a:cs typeface=""/>
      </a:majorFont>
      <a:minorFont>
        <a:latin typeface="Arial"/>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Оформление по умолчанию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Оформление по умолчанию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Оформление по умолчанию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Оформление по умолчанию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Оформление по умолчанию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Оформление по умолчанию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Оформление по умолчанию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Оформление по умолчанию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Оформление по умолчанию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Оформление по умолчанию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Оформление по умолчанию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Оформление по умолчанию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1431</TotalTime>
  <Words>2874</Words>
  <Application>Microsoft Office PowerPoint</Application>
  <PresentationFormat>Экран (4:3)</PresentationFormat>
  <Paragraphs>230</Paragraphs>
  <Slides>27</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27</vt:i4>
      </vt:variant>
    </vt:vector>
  </HeadingPairs>
  <TitlesOfParts>
    <vt:vector size="28" baseType="lpstr">
      <vt:lpstr>Оформление по умолчанию</vt:lpstr>
      <vt:lpstr>Технические средства ИТ </vt:lpstr>
      <vt:lpstr>Слайд 2</vt:lpstr>
      <vt:lpstr>Z-3 </vt:lpstr>
      <vt:lpstr>Colossus</vt:lpstr>
      <vt:lpstr>ENIAC (Electronic Numerical Integrator and Computer)</vt:lpstr>
      <vt:lpstr>EDVAC (Electronic Discrete Variable Automatic Computer)</vt:lpstr>
      <vt:lpstr>Слайд 7</vt:lpstr>
      <vt:lpstr>Слайд 8</vt:lpstr>
      <vt:lpstr>Слайд 9</vt:lpstr>
      <vt:lpstr>МЭСМ</vt:lpstr>
      <vt:lpstr>БЭСМ-1</vt:lpstr>
      <vt:lpstr> БЭСМ-6</vt:lpstr>
      <vt:lpstr>Проблема привязки прикладных программ или архитектуры к физическому уровню</vt:lpstr>
      <vt:lpstr>Микрокод</vt:lpstr>
      <vt:lpstr>Слайд 15</vt:lpstr>
      <vt:lpstr>Слайд 16</vt:lpstr>
      <vt:lpstr>Слайд 17</vt:lpstr>
      <vt:lpstr>Известные комментарии</vt:lpstr>
      <vt:lpstr>Слайд 19</vt:lpstr>
      <vt:lpstr>Рождение технологии (1950-е — 1960-е) интегральных микросхем</vt:lpstr>
      <vt:lpstr>Основание Intel и первый микропроцессор (1968 — 1970-е) </vt:lpstr>
      <vt:lpstr>Конкуренция и мобильная эра (2000-е - настоящее время)</vt:lpstr>
      <vt:lpstr>Аналог Intel x86 (1978-1990, 4-16 МГц) К1810ВМ86 (2-5 МГц)</vt:lpstr>
      <vt:lpstr>Отечественные архитектуры</vt:lpstr>
      <vt:lpstr>Слайд 25</vt:lpstr>
      <vt:lpstr>Слайд 26</vt:lpstr>
      <vt:lpstr>Слайд 27</vt:lpstr>
    </vt:vector>
  </TitlesOfParts>
  <Company>homexp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homexp</dc:creator>
  <cp:lastModifiedBy>Алекс Алексов</cp:lastModifiedBy>
  <cp:revision>127</cp:revision>
  <dcterms:created xsi:type="dcterms:W3CDTF">2015-09-30T08:24:16Z</dcterms:created>
  <dcterms:modified xsi:type="dcterms:W3CDTF">2026-10-22T15:19:12Z</dcterms:modified>
</cp:coreProperties>
</file>