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38.mp3" ContentType="audio/mpeg"/>
  <Override PartName="/ppt/media/media39.mp3" ContentType="audio/mpeg"/>
  <Override PartName="/ppt/media/media4.mp3" ContentType="audio/mpeg"/>
  <Override PartName="/ppt/media/media40.mp3" ContentType="audio/mpeg"/>
  <Override PartName="/ppt/media/media41.mp3" ContentType="audio/mpeg"/>
  <Override PartName="/ppt/media/media42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96" r:id="rId16"/>
    <p:sldId id="297" r:id="rId17"/>
    <p:sldId id="270" r:id="rId18"/>
    <p:sldId id="271" r:id="rId19"/>
    <p:sldId id="274" r:id="rId20"/>
    <p:sldId id="272" r:id="rId21"/>
    <p:sldId id="273" r:id="rId22"/>
    <p:sldId id="277" r:id="rId23"/>
    <p:sldId id="275" r:id="rId24"/>
    <p:sldId id="278" r:id="rId25"/>
    <p:sldId id="276" r:id="rId26"/>
    <p:sldId id="280" r:id="rId27"/>
    <p:sldId id="279" r:id="rId28"/>
    <p:sldId id="281" r:id="rId29"/>
    <p:sldId id="283" r:id="rId30"/>
    <p:sldId id="285" r:id="rId31"/>
    <p:sldId id="282" r:id="rId32"/>
    <p:sldId id="295" r:id="rId33"/>
    <p:sldId id="284" r:id="rId34"/>
    <p:sldId id="286" r:id="rId35"/>
    <p:sldId id="287" r:id="rId36"/>
    <p:sldId id="288" r:id="rId37"/>
    <p:sldId id="290" r:id="rId38"/>
    <p:sldId id="289" r:id="rId39"/>
    <p:sldId id="291" r:id="rId40"/>
    <p:sldId id="292" r:id="rId41"/>
    <p:sldId id="293" r:id="rId42"/>
    <p:sldId id="294" r:id="rId43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57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C491A-C844-4A0F-AF9D-EA11A404449B}" type="datetimeFigureOut">
              <a:rPr lang="ru-RU" smtClean="0"/>
              <a:pPr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CB87E-0EC3-4908-B47A-AD79925240B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 на лекцию о периферийных устройствах компьютера.</a:t>
            </a:r>
          </a:p>
          <a:p>
            <a:r>
              <a:t>Сегодня мы поговорим о том, без чего компьютер остаётся просто ящиком с микросхемами:</a:t>
            </a:r>
          </a:p>
          <a:p>
            <a:r>
              <a:t>о мониторах, принтерах и устройствах указания.</a:t>
            </a:r>
          </a:p>
          <a:p>
            <a:r>
              <a:t>Разберём, как устроены мониторы на электронно-лучевых трубках, жидкокристаллические,</a:t>
            </a:r>
          </a:p>
          <a:p>
            <a:r>
              <a:t>плазменные и органические светодиодные.</a:t>
            </a:r>
          </a:p>
          <a:p>
            <a:r>
              <a:t>Подробно остановимся на Э-Л-Т мониторах — они были основным устройством отображения</a:t>
            </a:r>
          </a:p>
          <a:p>
            <a:r>
              <a:t>на протяжении почти двадцати лет, и их эволюция заслуживает отдельного рассказа.</a:t>
            </a:r>
          </a:p>
          <a:p>
            <a:r>
              <a:t>Познакомимся с принципами работы матричных, струйных и лазерных принтеров,</a:t>
            </a:r>
          </a:p>
          <a:p>
            <a:r>
              <a:t>а также с цветовыми моделями, которые они используют.</a:t>
            </a:r>
          </a:p>
          <a:p>
            <a:r>
              <a:t>В конце разберём механические и оптические мыши —</a:t>
            </a:r>
          </a:p>
          <a:p>
            <a:r>
              <a:t>от шарика и роликов до матричных сенсоров с разрешением тысячи точек на дюйм.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Мониторы делятся на пять основных типа по технологии отображения.</a:t>
            </a:r>
          </a:p>
          <a:p>
            <a:r>
              <a:t>Первый тип — на основе электронно-лучевой трубки, сокращённо Э-Л-Т.</a:t>
            </a:r>
          </a:p>
          <a:p>
            <a:r>
              <a:t>Это классические мониторы, которые занимали полстола и весили двадцать-тридцать килограммов.</a:t>
            </a:r>
          </a:p>
          <a:p>
            <a:r>
              <a:t>Именно они доминировали с начала восьмидесятых и до середины двухтысячных —</a:t>
            </a:r>
          </a:p>
          <a:p>
            <a:r>
              <a:t>почти четверть века.</a:t>
            </a:r>
          </a:p>
          <a:p>
            <a:r>
              <a:t>Второй тип — жидкокристаллические мониторы, Жэ-Ка.</a:t>
            </a:r>
          </a:p>
          <a:p>
            <a:r>
              <a:t>Они пришли на смену Э-Л-Т в начале двухтысячных и стали стандартом на два десятилетия.</a:t>
            </a:r>
          </a:p>
          <a:p>
            <a:r>
              <a:t>Третий тип — плазменные мониторы, П-Д-П.</a:t>
            </a:r>
          </a:p>
          <a:p>
            <a:r>
              <a:t>Они были популярны для больших телевизоров, но почти полностью вышли из употребления.</a:t>
            </a:r>
          </a:p>
          <a:p>
            <a:r>
              <a:t>Четвёртый тип — лазерные мониторы, которые существуют в основном как экспериментальные</a:t>
            </a:r>
          </a:p>
          <a:p>
            <a:r>
              <a:t>или нишевые решения для проекторов.</a:t>
            </a:r>
          </a:p>
          <a:p>
            <a:r>
              <a:t>Пятый тип - Олед мониторы, светодиодный дисплей, матрица которого состоит из миллионов органических светодиодов, </a:t>
            </a:r>
          </a:p>
          <a:p>
            <a:r>
              <a:t>где каждый пиксель самостоятельно излучает свет при подаче тока. </a:t>
            </a:r>
          </a:p>
          <a:p>
            <a:r>
              <a:t>Каждая технология имеет свои достоинства и недостатки,</a:t>
            </a:r>
          </a:p>
          <a:p>
            <a:r>
              <a:t>и сегодня мы разберём, почему одни победили, а другие ушли в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представлены фотографии типичных Э-Л-Т мониторов.</a:t>
            </a:r>
          </a:p>
          <a:p>
            <a:r>
              <a:t>Слева и справа — модели с диагональю пятнадцать-семнадцать дюймов,</a:t>
            </a:r>
          </a:p>
          <a:p>
            <a:r>
              <a:t>характерный горб сзади: это корпус электронно-лучевой трубки.</a:t>
            </a:r>
          </a:p>
          <a:p>
            <a:r>
              <a:t>Внизу — монитор со снятым корпусом, видна сама трубка и плата управления.</a:t>
            </a:r>
          </a:p>
          <a:p/>
          <a:p>
            <a:r>
              <a:t>Э-Л-Т монитор работал по принципу кинескопа старого телевизора:</a:t>
            </a:r>
          </a:p>
          <a:p>
            <a:r>
              <a:t>электронная пушка в горловине трубки испускала поток электронов,</a:t>
            </a:r>
          </a:p>
          <a:p>
            <a:r>
              <a:t>который отклонялся магнитными катушками и попадал на люминофорное покрытие экрана.</a:t>
            </a:r>
          </a:p>
          <a:p>
            <a:r>
              <a:t>Люминофор светился под ударами электронов, создавая изображение.</a:t>
            </a:r>
          </a:p>
          <a:p/>
          <a:p>
            <a:r>
              <a:t>История технологии уходит в конец девятнадцатого века:</a:t>
            </a:r>
          </a:p>
          <a:p>
            <a:r>
              <a:t>катодно-лучевую трубку изобрёл немецкий физик Карл Фердинанд Браун</a:t>
            </a:r>
          </a:p>
          <a:p>
            <a:r>
              <a:t>в тысяча восемьсот девяносто седьмом году.</a:t>
            </a:r>
          </a:p>
          <a:p>
            <a:r>
              <a:t>Цветной кинескоп появился в пятидесятых годах двадцатого века,</a:t>
            </a:r>
          </a:p>
          <a:p>
            <a:r>
              <a:t>а его компьютерная версия — в восьмидесятых.</a:t>
            </a:r>
          </a:p>
          <a:p/>
          <a:p>
            <a:r>
              <a:t>Стандартные разрешения Э-Л-Т мониторов по поколениям.</a:t>
            </a:r>
          </a:p>
          <a:p>
            <a:r>
              <a:t>Вэ-Гэ-А, шестьсот сорок на четыреста восемьдесят пикселей (Ви-Джи-Эй).</a:t>
            </a:r>
          </a:p>
          <a:p>
            <a:r>
              <a:t>Эс-Вэ-Гэ-А, восемьсот на шестьсот.</a:t>
            </a:r>
          </a:p>
          <a:p>
            <a:r>
              <a:t>Икс-Джи-Эй, тысяча двадцать четыре на семьсот шестьдесят восемь — самый массовый стандарт девяностых.</a:t>
            </a:r>
          </a:p>
          <a:p>
            <a:r>
              <a:t>Эс-Икс-Джи-Эй, тысяча двести восемьдесят на тысячу двадцать четыре.</a:t>
            </a:r>
          </a:p>
          <a:p>
            <a:r>
              <a:t>Ю-Икс-Джи-Эй, тысяча шестьсот на тысячу двести.</a:t>
            </a:r>
          </a:p>
          <a:p>
            <a:r>
              <a:t>И наконец тысяча девятьсот двадцать на тысячу четыреста сорок и выше —</a:t>
            </a:r>
          </a:p>
          <a:p>
            <a:r>
              <a:t>для профессиональных мониторов и рабочих станций.</a:t>
            </a:r>
          </a:p>
          <a:p/>
          <a:p>
            <a:r>
              <a:t>Частоты обновления: от шестидесяти герц на дешёвых моделях</a:t>
            </a:r>
          </a:p>
          <a:p>
            <a:r>
              <a:t>до восьмидесяти пяти, ста, ста двадцати на профессиональных.</a:t>
            </a:r>
          </a:p>
          <a:p>
            <a:r>
              <a:t>При частоте ниже восьмидесяти пяти герц человеческий глаз замечает мерцание,</a:t>
            </a:r>
          </a:p>
          <a:p>
            <a:r>
              <a:t>особенно на периферии зрения, и это утомляет.</a:t>
            </a:r>
          </a:p>
          <a:p>
            <a:r>
              <a:t>Именно поэтому хорошие Э-Л-Т мониторы работали на восьмидесяти пяти герцах и выше.</a:t>
            </a:r>
          </a:p>
          <a:p/>
          <a:p>
            <a:r>
              <a:t>Типичные диагонали: от четырнадцати до двадцати одного дюйма.</a:t>
            </a:r>
          </a:p>
          <a:p>
            <a:r>
              <a:t>Вес семнадцати-дюймовой модели — от пятнадцати до двадцати килограммов.</a:t>
            </a:r>
          </a:p>
          <a:p>
            <a:r>
              <a:t>Потребляемая мощность — от ста до ста пятидесяти ватт.</a:t>
            </a:r>
          </a:p>
          <a:p/>
          <a:p>
            <a:r>
              <a:t>Главные достоинства: яркие цвета, широкий угол обзора почти сто восемьдесят градусов,</a:t>
            </a:r>
          </a:p>
          <a:p>
            <a:r>
              <a:t>отсутствие задержки, настоящий чёрный цвет.</a:t>
            </a:r>
          </a:p>
          <a:p>
            <a:r>
              <a:t>Главные недостатки: огромные габариты, большой вес, высокое энергопотребление,</a:t>
            </a:r>
          </a:p>
          <a:p>
            <a:r>
              <a:t>мерцание экрана, вредное излучение, чувствительность к магнитным полям,</a:t>
            </a:r>
          </a:p>
          <a:p>
            <a:r>
              <a:t>проблема геометрии и сведения лучей.</a:t>
            </a:r>
          </a:p>
          <a:p>
            <a:r>
              <a:t>К середине двухтысячных Э-Л-Т мониторы были полностью вытеснены жидкокристаллическими.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показан разрез электронно-лучевой трубки с обозначениями.</a:t>
            </a:r>
          </a:p>
          <a:p>
            <a:r>
              <a:t>Цифра один: магнито-отклоняющая система, катушки, которые отклоняют луч по горизонтали и вертикали.</a:t>
            </a:r>
          </a:p>
          <a:p>
            <a:r>
              <a:t>Цифра два: электронный луч.</a:t>
            </a:r>
          </a:p>
          <a:p>
            <a:r>
              <a:t>Цифра три: фокусирующая система с сердечником и фокусирующей катушкой,</a:t>
            </a:r>
          </a:p>
          <a:p>
            <a:r>
              <a:t>она собирает поток электронов в тонкий пучок.</a:t>
            </a:r>
          </a:p>
          <a:p>
            <a:r>
              <a:t>Цифра четыре: люминофор, слой на внутренней поверхности экрана,</a:t>
            </a:r>
          </a:p>
          <a:p>
            <a:r>
              <a:t>который светится под ударами электронов.</a:t>
            </a:r>
          </a:p>
          <a:p>
            <a:r>
              <a:t>Цифра пять: нить накала, нагревающая катод.</a:t>
            </a:r>
          </a:p>
          <a:p>
            <a:r>
              <a:t>Цифра шесть: проводящий слой на поверхности трубки для отведения заряда,</a:t>
            </a:r>
          </a:p>
          <a:p>
            <a:r>
              <a:t>так называемый аквадаг, графитовое покрытие.</a:t>
            </a:r>
          </a:p>
          <a:p>
            <a:r>
              <a:t>Цифры семь и тринадцать: высоковольтные гнёзда.</a:t>
            </a:r>
          </a:p>
          <a:p>
            <a:r>
              <a:t>Цифра девять: вакуумный баллон.</a:t>
            </a:r>
          </a:p>
          <a:p>
            <a:r>
              <a:t>Цифра десять: экран.</a:t>
            </a:r>
          </a:p>
          <a:p>
            <a:r>
              <a:t>Цифра двенадцать: модулятор эмиссии электронов.</a:t>
            </a:r>
          </a:p>
          <a:p>
            <a:r>
              <a:t>Цифра четырнадцать: анод с напряжением от семи до тридцати киловольт.</a:t>
            </a:r>
          </a:p>
          <a:p>
            <a:r>
              <a:t>Такая конструкция обеспечивала очень высокое качество изображения,</a:t>
            </a:r>
          </a:p>
          <a:p>
            <a:r>
              <a:t>но требовала вакуума и высоких напряжений.</a:t>
            </a:r>
          </a:p>
          <a:p/>
          <a:p>
            <a:r>
              <a:t>Ключевой параметр качества Э-Л-Т монитора — шаг зерна, dot pitch,</a:t>
            </a:r>
          </a:p>
          <a:p>
            <a:r>
              <a:t>расстояние между соседними зёрнами люминофора одного цвета.</a:t>
            </a:r>
          </a:p>
          <a:p>
            <a:r>
              <a:t>Типичные значения: ноль двадцать пять, ноль двадцать шесть, ноль двадцать восемь миллиметра.</a:t>
            </a:r>
          </a:p>
          <a:p>
            <a:r>
              <a:t>Чем меньше шаг зерна, тем выше максимальное разрешение и чётче картинка.</a:t>
            </a:r>
          </a:p>
          <a:p>
            <a:r>
              <a:t>Профессиональные мониторы имели шаг ноль двадцать пять и поддерживали</a:t>
            </a:r>
          </a:p>
          <a:p>
            <a:r>
              <a:t>разрешение тысяча шестьсот на тысячу двести без потери чёткости.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— устройство цветного кинескопа и три типа масок.</a:t>
            </a:r>
          </a:p>
          <a:p>
            <a:r>
              <a:t>Цифра один: электронные пушки, их три — для красного, зелёного и синего цветов.</a:t>
            </a:r>
          </a:p>
          <a:p>
            <a:r>
              <a:t>Цифра два: электронные лучи.</a:t>
            </a:r>
          </a:p>
          <a:p>
            <a:r>
              <a:t>Цифра три: фокусирующая катушка.</a:t>
            </a:r>
          </a:p>
          <a:p>
            <a:r>
              <a:t>Цифра четыре: отклоняющие катушки.</a:t>
            </a:r>
          </a:p>
          <a:p>
            <a:r>
              <a:t>Цифра пять: анод.</a:t>
            </a:r>
          </a:p>
          <a:p>
            <a:r>
              <a:t>Цифра шесть: маска, благодаря которой красный луч попадает строго на красный люминофор,</a:t>
            </a:r>
          </a:p>
          <a:p>
            <a:r>
              <a:t>зелёный на зелёный, синий на синий.</a:t>
            </a:r>
          </a:p>
          <a:p>
            <a:r>
              <a:t>Цифра семь: красные, зелёные и синие зёрна люминофора,</a:t>
            </a:r>
          </a:p>
          <a:p>
            <a:r>
              <a:t>расположенные в виде мозаики.</a:t>
            </a:r>
          </a:p>
          <a:p>
            <a:r>
              <a:t>Цифра восемь: маска и зёрна люминофора крупным планом.</a:t>
            </a:r>
          </a:p>
          <a:p/>
          <a:p>
            <a:r>
              <a:t>Три типа масок — и у каждой своя история.</a:t>
            </a:r>
          </a:p>
          <a:p>
            <a:r>
              <a:t>Теневая маска, шэдоу-маск: круглые отверстия, классика.</a:t>
            </a:r>
          </a:p>
          <a:p>
            <a:r>
              <a:t>Появилась в первых цветных кинескопах в пятидесятых годах.</a:t>
            </a:r>
          </a:p>
          <a:p>
            <a:r>
              <a:t>Даёт хорошую чёткость, но снижает яркость, потому что значительная часть электронов</a:t>
            </a:r>
          </a:p>
          <a:p>
            <a:r>
              <a:t>попадает на перемычки между отверстиями.</a:t>
            </a:r>
          </a:p>
          <a:p>
            <a:r>
              <a:t>Апертурная решётка, апертуре-гриль: вертикальные щели из натянутых металлических нитей.</a:t>
            </a:r>
          </a:p>
          <a:p>
            <a:r>
              <a:t>Запатентована компанией Сони под брендом Тринитрон в тысяча девятьсот шестьдесят восьмом году.</a:t>
            </a:r>
          </a:p>
          <a:p>
            <a:r>
              <a:t>Даёт более яркое и контрастное изображение, но нити чувствительны к вибрации,</a:t>
            </a:r>
          </a:p>
          <a:p>
            <a:r>
              <a:t>поэтому внутри Тринитрона натянута тонкая проволока-демпфер для гашения колебаний.</a:t>
            </a:r>
          </a:p>
          <a:p>
            <a:r>
              <a:t>Щелевая маска, слот-маск: комбинация круглых и вертикальных элементов.</a:t>
            </a:r>
          </a:p>
          <a:p>
            <a:r>
              <a:t>Разработана компанией Эн-И-Си под брендом Крома-Клир</a:t>
            </a:r>
          </a:p>
          <a:p>
            <a:r>
              <a:t>и компанией Мицубиси под брендом Даймонд-Трон в восьмидесятых годах.</a:t>
            </a:r>
          </a:p>
          <a:p>
            <a:r>
              <a:t>Компромисс между яркостью и чёткостью.</a:t>
            </a:r>
          </a:p>
          <a:p>
            <a:r>
              <a:t>Именно от типа маски зависело качество картинки и максимальное разрешение монитора.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Ещё одна схема цветного кинескопа с крупными планами.</a:t>
            </a:r>
          </a:p>
          <a:p>
            <a:r>
              <a:t>Цифра один: электронные пушки, три штуки в горловине трубки.</a:t>
            </a:r>
          </a:p>
          <a:p>
            <a:r>
              <a:t>Цифра два: отклоняющая система.</a:t>
            </a:r>
          </a:p>
          <a:p>
            <a:r>
              <a:t>Цифра три: апертурная решётка, вертикальные щели.</a:t>
            </a:r>
          </a:p>
          <a:p>
            <a:r>
              <a:t>Цифра четыре: теневая маска с круглыми отверстиями.</a:t>
            </a:r>
          </a:p>
          <a:p>
            <a:r>
              <a:t>Цифра пять: строчная развёртка, луч пробегает экран построчно сверху вниз.</a:t>
            </a:r>
          </a:p>
          <a:p/>
          <a:p>
            <a:r>
              <a:t>Обратите внимание на маленький круг в центре экрана:</a:t>
            </a:r>
          </a:p>
          <a:p>
            <a:r>
              <a:t>это увеличенный вид того, как три луча проходят через маску и попадают на свои люминофорные зёрна.</a:t>
            </a:r>
          </a:p>
          <a:p>
            <a:r>
              <a:t>Такая точность требовала идеальной синхронизации всех трёх лучей.</a:t>
            </a:r>
          </a:p>
          <a:p>
            <a:r>
              <a:t>Любое смещение приводило к цветовым искажениям, которые назывались сведением лучей.</a:t>
            </a:r>
          </a:p>
          <a:p>
            <a:r>
              <a:t>Настройка сведения была отдельной процедурой в сервисных центрах,</a:t>
            </a:r>
          </a:p>
          <a:p>
            <a:r>
              <a:t>а на профессиональных мониторах для неё были отдельные регулировки.</a:t>
            </a:r>
          </a:p>
          <a:p/>
          <a:p>
            <a:r>
              <a:t>Развёртка бывает двух типов.</a:t>
            </a:r>
          </a:p>
          <a:p>
            <a:r>
              <a:t>Чересстрочная, интерлейсед: луч пробегает сначала чётные строки, потом нечётные.</a:t>
            </a:r>
          </a:p>
          <a:p>
            <a:r>
              <a:t>Так работали первые телевизоры и дешёвые мониторы.</a:t>
            </a:r>
          </a:p>
          <a:p>
            <a:r>
              <a:t>На статичной картинке заметно мерцание, на видео не так заметно.</a:t>
            </a:r>
          </a:p>
          <a:p>
            <a:r>
              <a:t>Прогрессивная, прогрессив: луч пробегает все строки подряд сверху вниз.</a:t>
            </a:r>
          </a:p>
          <a:p>
            <a:r>
              <a:t>Современные мониторы работают только так.</a:t>
            </a:r>
          </a:p>
          <a:p>
            <a:r>
              <a:t>У Э-Л-Т мониторов тоже была частота обновления, но она обозначалась через вертикальную развёртку в герцах,</a:t>
            </a:r>
          </a:p>
          <a:p>
            <a:r>
              <a:t>а разрешение — через количество строк по вертикали.</a:t>
            </a:r>
          </a:p>
          <a:p>
            <a:r>
              <a:t>Произведение этих величин давало частоту строчной развёртки в килогерцах,</a:t>
            </a:r>
          </a:p>
          <a:p>
            <a:r>
              <a:t>это был ещё один важный параметр монитора.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Жэ-Ка мониторы — жидкокристаллические дисплеи, Жэ-Ка-Дэ.</a:t>
            </a:r>
          </a:p>
          <a:p>
            <a:r>
              <a:t>На верхних фотографиях — типичные мониторы с диагональю от пятнадцати до двадцати четырёх дюймов,</a:t>
            </a:r>
          </a:p>
          <a:p>
            <a:r>
              <a:t>тонкие, лёгкие, на подставке с регулировкой наклона.</a:t>
            </a:r>
          </a:p>
          <a:p>
            <a:r>
              <a:t>Внизу — маленький буквенно-цифровой Жэ-Ка дисплей, какие стояли в калькуляторах, часах,</a:t>
            </a:r>
          </a:p>
          <a:p>
            <a:r>
              <a:t>кассовых аппаратах и первых электронных записных книжках.</a:t>
            </a:r>
          </a:p>
          <a:p>
            <a:r>
              <a:t>Принцип работы совсем другой, чем у Э-Л-Т.</a:t>
            </a:r>
          </a:p>
          <a:p>
            <a:r>
              <a:t>Внутри находится слой жидких кристаллов между двумя поляризационными фильтрами.</a:t>
            </a:r>
          </a:p>
          <a:p>
            <a:r>
              <a:t>Кристаллы под действием электрического поля меняют ориентацию</a:t>
            </a:r>
          </a:p>
          <a:p>
            <a:r>
              <a:t>и пропускают или блокируют свет от подсветки.</a:t>
            </a:r>
          </a:p>
          <a:p>
            <a:r>
              <a:t>Главные достоинства Жэ-Ка: компактность, низкое энергопотребление, отсутствие мерцания.</a:t>
            </a:r>
          </a:p>
          <a:p>
            <a:r>
              <a:t>Главные недостатки первых моделей: малое время отклика, узкие углы обзора,</a:t>
            </a:r>
          </a:p>
          <a:p>
            <a:r>
              <a:t>низкая контрастность и невозможность показать настоящий чёрный цвет.</a:t>
            </a:r>
          </a:p>
          <a:p/>
          <a:p>
            <a:r>
              <a:t>Типичные разрешения Жэ-Ка мониторов по поколениям.</a:t>
            </a:r>
          </a:p>
          <a:p>
            <a:r>
              <a:t>Стандарт HD — тысяча двести восемьдесят на семьсот двадцать пикселей.</a:t>
            </a:r>
          </a:p>
          <a:p>
            <a:r>
              <a:t>Full HD — тысяча девятьсот двадцать на тысячу восемьдесят, около двух миллионов пикселей.</a:t>
            </a:r>
          </a:p>
          <a:p>
            <a:r>
              <a:t>два Ка или QHD — две тысячи пятьсот шестьдесят на тысячу четыреста сорок,</a:t>
            </a:r>
          </a:p>
          <a:p>
            <a:r>
              <a:t>около трёх и семи десятых миллиона пикселей.</a:t>
            </a:r>
          </a:p>
          <a:p>
            <a:r>
              <a:t>четыре Kа или UHD — три тысячи восемьсот сорок на две тысячи сто шестьдесят,</a:t>
            </a:r>
          </a:p>
          <a:p>
            <a:r>
              <a:t>около восьми миллионов пикселей.</a:t>
            </a:r>
          </a:p>
          <a:p>
            <a:r>
              <a:t>восемь Kа — семь тысяч шестьсот восемьдесят на четыре тысячи триста двадцать,</a:t>
            </a:r>
          </a:p>
          <a:p>
            <a:r>
              <a:t>около тридцати трёх миллионов пикселей.</a:t>
            </a:r>
          </a:p>
          <a:p>
            <a:r>
              <a:t>Современные мониторы для офиса чаще всего имеют Full HD или два Ка,</a:t>
            </a:r>
          </a:p>
          <a:p>
            <a:r>
              <a:t>для профессиональной работы с графикой — четыре Ка,</a:t>
            </a:r>
          </a:p>
          <a:p>
            <a:r>
              <a:t>а восемь Ка пока остаётся нишевым решением для больших телевизоров и специализированных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Покажем устройство жидкокристаллической ячейки.</a:t>
            </a:r>
          </a:p>
          <a:p>
            <a:r>
              <a:t>Сзади находится зеркало или подсветка, затем заднее стекло,</a:t>
            </a:r>
          </a:p>
          <a:p>
            <a:r>
              <a:t>катод, слой жидких кристаллов, анод, переднее стекло и защитное стекло.</a:t>
            </a:r>
          </a:p>
          <a:p>
            <a:r>
              <a:t>Между слоями стоят вертикальные и горизонтальные поляризационные фильтры.</a:t>
            </a:r>
          </a:p>
          <a:p>
            <a:r>
              <a:t>Принцип работы такой.</a:t>
            </a:r>
          </a:p>
          <a:p>
            <a:r>
              <a:t>Жидкий кристалл поворачивает плоскость поляризации излучения на какой-то угол</a:t>
            </a:r>
          </a:p>
          <a:p>
            <a:r>
              <a:t>в зависимости от напряжения.</a:t>
            </a:r>
          </a:p>
          <a:p>
            <a:r>
              <a:t>Без подачи напряжения кристалл поворачивает свет на девяносто градусов,</a:t>
            </a:r>
          </a:p>
          <a:p>
            <a:r>
              <a:t>и он проходит через второй поляризатор — ячейка светлая.</a:t>
            </a:r>
          </a:p>
          <a:p>
            <a:r>
              <a:t>При подаче напряжения кристалл перестраивает структуру и поворачивает на меньший угол</a:t>
            </a:r>
          </a:p>
          <a:p>
            <a:r>
              <a:t>или перестаёт поворачивать вовсе —</a:t>
            </a:r>
          </a:p>
          <a:p>
            <a:r>
              <a:t>тогда второй поляризатор блокирует свет, и ячейка становится чёрной.</a:t>
            </a:r>
          </a:p>
          <a:p>
            <a:r>
              <a:t>Именно эта управляемая прозрачность и позволяет формировать изображение.</a:t>
            </a:r>
          </a:p>
          <a:p>
            <a:r>
              <a:t>Простейшие Жэ-Ка дисплеи так и работали, без транзисторов, только с общими электродами.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Тут представлена более сложная конструкция Жэ-Ка ячейки с тонкоплёночным транзистором.</a:t>
            </a:r>
          </a:p>
          <a:p>
            <a:r>
              <a:t>Сверху идёт неполяризованный белый свет.</a:t>
            </a:r>
          </a:p>
          <a:p>
            <a:r>
              <a:t>Первый поляризатор делает его поляризованным.</a:t>
            </a:r>
          </a:p>
          <a:p>
            <a:r>
              <a:t>Стекло-подложка, плёнка оксида индия-олова, оринтирующая плёнка.</a:t>
            </a:r>
          </a:p>
          <a:p>
            <a:r>
              <a:t>Далее слой жидких кристаллов, который под действием поля закручивает поляризацию.</a:t>
            </a:r>
          </a:p>
          <a:p>
            <a:r>
              <a:t>Второй слой оринтирующей плёнки, цветной фильтр, снова плёнка оксида индия-олова,</a:t>
            </a:r>
          </a:p>
          <a:p>
            <a:r>
              <a:t>стекло-подложка и второй поляризатор.</a:t>
            </a:r>
          </a:p>
          <a:p>
            <a:r>
              <a:t>Тонкоплёночный транзистор, Тэ-эФ-Тэ, стоит рядом с каждой ячейкой</a:t>
            </a:r>
          </a:p>
          <a:p>
            <a:r>
              <a:t>и управляет напряжением на ней.</a:t>
            </a:r>
          </a:p>
          <a:p>
            <a:r>
              <a:t>Цветной фильтр пропускает только один цвет: красный, зелёный или синий.</a:t>
            </a:r>
          </a:p>
          <a:p>
            <a:r>
              <a:t>Комбинация трёх ячеек — красной, зелёной и синей — даёт один пиксель.</a:t>
            </a:r>
          </a:p>
          <a:p>
            <a:r>
              <a:t>Именно так работают все современные Жэ-Ка мониторы.</a:t>
            </a:r>
          </a:p>
          <a:p>
            <a:r>
              <a:t>Технология Тэ-эФ-Тэ позволила перейти от простых индикаторов к полноценным мониторам</a:t>
            </a:r>
          </a:p>
          <a:p>
            <a:r>
              <a:t>с миллионами пикселей.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Вид ячейки с линиями управления.</a:t>
            </a:r>
          </a:p>
          <a:p>
            <a:r>
              <a:t>Сверху вниз: рассеиватель, горизонтальная линия данных,</a:t>
            </a:r>
          </a:p>
          <a:p>
            <a:r>
              <a:t>стекло, конденсатор, вертикальная линия данных,</a:t>
            </a:r>
          </a:p>
          <a:p>
            <a:r>
              <a:t>поляризатор, тонкоплёночный транзистор, прозрачный электрод,</a:t>
            </a:r>
          </a:p>
          <a:p>
            <a:r>
              <a:t>общий прозрачный электрод, цветной фильтр, ещё стекло и нижний поляризатор.</a:t>
            </a:r>
          </a:p>
          <a:p>
            <a:r>
              <a:t>Каждый пиксель — это крошечный конденсатор,</a:t>
            </a:r>
          </a:p>
          <a:p>
            <a:r>
              <a:t>который удерживает заряд между обновлениями кадра.</a:t>
            </a:r>
          </a:p>
          <a:p>
            <a:r>
              <a:t>Когда приходит сигнал по строке, транзистор открывается</a:t>
            </a:r>
          </a:p>
          <a:p>
            <a:r>
              <a:t>и пропускает напряжение с линии данных на конденсатор.</a:t>
            </a:r>
          </a:p>
          <a:p>
            <a:r>
              <a:t>Конденсатор хранит это напряжение до следующего обновления,</a:t>
            </a:r>
          </a:p>
          <a:p>
            <a:r>
              <a:t>обеспечивая стабильную яркость.</a:t>
            </a:r>
          </a:p>
          <a:p>
            <a:r>
              <a:t>Именно такая схема с активной матрицей сделала Жэ-Ка мониторы пригодными для видео.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Основные типы Жэ-Ка матриц и их характеристики.</a:t>
            </a:r>
          </a:p>
          <a:p/>
          <a:p>
            <a:r>
              <a:t>Тэ-эН-филм, твистед нематик: первые массовые матрицы, появились в конце восьмидесятых годов.</a:t>
            </a:r>
          </a:p>
          <a:p>
            <a:r>
              <a:t>Жидкие кристаллы закручены на девяносто градусов, отсюда название твистед.</a:t>
            </a:r>
          </a:p>
          <a:p>
            <a:r>
              <a:t>Достоинства: дешевизна, самое быстрое время отклика.</a:t>
            </a:r>
          </a:p>
          <a:p>
            <a:r>
              <a:t>Недостатки: узкие углы обзора, плохая цветопередача, малая контрастность.</a:t>
            </a:r>
          </a:p>
          <a:p>
            <a:r>
              <a:t>Типичные углы обзора Тэ-эН: сто семьдесят градусов по горизонтали, сто шестьдесят по вертикали.</a:t>
            </a:r>
          </a:p>
          <a:p>
            <a:r>
              <a:t>Время отклика от одного до пяти миллисекунд по стандарту оттенков серого.</a:t>
            </a:r>
          </a:p>
          <a:p>
            <a:r>
              <a:t>Именно поэтому Тэ-эН до сих пор используется в киберспортивных мониторах,</a:t>
            </a:r>
          </a:p>
          <a:p>
            <a:r>
              <a:t>где важна мгновенная реакция, а не идеальная цветопередача.</a:t>
            </a:r>
          </a:p>
          <a:p/>
          <a:p>
            <a:r>
              <a:t>Ай-Пи-Эс, ин-плейн свитчинг: разработана компанией Хитачи в тысяча девятьсот девяносто шестом году.</a:t>
            </a:r>
          </a:p>
          <a:p>
            <a:r>
              <a:t>Кристаллы поворачиваются в плоскости экрана, а не перпендикулярно.</a:t>
            </a:r>
          </a:p>
          <a:p>
            <a:r>
              <a:t>Достоинства: широкие углы обзора до ста семидесяти восьми градусов,</a:t>
            </a:r>
          </a:p>
          <a:p>
            <a:r>
              <a:t>точная цветопередача, стабильность картинки при нажатии на экран.</a:t>
            </a:r>
          </a:p>
          <a:p>
            <a:r>
              <a:t>Недостатки: исторически более медленное время отклика, чем у Т-Н,</a:t>
            </a:r>
          </a:p>
          <a:p>
            <a:r>
              <a:t>и более высокая цена.</a:t>
            </a:r>
          </a:p>
          <a:p>
            <a:r>
              <a:t>Ранние Ай-Пи-Эс матрицы имели время отклика около шестнадцати миллисекунд,</a:t>
            </a:r>
          </a:p>
          <a:p>
            <a:r>
              <a:t>современные игровые модели достигают четырёх миллисекунд,</a:t>
            </a:r>
          </a:p>
          <a:p>
            <a:r>
              <a:t>а лучшие образцы одной миллисекунды.</a:t>
            </a:r>
          </a:p>
          <a:p>
            <a:r>
              <a:t>Контрастность типичной Ай-Пи-Эс матрицы около тысячи к одному.</a:t>
            </a:r>
          </a:p>
          <a:p/>
          <a:p>
            <a:r>
              <a:t>Ви-Эй, вертикальное выравнивание: представлена компанией Фуджитсу</a:t>
            </a:r>
          </a:p>
          <a:p>
            <a:r>
              <a:t>в тысяча девятьсот девяносто шестом году, в том же году, что и Ай-Пи-Эс.</a:t>
            </a:r>
          </a:p>
          <a:p>
            <a:r>
              <a:t>Жидкие кристаллы при выключенном напряжении выровнены вертикально</a:t>
            </a:r>
          </a:p>
          <a:p>
            <a:r>
              <a:t>и не пропускают свет, поэтому чёрный цвет получается глубоким и естественным.</a:t>
            </a:r>
          </a:p>
          <a:p>
            <a:r>
              <a:t>Наследницей стала технология Эм-Ви-Эй, мульти-домен вертикальное выравнивание,</a:t>
            </a:r>
          </a:p>
          <a:p>
            <a:r>
              <a:t>разработанная Фуджитсу как компромисс между Тэ-эН и Ай-Пи-Эс.</a:t>
            </a:r>
          </a:p>
          <a:p>
            <a:r>
              <a:t>Главное достоинство Ви-Эй — очень высокая контрастность:</a:t>
            </a:r>
          </a:p>
          <a:p>
            <a:r>
              <a:t>типичное значение три тысячи к одному и выше,</a:t>
            </a:r>
          </a:p>
          <a:p>
            <a:r>
              <a:t>у лучших моделей до пяти тысяч к одному.</a:t>
            </a:r>
          </a:p>
          <a:p>
            <a:r>
              <a:t>Это в три-пять раз больше, чем у Ай-Пи-Эс.</a:t>
            </a:r>
          </a:p>
          <a:p>
            <a:r>
              <a:t>Углы обзора современных Ви-Эй матриц достигают ста семидесяти восьми градусов.</a:t>
            </a:r>
          </a:p>
          <a:p>
            <a:r>
              <a:t>Время отклика первых Ви-Эй было медленным, около двенадцати миллисекунд,</a:t>
            </a:r>
          </a:p>
          <a:p>
            <a:r>
              <a:t>но современные модели с технологией компенсации достигают четырёх-шести миллисекунд,</a:t>
            </a:r>
          </a:p>
          <a:p>
            <a:r>
              <a:t>а игровые Ви-Эй двух-трёх миллисекунд.</a:t>
            </a:r>
          </a:p>
          <a:p>
            <a:r>
              <a:t>Недостаток Ви-Эй — пропадание деталей в тенях при взгляде под углом</a:t>
            </a:r>
          </a:p>
          <a:p>
            <a:r>
              <a:t>и зависимость цветового баланса от угла зрения.</a:t>
            </a:r>
          </a:p>
          <a:p>
            <a:r>
              <a:t>Основные производители Ви-Эй матриц: Самсунг с технологией Пи-Ви-Эй,</a:t>
            </a:r>
          </a:p>
          <a:p>
            <a:r>
              <a:t>Ау Оптроникс с технологией Эй-Эм-Ви-Эй,</a:t>
            </a:r>
          </a:p>
          <a:p>
            <a:r>
              <a:t>Шарп с технологией Эй-Эс-Ви.</a:t>
            </a:r>
          </a:p>
          <a:p/>
          <a:p>
            <a:r>
              <a:t>Основные характеристики любого монитора:</a:t>
            </a:r>
          </a:p>
          <a:p>
            <a:r>
              <a:t>частота развёртки, то есть сколько раз в секунду обновляется кадр;</a:t>
            </a:r>
          </a:p>
          <a:p>
            <a:r>
              <a:t>время отклика пикселя, за сколько миллисекунд он меняет цвет;</a:t>
            </a:r>
          </a:p>
          <a:p>
            <a:r>
              <a:t>угол обзора, под каким углом картинка остаётся читаемой.</a:t>
            </a:r>
          </a:p>
          <a:p>
            <a:r>
              <a:t>Современные Ай-Пи-Эс матрицы дают сто семьдесят восемь градусов обзора,</a:t>
            </a:r>
          </a:p>
          <a:p>
            <a:r>
              <a:t>время отклика один-четыре миллисекунды и частоту обновления от шестидесяти до трёхсот шестидесяти герц.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Плазменный монитор.</a:t>
            </a:r>
          </a:p>
          <a:p>
            <a:r>
              <a:t>На схеме — три ячейки: красная, зелёная и синяя.</a:t>
            </a:r>
          </a:p>
          <a:p>
            <a:r>
              <a:t>Сверху и снизу стеклянные пластины с прозрачными электродами,</a:t>
            </a:r>
          </a:p>
          <a:p>
            <a:r>
              <a:t>между ними слой диэлектрика и газ.</a:t>
            </a:r>
          </a:p>
          <a:p>
            <a:r>
              <a:t>В каждой ячейке находится смесь инертных газов, чаще всего неон и ксенон.</a:t>
            </a:r>
          </a:p>
          <a:p>
            <a:r>
              <a:t>При подаче высокого напряжения газ ионизируется, образуется плазма,</a:t>
            </a:r>
          </a:p>
          <a:p>
            <a:r>
              <a:t>которая излучает ультрафиолет.</a:t>
            </a:r>
          </a:p>
          <a:p>
            <a:r>
              <a:t>Ультрафиолет, в свою очередь, заставляет светиться люминофор,</a:t>
            </a:r>
          </a:p>
          <a:p>
            <a:r>
              <a:t>нанесённый на стенки ячейки.</a:t>
            </a:r>
          </a:p>
          <a:p>
            <a:r>
              <a:t>Красный, зелёный и синий люминофоры дают нужный цвет пикселя.</a:t>
            </a:r>
          </a:p>
          <a:p>
            <a:r>
              <a:t>Достоинства плазмы: огромные диагонали, яркие цвета, глубокий чёрный, широкий угол обзора.</a:t>
            </a:r>
          </a:p>
          <a:p>
            <a:r>
              <a:t>Недостатки: высокое энергопотребление, нагрев, выгорание люминофора,</a:t>
            </a:r>
          </a:p>
          <a:p>
            <a:r>
              <a:t>большой вес и невозможность сделать маленький экран.</a:t>
            </a:r>
          </a:p>
          <a:p>
            <a:r>
              <a:t>Поэтому плазма применялась в основном для телевизоров от сорока дюймов.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данном слайде — трёхмерная схема ячеек плазменного монитора.</a:t>
            </a:r>
          </a:p>
          <a:p>
            <a:r>
              <a:t>Сверху расположены электроды экрана, диэлектрик, оксид магния,</a:t>
            </a:r>
          </a:p>
          <a:p>
            <a:r>
              <a:t>разделители ячеек, люминофор, электроды адреса, диэлектрик.</a:t>
            </a:r>
          </a:p>
          <a:p>
            <a:r>
              <a:t>Справа — вид сбоку: вертикальные электроды на стеклянной пластине,</a:t>
            </a:r>
          </a:p>
          <a:p>
            <a:r>
              <a:t>горизонтальный электрод, изолятор и аргон-неоновая смесь внутри ячейки.</a:t>
            </a:r>
          </a:p>
          <a:p>
            <a:r>
              <a:t>Пиксель состоит из трёх ячеек: красной, зелёной и синей.</a:t>
            </a:r>
          </a:p>
          <a:p>
            <a:r>
              <a:t>Оксид магния на электродах важен: он защищает диэлектрик от разрушения</a:t>
            </a:r>
          </a:p>
          <a:p>
            <a:r>
              <a:t>и снижает напряжение зажигания разряда.</a:t>
            </a:r>
          </a:p>
          <a:p>
            <a:r>
              <a:t>Разделители ячеек не дают разряду перекидываться на соседние пиксели,</a:t>
            </a:r>
          </a:p>
          <a:p>
            <a:r>
              <a:t>что повышает чёткость изображения.</a:t>
            </a:r>
          </a:p>
          <a:p>
            <a:r>
              <a:t>Такая конструкция обеспечивала яркость и контрастность,</a:t>
            </a:r>
          </a:p>
          <a:p>
            <a:r>
              <a:t>недостижимые для первых Жэ-Ка мониторов.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Работа плазменной панели состоит из трёх этапов.</a:t>
            </a:r>
          </a:p>
          <a:p>
            <a:r>
              <a:t>Первый этап — инициализация.</a:t>
            </a:r>
          </a:p>
          <a:p>
            <a:r>
              <a:t>В ходе неё происходит упорядочение положения зарядов среды и её подготовка к следующему этапу.</a:t>
            </a:r>
          </a:p>
          <a:p>
            <a:r>
              <a:t>На электроде адресации напряжение отсутствует,</a:t>
            </a:r>
          </a:p>
          <a:p>
            <a:r>
              <a:t>а на электрод сканирования относительно электрода подсветки подаётся импульс инициализации</a:t>
            </a:r>
          </a:p>
          <a:p>
            <a:r>
              <a:t>ступенчатой формы.</a:t>
            </a:r>
          </a:p>
          <a:p>
            <a:r>
              <a:t>На первой ступени упорядочивается расположение ионной газовой среды,</a:t>
            </a:r>
          </a:p>
          <a:p>
            <a:r>
              <a:t>на второй происходит разряд в газе, на третьей завершается упорядочение.</a:t>
            </a:r>
          </a:p>
          <a:p>
            <a:r>
              <a:t>Второй этап — адресация.</a:t>
            </a:r>
          </a:p>
          <a:p>
            <a:r>
              <a:t>Происходит подготовка пикселя к подсвечиванию.</a:t>
            </a:r>
          </a:p>
          <a:p>
            <a:r>
              <a:t>На шину адресации подаётся положительный импульс плюс семьдесят пять вольт,</a:t>
            </a:r>
          </a:p>
          <a:p>
            <a:r>
              <a:t>на шину сканирования отрицательный минус семьдесят пять вольт.</a:t>
            </a:r>
          </a:p>
          <a:p>
            <a:r>
              <a:t>На шине подсветки напряжение устанавливается равным плюс сто пятьдесят вольт.</a:t>
            </a:r>
          </a:p>
          <a:p>
            <a:r>
              <a:t>Третий этап — подсветка.</a:t>
            </a:r>
          </a:p>
          <a:p>
            <a:r>
              <a:t>На шину сканирования подаётся положительный импульс,</a:t>
            </a:r>
          </a:p>
          <a:p>
            <a:r>
              <a:t>а на шину подсветки отрицательный, равный сто девяносто вольт.</a:t>
            </a:r>
          </a:p>
          <a:p>
            <a:r>
              <a:t>Сумма потенциалов ионов и дополнительных импульсов превышает порог,</a:t>
            </a:r>
          </a:p>
          <a:p>
            <a:r>
              <a:t>и происходит разряд в газовой среде.</a:t>
            </a:r>
          </a:p>
          <a:p>
            <a:r>
              <a:t>Смена полярности импульсов приводит к повторному разряду.</a:t>
            </a:r>
          </a:p>
          <a:p>
            <a:r>
              <a:t>Один цикл инициализация-адресация-подсветка формирует одно подполе изображения.</a:t>
            </a:r>
          </a:p>
          <a:p>
            <a:r>
              <a:t>Складывая несколько подполей, можно получить заданную яркость и контраст.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ОЛЕД дисплеи — органические свето-диоды.</a:t>
            </a:r>
          </a:p>
          <a:p>
            <a:r>
              <a:t>Дисплей состоит из матрицы органических свето-диодов.</a:t>
            </a:r>
          </a:p>
          <a:p>
            <a:r>
              <a:t>В отличие от Жэ-Ка, где пиксели лишь фильтруют свет от общей фоновой лампы,</a:t>
            </a:r>
          </a:p>
          <a:p>
            <a:r>
              <a:t>каждый пиксель ОЛЕД светится сам при подаче на него тока.</a:t>
            </a:r>
          </a:p>
          <a:p>
            <a:r>
              <a:t>Между катодом и анодом зажаты тончайшие органические слои:</a:t>
            </a:r>
          </a:p>
          <a:p>
            <a:r>
              <a:t>эмиссионный и проводящий.</a:t>
            </a:r>
          </a:p>
          <a:p>
            <a:r>
              <a:t>Электроны и дырки соединяются в эмиссионном слое, порождая кванты света.</a:t>
            </a:r>
          </a:p>
          <a:p>
            <a:r>
              <a:t>Абсолютно чёрный цвет.</a:t>
            </a:r>
          </a:p>
          <a:p>
            <a:r>
              <a:t>Чтобы показать чёрный, пиксель просто полностью выключается и не излучает свет.</a:t>
            </a:r>
          </a:p>
          <a:p>
            <a:r>
              <a:t>Это даёт бесконечную контрастность и экономит батарею.</a:t>
            </a:r>
          </a:p>
          <a:p>
            <a:r>
              <a:t>Именно поэтому ОЛЕД стал стандартом для смартфонов и премиум-телевизоров.</a:t>
            </a:r>
          </a:p>
          <a:p>
            <a:r>
              <a:t>Толщина панели может быть меньше миллиметра, а гибкие ОЛЕД экраны можно сворачивать в трубочку.</a:t>
            </a:r>
          </a:p>
          <a:p>
            <a:r>
              <a:t>Типичные времена отклика у ОЛЕД — от ноль одной до одной миллисекунды,</a:t>
            </a:r>
          </a:p>
          <a:p>
            <a:r>
              <a:t>что в десятки раз быстрее любой Жэ-Ка матрицы.</a:t>
            </a:r>
          </a:p>
          <a:p>
            <a:r>
              <a:t>Углы обзора практически сто восемьдесят градусов без искажения цвета.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основных вида ОЛЕД по типу управления матрицей.</a:t>
            </a:r>
          </a:p>
          <a:p>
            <a:r>
              <a:t>Пэ-эМ-ОЛЕД, пассивное управление: экраном управляет простая сетка</a:t>
            </a:r>
          </a:p>
          <a:p>
            <a:r>
              <a:t>из пересекающихся строк и столбцов.</a:t>
            </a:r>
          </a:p>
          <a:p>
            <a:r>
              <a:t>Дешёвая, но медленная технология, не подходит для больших экранов.</a:t>
            </a:r>
          </a:p>
          <a:p>
            <a:r>
              <a:t>Применение: крошечные монохромные экраны фитнес-браслетов или умных часов.</a:t>
            </a:r>
          </a:p>
          <a:p>
            <a:r>
              <a:t>АМ-ОЛЕД, активное управление: каждый пиксель управляется своим собственным</a:t>
            </a:r>
          </a:p>
          <a:p>
            <a:r>
              <a:t>скрытым тонкоплёночным транзистором.</a:t>
            </a:r>
          </a:p>
          <a:p>
            <a:r>
              <a:t>Это даёт мгновенный отклик, сочную картинку и высокую частоту обновления.</a:t>
            </a:r>
          </a:p>
          <a:p>
            <a:r>
              <a:t>Применение: все современные смартфоны, планшеты и премиум-телевизоры.</a:t>
            </a:r>
          </a:p>
          <a:p>
            <a:r>
              <a:t>Эволюция цветопередачи, субпиксели.</a:t>
            </a:r>
          </a:p>
          <a:p>
            <a:r>
              <a:t>Вэ-ОЛЕД от компании Эл-Джи: все диоды светятся белым,</a:t>
            </a:r>
          </a:p>
          <a:p>
            <a:r>
              <a:t>а нужный оттенок получается за счёт цветных светофильтров.</a:t>
            </a:r>
          </a:p>
          <a:p>
            <a:r>
              <a:t>Проще в производстве, но режет пиковую яркость.</a:t>
            </a:r>
          </a:p>
          <a:p>
            <a:r>
              <a:t>Кью-Ди-ОЛЕД от Самсунг: все диоды светятся синим,</a:t>
            </a:r>
          </a:p>
          <a:p>
            <a:r>
              <a:t>а квантовые точки, нано-кристаллы, переизлучают его в чистейшие красный и зелёный.</a:t>
            </a:r>
          </a:p>
          <a:p>
            <a:r>
              <a:t>Даёт экстремальную яркость и максимальный цветовой охват.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Принтеры делятся на три основных типа по технологии печати.</a:t>
            </a:r>
          </a:p>
          <a:p>
            <a:r>
              <a:t>Матричный — самый старый, ударного действия.</a:t>
            </a:r>
          </a:p>
          <a:p>
            <a:r>
              <a:t>Струйный — капельный, с жидкими чернилами.</a:t>
            </a:r>
          </a:p>
          <a:p>
            <a:r>
              <a:t>Лазерный — электрофотографический, с тонером.</a:t>
            </a:r>
          </a:p>
          <a:p>
            <a:r>
              <a:t>Каждый тип имеет свою нишу.</a:t>
            </a:r>
          </a:p>
          <a:p>
            <a:r>
              <a:t>Матричные принтеры до сих пор используются там, где нужны копии под копирку:</a:t>
            </a:r>
          </a:p>
          <a:p>
            <a:r>
              <a:t>в банках, на железной дороге, в бухгалтерии.</a:t>
            </a:r>
          </a:p>
          <a:p>
            <a:r>
              <a:t>Струйные — для фотографий, цветной печати документов, домашнего использования.</a:t>
            </a:r>
          </a:p>
          <a:p>
            <a:r>
              <a:t>Лазерные — для быстрой офисной печати больших объёмов текста.</a:t>
            </a:r>
          </a:p>
          <a:p>
            <a:r>
              <a:t>Существуют также сублимационные, термические и трёхмерные принтеры,</a:t>
            </a:r>
          </a:p>
          <a:p>
            <a:r>
              <a:t>но это отдельные классы устройств со своими принципами.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фотографии — типичный матричный принтер девяностых годов.</a:t>
            </a:r>
          </a:p>
          <a:p>
            <a:r>
              <a:t>Корпус из бежевого пластика, сверху видна бумага, заправленная в трактор.</a:t>
            </a:r>
          </a:p>
          <a:p>
            <a:r>
              <a:t>Спереди — панель управления с кнопками.</a:t>
            </a:r>
          </a:p>
          <a:p>
            <a:r>
              <a:t>Сзади — разъёмы для подключения к компьютеру.</a:t>
            </a:r>
          </a:p>
          <a:p>
            <a:r>
              <a:t>Принцип работы простой: печатающая головка с иголками движется вдоль строки</a:t>
            </a:r>
          </a:p>
          <a:p>
            <a:r>
              <a:t>и ударяет по красящей ленте, которая прижимается к бумаге.</a:t>
            </a:r>
          </a:p>
          <a:p>
            <a:r>
              <a:t>Каждый удар оставляет точку.</a:t>
            </a:r>
          </a:p>
          <a:p>
            <a:r>
              <a:t>Из точек складываются буквы и цифры.</a:t>
            </a:r>
          </a:p>
          <a:p>
            <a:r>
              <a:t>Достоинства: дешёвая печать, возможность печатать под копирку,</a:t>
            </a:r>
          </a:p>
          <a:p>
            <a:r>
              <a:t>неприхотливость к бумаге, долговечность.</a:t>
            </a:r>
          </a:p>
          <a:p>
            <a:r>
              <a:t>Недостатки: шум, низкое качество, только монохромная печать,</a:t>
            </a:r>
          </a:p>
          <a:p>
            <a:r>
              <a:t>низкая скорость для графики.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матричный принтер со снятой крышкой.</a:t>
            </a:r>
          </a:p>
          <a:p>
            <a:r>
              <a:t>Хорошо виден механизм: печатающая головка на каретке,</a:t>
            </a:r>
          </a:p>
          <a:p>
            <a:r>
              <a:t>которая движется по направляющей вдоль строки.</a:t>
            </a:r>
          </a:p>
          <a:p>
            <a:r>
              <a:t>Красящая лента между головкой и бумагой.</a:t>
            </a:r>
          </a:p>
          <a:p>
            <a:r>
              <a:t>Валик, прижимающий бумагу.</a:t>
            </a:r>
          </a:p>
          <a:p>
            <a:r>
              <a:t>По бокам видны шестерни и двигатели подачи.</a:t>
            </a:r>
          </a:p>
          <a:p>
            <a:r>
              <a:t>На передней панели — кнопки управления: питание, онлайн, перевод строки, перевод страницы.</a:t>
            </a:r>
          </a:p>
          <a:p>
            <a:r>
              <a:t>Переключатели для выбора режима печати.</a:t>
            </a:r>
          </a:p>
          <a:p>
            <a:r>
              <a:t>Такая конструкция практически не менялась с восьмидесятых годов.</a:t>
            </a:r>
          </a:p>
          <a:p>
            <a:r>
              <a:t>Современные матричные принтеры выглядят почти так же,</a:t>
            </a:r>
          </a:p>
          <a:p>
            <a:r>
              <a:t>разве что управление стало электронным, а не механическим.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Основной принцип нанесения точек на бумагу похож на нанесение татуировки.</a:t>
            </a:r>
          </a:p>
          <a:p>
            <a:r>
              <a:t>Слева видна матрица из печатающих иголок, наносящая буквы на лист бумаги.</a:t>
            </a:r>
          </a:p>
          <a:p>
            <a:r>
              <a:t>Справа — схема работы одной иголки.</a:t>
            </a:r>
          </a:p>
          <a:p>
            <a:r>
              <a:t>Исполнительная пластинка, сердечник, обмотка электромагнита.</a:t>
            </a:r>
          </a:p>
          <a:p>
            <a:r>
              <a:t>При подаче импульса тока на обмотку сердечник намагничивается,</a:t>
            </a:r>
          </a:p>
          <a:p>
            <a:r>
              <a:t>притягивает исполнительную пластинку,</a:t>
            </a:r>
          </a:p>
          <a:p>
            <a:r>
              <a:t>которая через стопор и пружину толкает иголку вперёд.</a:t>
            </a:r>
          </a:p>
          <a:p>
            <a:r>
              <a:t>Иголка ударяет по красящей ленте, и на бумаге остаётся точка.</a:t>
            </a:r>
          </a:p>
          <a:p>
            <a:r>
              <a:t>Затем пружина возврата оттягивает иголку назад.</a:t>
            </a:r>
          </a:p>
          <a:p>
            <a:r>
              <a:t>В головке обычно девять или двадцать четыре иголки,</a:t>
            </a:r>
          </a:p>
          <a:p>
            <a:r>
              <a:t>расположенные в один или два ряда.</a:t>
            </a:r>
          </a:p>
          <a:p>
            <a:r>
              <a:t>Чем больше иголок, тем выше качество печати.</a:t>
            </a:r>
          </a:p>
          <a:p>
            <a:r>
              <a:t>Скорость — до нескольких сотен знаков в секунду.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Существовало огромное количество разнообразных струйных принтеров.</a:t>
            </a:r>
          </a:p>
          <a:p>
            <a:r>
              <a:t>Сверху и в центре — модели разных производителей:</a:t>
            </a:r>
          </a:p>
          <a:p>
            <a:r>
              <a:t>Канон, Эпсон, Хьюлетт-Паккард, Лексмарк.</a:t>
            </a:r>
          </a:p>
          <a:p>
            <a:r>
              <a:t>Разные форм-факторы: от компактных домашних до широкоформатных офисных.</a:t>
            </a:r>
          </a:p>
          <a:p>
            <a:r>
              <a:t>Снизу — фотопринтеры с отдельными картриджами для фотографий.</a:t>
            </a:r>
          </a:p>
          <a:p>
            <a:r>
              <a:t>Струйные принтеры печатают, выбрызгивая микроскопические капли чернил на бумагу.</a:t>
            </a:r>
          </a:p>
          <a:p>
            <a:r>
              <a:t>Капля имеет объём от одного до нескольких пиколитров.</a:t>
            </a:r>
          </a:p>
          <a:p>
            <a:r>
              <a:t>Точность попадания — доли миллиметра.</a:t>
            </a:r>
          </a:p>
          <a:p>
            <a:r>
              <a:t>Цветная печать использует четыре основных цвета:</a:t>
            </a:r>
          </a:p>
          <a:p>
            <a:r>
              <a:t>голубой, пурпурный, жёлтый и чёрный.</a:t>
            </a:r>
          </a:p>
          <a:p>
            <a:r>
              <a:t>Достоинства струйных принтеров: высокое качество фотографий,</a:t>
            </a:r>
          </a:p>
          <a:p>
            <a:r>
              <a:t>цветная печать, относительно низкая цена самого принтера.</a:t>
            </a:r>
          </a:p>
          <a:p>
            <a:r>
              <a:t>Недостатки: дорогие чернила, засыхание картриджей при простое,</a:t>
            </a:r>
          </a:p>
          <a:p>
            <a:r>
              <a:t>низкая скорость при печати 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технические реализации способа подачи красителя.</a:t>
            </a:r>
          </a:p>
          <a:p>
            <a:r>
              <a:t>Термическая, её также называют бабл-джет.</a:t>
            </a:r>
          </a:p>
          <a:p>
            <a:r>
              <a:t>Разработчик — компания Канон, принцип разработан в конце семидесятых годов.</a:t>
            </a:r>
          </a:p>
          <a:p>
            <a:r>
              <a:t>В сопле расположен микроскопический нагревательный элемент,</a:t>
            </a:r>
          </a:p>
          <a:p>
            <a:r>
              <a:t>который при прохождении электрического тока мгновенно нагревается</a:t>
            </a:r>
          </a:p>
          <a:p>
            <a:r>
              <a:t>до температуры около пятисот градусов.</a:t>
            </a:r>
          </a:p>
          <a:p>
            <a:r>
              <a:t>При нагревании в чернилах образуются газовые пузырьки, бабблз,</a:t>
            </a:r>
          </a:p>
          <a:p>
            <a:r>
              <a:t>которые выталкивают капли жидкости из сопла на носитель.</a:t>
            </a:r>
          </a:p>
          <a:p>
            <a:r>
              <a:t>В тысяча девятьсот восемьдесят первом году технология была представлена на выставке.</a:t>
            </a:r>
          </a:p>
          <a:p>
            <a:r>
              <a:t>В тысяча девятьсот восемьдесят пятом году появилась первая коммерческая модель</a:t>
            </a:r>
          </a:p>
          <a:p>
            <a:r>
              <a:t>монохромного принтера.</a:t>
            </a:r>
          </a:p>
          <a:p>
            <a:r>
              <a:t>В тысяча девятьсот восемьдесят восьмом году — первый цветной принтер,</a:t>
            </a:r>
          </a:p>
          <a:p>
            <a:r>
              <a:t>разрешением четыреста точек на дюйм.</a:t>
            </a:r>
          </a:p>
          <a:p>
            <a:r>
              <a:t>Пьезоэлектрическая — над соплом расположен пьезокристалл с диафрагмой.</a:t>
            </a:r>
          </a:p>
          <a:p>
            <a:r>
              <a:t>Когда на пьезоэлемент подаётся электрический ток, он изгибается</a:t>
            </a:r>
          </a:p>
          <a:p>
            <a:r>
              <a:t>и тянет за собой диафрагму — формируется капля,</a:t>
            </a:r>
          </a:p>
          <a:p>
            <a:r>
              <a:t>которая выталкивается на бумагу.</a:t>
            </a:r>
          </a:p>
          <a:p>
            <a:r>
              <a:t>Широкое распространение получила в принтерах компании Эпсон.</a:t>
            </a:r>
          </a:p>
          <a:p>
            <a:r>
              <a:t>Технология позволяет изменять размер капли, что даёт более точную цветопередачу.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Разберем состав и термический принцип печати струйного принтера.</a:t>
            </a:r>
          </a:p>
          <a:p>
            <a:r>
              <a:t>Слева общая схема: бумага подаётся, проходит под печатной головкой,</a:t>
            </a:r>
          </a:p>
          <a:p>
            <a:r>
              <a:t>выходит с напечатанным изображением.</a:t>
            </a:r>
          </a:p>
          <a:p>
            <a:r>
              <a:t>Контроллер управляет печатной головкой и шаговым двигателем.</a:t>
            </a:r>
          </a:p>
          <a:p>
            <a:r>
              <a:t>Картриджи с чернилами.</a:t>
            </a:r>
          </a:p>
          <a:p>
            <a:r>
              <a:t>Ленточный кабель передаёт сигналы управления.</a:t>
            </a:r>
          </a:p>
          <a:p>
            <a:r>
              <a:t>Механизм печатной головки движется по направляющей.</a:t>
            </a:r>
          </a:p>
          <a:p>
            <a:r>
              <a:t>Двигатель подачи бумаги с подающими роликами.</a:t>
            </a:r>
          </a:p>
          <a:p>
            <a:r>
              <a:t>Справа — три стадии работы термической головки.</a:t>
            </a:r>
          </a:p>
          <a:p>
            <a:r>
              <a:t>Первая: трубка с чернилами и нагревательный элемент, сопло.</a:t>
            </a:r>
          </a:p>
          <a:p>
            <a:r>
              <a:t>Вторая: при нагревании в чернилах формируется газовый пузырёк.</a:t>
            </a:r>
          </a:p>
          <a:p>
            <a:r>
              <a:t>Третья: увеличиваясь, пузырёк выталкивает чернила из трубки.</a:t>
            </a:r>
          </a:p>
          <a:p>
            <a:r>
              <a:t>Такой процесс повторяется тысячи раз в секунду.</a:t>
            </a:r>
          </a:p>
          <a:p>
            <a:r>
              <a:t>Каждая капля летит на бумагу и впитывается в неё, формируя точку.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Пъезоэлектрический принцип печати можно описать </a:t>
            </a:r>
          </a:p>
          <a:p>
            <a:r>
              <a:t>четырьмя стадиями.</a:t>
            </a:r>
          </a:p>
          <a:p>
            <a:r>
              <a:t>Первая: состояние перед началом работы.</a:t>
            </a:r>
          </a:p>
          <a:p>
            <a:r>
              <a:t>Пьезо-материал сверху, сопло справа, чернила внутри.</a:t>
            </a:r>
          </a:p>
          <a:p>
            <a:r>
              <a:t>Вторая: состояние во время максимальной деформации.</a:t>
            </a:r>
          </a:p>
          <a:p>
            <a:r>
              <a:t>На пьезо-материал подано напряжение, он изгибается вниз,</a:t>
            </a:r>
          </a:p>
          <a:p>
            <a:r>
              <a:t>выдавливая каплю из сопла.</a:t>
            </a:r>
          </a:p>
          <a:p>
            <a:r>
              <a:t>Третья: состояние покоя.</a:t>
            </a:r>
          </a:p>
          <a:p>
            <a:r>
              <a:t>Пьезо-материал вернулся в исходное положение,</a:t>
            </a:r>
          </a:p>
          <a:p>
            <a:r>
              <a:t>чернила засасываются обратно в камеру.</a:t>
            </a:r>
          </a:p>
          <a:p>
            <a:r>
              <a:t>Четвёртая: выдавливание чернил из картриджа.</a:t>
            </a:r>
          </a:p>
          <a:p>
            <a:r>
              <a:t>Цикл повторяется.</a:t>
            </a:r>
          </a:p>
          <a:p>
            <a:r>
              <a:t>Такая технология позволяет точнее контролировать размер капли,</a:t>
            </a:r>
          </a:p>
          <a:p>
            <a:r>
              <a:t>что даёт лучшее качество печати по сравнению с термической.</a:t>
            </a:r>
          </a:p>
          <a:p>
            <a:r>
              <a:t>Кроме того, пьезоэлементы не нагреваются, поэтому чернила меньше засыхают.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— типичный картриджный блок струйного принтера.</a:t>
            </a:r>
          </a:p>
          <a:p>
            <a:r>
              <a:t>В центре видны четыре картриджа с надписями:</a:t>
            </a:r>
          </a:p>
          <a:p>
            <a:r>
              <a:t>Блэк, чёрный;</a:t>
            </a:r>
          </a:p>
          <a:p>
            <a:r>
              <a:t>Циан, голубой;</a:t>
            </a:r>
          </a:p>
          <a:p>
            <a:r>
              <a:t>Магента, пурпурный;</a:t>
            </a:r>
          </a:p>
          <a:p>
            <a:r>
              <a:t>Йеллоу, жёлтый.</a:t>
            </a:r>
          </a:p>
          <a:p>
            <a:r>
              <a:t>Каждый картридж имеет свой цвет и своё посадочное место,</a:t>
            </a:r>
          </a:p>
          <a:p>
            <a:r>
              <a:t>перепутать невозможно из-за ключей в форме корпуса.</a:t>
            </a:r>
          </a:p>
          <a:p>
            <a:r>
              <a:t>На картриджах видны контакты для электрического подключения к принтеру.</a:t>
            </a:r>
          </a:p>
          <a:p>
            <a:r>
              <a:t>Разные объёмы чернил: чёрный обычно больше, потому что расходуется чаще.</a:t>
            </a:r>
          </a:p>
          <a:p>
            <a:r>
              <a:t>В некоторых принтерах используется единый цветной картридж на три цвета,</a:t>
            </a:r>
          </a:p>
          <a:p>
            <a:r>
              <a:t>в других — отдельные картриджи на каждый цвет.</a:t>
            </a:r>
          </a:p>
          <a:p>
            <a:r>
              <a:t>Раздельные картриджи дороже, но экономичнее в эксплуатации:</a:t>
            </a:r>
          </a:p>
          <a:p>
            <a:r>
              <a:t>закончился один цвет — меняешь только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цветовые схемы для разных устройств.</a:t>
            </a:r>
          </a:p>
          <a:p>
            <a:r>
              <a:t>ЦМИК — для печатающих устройств.</a:t>
            </a:r>
          </a:p>
          <a:p>
            <a:r>
              <a:t>Циан, голубой; Магента, пурпурный; Йеллоу, жёлтый; Кей, чёрный ключевой цвет.</a:t>
            </a:r>
          </a:p>
          <a:p>
            <a:r>
              <a:t>При смешивании трёх основных цветов теоретически должен получаться чёрный,</a:t>
            </a:r>
          </a:p>
          <a:p>
            <a:r>
              <a:t>но на практике он выходит грязно-коричневым,</a:t>
            </a:r>
          </a:p>
          <a:p>
            <a:r>
              <a:t>поэтому добавляют отдельный чёрный.</a:t>
            </a:r>
          </a:p>
          <a:p>
            <a:r>
              <a:t>Это субтрактивная модель: смешение красок вычитает свет из белого листа.</a:t>
            </a:r>
          </a:p>
          <a:p>
            <a:r>
              <a:t>эР-Джи-Би — для эмиссионных устройств, мониторов.</a:t>
            </a:r>
          </a:p>
          <a:p>
            <a:r>
              <a:t>Ред, красный; Грин, зелёный; Блю, синий.</a:t>
            </a:r>
          </a:p>
          <a:p>
            <a:r>
              <a:t>Это аддитивная модель: смешение света складывается.</a:t>
            </a:r>
          </a:p>
          <a:p>
            <a:r>
              <a:t>При смешении всех трёх цветов получается белый.</a:t>
            </a:r>
          </a:p>
          <a:p>
            <a:r>
              <a:t>При отсутствии чёрный.</a:t>
            </a:r>
          </a:p>
          <a:p>
            <a:r>
              <a:t>Именно поэтому на экране мы видим цвета, а на бумаге совсем другая модель.</a:t>
            </a:r>
          </a:p>
          <a:p>
            <a:r>
              <a:t>Цветопередача принтера всегда зависит от бумаги и чернил,</a:t>
            </a:r>
          </a:p>
          <a:p>
            <a:r>
              <a:t>и откалибровать её идеально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показано два лазерных принтера.</a:t>
            </a:r>
          </a:p>
          <a:p>
            <a:r>
              <a:t>Слева — цветной принтер Эпсон с фотографией на выходе.</a:t>
            </a:r>
          </a:p>
          <a:p>
            <a:r>
              <a:t>Справа — монохромный Хьюлетт-Паккард Лазерджет, классика офисной печати.</a:t>
            </a:r>
          </a:p>
          <a:p>
            <a:r>
              <a:t>Лазерный принтер использует принцип электрофотографии,</a:t>
            </a:r>
          </a:p>
          <a:p>
            <a:r>
              <a:t>тот же, что и копировальный аппарат.</a:t>
            </a:r>
          </a:p>
          <a:p>
            <a:r>
              <a:t>Внутри находится фотобарабан, покрытый светочувствительным материалом.</a:t>
            </a:r>
          </a:p>
          <a:p>
            <a:r>
              <a:t>Лазерный луч рисует на барабане невидимое электростатическое изображение,</a:t>
            </a:r>
          </a:p>
          <a:p>
            <a:r>
              <a:t>к которому прилипает тонер, мелкий порошок.</a:t>
            </a:r>
          </a:p>
          <a:p>
            <a:r>
              <a:t>Затем тонер переносится на бумагу и запекается в печке при высокой температуре.</a:t>
            </a:r>
          </a:p>
          <a:p>
            <a:r>
              <a:t>Достоинства лазерных принтеров: высокая скорость, низкая стоимость отпечатка,</a:t>
            </a:r>
          </a:p>
          <a:p>
            <a:r>
              <a:t>чёткий текст, устойчивость к влаге и выцветанию.</a:t>
            </a:r>
          </a:p>
          <a:p>
            <a:r>
              <a:t>Недостатки: дорогой старт, хуже передача фотографий по сравнению со струйными.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Приведем схему лазерного принтера.</a:t>
            </a:r>
          </a:p>
          <a:p>
            <a:r>
              <a:t>В центре большой зелёный фотобарабан.</a:t>
            </a:r>
          </a:p>
          <a:p>
            <a:r>
              <a:t>Сверху на него направлен лазерный луч.</a:t>
            </a:r>
          </a:p>
          <a:p>
            <a:r>
              <a:t>Слева ролик заряда, который наносит на поверхность барабана отрицательный заряд.</a:t>
            </a:r>
          </a:p>
          <a:p>
            <a:r>
              <a:t>Справа ролик проявки, который подаёт тонер.</a:t>
            </a:r>
          </a:p>
          <a:p>
            <a:r>
              <a:t>Дозирующее лезвие регулирует толщину слоя тонера.</a:t>
            </a:r>
          </a:p>
          <a:p>
            <a:r>
              <a:t>Чистящее лезвие убирает остатки тонера после переноса.</a:t>
            </a:r>
          </a:p>
          <a:p>
            <a:r>
              <a:t>Внизу лист бумаги, который проходит между барабаном и роликом переноса.</a:t>
            </a:r>
          </a:p>
          <a:p>
            <a:r>
              <a:t>Ролик переноса подаёт на бумагу положительный заряд,</a:t>
            </a:r>
          </a:p>
          <a:p>
            <a:r>
              <a:t>и тонер притягивается к бумаге.</a:t>
            </a:r>
          </a:p>
          <a:p>
            <a:r>
              <a:t>Термовал и прижимной ролик закрепляют тонер на бумаге.</a:t>
            </a:r>
          </a:p>
          <a:p>
            <a:r>
              <a:t>Принцип простой: лазер рисует на заряженном барабане скрытое изображение,</a:t>
            </a:r>
          </a:p>
          <a:p>
            <a:r>
              <a:t>тонер прилипает только к засвеченным участкам,</a:t>
            </a:r>
          </a:p>
          <a:p>
            <a:r>
              <a:t>затем переносится на бумагу и закрепляется нагревом.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Приведём ещё одну схему технологии лазерной печати.</a:t>
            </a:r>
          </a:p>
          <a:p>
            <a:r>
              <a:t>Лазер, отклоняемое зеркало, фотобарабан.</a:t>
            </a:r>
          </a:p>
          <a:p>
            <a:r>
              <a:t>Слева вал предварительного заряда, он равномерно заряжает барабан.</a:t>
            </a:r>
          </a:p>
          <a:p>
            <a:r>
              <a:t>Справа магнитный вал с тонером в ёмкости.</a:t>
            </a:r>
          </a:p>
          <a:p>
            <a:r>
              <a:t>Снизу печка, через которую проходит бумага.</a:t>
            </a:r>
          </a:p>
          <a:p>
            <a:r>
              <a:t>Отработанный тонер собирается в специальном контейнере.</a:t>
            </a:r>
          </a:p>
          <a:p>
            <a:r>
              <a:t>Принцип: заряд, экспонирование, проявление, перенос, закрепление.</a:t>
            </a:r>
          </a:p>
          <a:p>
            <a:r>
              <a:t>Каждый этап критичен.</a:t>
            </a:r>
          </a:p>
          <a:p>
            <a:r>
              <a:t>Например, если заряд неравномерный, изображение будет с фоном.</a:t>
            </a:r>
          </a:p>
          <a:p>
            <a:r>
              <a:t>Если печка недостаточно горячая, тонер осыпается с бумаги.</a:t>
            </a:r>
          </a:p>
          <a:p>
            <a:r>
              <a:t>Если лазер загрязнён, появляются полосы.</a:t>
            </a:r>
          </a:p>
          <a:p>
            <a:r>
              <a:t>Именно поэтому лазерные принтеры требуют периодического обслуживания.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представлен крупный вид фотобарабана и его окружения.</a:t>
            </a:r>
          </a:p>
          <a:p>
            <a:r>
              <a:t>Лазер, зеркало, ролик первичного заряда, фотобарабан, магнитный вал.</a:t>
            </a:r>
          </a:p>
          <a:p>
            <a:r>
              <a:t>Лазерный луч отражается от зеркала и сканирует поверхность барабана построчно.</a:t>
            </a:r>
          </a:p>
          <a:p>
            <a:r>
              <a:t>Зеркало вращается с высокой скоростью, отклоняя луч по горизонтали.</a:t>
            </a:r>
          </a:p>
          <a:p>
            <a:r>
              <a:t>Барабан вращается, обеспечивая вертикальное сканирование.</a:t>
            </a:r>
          </a:p>
          <a:p>
            <a:r>
              <a:t>В результате на поверхности формируется скрытое изображение.</a:t>
            </a:r>
          </a:p>
          <a:p>
            <a:r>
              <a:t>Ролик первичного заряда покрывает барабан равномерным отрицательным зарядом.</a:t>
            </a:r>
          </a:p>
          <a:p>
            <a:r>
              <a:t>Магнитный вал подаёт тонер, который прилипает к засвеченным участкам.</a:t>
            </a:r>
          </a:p>
          <a:p>
            <a:r>
              <a:t>Металлический барабан обычно покрыт слоем органического фотопроводника,</a:t>
            </a:r>
          </a:p>
          <a:p>
            <a:r>
              <a:t>который становится проводником под действием света.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способа переноса тонера.</a:t>
            </a:r>
          </a:p>
          <a:p>
            <a:r>
              <a:t>Двухкомпонентный, с системой из двух компонентов проявления:</a:t>
            </a:r>
          </a:p>
          <a:p>
            <a:r>
              <a:t>раздельный тонер и девелопер.</a:t>
            </a:r>
          </a:p>
          <a:p>
            <a:r>
              <a:t>Красящие частицы не могут сами удерживаться на магнитном валу,</a:t>
            </a:r>
          </a:p>
          <a:p>
            <a:r>
              <a:t>но прилипают к частицам специального магнитного порошка носителя, девелопера,</a:t>
            </a:r>
          </a:p>
          <a:p>
            <a:r>
              <a:t>которые при перемешивании заряжаются из-за взаимного трения.</a:t>
            </a:r>
          </a:p>
          <a:p>
            <a:r>
              <a:t>Двухкомпонентный, где тонер и девелопер уже смешаны заранее в заводском картридже.</a:t>
            </a:r>
          </a:p>
          <a:p>
            <a:r>
              <a:t>Однокомпонентный, например в современных принтерах Канон и Хьюлетт-Паккард:</a:t>
            </a:r>
          </a:p>
          <a:p>
            <a:r>
              <a:t>только тонер без примесей, красящие частицы сами по себе обладают магнитными свойствами.</a:t>
            </a:r>
          </a:p>
          <a:p>
            <a:r>
              <a:t>В принтерах Ксерокс, Самсунг и Бразер используется немагнитный тонер</a:t>
            </a:r>
          </a:p>
          <a:p>
            <a:r>
              <a:t>с электростатической системой нанесения.</a:t>
            </a:r>
          </a:p>
          <a:p>
            <a:r>
              <a:t>В двухкомпонентной системе девелопер остаётся на магнитном валу</a:t>
            </a:r>
          </a:p>
          <a:p>
            <a:r>
              <a:t>и продолжает служить дальше, а тонер расходуется.</a:t>
            </a:r>
          </a:p>
          <a:p>
            <a:r>
              <a:t>Производители заявляют, что девелопер не требует восполнения,</a:t>
            </a:r>
          </a:p>
          <a:p>
            <a:r>
              <a:t>но на практике его характеристики со временем ухудшаются.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этой фотографии — шутка на тему заправки лазерного принтера.</a:t>
            </a:r>
          </a:p>
          <a:p>
            <a:r>
              <a:t>Компьютер, монитор, клавиатура и принтер, всё в чёрных пятнах тонера.</a:t>
            </a:r>
          </a:p>
          <a:p>
            <a:r>
              <a:t>Подпись: «Заправить лазерный принтер? Нет ничего проще».</a:t>
            </a:r>
          </a:p>
          <a:p>
            <a:r>
              <a:t>Реальность: заправка тонером грязная и опасная процедура,</a:t>
            </a:r>
          </a:p>
          <a:p>
            <a:r>
              <a:t>если делать её неправильно.</a:t>
            </a:r>
          </a:p>
          <a:p>
            <a:r>
              <a:t>Тонер — это мелкий порошок, который при вдыхании может быть вреден.</a:t>
            </a:r>
          </a:p>
          <a:p>
            <a:r>
              <a:t>При заправке нужно работать в маске, перчатках и хорошо проветриваемом помещении.</a:t>
            </a:r>
          </a:p>
          <a:p>
            <a:r>
              <a:t>Кроме того, после заправки нужно сбрасывать счётчик страниц на чипе картриджа,</a:t>
            </a:r>
          </a:p>
          <a:p>
            <a:r>
              <a:t>иначе принтер будет показывать нет тонера, даже если он есть.</a:t>
            </a:r>
          </a:p>
          <a:p>
            <a:r>
              <a:t>Многие производители специально ставят чипы,</a:t>
            </a:r>
          </a:p>
          <a:p>
            <a:r>
              <a:t>чтобы пользователи покупали новые картриджи, а не заправляли старые.</a:t>
            </a:r>
          </a:p>
          <a:p>
            <a:r>
              <a:t>Но заправка позволяет сэкономить в несколько раз по сравнению с новым картриджем.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Еще одна схема цветной лазерной печати с использованием револьвера картриджей.</a:t>
            </a:r>
          </a:p>
          <a:p>
            <a:r>
              <a:t>Лазерный блок, путь бумаги, револьвер с картриджами,</a:t>
            </a:r>
          </a:p>
          <a:p>
            <a:r>
              <a:t>фотовал, ремень переноса изображения, печка, лоток для бумаги.</a:t>
            </a:r>
          </a:p>
          <a:p>
            <a:r>
              <a:t>В цветных лазерных принтерах используется либо револьверная схема,</a:t>
            </a:r>
          </a:p>
          <a:p>
            <a:r>
              <a:t>где один фотобарабан и четыре картриджа по очереди прижимаются к нему,</a:t>
            </a:r>
          </a:p>
          <a:p>
            <a:r>
              <a:t>либо схема с четырьмя отдельными фотобарабанами.</a:t>
            </a:r>
          </a:p>
          <a:p>
            <a:r>
              <a:t>Револьверная схема компактнее, но медленнее,</a:t>
            </a:r>
          </a:p>
          <a:p>
            <a:r>
              <a:t>на каждый цвет нужен отдельный цикл печати.</a:t>
            </a:r>
          </a:p>
          <a:p>
            <a:r>
              <a:t>Схема с четырьмя барабанами быстрее, но занимает больше места и дороже.</a:t>
            </a:r>
          </a:p>
          <a:p>
            <a:r>
              <a:t>В револьверной схеме каждый цвет проходит полный цикл:</a:t>
            </a:r>
          </a:p>
          <a:p>
            <a:r>
              <a:t>заряд, экспонирование, проявление, перенос на ремень, потом на бумагу.</a:t>
            </a:r>
          </a:p>
          <a:p>
            <a:r>
              <a:t>Только после четырёх циклов получается полноцветное изображение.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Тут уже используется четыре фотобарабана.</a:t>
            </a:r>
          </a:p>
          <a:p>
            <a:r>
              <a:t>Сверху вниз: лазер, зеркало, вращающееся зеркало,</a:t>
            </a:r>
          </a:p>
          <a:p>
            <a:r>
              <a:t>четыре тонер-картриджа с цветами: голубой, пурпурный, жёлтый, чёрный,</a:t>
            </a:r>
          </a:p>
          <a:p>
            <a:r>
              <a:t>четыре фотобарабана, ремень переноса, печка.</a:t>
            </a:r>
          </a:p>
          <a:p>
            <a:r>
              <a:t>Такая схема обеспечивает высокую скорость цветной печати,</a:t>
            </a:r>
          </a:p>
          <a:p>
            <a:r>
              <a:t>потому что все четыре цвета переносятся за один проход бумаги.</a:t>
            </a:r>
          </a:p>
          <a:p>
            <a:r>
              <a:t>Ремень переноса сначала собирает все четыре цветных слоя,</a:t>
            </a:r>
          </a:p>
          <a:p>
            <a:r>
              <a:t>а затем разом переносит их на бумагу.</a:t>
            </a:r>
          </a:p>
          <a:p>
            <a:r>
              <a:t>Затем бумага проходит через печку, и тонер закрепляется.</a:t>
            </a:r>
          </a:p>
          <a:p>
            <a:r>
              <a:t>Именно так работают профессиональные цветные лазерные принтеры</a:t>
            </a:r>
          </a:p>
          <a:p>
            <a:r>
              <a:t>и офисные многофункциональные устройства, где нужна скорость.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Механическая мышка — первое массовое устройство указания.</a:t>
            </a:r>
          </a:p>
          <a:p>
            <a:r>
              <a:t>На фотографиях — типичная мышь девяностых годов с шариком.</a:t>
            </a:r>
          </a:p>
          <a:p>
            <a:r>
              <a:t>Слева вид снизу: отверстие, в котором виден резиновый шарик.</a:t>
            </a:r>
          </a:p>
          <a:p>
            <a:r>
              <a:t>В центре — вид сверху, две кнопки.</a:t>
            </a:r>
          </a:p>
          <a:p>
            <a:r>
              <a:t>Справа — корпус с вынутой шариковой сборкой.</a:t>
            </a:r>
          </a:p>
          <a:p>
            <a:r>
              <a:t>Шарик при движении мыши по столу вращается и передаёт вращение</a:t>
            </a:r>
          </a:p>
          <a:p>
            <a:r>
              <a:t>двум роликам, один отвечает за ось икс, другой за ось игрек.</a:t>
            </a:r>
          </a:p>
          <a:p>
            <a:r>
              <a:t>Ролики связаны с дисками с прорезями,</a:t>
            </a:r>
          </a:p>
          <a:p>
            <a:r>
              <a:t>которые вращаются между светодиодом и фотоприёмником.</a:t>
            </a:r>
          </a:p>
          <a:p>
            <a:r>
              <a:t>Прорези прерывают световой поток,</a:t>
            </a:r>
          </a:p>
          <a:p>
            <a:r>
              <a:t>и сенсор считает импульсы.</a:t>
            </a:r>
          </a:p>
          <a:p>
            <a:r>
              <a:t>По количеству импульсов определяется направление и скорость движения.</a:t>
            </a:r>
          </a:p>
          <a:p>
            <a:r>
              <a:t>Достоинства: простота, дешевизна, работа на любой поверхности.</a:t>
            </a:r>
          </a:p>
          <a:p>
            <a:r>
              <a:t>Недостатки: шарик собирает пыль, ролики засоряются,</a:t>
            </a:r>
          </a:p>
          <a:p>
            <a:r>
              <a:t>точность невысокая, нет плавности.</a:t>
            </a:r>
          </a:p>
          <a:p>
            <a:r>
              <a:t>Типичное разрешение механической мыши — от трёхсот до восьмисот точек на дюйм.</a:t>
            </a:r>
          </a:p>
          <a:p>
            <a:r>
              <a:t>Частота опроса — около ста герц, что давало заметную задержку при быстрых движениях.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Рассмотрим на слайде устройство механической мыши.</a:t>
            </a:r>
          </a:p>
          <a:p>
            <a:r>
              <a:t>Шарик в центре, два диска осей икс и игрек с прорезями,</a:t>
            </a:r>
          </a:p>
          <a:p>
            <a:r>
              <a:t>две оптопары, каждая состоит из светодиода и фотоприёмника.</a:t>
            </a:r>
          </a:p>
          <a:p>
            <a:r>
              <a:t>При вращении шарика диск оси икс вращается и прерывает световой поток.</a:t>
            </a:r>
          </a:p>
          <a:p>
            <a:r>
              <a:t>Фотоприёмник считает импульсы.</a:t>
            </a:r>
          </a:p>
          <a:p>
            <a:r>
              <a:t>То же для оси игрек.</a:t>
            </a:r>
          </a:p>
          <a:p>
            <a:r>
              <a:t>Прорези расположены с равным шагом,</a:t>
            </a:r>
          </a:p>
          <a:p>
            <a:r>
              <a:t>поэтому количество импульсов пропорционально пройденному расстоянию.</a:t>
            </a:r>
          </a:p>
          <a:p>
            <a:r>
              <a:t>Скорость и направление определяются по частоте импульсов и порядку их поступления.</a:t>
            </a:r>
          </a:p>
          <a:p>
            <a:r>
              <a:t>Направление вращения определяется по фазовому сдвигу между двумя оптопарами,</a:t>
            </a:r>
          </a:p>
          <a:p>
            <a:r>
              <a:t>если их две на одну ось.</a:t>
            </a:r>
          </a:p>
          <a:p>
            <a:r>
              <a:t>Такая конструкция работала надёжно, но требовала регулярной чистки роликов.</a:t>
            </a:r>
          </a:p>
          <a:p>
            <a:r>
              <a:t>Кроме того, механический контакт шарика с роликами изнашивался,</a:t>
            </a:r>
          </a:p>
          <a:p>
            <a:r>
              <a:t>и точность со временем падала.</a:t>
            </a:r>
          </a:p>
          <a:p>
            <a:r>
              <a:t>Именно эти недостатки и привели к переходу на оптические сенсоры.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Оптическая мышка.</a:t>
            </a:r>
          </a:p>
          <a:p>
            <a:r>
              <a:t>На фотографиях — две модели с красной подсветкой снизу.</a:t>
            </a:r>
          </a:p>
          <a:p>
            <a:r>
              <a:t>Светодиод освещает поверхность под мышью,</a:t>
            </a:r>
          </a:p>
          <a:p>
            <a:r>
              <a:t>сенсор получает отражённое изображение и сравнивает его с предыдущим.</a:t>
            </a:r>
          </a:p>
          <a:p>
            <a:r>
              <a:t>По смещению картинки определяется направление движения.</a:t>
            </a:r>
          </a:p>
          <a:p>
            <a:r>
              <a:t>Никаких движущихся частей, кроме колеса прокрутки.</a:t>
            </a:r>
          </a:p>
          <a:p>
            <a:r>
              <a:t>Достоинства: высокая точность, плавность, отсутствие загрязнения,</a:t>
            </a:r>
          </a:p>
          <a:p>
            <a:r>
              <a:t>работа на большинстве поверхностей.</a:t>
            </a:r>
          </a:p>
          <a:p>
            <a:r>
              <a:t>Недостатки: не работает на стекле и зеркале,</a:t>
            </a:r>
          </a:p>
          <a:p>
            <a:r>
              <a:t>требует питания, стоит дороже механической.</a:t>
            </a:r>
          </a:p>
          <a:p>
            <a:r>
              <a:t>Оптические мыши появились в конце девяностых</a:t>
            </a:r>
          </a:p>
          <a:p>
            <a:r>
              <a:t>и к середине двухтысячных полностью вытеснили механические.</a:t>
            </a:r>
          </a:p>
          <a:p>
            <a:r>
              <a:t>Современные оптические мыши имеют разрешение от восьмисот до двадцати тысяч точек на дюйм</a:t>
            </a:r>
          </a:p>
          <a:p>
            <a:r>
              <a:t>и частоту опроса от ста двадцати пяти до восьми тысяч герц.</a:t>
            </a:r>
          </a:p>
          <a:p>
            <a:r>
              <a:t>Чем выше частота опроса, тем меньше задержка между движением руки и откликом курсора.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Принцип работы оптической мыши.</a:t>
            </a:r>
          </a:p>
          <a:p>
            <a:r>
              <a:t>Светодиод освещает рабочую поверхность под углом.</a:t>
            </a:r>
          </a:p>
          <a:p>
            <a:r>
              <a:t>Линза фокусирует отражённый свет на сенсоре.</a:t>
            </a:r>
          </a:p>
          <a:p>
            <a:r>
              <a:t>Сенсор делает снимки поверхности с высокой частотой,</a:t>
            </a:r>
          </a:p>
          <a:p>
            <a:r>
              <a:t>обычно от нескольких тысяч до десяти тысяч кадров в секунду.</a:t>
            </a:r>
          </a:p>
          <a:p>
            <a:r>
              <a:t>Процессор обработки изображений сравнивает последовательные кадры</a:t>
            </a:r>
          </a:p>
          <a:p>
            <a:r>
              <a:t>и определяет вектор смещения.</a:t>
            </a:r>
          </a:p>
          <a:p/>
          <a:p>
            <a:r>
              <a:t>Алгоритм вычисления вектора движения.</a:t>
            </a:r>
          </a:p>
          <a:p>
            <a:r>
              <a:t>Сначала сенсор получает два последовательных кадра, назовём их опорный и текущий.</a:t>
            </a:r>
          </a:p>
          <a:p>
            <a:r>
              <a:t>Затем для каждого возможного сдвига текущего кадра относительно опорного</a:t>
            </a:r>
          </a:p>
          <a:p>
            <a:r>
              <a:t>вычисляется корреляционная функция.</a:t>
            </a:r>
          </a:p>
          <a:p>
            <a:r>
              <a:t>Простейшая мера — сумма абсолютных разностей между пикселями.</a:t>
            </a:r>
          </a:p>
          <a:p>
            <a:r>
              <a:t>Чем меньше эта сумма, тем лучше совпадение.</a:t>
            </a:r>
          </a:p>
          <a:p>
            <a:r>
              <a:t>Сдвиг, при котором сумма минимальна, считается наиболее вероятным вектором движения.</a:t>
            </a:r>
          </a:p>
          <a:p>
            <a:r>
              <a:t>Если минимальная сумма меньше заданного порога, вектор признаётся достоверным.</a:t>
            </a:r>
          </a:p>
          <a:p>
            <a:r>
              <a:t>Если порог не достигнут, алгоритм пытается уменьшить разрешение изображения,</a:t>
            </a:r>
          </a:p>
          <a:p>
            <a:r>
              <a:t>усредняя блоки пикселей, и повторяет вычисления.</a:t>
            </a:r>
          </a:p>
          <a:p>
            <a:r>
              <a:t>Это позволяет отслеживать движение даже при быстром перемещении мыши,</a:t>
            </a:r>
          </a:p>
          <a:p>
            <a:r>
              <a:t>когда паттерн успевает сильно сместиться между кадрами.</a:t>
            </a:r>
          </a:p>
          <a:p>
            <a:r>
              <a:t>Именно поэтому современные сенсоры работают надёжно даже на высоких скоростях.</a:t>
            </a:r>
          </a:p>
          <a:p/>
          <a:p>
            <a:r>
              <a:t>По этому вектору вычисляются координаты курсора на экране.</a:t>
            </a:r>
          </a:p>
          <a:p>
            <a:r>
              <a:t>Современные сенсоры имеют разрешение от восьмисот до двадцати тысяч точек на дюйм,</a:t>
            </a:r>
          </a:p>
          <a:p>
            <a:r>
              <a:t>что позволяет отслеживать самые мелкие движения.</a:t>
            </a:r>
          </a:p>
          <a:p>
            <a:r>
              <a:t>Точность наведения в играх напрямую зависит от качества сенсора и его частоты 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Алоритм поиска вектора движения.</a:t>
            </a:r>
          </a:p>
          <a:p>
            <a:r>
              <a:t>Сначала рассмотрим, что представлено на рисунках.</a:t>
            </a:r>
          </a:p>
          <a:p>
            <a:r>
              <a:t>Слева матрица с предыдущим кадром, справа с текущим.</a:t>
            </a:r>
          </a:p>
          <a:p>
            <a:r>
              <a:t>Красная стрелка показывает смещение паттерна между кадрами.</a:t>
            </a:r>
          </a:p>
          <a:p>
            <a:r>
              <a:t>Сенсор находит характерные элементы: пятна, края, текстуры,</a:t>
            </a:r>
          </a:p>
          <a:p>
            <a:r>
              <a:t>и отслеживает их перемещение.</a:t>
            </a:r>
          </a:p>
          <a:p>
            <a:r>
              <a:t>По смещению нескольких элементов вычисляется средний вектор.</a:t>
            </a:r>
          </a:p>
          <a:p>
            <a:r>
              <a:t>Алгоритм работает так.</a:t>
            </a:r>
          </a:p>
          <a:p>
            <a:r>
              <a:t>Берётся опорный блок пикселей из предыдущего кадра.</a:t>
            </a:r>
          </a:p>
          <a:p>
            <a:r>
              <a:t>В текущем кадре ищется блок, наиболее похожий на опорный,</a:t>
            </a:r>
          </a:p>
          <a:p>
            <a:r>
              <a:t>путём перебора всех возможных сдвигов в пределах заданного диапазона.</a:t>
            </a:r>
          </a:p>
          <a:p>
            <a:r>
              <a:t>Критерий похожести — минимум суммы абсолютных разностей.</a:t>
            </a:r>
          </a:p>
          <a:p>
            <a:r>
              <a:t>Найденный сдвиг и есть вектор движения.</a:t>
            </a:r>
          </a:p>
          <a:p>
            <a:r>
              <a:t>Если мышь движется слишком быстро, паттерн может выйти за пределы кадра,</a:t>
            </a:r>
          </a:p>
          <a:p>
            <a:r>
              <a:t>и тогда алгоритм уменьшает разрешение, чтобы расширить зону поиска.</a:t>
            </a:r>
          </a:p>
          <a:p>
            <a:r>
              <a:t>Именно поэтому оптическая мышь не работает на однородных поверхностях:</a:t>
            </a:r>
          </a:p>
          <a:p>
            <a:r>
              <a:t>на гладком стекле или однотонном столе нет характерных элементов,</a:t>
            </a:r>
          </a:p>
          <a:p>
            <a:r>
              <a:t>и сенсор не может найти смещение.</a:t>
            </a:r>
          </a:p>
          <a:p>
            <a:r>
              <a:t>Некоторые сенсоры добавляют лазерную подсветку,</a:t>
            </a:r>
          </a:p>
          <a:p>
            <a:r>
              <a:t>которая выявляет микроскопические неровности на поверхности,</a:t>
            </a:r>
          </a:p>
          <a:p>
            <a:r>
              <a:t>что позволяет работать даже на стекле.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чем могут быть проблемы поиска паттерна.</a:t>
            </a:r>
          </a:p>
          <a:p>
            <a:r>
              <a:t>Рассмотрим пример на рисунке.</a:t>
            </a:r>
          </a:p>
          <a:p>
            <a:r>
              <a:t>Слева матрица тридцать два на тридцать два, справа шестнадцать на шестнадцать.</a:t>
            </a:r>
          </a:p>
          <a:p>
            <a:r>
              <a:t>Паттерн, который распознаёт сенсор мыши, может не попасть в кадр при следующем снимке.</a:t>
            </a:r>
          </a:p>
          <a:p>
            <a:r>
              <a:t>Если мышь движется слишком быстро,</a:t>
            </a:r>
          </a:p>
          <a:p>
            <a:r>
              <a:t>характерный элемент, который был виден в предыдущем кадре,</a:t>
            </a:r>
          </a:p>
          <a:p>
            <a:r>
              <a:t>оказывается за пределами следующего кадра.</a:t>
            </a:r>
          </a:p>
          <a:p>
            <a:r>
              <a:t>Тогда сенсор не может найти смещение и теряет движение.</a:t>
            </a:r>
          </a:p>
          <a:p>
            <a:r>
              <a:t>Проявляется как рывок курсора или замирание.</a:t>
            </a:r>
          </a:p>
          <a:p>
            <a:r>
              <a:t>Чтобы этого избежать, современные сенсоры делают снимки с высокой частотой</a:t>
            </a:r>
          </a:p>
          <a:p>
            <a:r>
              <a:t>и используют большие матрицы.</a:t>
            </a:r>
          </a:p>
          <a:p>
            <a:r>
              <a:t>Кроме того, алгоритмы предсказания движения помогают восстановить траекторию,</a:t>
            </a:r>
          </a:p>
          <a:p>
            <a:r>
              <a:t>если паттерн потерян.</a:t>
            </a:r>
          </a:p>
          <a:p>
            <a:r>
              <a:t>Например, если последние несколько кадров мышь двигалась в одном направлении,</a:t>
            </a:r>
          </a:p>
          <a:p>
            <a:r>
              <a:t>алгоритм может предположить, что движение продолжается,</a:t>
            </a:r>
          </a:p>
          <a:p>
            <a:r>
              <a:t>и экстраполировать вектор, даже если паттерн временно потерян.</a:t>
            </a:r>
          </a:p>
          <a:p>
            <a:r>
              <a:t>Именно такая комбинация высокой частоты кадров, больших матриц и предсказания</a:t>
            </a:r>
          </a:p>
          <a:p>
            <a:r>
              <a:t>позволяет современным игровым мышам работать без срывов даже при очень быстрых движениях.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Светодиодная и лазерная мышь, отличия.</a:t>
            </a:r>
          </a:p>
          <a:p>
            <a:r>
              <a:t>Стандартная оптическая мышь использует светодиод,</a:t>
            </a:r>
          </a:p>
          <a:p>
            <a:r>
              <a:t>который освещает поверхность видимым или инфракрасным светом.</a:t>
            </a:r>
          </a:p>
          <a:p>
            <a:r>
              <a:t>Лазерная мышь использует лазерный диод,</a:t>
            </a:r>
          </a:p>
          <a:p>
            <a:r>
              <a:t>когерентный пучок света с очень малой длиной волны.</a:t>
            </a:r>
          </a:p>
          <a:p>
            <a:r>
              <a:t>Лазер выявляет микроскопические детали поверхности,</a:t>
            </a:r>
          </a:p>
          <a:p>
            <a:r>
              <a:t>которые не видны обычному светодиоду.</a:t>
            </a:r>
          </a:p>
          <a:p>
            <a:r>
              <a:t>Это позволяет работать на глянцевых и гладких поверхностях,</a:t>
            </a:r>
          </a:p>
          <a:p>
            <a:r>
              <a:t>где обычная оптическая мышь не справляется.</a:t>
            </a:r>
          </a:p>
          <a:p>
            <a:r>
              <a:t>На фотографиях показано, как лазер подсвечивает глянцевую поверхность</a:t>
            </a:r>
          </a:p>
          <a:p>
            <a:r>
              <a:t>и делает видимыми микродетали.</a:t>
            </a:r>
          </a:p>
          <a:p>
            <a:r>
              <a:t>Достоинства лазерных мышей: точность, работа на сложных поверхностях.</a:t>
            </a:r>
          </a:p>
          <a:p>
            <a:r>
              <a:t>Недостатки: выше цена, иногда дрожание курсора на некоторых поверхностях.</a:t>
            </a:r>
          </a:p>
          <a:p>
            <a:r>
              <a:t>Кроме того, лазерные сенсоры чувствительнее к пыли и микроцарапинам,</a:t>
            </a:r>
          </a:p>
          <a:p>
            <a:r>
              <a:t>поэтому требуют более аккуратного обращения.</a:t>
            </a:r>
          </a:p>
          <a:p>
            <a:r>
              <a:t>Современные гибридные сенсоры сочетают светодиод и лазер,</a:t>
            </a:r>
          </a:p>
          <a:p>
            <a:r>
              <a:t>чтобы объединить достоинства обоих подходов.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Проблемы поверхностей и отражения.</a:t>
            </a:r>
          </a:p>
          <a:p>
            <a:r>
              <a:t>Слева гладкая поверхность: луч света отражается под углом,</a:t>
            </a:r>
          </a:p>
          <a:p>
            <a:r>
              <a:t>и приёмник получает чёткое изображение.</a:t>
            </a:r>
          </a:p>
          <a:p>
            <a:r>
              <a:t>Справа прозрачная поверхность: луч проходит внутрь,</a:t>
            </a:r>
          </a:p>
          <a:p>
            <a:r>
              <a:t>отражается от границы раздела и возвращается,</a:t>
            </a:r>
          </a:p>
          <a:p>
            <a:r>
              <a:t>но картинка оказывается размытой и искажённой.</a:t>
            </a:r>
          </a:p>
          <a:p>
            <a:r>
              <a:t>Именно поэтому обычная оптическая мышь не работает на стекле.</a:t>
            </a:r>
          </a:p>
          <a:p>
            <a:r>
              <a:t>На прозрачной поверхности сенсор видит не поверхность, а отражение от внутреннего слоя,</a:t>
            </a:r>
          </a:p>
          <a:p>
            <a:r>
              <a:t>и не может найти характерные элементы для отслеживания.</a:t>
            </a:r>
          </a:p>
          <a:p>
            <a:r>
              <a:t>Решение: коврик с текстурой,</a:t>
            </a:r>
          </a:p>
          <a:p>
            <a:r>
              <a:t>или лазерная мышь с более короткой длиной волны,</a:t>
            </a:r>
          </a:p>
          <a:p>
            <a:r>
              <a:t>или специальные сенсоры с двойным освещением.</a:t>
            </a:r>
          </a:p>
          <a:p>
            <a:r>
              <a:t>Современные мыши высокого класса работают почти на любых поверхностях,</a:t>
            </a:r>
          </a:p>
          <a:p>
            <a:r>
              <a:t>включая стекло, благодаря комбинации лазера и алгоритмов обработки изображений.</a:t>
            </a:r>
          </a:p>
          <a:p>
            <a:r>
              <a:t>Например, сенсоры с технологией Дарк-Филд используют инфракрасный лазер,</a:t>
            </a:r>
          </a:p>
          <a:p>
            <a:r>
              <a:t>который выявляет мельчайшие неровности даже на прозрачном стекле,</a:t>
            </a:r>
          </a:p>
          <a:p>
            <a:r>
              <a:t>делая поверхность видимой для сенсора.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B417FE-5192-41DB-83FF-DDEEF2D6589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34CD3C-E712-4CBF-AB00-800EEE26560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BD6FE-5E6A-4B40-AC56-5331381198C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757F84-62A5-4BF8-B3E5-3F0990ECB00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356631-EBB3-4468-81E7-FC12C58D3F0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11572B-BBC6-4D11-8599-AE0ADECAF08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258E02-B9F9-4699-B59D-436CE50BECA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AC39C-7060-4F7E-B0F7-33221F92B37D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849D5-690D-4EF7-A76E-80D7BBCB766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1F109-5D42-458A-AC35-BB33E6172BE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CF2AE2-BB2E-492B-A877-FE2CD573E55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Заголовок, 1 большой объект и 2 маленьки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8925D6A-0139-4D1D-BD55-94C375E41A0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9F3C2B6-91DF-48CB-87FE-1EF5BD9B80CE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4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4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.xml"/><Relationship Id="rId6" Type="http://schemas.microsoft.com/office/2007/relationships/media" Target="../media/media3.mp3"/><Relationship Id="rId7" Type="http://schemas.openxmlformats.org/officeDocument/2006/relationships/video" Target="../media/media3.mp3"/><Relationship Id="rId8" Type="http://schemas.openxmlformats.org/officeDocument/2006/relationships/image" Target="../media/image4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4" Type="http://schemas.microsoft.com/office/2007/relationships/media" Target="../media/media4.mp3"/><Relationship Id="rId5" Type="http://schemas.openxmlformats.org/officeDocument/2006/relationships/video" Target="../media/media4.mp3"/><Relationship Id="rId6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Relationship Id="rId5" Type="http://schemas.microsoft.com/office/2007/relationships/media" Target="../media/media5.mp3"/><Relationship Id="rId6" Type="http://schemas.openxmlformats.org/officeDocument/2006/relationships/video" Target="../media/media5.mp3"/><Relationship Id="rId7" Type="http://schemas.openxmlformats.org/officeDocument/2006/relationships/image" Target="../media/image4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notesSlide" Target="../notesSlides/notesSlide6.xml"/><Relationship Id="rId4" Type="http://schemas.microsoft.com/office/2007/relationships/media" Target="../media/media6.mp3"/><Relationship Id="rId5" Type="http://schemas.openxmlformats.org/officeDocument/2006/relationships/video" Target="../media/media6.mp3"/><Relationship Id="rId6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notesSlide" Target="../notesSlides/notesSlide7.xml"/><Relationship Id="rId5" Type="http://schemas.microsoft.com/office/2007/relationships/media" Target="../media/media7.mp3"/><Relationship Id="rId6" Type="http://schemas.openxmlformats.org/officeDocument/2006/relationships/video" Target="../media/media7.mp3"/><Relationship Id="rId7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notesSlide" Target="../notesSlides/notesSlide8.xml"/><Relationship Id="rId4" Type="http://schemas.microsoft.com/office/2007/relationships/media" Target="../media/media8.mp3"/><Relationship Id="rId5" Type="http://schemas.openxmlformats.org/officeDocument/2006/relationships/video" Target="../media/media8.mp3"/><Relationship Id="rId6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Relationship Id="rId4" Type="http://schemas.microsoft.com/office/2007/relationships/media" Target="../media/media9.mp3"/><Relationship Id="rId5" Type="http://schemas.openxmlformats.org/officeDocument/2006/relationships/video" Target="../media/media9.mp3"/><Relationship Id="rId6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notesSlide" Target="../notesSlides/notesSlide10.xml"/><Relationship Id="rId4" Type="http://schemas.microsoft.com/office/2007/relationships/media" Target="../media/media10.mp3"/><Relationship Id="rId5" Type="http://schemas.openxmlformats.org/officeDocument/2006/relationships/video" Target="../media/media10.mp3"/><Relationship Id="rId6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3" Type="http://schemas.openxmlformats.org/officeDocument/2006/relationships/notesSlide" Target="../notesSlides/notesSlide12.xml"/><Relationship Id="rId4" Type="http://schemas.microsoft.com/office/2007/relationships/media" Target="../media/media12.mp3"/><Relationship Id="rId5" Type="http://schemas.openxmlformats.org/officeDocument/2006/relationships/video" Target="../media/media12.mp3"/><Relationship Id="rId6" Type="http://schemas.openxmlformats.org/officeDocument/2006/relationships/image" Target="../media/image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notesSlide" Target="../notesSlides/notesSlide13.xml"/><Relationship Id="rId5" Type="http://schemas.microsoft.com/office/2007/relationships/media" Target="../media/media13.mp3"/><Relationship Id="rId6" Type="http://schemas.openxmlformats.org/officeDocument/2006/relationships/video" Target="../media/media13.mp3"/><Relationship Id="rId7" Type="http://schemas.openxmlformats.org/officeDocument/2006/relationships/image" Target="../media/image4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4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4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3" Type="http://schemas.openxmlformats.org/officeDocument/2006/relationships/notesSlide" Target="../notesSlides/notesSlide18.xml"/><Relationship Id="rId4" Type="http://schemas.microsoft.com/office/2007/relationships/media" Target="../media/media18.mp3"/><Relationship Id="rId5" Type="http://schemas.openxmlformats.org/officeDocument/2006/relationships/video" Target="../media/media18.mp3"/><Relationship Id="rId6" Type="http://schemas.openxmlformats.org/officeDocument/2006/relationships/image" Target="../media/image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eg"/><Relationship Id="rId3" Type="http://schemas.openxmlformats.org/officeDocument/2006/relationships/notesSlide" Target="../notesSlides/notesSlide19.xml"/><Relationship Id="rId4" Type="http://schemas.microsoft.com/office/2007/relationships/media" Target="../media/media19.mp3"/><Relationship Id="rId5" Type="http://schemas.openxmlformats.org/officeDocument/2006/relationships/video" Target="../media/media19.mp3"/><Relationship Id="rId6" Type="http://schemas.openxmlformats.org/officeDocument/2006/relationships/image" Target="../media/image4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jpeg"/><Relationship Id="rId4" Type="http://schemas.openxmlformats.org/officeDocument/2006/relationships/notesSlide" Target="../notesSlides/notesSlide20.xml"/><Relationship Id="rId5" Type="http://schemas.microsoft.com/office/2007/relationships/media" Target="../media/media20.mp3"/><Relationship Id="rId6" Type="http://schemas.openxmlformats.org/officeDocument/2006/relationships/video" Target="../media/media20.mp3"/><Relationship Id="rId7" Type="http://schemas.openxmlformats.org/officeDocument/2006/relationships/image" Target="../media/image4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3" Type="http://schemas.openxmlformats.org/officeDocument/2006/relationships/notesSlide" Target="../notesSlides/notesSlide21.xml"/><Relationship Id="rId4" Type="http://schemas.microsoft.com/office/2007/relationships/media" Target="../media/media21.mp3"/><Relationship Id="rId5" Type="http://schemas.openxmlformats.org/officeDocument/2006/relationships/video" Target="../media/media21.mp3"/><Relationship Id="rId6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3" Type="http://schemas.openxmlformats.org/officeDocument/2006/relationships/notesSlide" Target="../notesSlides/notesSlide23.xml"/><Relationship Id="rId4" Type="http://schemas.microsoft.com/office/2007/relationships/media" Target="../media/media23.mp3"/><Relationship Id="rId5" Type="http://schemas.openxmlformats.org/officeDocument/2006/relationships/video" Target="../media/media23.mp3"/><Relationship Id="rId6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3" Type="http://schemas.openxmlformats.org/officeDocument/2006/relationships/notesSlide" Target="../notesSlides/notesSlide24.xml"/><Relationship Id="rId4" Type="http://schemas.microsoft.com/office/2007/relationships/media" Target="../media/media24.mp3"/><Relationship Id="rId5" Type="http://schemas.openxmlformats.org/officeDocument/2006/relationships/video" Target="../media/media24.mp3"/><Relationship Id="rId6" Type="http://schemas.openxmlformats.org/officeDocument/2006/relationships/image" Target="../media/image4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3" Type="http://schemas.openxmlformats.org/officeDocument/2006/relationships/notesSlide" Target="../notesSlides/notesSlide25.xml"/><Relationship Id="rId4" Type="http://schemas.microsoft.com/office/2007/relationships/media" Target="../media/media25.mp3"/><Relationship Id="rId5" Type="http://schemas.openxmlformats.org/officeDocument/2006/relationships/video" Target="../media/media25.mp3"/><Relationship Id="rId6" Type="http://schemas.openxmlformats.org/officeDocument/2006/relationships/image" Target="../media/image4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e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26.xml"/><Relationship Id="rId5" Type="http://schemas.microsoft.com/office/2007/relationships/media" Target="../media/media26.mp3"/><Relationship Id="rId6" Type="http://schemas.openxmlformats.org/officeDocument/2006/relationships/video" Target="../media/media26.mp3"/><Relationship Id="rId7" Type="http://schemas.openxmlformats.org/officeDocument/2006/relationships/image" Target="../media/image4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eg"/><Relationship Id="rId3" Type="http://schemas.openxmlformats.org/officeDocument/2006/relationships/image" Target="../media/image27.jpeg"/><Relationship Id="rId4" Type="http://schemas.openxmlformats.org/officeDocument/2006/relationships/notesSlide" Target="../notesSlides/notesSlide27.xml"/><Relationship Id="rId5" Type="http://schemas.microsoft.com/office/2007/relationships/media" Target="../media/media27.mp3"/><Relationship Id="rId6" Type="http://schemas.openxmlformats.org/officeDocument/2006/relationships/video" Target="../media/media27.mp3"/><Relationship Id="rId7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3" Type="http://schemas.openxmlformats.org/officeDocument/2006/relationships/notesSlide" Target="../notesSlides/notesSlide28.xml"/><Relationship Id="rId4" Type="http://schemas.microsoft.com/office/2007/relationships/media" Target="../media/media28.mp3"/><Relationship Id="rId5" Type="http://schemas.openxmlformats.org/officeDocument/2006/relationships/video" Target="../media/media28.mp3"/><Relationship Id="rId6" Type="http://schemas.openxmlformats.org/officeDocument/2006/relationships/image" Target="../media/image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Relationship Id="rId4" Type="http://schemas.microsoft.com/office/2007/relationships/media" Target="../media/media29.mp3"/><Relationship Id="rId5" Type="http://schemas.openxmlformats.org/officeDocument/2006/relationships/video" Target="../media/media29.mp3"/><Relationship Id="rId6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3" Type="http://schemas.openxmlformats.org/officeDocument/2006/relationships/notesSlide" Target="../notesSlides/notesSlide30.xml"/><Relationship Id="rId4" Type="http://schemas.microsoft.com/office/2007/relationships/media" Target="../media/media30.mp3"/><Relationship Id="rId5" Type="http://schemas.openxmlformats.org/officeDocument/2006/relationships/video" Target="../media/media30.mp3"/><Relationship Id="rId6" Type="http://schemas.openxmlformats.org/officeDocument/2006/relationships/image" Target="../media/image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microsoft.com/office/2007/relationships/media" Target="../media/media31.mp3"/><Relationship Id="rId4" Type="http://schemas.openxmlformats.org/officeDocument/2006/relationships/video" Target="../media/media31.mp3"/><Relationship Id="rId5" Type="http://schemas.openxmlformats.org/officeDocument/2006/relationships/image" Target="../media/image4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eg"/><Relationship Id="rId3" Type="http://schemas.openxmlformats.org/officeDocument/2006/relationships/notesSlide" Target="../notesSlides/notesSlide32.xml"/><Relationship Id="rId4" Type="http://schemas.microsoft.com/office/2007/relationships/media" Target="../media/media32.mp3"/><Relationship Id="rId5" Type="http://schemas.openxmlformats.org/officeDocument/2006/relationships/video" Target="../media/media32.mp3"/><Relationship Id="rId6" Type="http://schemas.openxmlformats.org/officeDocument/2006/relationships/image" Target="../media/image4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eg"/><Relationship Id="rId3" Type="http://schemas.openxmlformats.org/officeDocument/2006/relationships/notesSlide" Target="../notesSlides/notesSlide33.xml"/><Relationship Id="rId4" Type="http://schemas.microsoft.com/office/2007/relationships/media" Target="../media/media33.mp3"/><Relationship Id="rId5" Type="http://schemas.openxmlformats.org/officeDocument/2006/relationships/video" Target="../media/media33.mp3"/><Relationship Id="rId6" Type="http://schemas.openxmlformats.org/officeDocument/2006/relationships/image" Target="../media/image4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image" Target="../media/image35.jpeg"/><Relationship Id="rId5" Type="http://schemas.openxmlformats.org/officeDocument/2006/relationships/notesSlide" Target="../notesSlides/notesSlide34.xml"/><Relationship Id="rId6" Type="http://schemas.microsoft.com/office/2007/relationships/media" Target="../media/media34.mp3"/><Relationship Id="rId7" Type="http://schemas.openxmlformats.org/officeDocument/2006/relationships/video" Target="../media/media34.mp3"/><Relationship Id="rId8" Type="http://schemas.openxmlformats.org/officeDocument/2006/relationships/image" Target="../media/image4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jpeg"/><Relationship Id="rId3" Type="http://schemas.openxmlformats.org/officeDocument/2006/relationships/image" Target="../media/image37.png"/><Relationship Id="rId4" Type="http://schemas.openxmlformats.org/officeDocument/2006/relationships/notesSlide" Target="../notesSlides/notesSlide35.xml"/><Relationship Id="rId5" Type="http://schemas.microsoft.com/office/2007/relationships/media" Target="../media/media35.mp3"/><Relationship Id="rId6" Type="http://schemas.openxmlformats.org/officeDocument/2006/relationships/video" Target="../media/media35.mp3"/><Relationship Id="rId7" Type="http://schemas.openxmlformats.org/officeDocument/2006/relationships/image" Target="../media/image4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notesSlide" Target="../notesSlides/notesSlide36.xml"/><Relationship Id="rId5" Type="http://schemas.microsoft.com/office/2007/relationships/media" Target="../media/media36.mp3"/><Relationship Id="rId6" Type="http://schemas.openxmlformats.org/officeDocument/2006/relationships/video" Target="../media/media36.mp3"/><Relationship Id="rId7" Type="http://schemas.openxmlformats.org/officeDocument/2006/relationships/image" Target="../media/image4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jpeg"/><Relationship Id="rId3" Type="http://schemas.openxmlformats.org/officeDocument/2006/relationships/image" Target="../media/image41.png"/><Relationship Id="rId4" Type="http://schemas.openxmlformats.org/officeDocument/2006/relationships/notesSlide" Target="../notesSlides/notesSlide37.xml"/><Relationship Id="rId5" Type="http://schemas.microsoft.com/office/2007/relationships/media" Target="../media/media37.mp3"/><Relationship Id="rId6" Type="http://schemas.openxmlformats.org/officeDocument/2006/relationships/video" Target="../media/media37.mp3"/><Relationship Id="rId7" Type="http://schemas.openxmlformats.org/officeDocument/2006/relationships/image" Target="../media/image4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eg"/><Relationship Id="rId3" Type="http://schemas.openxmlformats.org/officeDocument/2006/relationships/notesSlide" Target="../notesSlides/notesSlide38.xml"/><Relationship Id="rId4" Type="http://schemas.microsoft.com/office/2007/relationships/media" Target="../media/media38.mp3"/><Relationship Id="rId5" Type="http://schemas.openxmlformats.org/officeDocument/2006/relationships/video" Target="../media/media38.mp3"/><Relationship Id="rId6" Type="http://schemas.openxmlformats.org/officeDocument/2006/relationships/image" Target="../media/image4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39.xml"/><Relationship Id="rId4" Type="http://schemas.microsoft.com/office/2007/relationships/media" Target="../media/media39.mp3"/><Relationship Id="rId5" Type="http://schemas.openxmlformats.org/officeDocument/2006/relationships/video" Target="../media/media39.mp3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eg"/><Relationship Id="rId3" Type="http://schemas.openxmlformats.org/officeDocument/2006/relationships/notesSlide" Target="../notesSlides/notesSlide40.xml"/><Relationship Id="rId4" Type="http://schemas.microsoft.com/office/2007/relationships/media" Target="../media/media40.mp3"/><Relationship Id="rId5" Type="http://schemas.openxmlformats.org/officeDocument/2006/relationships/video" Target="../media/media40.mp3"/><Relationship Id="rId6" Type="http://schemas.openxmlformats.org/officeDocument/2006/relationships/image" Target="../media/image4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eg"/><Relationship Id="rId3" Type="http://schemas.openxmlformats.org/officeDocument/2006/relationships/notesSlide" Target="../notesSlides/notesSlide41.xml"/><Relationship Id="rId4" Type="http://schemas.microsoft.com/office/2007/relationships/media" Target="../media/media41.mp3"/><Relationship Id="rId5" Type="http://schemas.openxmlformats.org/officeDocument/2006/relationships/video" Target="../media/media41.mp3"/><Relationship Id="rId6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2.xml"/><Relationship Id="rId4" Type="http://schemas.microsoft.com/office/2007/relationships/media" Target="../media/media42.mp3"/><Relationship Id="rId5" Type="http://schemas.openxmlformats.org/officeDocument/2006/relationships/video" Target="../media/media42.mp3"/><Relationship Id="rId6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ru-RU" i="1"/>
              <a:t>Технические средства ИТ</a:t>
            </a:r>
            <a:r>
              <a:rPr lang="ru-RU"/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417FE-5192-41DB-83FF-DDEEF2D65891}" type="slidenum">
              <a:rPr lang="ru-RU" smtClean="0"/>
              <a:pPr/>
              <a:t>1</a:t>
            </a:fld>
            <a:endParaRPr lang="ru-RU"/>
          </a:p>
        </p:txBody>
      </p:sp>
      <p:pic>
        <p:nvPicPr>
          <p:cNvPr id="2051" name="slide_0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Мониторы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основе электронно-лучевой трубки (ЭЛТ)</a:t>
            </a:r>
          </a:p>
          <a:p>
            <a:r>
              <a:rPr lang="ru-RU"/>
              <a:t>Жидкокристаллические мониторы</a:t>
            </a:r>
          </a:p>
          <a:p>
            <a:r>
              <a:rPr lang="ru-RU"/>
              <a:t>Плазменные мониторы</a:t>
            </a:r>
          </a:p>
          <a:p>
            <a:r>
              <a:rPr lang="ru-RU"/>
              <a:t>Лазерные мониторы</a:t>
            </a:r>
          </a:p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2</a:t>
            </a:fld>
            <a:endParaRPr lang="ru-RU"/>
          </a:p>
        </p:txBody>
      </p:sp>
      <p:pic>
        <p:nvPicPr>
          <p:cNvPr id="68612" name="slide_0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86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777875"/>
          </a:xfrm>
        </p:spPr>
        <p:txBody>
          <a:bodyPr/>
          <a:lstStyle/>
          <a:p>
            <a:r>
              <a:rPr lang="ru-RU"/>
              <a:t>ЭЛТ Мониторы</a:t>
            </a:r>
          </a:p>
        </p:txBody>
      </p:sp>
      <p:pic>
        <p:nvPicPr>
          <p:cNvPr id="71684" name="Picture 4" descr="6849a15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1052513"/>
            <a:ext cx="4824413" cy="2501900"/>
          </a:xfrm>
          <a:noFill/>
          <a:ln/>
        </p:spPr>
      </p:pic>
      <p:pic>
        <p:nvPicPr>
          <p:cNvPr id="71686" name="Picture 6" descr="crt-tv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580063" y="908050"/>
            <a:ext cx="3095625" cy="3095625"/>
          </a:xfrm>
          <a:noFill/>
          <a:ln/>
        </p:spPr>
      </p:pic>
      <p:pic>
        <p:nvPicPr>
          <p:cNvPr id="71688" name="Picture 8" descr="images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555875" y="4103688"/>
            <a:ext cx="3671888" cy="2754312"/>
          </a:xfrm>
          <a:noFill/>
          <a:ln/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25D6A-0139-4D1D-BD55-94C375E41A0F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71689" name="slide_03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16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0" name="Picture 4" descr="450px-CRT_monochrom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713" y="0"/>
            <a:ext cx="5616575" cy="4217988"/>
          </a:xfrm>
          <a:prstGeom prst="rect">
            <a:avLst/>
          </a:prstGeom>
          <a:noFill/>
        </p:spPr>
      </p:pic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0" y="4437063"/>
            <a:ext cx="9144000" cy="24209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just"/>
            <a:r>
              <a:rPr lang="ru-RU"/>
              <a:t>1 – магнито-отклоняющая система, 2 – электронный луч, 3 – фокусирующая система с сердечником (11)  и фокусирующей катушкой, 4 – люминофор, 5 – нить накала нагревающая катод (8), 6 – проводящий слой на поверхности трубки для отведения заряда электронов с люминофора (аквадаг - графитовый), 7(13) – высоковольтные гнезда, 9 – вакуумный баллон,10 – экран, 12 – модулятор эмиссии электронов,14 –  анод (7-30 кВ)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70662" name="slide_0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06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6" name="Picture 4" descr="450px-CRT_color_enhanc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5715000" cy="4572000"/>
          </a:xfrm>
          <a:prstGeom prst="rect">
            <a:avLst/>
          </a:prstGeom>
          <a:noFill/>
        </p:spPr>
      </p:pic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5867400" y="333375"/>
            <a:ext cx="3168650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Устройство цветного кинескопа. 1 —Электронные пушки. 2 — Электронные лучи. 3 — Фокусирующая катушка. 4 — Отклоняющие катушки. 5 — Анод. 6 — Маска, благодаря которой красный луч попадает на красный люминофор, и т. д. 7 — Красные, зелёные и синие зёрна люминофора. 8 — Маска и зёрна люминофора</a:t>
            </a:r>
          </a:p>
        </p:txBody>
      </p:sp>
      <p:pic>
        <p:nvPicPr>
          <p:cNvPr id="69638" name="Picture 6" descr="450px-CRT_mask_types_en-r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938" y="4410075"/>
            <a:ext cx="5399087" cy="2447925"/>
          </a:xfrm>
          <a:prstGeom prst="rect">
            <a:avLst/>
          </a:prstGeom>
          <a:noFill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69639" name="slide_05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96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80" name="Picture 4" descr="108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814272"/>
            <a:ext cx="8029525" cy="6043728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71600" y="332656"/>
            <a:ext cx="5997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Пример построчного отображения, разный тип ячеек</a:t>
            </a:r>
            <a:endParaRPr lang="ru-RU" dirty="0"/>
          </a:p>
        </p:txBody>
      </p:sp>
      <p:pic>
        <p:nvPicPr>
          <p:cNvPr id="75781" name="slide_0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57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/>
              <a:t>ЖК</a:t>
            </a:r>
            <a:r>
              <a:rPr lang="en-US" sz="4000"/>
              <a:t> </a:t>
            </a:r>
            <a:r>
              <a:rPr lang="ru-RU" sz="4000"/>
              <a:t>Мониторы (</a:t>
            </a:r>
            <a:r>
              <a:rPr lang="en-US" sz="4000"/>
              <a:t>LCD-</a:t>
            </a:r>
            <a:r>
              <a:rPr lang="ru-RU" sz="4000"/>
              <a:t>liquid crystal display) </a:t>
            </a:r>
          </a:p>
        </p:txBody>
      </p:sp>
      <p:pic>
        <p:nvPicPr>
          <p:cNvPr id="76804" name="Picture 4" descr="I-O_DATA_LCD-MF274XVBR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9388" y="1700213"/>
            <a:ext cx="4537075" cy="4276725"/>
          </a:xfrm>
          <a:noFill/>
          <a:ln/>
        </p:spPr>
      </p:pic>
      <p:pic>
        <p:nvPicPr>
          <p:cNvPr id="76806" name="Picture 6" descr="16x2_COB_character_LCD_display_high_quality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932363" y="2205038"/>
            <a:ext cx="4038600" cy="3230562"/>
          </a:xfrm>
          <a:noFill/>
          <a:ln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7F84-62A5-4BF8-B3E5-3F0990ECB003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76807" name="slide_0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68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2" name="Picture 4" descr="1349227498-clip-37k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6228184" cy="4265405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5157192"/>
            <a:ext cx="9144000" cy="17008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Стоят вертикальные и горизонтальные поляризационные фильтры. Жидкий кристалл поворачивает плоскость поляризации излучения на какой-то угол в зависимости от напряжения. Без подачи напряжения поворачивает все на 90, при подаче напряжения перестроив структуру поворачивает на какой-то меньший угол, либо перестает поворачивать и в результате получается черный цвет, при отсутствии напряжения белый.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020272" y="332656"/>
            <a:ext cx="1800200" cy="468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Второй поляризатор пропускает полностью в горизонтальной плоскости поляризации, и частично под остальными углами с ослаблением по углу.  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95536" y="404664"/>
            <a:ext cx="501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работы ЖК монитора на отражение</a:t>
            </a:r>
            <a:endParaRPr lang="ru-RU" dirty="0"/>
          </a:p>
        </p:txBody>
      </p:sp>
      <p:pic>
        <p:nvPicPr>
          <p:cNvPr id="78853" name="slide_0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88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file1_html_345c4cb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52736"/>
            <a:ext cx="9144000" cy="5384800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83568" y="476672"/>
            <a:ext cx="5504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работы на пропускание света источника</a:t>
            </a:r>
            <a:endParaRPr lang="ru-RU" dirty="0"/>
          </a:p>
        </p:txBody>
      </p:sp>
      <p:pic>
        <p:nvPicPr>
          <p:cNvPr id="80901" name="slide_0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090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6" name="Picture 4" descr="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764704"/>
            <a:ext cx="8207375" cy="6067896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195736" y="332656"/>
            <a:ext cx="4182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Вид ячейки с линиями управлениями</a:t>
            </a:r>
            <a:endParaRPr lang="ru-RU" dirty="0"/>
          </a:p>
        </p:txBody>
      </p:sp>
      <p:pic>
        <p:nvPicPr>
          <p:cNvPr id="79877" name="slide_1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98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TN-film, IPS</a:t>
            </a:r>
            <a:endParaRPr lang="ru-RU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Основные характеристики:</a:t>
            </a:r>
          </a:p>
          <a:p>
            <a:r>
              <a:rPr lang="ru-RU"/>
              <a:t>Частота развертки</a:t>
            </a:r>
          </a:p>
          <a:p>
            <a:r>
              <a:rPr lang="ru-RU"/>
              <a:t>Время отклика</a:t>
            </a:r>
          </a:p>
          <a:p>
            <a:r>
              <a:rPr lang="ru-RU"/>
              <a:t>Угол обзора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82948" name="slide_1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29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Плазменный монитор</a:t>
            </a:r>
          </a:p>
        </p:txBody>
      </p:sp>
      <p:pic>
        <p:nvPicPr>
          <p:cNvPr id="83972" name="Picture 4" descr="072_HnS_0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87450" y="1916113"/>
            <a:ext cx="6842125" cy="3586162"/>
          </a:xfrm>
          <a:noFill/>
          <a:ln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83973" name="slide_1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39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20" name="Picture 4" descr="matrix_plazm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011863" cy="4545013"/>
          </a:xfrm>
          <a:prstGeom prst="rect">
            <a:avLst/>
          </a:prstGeom>
          <a:noFill/>
        </p:spPr>
      </p:pic>
      <p:pic>
        <p:nvPicPr>
          <p:cNvPr id="86021" name="Picture 5" descr="re_plazma_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4775" y="3036888"/>
            <a:ext cx="3959225" cy="3821112"/>
          </a:xfrm>
          <a:prstGeom prst="rect">
            <a:avLst/>
          </a:prstGeo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683568" y="5517232"/>
            <a:ext cx="5426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Отображение вида ячеек плазменного монитора</a:t>
            </a:r>
            <a:endParaRPr lang="ru-RU" dirty="0"/>
          </a:p>
        </p:txBody>
      </p:sp>
      <p:pic>
        <p:nvPicPr>
          <p:cNvPr id="86022" name="slide_13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60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1800" dirty="0"/>
              <a:t>Работа плазменной панели состоит из трёх этапов:</a:t>
            </a:r>
          </a:p>
          <a:p>
            <a:pPr>
              <a:lnSpc>
                <a:spcPct val="80000"/>
              </a:lnSpc>
            </a:pPr>
            <a:endParaRPr lang="ru-RU" sz="1800" dirty="0"/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FF0000"/>
                </a:solidFill>
              </a:rPr>
              <a:t>    инициализация</a:t>
            </a:r>
            <a:r>
              <a:rPr lang="ru-RU" sz="1800" dirty="0"/>
              <a:t>, в ходе которой происходит упорядочение положения зарядов среды и её подготовка к следующему этапу (адресации). При этом на электроде адресации напряжение отсутствует, а на электрод сканирования относительно электрода подсветки подаётся импульс инициализации, имеющий ступенчатый вид. На первой ступени этого импульса происходит упорядочение расположения ионной газовой среды, на второй ступени разряд в газе, а на третьей — завершение упорядочения.</a:t>
            </a:r>
          </a:p>
          <a:p>
            <a:pPr>
              <a:lnSpc>
                <a:spcPct val="80000"/>
              </a:lnSpc>
            </a:pPr>
            <a:r>
              <a:rPr lang="ru-RU" sz="1800" dirty="0"/>
              <a:t>   </a:t>
            </a:r>
            <a:r>
              <a:rPr lang="ru-RU" sz="1800" dirty="0" smtClean="0">
                <a:solidFill>
                  <a:srgbClr val="FF0000"/>
                </a:solidFill>
              </a:rPr>
              <a:t> </a:t>
            </a:r>
            <a:r>
              <a:rPr lang="ru-RU" sz="1800" dirty="0">
                <a:solidFill>
                  <a:srgbClr val="FF0000"/>
                </a:solidFill>
              </a:rPr>
              <a:t>адресация</a:t>
            </a:r>
            <a:r>
              <a:rPr lang="ru-RU" sz="1800" dirty="0"/>
              <a:t>, в ходе которой происходит подготовка пикселя к подсвечиванию. На шину адресации подаётся положительный импульс (+75 В), а на шину сканирования отрицательный (-75 В). На шине подсветки напряжение устанавливается равным +150 В.</a:t>
            </a:r>
          </a:p>
          <a:p>
            <a:pPr>
              <a:lnSpc>
                <a:spcPct val="80000"/>
              </a:lnSpc>
            </a:pPr>
            <a:r>
              <a:rPr lang="ru-RU" sz="1800" dirty="0"/>
              <a:t>    </a:t>
            </a:r>
            <a:r>
              <a:rPr lang="ru-RU" sz="1800" dirty="0" smtClean="0">
                <a:solidFill>
                  <a:srgbClr val="FF0000"/>
                </a:solidFill>
              </a:rPr>
              <a:t>подсветка</a:t>
            </a:r>
            <a:r>
              <a:rPr lang="ru-RU" sz="1800" dirty="0"/>
              <a:t>, в ходе которой на шину сканирования подаётся положительный, а на шину подсветки отрицательный импульс, равный 190 В. Сумма потенциалов ионов на каждой шине и дополнительных импульсов приводит к превышению порогового потенциала и разряду в газовой среде. После разряда происходит повторное распределение ионов у шин сканирования и подсветки. Смена полярности импульсов приводит к повторному разряду в плазме. Таким образом, сменой полярности импульсов обеспечивается многократный разряд ячейки.</a:t>
            </a:r>
          </a:p>
          <a:p>
            <a:pPr>
              <a:lnSpc>
                <a:spcPct val="80000"/>
              </a:lnSpc>
            </a:pPr>
            <a:endParaRPr lang="ru-RU" sz="1800" dirty="0"/>
          </a:p>
          <a:p>
            <a:pPr>
              <a:lnSpc>
                <a:spcPct val="80000"/>
              </a:lnSpc>
            </a:pPr>
            <a:r>
              <a:rPr lang="ru-RU" sz="1800" dirty="0"/>
              <a:t>Один цикл «инициализация — адресация — подсветка» образует формирование одного подполя изображения. Складывая несколько подполей можно обеспечивать изображение заданной яркости и контраста. </a:t>
            </a:r>
            <a:r>
              <a:rPr lang="ru-RU" sz="1800" dirty="0" smtClean="0"/>
              <a:t>Фактически управление осуществляется изменением ширины импульса, например для формирования 8 битного пикселя дискретная ширина должна иметь 128 уровней, 1 бит – нет подсветки, темный.  </a:t>
            </a:r>
            <a:endParaRPr lang="ru-RU" sz="1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87044" name="slide_1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70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9036496" cy="3960440"/>
          </a:xfrm>
        </p:spPr>
        <p:txBody>
          <a:bodyPr/>
          <a:lstStyle/>
          <a:p>
            <a:r>
              <a:rPr lang="ru-RU" sz="2000" b="1" dirty="0" smtClean="0"/>
              <a:t>OLED-дисплеи (</a:t>
            </a:r>
            <a:r>
              <a:rPr lang="ru-RU" sz="2000" b="1" dirty="0" err="1" smtClean="0"/>
              <a:t>Organic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Light-Emitting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Diode</a:t>
            </a:r>
            <a:r>
              <a:rPr lang="ru-RU" sz="2000" b="1" dirty="0" smtClean="0"/>
              <a:t>):</a:t>
            </a:r>
            <a:endParaRPr lang="ru-RU" sz="2000" dirty="0" smtClean="0"/>
          </a:p>
          <a:p>
            <a:r>
              <a:rPr lang="ru-RU" sz="2000" dirty="0" smtClean="0"/>
              <a:t>Дисплей состоит из матрицы </a:t>
            </a:r>
            <a:r>
              <a:rPr lang="ru-RU" sz="2000" b="1" dirty="0" smtClean="0"/>
              <a:t>органических светодиодов</a:t>
            </a:r>
            <a:r>
              <a:rPr lang="ru-RU" sz="2000" dirty="0" smtClean="0"/>
              <a:t>. В отличие от LCD (ЖК), где пиксели лишь фильтруют свет от общей фоновой лампы, </a:t>
            </a:r>
            <a:r>
              <a:rPr lang="ru-RU" sz="2000" b="1" dirty="0" smtClean="0"/>
              <a:t>каждый пиксель OLED светится сам</a:t>
            </a:r>
            <a:r>
              <a:rPr lang="ru-RU" sz="2000" dirty="0" smtClean="0"/>
              <a:t> при подаче на него тока.</a:t>
            </a:r>
          </a:p>
          <a:p>
            <a:r>
              <a:rPr lang="ru-RU" sz="2000" dirty="0" smtClean="0"/>
              <a:t>Между катодом и анодом зажаты тончайшие органические слои (эмиссионный и проводящий). Электроны и «дырки» соединяются в эмиссионном слое, порождая кванты света.</a:t>
            </a:r>
          </a:p>
          <a:p>
            <a:r>
              <a:rPr lang="ru-RU" sz="2000" dirty="0" smtClean="0"/>
              <a:t>Абсолютно черный цвет. Чтобы показать черный, пиксель просто полностью </a:t>
            </a:r>
            <a:r>
              <a:rPr lang="ru-RU" sz="2000" b="1" dirty="0" smtClean="0"/>
              <a:t>выключается</a:t>
            </a:r>
            <a:r>
              <a:rPr lang="ru-RU" sz="2000" dirty="0" smtClean="0"/>
              <a:t> и не излучает свет. Это дает бесконечную контрастность и экономит батарею.</a:t>
            </a:r>
          </a:p>
          <a:p>
            <a:endParaRPr lang="ru-RU" sz="1600" dirty="0" smtClean="0"/>
          </a:p>
          <a:p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5" name="slide_1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0"/>
            <a:ext cx="8712968" cy="6453336"/>
          </a:xfrm>
        </p:spPr>
        <p:txBody>
          <a:bodyPr/>
          <a:lstStyle/>
          <a:p>
            <a:r>
              <a:rPr lang="ru-RU" sz="2000" b="1" dirty="0" smtClean="0"/>
              <a:t>Два основных вида OLED по типу управления (Матрицы):</a:t>
            </a:r>
            <a:endParaRPr lang="ru-RU" sz="2000" dirty="0" smtClean="0"/>
          </a:p>
          <a:p>
            <a:r>
              <a:rPr lang="ru-RU" sz="2000" b="1" dirty="0" smtClean="0"/>
              <a:t>PMOLED (Пассивное управление):</a:t>
            </a:r>
            <a:r>
              <a:rPr lang="ru-RU" sz="2000" dirty="0" smtClean="0"/>
              <a:t> Экраном управляет простая сетка из пересекающихся строк и столбцов. Дешевая, но медленная технология, не подходит для больших экранов. </a:t>
            </a:r>
            <a:r>
              <a:rPr lang="ru-RU" sz="2000" i="1" dirty="0" smtClean="0"/>
              <a:t>Применение:</a:t>
            </a:r>
            <a:r>
              <a:rPr lang="ru-RU" sz="2000" dirty="0" smtClean="0"/>
              <a:t> Крошечные монохромные экраны </a:t>
            </a:r>
            <a:r>
              <a:rPr lang="ru-RU" sz="2000" dirty="0" err="1" smtClean="0"/>
              <a:t>фитнес-браслетов</a:t>
            </a:r>
            <a:r>
              <a:rPr lang="ru-RU" sz="2000" dirty="0" smtClean="0"/>
              <a:t> или умных часов.</a:t>
            </a:r>
          </a:p>
          <a:p>
            <a:r>
              <a:rPr lang="ru-RU" sz="2000" b="1" dirty="0" smtClean="0"/>
              <a:t>AMOLED (Активное управление):</a:t>
            </a:r>
            <a:r>
              <a:rPr lang="ru-RU" sz="2000" dirty="0" smtClean="0"/>
              <a:t> Каждый пиксель управляется своим собственным скрытым </a:t>
            </a:r>
            <a:r>
              <a:rPr lang="ru-RU" sz="2000" b="1" dirty="0" smtClean="0"/>
              <a:t>TFT-транзистором</a:t>
            </a:r>
            <a:r>
              <a:rPr lang="ru-RU" sz="2000" dirty="0" smtClean="0"/>
              <a:t>. Это дает мгновенный отклик, сочную картинку и высокую частоту обновления. </a:t>
            </a:r>
            <a:r>
              <a:rPr lang="ru-RU" sz="2000" i="1" dirty="0" smtClean="0"/>
              <a:t>Применение:</a:t>
            </a:r>
            <a:r>
              <a:rPr lang="ru-RU" sz="2000" dirty="0" smtClean="0"/>
              <a:t> Все современные смартфоны, планшеты и </a:t>
            </a:r>
            <a:r>
              <a:rPr lang="ru-RU" sz="2000" dirty="0" err="1" smtClean="0"/>
              <a:t>премиум-телевизоры</a:t>
            </a:r>
            <a:r>
              <a:rPr lang="ru-RU" sz="2000" dirty="0" smtClean="0"/>
              <a:t>.</a:t>
            </a:r>
          </a:p>
          <a:p>
            <a:r>
              <a:rPr lang="ru-RU" sz="2000" b="1" dirty="0" smtClean="0"/>
              <a:t>Эволюция цветопередачи (</a:t>
            </a:r>
            <a:r>
              <a:rPr lang="ru-RU" sz="2000" b="1" dirty="0" err="1" smtClean="0"/>
              <a:t>Субпиксели</a:t>
            </a:r>
            <a:r>
              <a:rPr lang="ru-RU" sz="2000" b="1" dirty="0" smtClean="0"/>
              <a:t>):</a:t>
            </a:r>
            <a:endParaRPr lang="ru-RU" sz="2000" dirty="0" smtClean="0"/>
          </a:p>
          <a:p>
            <a:r>
              <a:rPr lang="ru-RU" sz="2000" b="1" dirty="0" smtClean="0"/>
              <a:t>WOLED (LG):</a:t>
            </a:r>
            <a:r>
              <a:rPr lang="ru-RU" sz="2000" dirty="0" smtClean="0"/>
              <a:t> Все диоды светятся белым цветом, а нужный оттенок получается за счет цветных светофильтров (</a:t>
            </a:r>
            <a:r>
              <a:rPr lang="ru-RU" sz="2000" dirty="0" smtClean="0">
                <a:solidFill>
                  <a:srgbClr val="FF0000"/>
                </a:solidFill>
              </a:rPr>
              <a:t>R</a:t>
            </a:r>
            <a:r>
              <a:rPr lang="ru-RU" sz="2000" dirty="0" smtClean="0">
                <a:solidFill>
                  <a:srgbClr val="00B050"/>
                </a:solidFill>
              </a:rPr>
              <a:t>G</a:t>
            </a:r>
            <a:r>
              <a:rPr lang="ru-RU" sz="2000" dirty="0" smtClean="0">
                <a:solidFill>
                  <a:srgbClr val="0070C0"/>
                </a:solidFill>
              </a:rPr>
              <a:t>B</a:t>
            </a:r>
            <a:r>
              <a:rPr lang="ru-RU" sz="2000" dirty="0" smtClean="0"/>
              <a:t>). Проще в производстве, но режет пиковую яркость.</a:t>
            </a:r>
          </a:p>
          <a:p>
            <a:r>
              <a:rPr lang="ru-RU" sz="2000" b="1" dirty="0" smtClean="0"/>
              <a:t>QD-OLED (</a:t>
            </a:r>
            <a:r>
              <a:rPr lang="ru-RU" sz="2000" b="1" dirty="0" err="1" smtClean="0"/>
              <a:t>Samsung</a:t>
            </a:r>
            <a:r>
              <a:rPr lang="ru-RU" sz="2000" b="1" dirty="0" smtClean="0"/>
              <a:t>):</a:t>
            </a:r>
            <a:r>
              <a:rPr lang="ru-RU" sz="2000" dirty="0" smtClean="0"/>
              <a:t> Все диоды светятся </a:t>
            </a:r>
            <a:r>
              <a:rPr lang="ru-RU" sz="2000" dirty="0" smtClean="0">
                <a:solidFill>
                  <a:srgbClr val="0070C0"/>
                </a:solidFill>
              </a:rPr>
              <a:t>синим</a:t>
            </a:r>
            <a:r>
              <a:rPr lang="ru-RU" sz="2000" dirty="0" smtClean="0"/>
              <a:t> цветом, а квантовые точки (</a:t>
            </a:r>
            <a:r>
              <a:rPr lang="ru-RU" sz="2000" b="1" dirty="0" err="1" smtClean="0"/>
              <a:t>Quantum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Dots</a:t>
            </a:r>
            <a:r>
              <a:rPr lang="ru-RU" sz="2000" b="1" dirty="0" smtClean="0"/>
              <a:t>, </a:t>
            </a:r>
            <a:r>
              <a:rPr lang="ru-RU" sz="2000" dirty="0" err="1" smtClean="0">
                <a:solidFill>
                  <a:srgbClr val="0070C0"/>
                </a:solidFill>
              </a:rPr>
              <a:t>нанокристаллы</a:t>
            </a:r>
            <a:r>
              <a:rPr lang="ru-RU" sz="2000" b="1" dirty="0" smtClean="0"/>
              <a:t>) </a:t>
            </a:r>
            <a:r>
              <a:rPr lang="ru-RU" sz="2000" dirty="0" smtClean="0"/>
              <a:t>Если посветить на такой кристалл базовым источником света (обычно жестким синим цветом), он начинает </a:t>
            </a:r>
            <a:r>
              <a:rPr lang="ru-RU" sz="2000" b="1" dirty="0" smtClean="0"/>
              <a:t>светиться сам</a:t>
            </a:r>
            <a:r>
              <a:rPr lang="ru-RU" sz="2000" dirty="0" smtClean="0"/>
              <a:t>.) </a:t>
            </a:r>
            <a:r>
              <a:rPr lang="ru-RU" sz="2000" dirty="0" err="1" smtClean="0"/>
              <a:t>переизлучают</a:t>
            </a:r>
            <a:r>
              <a:rPr lang="ru-RU" sz="2000" dirty="0" smtClean="0"/>
              <a:t> его в чистейшие красный и зеленый. Дает экстремальную яркость и максимальный цветовой охват.</a:t>
            </a: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5" name="slide_16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Принтеры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Матричный</a:t>
            </a:r>
          </a:p>
          <a:p>
            <a:r>
              <a:rPr lang="ru-RU"/>
              <a:t>Струйный</a:t>
            </a:r>
          </a:p>
          <a:p>
            <a:r>
              <a:rPr lang="ru-RU"/>
              <a:t>Лазерный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88068" name="slide_1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80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ru-RU" sz="4000" dirty="0" smtClean="0"/>
              <a:t>Матричный принтер</a:t>
            </a:r>
            <a:endParaRPr lang="ru-RU" sz="4000" dirty="0"/>
          </a:p>
        </p:txBody>
      </p:sp>
      <p:pic>
        <p:nvPicPr>
          <p:cNvPr id="89092" name="Picture 4" descr="prn_oki_19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71550" y="1052513"/>
            <a:ext cx="7416800" cy="5564187"/>
          </a:xfrm>
          <a:noFill/>
          <a:ln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89093" name="slide_1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90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8" name="Picture 4" descr="1024px-Star-LC-10-printer-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80728"/>
            <a:ext cx="8748464" cy="5759227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43608" y="404664"/>
            <a:ext cx="7790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Укрупненный вид матричного принтера внутри с печатающей головкой</a:t>
            </a:r>
            <a:endParaRPr lang="ru-RU" dirty="0"/>
          </a:p>
        </p:txBody>
      </p:sp>
      <p:pic>
        <p:nvPicPr>
          <p:cNvPr id="93189" name="slide_1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31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0" name="Picture 4" descr="81174949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0"/>
            <a:ext cx="4824413" cy="3927475"/>
          </a:xfrm>
          <a:prstGeom prst="rect">
            <a:avLst/>
          </a:prstGeom>
          <a:noFill/>
        </p:spPr>
      </p:pic>
      <p:pic>
        <p:nvPicPr>
          <p:cNvPr id="91141" name="Picture 5" descr="m69d795c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975" y="2971800"/>
            <a:ext cx="6618288" cy="3886200"/>
          </a:xfrm>
          <a:prstGeom prst="rect">
            <a:avLst/>
          </a:prstGeo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4860032" y="764704"/>
            <a:ext cx="407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нанесения точек на бумагу</a:t>
            </a:r>
            <a:endParaRPr lang="ru-RU" dirty="0"/>
          </a:p>
        </p:txBody>
      </p:sp>
      <p:pic>
        <p:nvPicPr>
          <p:cNvPr id="91142" name="slide_20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11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ru-RU"/>
              <a:t>Струйный принтер</a:t>
            </a:r>
          </a:p>
        </p:txBody>
      </p:sp>
      <p:pic>
        <p:nvPicPr>
          <p:cNvPr id="92164" name="Picture 4" descr="intro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71550" y="825500"/>
            <a:ext cx="7561263" cy="6032500"/>
          </a:xfrm>
          <a:noFill/>
          <a:ln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92165" name="slide_2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21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333375"/>
            <a:ext cx="8713787" cy="62642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000"/>
              <a:t>На данный момент существует две технические реализации способа подачи красителя:</a:t>
            </a:r>
          </a:p>
          <a:p>
            <a:pPr>
              <a:lnSpc>
                <a:spcPct val="80000"/>
              </a:lnSpc>
            </a:pPr>
            <a:endParaRPr lang="ru-RU" sz="2000"/>
          </a:p>
          <a:p>
            <a:pPr>
              <a:lnSpc>
                <a:spcPct val="80000"/>
              </a:lnSpc>
            </a:pPr>
            <a:r>
              <a:rPr lang="ru-RU" sz="2000"/>
              <a:t>Термическая (Thermal Ink Jet), также называемая BubbleJet — Разработчик — компания Canon. Принцип был разработан в конце 1970-х годов. В сопле расположен микроскопический нагревательный элемент, который при прохождении электрического тока мгновенно нагревается до температуры около 500 °C, при нагревании в чернилах образуются газовые пузырьки (англ. — bubbles — отсюда и название технологии), которые выталкивают капли жидкости из сопла на носитель. В 1981 году технология была представлена на выставке Canon Grand Fair. В 1985 году появилась первая коммерческая модель монохромного принтера — Canon BJ-80. В 1988 году появился первый цветной принтер — BJC-440 формата A2, разрешением 400 dpi.</a:t>
            </a:r>
          </a:p>
          <a:p>
            <a:pPr>
              <a:lnSpc>
                <a:spcPct val="80000"/>
              </a:lnSpc>
            </a:pPr>
            <a:r>
              <a:rPr lang="ru-RU" sz="2000"/>
              <a:t> Пьезоэлектрическая (Piezoelectric Ink Jet) — над соплом расположен пьезокристалл с диафрагмой. Когда на пьезоэлемент подаётся электрический ток, он изгибается и тянет за собой диафрагму — формируется капля, которая впоследствии выталкивается на бумагу. Широкое распространение получила в струйных принтерах компании Epson. Технология позволяет изменять размер капли.</a:t>
            </a:r>
          </a:p>
          <a:p>
            <a:pPr>
              <a:lnSpc>
                <a:spcPct val="80000"/>
              </a:lnSpc>
            </a:pPr>
            <a:endParaRPr lang="ru-RU" sz="2000"/>
          </a:p>
          <a:p>
            <a:pPr>
              <a:lnSpc>
                <a:spcPct val="80000"/>
              </a:lnSpc>
            </a:pPr>
            <a:endParaRPr lang="ru-RU" sz="200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97284" name="slide_2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72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6" name="Picture 4" descr="ink_jet_prin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76672"/>
            <a:ext cx="9144000" cy="6096000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95536" y="188640"/>
            <a:ext cx="650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Состав и термический принцип печати струйного принтера</a:t>
            </a:r>
            <a:endParaRPr lang="ru-RU" dirty="0"/>
          </a:p>
        </p:txBody>
      </p:sp>
      <p:pic>
        <p:nvPicPr>
          <p:cNvPr id="95237" name="slide_2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52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8" name="Picture 4" descr="piezoelectr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9144000" cy="5667375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43608" y="332656"/>
            <a:ext cx="4438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Пьезоэлектрическая технология печати</a:t>
            </a:r>
            <a:endParaRPr lang="ru-RU" dirty="0"/>
          </a:p>
        </p:txBody>
      </p:sp>
      <p:pic>
        <p:nvPicPr>
          <p:cNvPr id="98309" name="slide_2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83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61" name="Picture 5" descr="ink_prin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764704"/>
            <a:ext cx="8100392" cy="5947319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051720" y="404664"/>
            <a:ext cx="499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Вид картриджа цветного струйного принтера</a:t>
            </a:r>
            <a:endParaRPr lang="ru-RU" dirty="0"/>
          </a:p>
        </p:txBody>
      </p:sp>
      <p:pic>
        <p:nvPicPr>
          <p:cNvPr id="96262" name="slide_2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62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6" name="Picture 4" descr="cmyk_vs_rg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092950" cy="4057650"/>
          </a:xfrm>
          <a:prstGeom prst="rect">
            <a:avLst/>
          </a:prstGeom>
          <a:noFill/>
        </p:spPr>
      </p:pic>
      <p:pic>
        <p:nvPicPr>
          <p:cNvPr id="100357" name="Picture 5" descr="330px-Polygraphic_Substractive_CM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00750" y="3695700"/>
            <a:ext cx="3143250" cy="3162300"/>
          </a:xfrm>
          <a:prstGeom prst="rect">
            <a:avLst/>
          </a:prstGeo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39552" y="4869160"/>
            <a:ext cx="5172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Цветовые схемы для печатающих устройств </a:t>
            </a:r>
          </a:p>
          <a:p>
            <a:r>
              <a:rPr lang="ru-RU" dirty="0" smtClean="0"/>
              <a:t>и для эмиссионных устройств (мониторов)</a:t>
            </a:r>
            <a:endParaRPr lang="ru-RU" dirty="0"/>
          </a:p>
        </p:txBody>
      </p:sp>
      <p:pic>
        <p:nvPicPr>
          <p:cNvPr id="100358" name="slide_26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03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Лазерный принтер</a:t>
            </a:r>
          </a:p>
        </p:txBody>
      </p:sp>
      <p:pic>
        <p:nvPicPr>
          <p:cNvPr id="99332" name="Picture 4" descr="Какой-цветной-лазерный-принтер-выбрать-300x27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1188" y="1557338"/>
            <a:ext cx="3384550" cy="3113087"/>
          </a:xfrm>
          <a:noFill/>
          <a:ln/>
        </p:spPr>
      </p:pic>
      <p:pic>
        <p:nvPicPr>
          <p:cNvPr id="99334" name="Picture 6" descr="1425499095_lazernyy-printer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0" y="1773238"/>
            <a:ext cx="4038600" cy="3460750"/>
          </a:xfrm>
          <a:noFill/>
          <a:ln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7F84-62A5-4BF8-B3E5-3F0990ECB003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99335" name="slide_2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93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8" name="Picture 4" descr="lasernaya-pech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9144000" cy="5641305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979712" y="404664"/>
            <a:ext cx="5624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работы и устройство лазерного принтера</a:t>
            </a:r>
            <a:endParaRPr lang="ru-RU" dirty="0"/>
          </a:p>
        </p:txBody>
      </p:sp>
      <p:pic>
        <p:nvPicPr>
          <p:cNvPr id="103429" name="slide_2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34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6" name="Picture 4" descr="Лазерная печать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9144000" cy="5942335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95497" y="188640"/>
            <a:ext cx="904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лазерной печати, более подробно о заряде частиц, тонере и </a:t>
            </a:r>
            <a:r>
              <a:rPr lang="ru-RU" dirty="0" err="1" smtClean="0"/>
              <a:t>девелопере</a:t>
            </a:r>
            <a:endParaRPr lang="ru-RU" dirty="0"/>
          </a:p>
        </p:txBody>
      </p:sp>
      <p:pic>
        <p:nvPicPr>
          <p:cNvPr id="105477" name="slide_2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54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8" name="Picture 4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836712"/>
            <a:ext cx="8713788" cy="5561012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619672" y="476672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Отображение процесса  с использованием зеркала</a:t>
            </a:r>
            <a:endParaRPr lang="ru-RU" dirty="0"/>
          </a:p>
        </p:txBody>
      </p:sp>
      <p:pic>
        <p:nvPicPr>
          <p:cNvPr id="108549" name="slide_3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85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88913"/>
            <a:ext cx="8964612" cy="66690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000"/>
              <a:t>три способа переноса тонеров:</a:t>
            </a:r>
          </a:p>
          <a:p>
            <a:pPr>
              <a:lnSpc>
                <a:spcPct val="80000"/>
              </a:lnSpc>
            </a:pPr>
            <a:endParaRPr lang="ru-RU" sz="2000"/>
          </a:p>
          <a:p>
            <a:pPr>
              <a:lnSpc>
                <a:spcPct val="80000"/>
              </a:lnSpc>
            </a:pPr>
            <a:r>
              <a:rPr lang="ru-RU" sz="2000"/>
              <a:t>    двухкомпонентный (система с двумя компонентами проявления — с раздельным тонером и девелопером) — красящие частицы, предназначенные для переноса на фотобарабан, не могут самостоятельно удерживаться на магнитном валу блока проявки, но прилипают к частицам специального магнитного порошка носителя (девелопера), которые при перемешивании заряжаются из-за взаимного трения.</a:t>
            </a:r>
          </a:p>
          <a:p>
            <a:pPr>
              <a:lnSpc>
                <a:spcPct val="80000"/>
              </a:lnSpc>
            </a:pPr>
            <a:r>
              <a:rPr lang="ru-RU" sz="2000"/>
              <a:t>    двухкомпонентный, где тонер и девелопер уже смешаны заранее в заводском картридже.</a:t>
            </a:r>
          </a:p>
          <a:p>
            <a:pPr>
              <a:lnSpc>
                <a:spcPct val="80000"/>
              </a:lnSpc>
            </a:pPr>
            <a:r>
              <a:rPr lang="ru-RU" sz="2000"/>
              <a:t>    однокомпонентный (напр., в современных принтерах Canon и HP) — только тонер без каких-либо примесей, красящие частицы которого сами по себе обладают магнитными свойствами. В принтерах Xerox/Samsung/Brother используется немагнитный тонер с электростатической системой нанесения тонера.</a:t>
            </a:r>
          </a:p>
          <a:p>
            <a:pPr>
              <a:lnSpc>
                <a:spcPct val="80000"/>
              </a:lnSpc>
            </a:pPr>
            <a:endParaRPr lang="ru-RU" sz="2000"/>
          </a:p>
          <a:p>
            <a:pPr>
              <a:lnSpc>
                <a:spcPct val="80000"/>
              </a:lnSpc>
            </a:pPr>
            <a:r>
              <a:rPr lang="ru-RU" sz="2000"/>
              <a:t>В двухкомпонентной системе девелопер остается на магнитном валу блока проявки и продолжает служить дальше (тонер, естественно, расходуется). В технических описаниях многих аппаратов производители заявляют, что девелопер вообще не требует восполнения, однако на практике его рабочие характеристики со временем ухудшаются, что сказывается на качестве копий.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104452" name="slide_31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44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08" name="Picture 4" descr="267314_zapravit-lazernyij-prin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764704"/>
            <a:ext cx="6499820" cy="5901152"/>
          </a:xfrm>
          <a:prstGeom prst="rect">
            <a:avLst/>
          </a:prstGeo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051720" y="188640"/>
            <a:ext cx="558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Как заправить лазерный принтер не замаравшись</a:t>
            </a:r>
            <a:endParaRPr lang="ru-RU" dirty="0"/>
          </a:p>
        </p:txBody>
      </p:sp>
      <p:pic>
        <p:nvPicPr>
          <p:cNvPr id="123909" name="slide_3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39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8229600" cy="1143000"/>
          </a:xfrm>
        </p:spPr>
        <p:txBody>
          <a:bodyPr/>
          <a:lstStyle/>
          <a:p>
            <a:r>
              <a:rPr lang="ru-RU"/>
              <a:t>Цветная лазерная печать</a:t>
            </a:r>
          </a:p>
        </p:txBody>
      </p:sp>
      <p:pic>
        <p:nvPicPr>
          <p:cNvPr id="106500" name="Picture 4" descr="So_laserprint_6d13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536" y="866775"/>
            <a:ext cx="7777163" cy="5991225"/>
          </a:xfrm>
          <a:noFill/>
          <a:ln/>
        </p:spPr>
      </p:pic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6588125" y="1125538"/>
            <a:ext cx="2087563" cy="790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/>
              <a:t>Многопроходная</a:t>
            </a:r>
          </a:p>
          <a:p>
            <a:pPr algn="ctr"/>
            <a:r>
              <a:rPr lang="ru-RU"/>
              <a:t>Цветная печать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33</a:t>
            </a:fld>
            <a:endParaRPr lang="ru-RU"/>
          </a:p>
        </p:txBody>
      </p:sp>
      <p:pic>
        <p:nvPicPr>
          <p:cNvPr id="106503" name="slide_3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65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3" name="Picture 5" descr="12868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643438" cy="3354388"/>
          </a:xfrm>
          <a:prstGeom prst="rect">
            <a:avLst/>
          </a:prstGeom>
          <a:noFill/>
        </p:spPr>
      </p:pic>
      <p:pic>
        <p:nvPicPr>
          <p:cNvPr id="109574" name="Picture 6" descr="924feae415960cce694751dc56ae605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16338"/>
            <a:ext cx="6119813" cy="2665412"/>
          </a:xfrm>
          <a:prstGeom prst="rect">
            <a:avLst/>
          </a:prstGeom>
          <a:noFill/>
        </p:spPr>
      </p:pic>
      <p:pic>
        <p:nvPicPr>
          <p:cNvPr id="109575" name="Picture 7" descr="laser-printer_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0563" y="0"/>
            <a:ext cx="4643437" cy="3873500"/>
          </a:xfrm>
          <a:prstGeom prst="rect">
            <a:avLst/>
          </a:prstGeom>
          <a:noFill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6156176" y="4437112"/>
            <a:ext cx="2779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Использование четырех</a:t>
            </a:r>
          </a:p>
          <a:p>
            <a:r>
              <a:rPr lang="ru-RU" dirty="0" err="1" smtClean="0"/>
              <a:t>фотобарабанов</a:t>
            </a:r>
            <a:endParaRPr lang="ru-RU" dirty="0"/>
          </a:p>
        </p:txBody>
      </p:sp>
      <p:pic>
        <p:nvPicPr>
          <p:cNvPr id="109576" name="slide_34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95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Механическая мышка</a:t>
            </a:r>
          </a:p>
        </p:txBody>
      </p:sp>
      <p:pic>
        <p:nvPicPr>
          <p:cNvPr id="110596" name="Picture 4" descr="mechanical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1196975"/>
            <a:ext cx="3733800" cy="3629025"/>
          </a:xfrm>
          <a:noFill/>
          <a:ln/>
        </p:spPr>
      </p:pic>
      <p:pic>
        <p:nvPicPr>
          <p:cNvPr id="110598" name="Picture 6" descr="4767882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814763" y="2636838"/>
            <a:ext cx="5329237" cy="3995737"/>
          </a:xfrm>
          <a:noFill/>
          <a:ln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7F84-62A5-4BF8-B3E5-3F0990ECB003}" type="slidenum">
              <a:rPr lang="ru-RU" smtClean="0"/>
              <a:pPr/>
              <a:t>35</a:t>
            </a:fld>
            <a:endParaRPr lang="ru-RU"/>
          </a:p>
        </p:txBody>
      </p:sp>
      <p:pic>
        <p:nvPicPr>
          <p:cNvPr id="110599" name="slide_35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059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8" name="Picture 4" descr="mouse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500563" cy="4500563"/>
          </a:xfrm>
          <a:prstGeom prst="rect">
            <a:avLst/>
          </a:prstGeom>
          <a:noFill/>
        </p:spPr>
      </p:pic>
      <p:pic>
        <p:nvPicPr>
          <p:cNvPr id="113669" name="Picture 5" descr="16_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5488" y="2708275"/>
            <a:ext cx="4608512" cy="3973513"/>
          </a:xfrm>
          <a:prstGeom prst="rect">
            <a:avLst/>
          </a:prstGeom>
          <a:noFill/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436096" y="692696"/>
            <a:ext cx="3536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работы механической</a:t>
            </a:r>
          </a:p>
          <a:p>
            <a:r>
              <a:rPr lang="ru-RU" dirty="0" smtClean="0"/>
              <a:t>мышки</a:t>
            </a:r>
            <a:endParaRPr lang="ru-RU" dirty="0"/>
          </a:p>
        </p:txBody>
      </p:sp>
      <p:pic>
        <p:nvPicPr>
          <p:cNvPr id="113670" name="slide_36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36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Оптическая мышка</a:t>
            </a:r>
          </a:p>
        </p:txBody>
      </p:sp>
      <p:pic>
        <p:nvPicPr>
          <p:cNvPr id="115716" name="Picture 4" descr="!a4tech_1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825" y="3357563"/>
            <a:ext cx="4038600" cy="3033712"/>
          </a:xfrm>
          <a:noFill/>
          <a:ln/>
        </p:spPr>
      </p:pic>
      <p:pic>
        <p:nvPicPr>
          <p:cNvPr id="115718" name="Picture 6" descr="фото-3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716463" y="1412875"/>
            <a:ext cx="3924300" cy="2859088"/>
          </a:xfrm>
          <a:noFill/>
          <a:ln/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57F84-62A5-4BF8-B3E5-3F0990ECB003}" type="slidenum">
              <a:rPr lang="ru-RU" smtClean="0"/>
              <a:pPr/>
              <a:t>37</a:t>
            </a:fld>
            <a:endParaRPr lang="ru-RU"/>
          </a:p>
        </p:txBody>
      </p:sp>
      <p:pic>
        <p:nvPicPr>
          <p:cNvPr id="115719" name="slide_3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57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2" name="Picture 4" descr="f0cbf3afe28dfc6d99a46cbcb5681b56_i-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0"/>
            <a:ext cx="6577013" cy="6597650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6948264" y="980728"/>
            <a:ext cx="2150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Принцип работы</a:t>
            </a:r>
          </a:p>
          <a:p>
            <a:r>
              <a:rPr lang="ru-RU" dirty="0" smtClean="0"/>
              <a:t>Оптической мыши</a:t>
            </a:r>
            <a:endParaRPr lang="ru-RU" dirty="0"/>
          </a:p>
        </p:txBody>
      </p:sp>
      <p:pic>
        <p:nvPicPr>
          <p:cNvPr id="114693" name="slide_38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46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Поиск вектора движения</a:t>
            </a:r>
          </a:p>
        </p:txBody>
      </p:sp>
      <p:pic>
        <p:nvPicPr>
          <p:cNvPr id="118788" name="Picture 4" descr="image01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23850" y="1844675"/>
            <a:ext cx="8496300" cy="3981450"/>
          </a:xfrm>
          <a:noFill/>
          <a:ln/>
        </p:spPr>
      </p:pic>
      <p:sp>
        <p:nvSpPr>
          <p:cNvPr id="118790" name="Line 6"/>
          <p:cNvSpPr>
            <a:spLocks noChangeShapeType="1"/>
          </p:cNvSpPr>
          <p:nvPr/>
        </p:nvSpPr>
        <p:spPr bwMode="auto">
          <a:xfrm flipV="1">
            <a:off x="6084888" y="3141663"/>
            <a:ext cx="142875" cy="10080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118791" name="Rectangle 7"/>
          <p:cNvSpPr>
            <a:spLocks noChangeArrowheads="1"/>
          </p:cNvSpPr>
          <p:nvPr/>
        </p:nvSpPr>
        <p:spPr bwMode="auto">
          <a:xfrm>
            <a:off x="1692275" y="6092825"/>
            <a:ext cx="129540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l-GR">
                <a:cs typeface="Arial" charset="0"/>
              </a:rPr>
              <a:t>Δ</a:t>
            </a:r>
            <a:r>
              <a:rPr lang="en-US">
                <a:cs typeface="Arial" charset="0"/>
              </a:rPr>
              <a:t>x, </a:t>
            </a:r>
            <a:r>
              <a:rPr lang="el-GR"/>
              <a:t>Δ</a:t>
            </a:r>
            <a:r>
              <a:rPr lang="en-US"/>
              <a:t>y</a:t>
            </a:r>
            <a:endParaRPr lang="el-GR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4CD3C-E712-4CBF-AB00-800EEE265607}" type="slidenum">
              <a:rPr lang="ru-RU" smtClean="0"/>
              <a:pPr/>
              <a:t>39</a:t>
            </a:fld>
            <a:endParaRPr lang="ru-RU"/>
          </a:p>
        </p:txBody>
      </p:sp>
      <p:pic>
        <p:nvPicPr>
          <p:cNvPr id="118792" name="slide_3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87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6" name="Picture 4" descr="Матриц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961063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99592" y="6237312"/>
            <a:ext cx="6960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Поиск вектора движения после монохромного преобразования</a:t>
            </a:r>
            <a:endParaRPr lang="ru-RU" dirty="0"/>
          </a:p>
        </p:txBody>
      </p:sp>
      <p:pic>
        <p:nvPicPr>
          <p:cNvPr id="120837" name="slide_4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08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60" name="Picture 4" descr="cc15c9795637209999252dde80718bd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150"/>
            <a:ext cx="8748713" cy="5070475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115616" y="6165304"/>
            <a:ext cx="4777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Светодиодная и лазерная мышка, отличия</a:t>
            </a:r>
            <a:endParaRPr lang="ru-RU" dirty="0"/>
          </a:p>
        </p:txBody>
      </p:sp>
      <p:pic>
        <p:nvPicPr>
          <p:cNvPr id="121861" name="slide_4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18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4" name="Picture 4" descr="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1341438"/>
            <a:ext cx="8064500" cy="3638550"/>
          </a:xfrm>
          <a:prstGeom prst="rect">
            <a:avLst/>
          </a:prstGeom>
          <a:noFill/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8E02-B9F9-4699-B59D-436CE50BECA2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1619672" y="5877272"/>
            <a:ext cx="499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Проблемы поверхностей и отражения от них</a:t>
            </a:r>
            <a:endParaRPr lang="ru-RU" dirty="0"/>
          </a:p>
        </p:txBody>
      </p:sp>
      <p:pic>
        <p:nvPicPr>
          <p:cNvPr id="122885" name="slide_4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75320" y="580644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28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1308</Words>
  <Application>Microsoft Office PowerPoint</Application>
  <PresentationFormat>Экран (4:3)</PresentationFormat>
  <Paragraphs>127</Paragraphs>
  <Slides>42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3" baseType="lpstr">
      <vt:lpstr>Оформление по умолчанию</vt:lpstr>
      <vt:lpstr>Технические средства ИТ </vt:lpstr>
      <vt:lpstr>Мониторы</vt:lpstr>
      <vt:lpstr>ЭЛТ Мониторы</vt:lpstr>
      <vt:lpstr>Слайд 4</vt:lpstr>
      <vt:lpstr>Слайд 5</vt:lpstr>
      <vt:lpstr>Слайд 6</vt:lpstr>
      <vt:lpstr>ЖК Мониторы (LCD-liquid crystal display) </vt:lpstr>
      <vt:lpstr>Слайд 8</vt:lpstr>
      <vt:lpstr>Слайд 9</vt:lpstr>
      <vt:lpstr>Слайд 10</vt:lpstr>
      <vt:lpstr>TN-film, IPS</vt:lpstr>
      <vt:lpstr>Плазменный монитор</vt:lpstr>
      <vt:lpstr>Слайд 13</vt:lpstr>
      <vt:lpstr>Слайд 14</vt:lpstr>
      <vt:lpstr>Слайд 15</vt:lpstr>
      <vt:lpstr>Слайд 16</vt:lpstr>
      <vt:lpstr>Принтеры</vt:lpstr>
      <vt:lpstr>Матричный принтер</vt:lpstr>
      <vt:lpstr>Слайд 19</vt:lpstr>
      <vt:lpstr>Слайд 20</vt:lpstr>
      <vt:lpstr>Струйный принтер</vt:lpstr>
      <vt:lpstr>Слайд 22</vt:lpstr>
      <vt:lpstr>Слайд 23</vt:lpstr>
      <vt:lpstr>Слайд 24</vt:lpstr>
      <vt:lpstr>Слайд 25</vt:lpstr>
      <vt:lpstr>Слайд 26</vt:lpstr>
      <vt:lpstr>Лазерный принтер</vt:lpstr>
      <vt:lpstr>Слайд 28</vt:lpstr>
      <vt:lpstr>Слайд 29</vt:lpstr>
      <vt:lpstr>Слайд 30</vt:lpstr>
      <vt:lpstr>Слайд 31</vt:lpstr>
      <vt:lpstr>Слайд 32</vt:lpstr>
      <vt:lpstr>Цветная лазерная печать</vt:lpstr>
      <vt:lpstr>Слайд 34</vt:lpstr>
      <vt:lpstr>Механическая мышка</vt:lpstr>
      <vt:lpstr>Слайд 36</vt:lpstr>
      <vt:lpstr>Оптическая мышка</vt:lpstr>
      <vt:lpstr>Слайд 38</vt:lpstr>
      <vt:lpstr>Поиск вектора движения</vt:lpstr>
      <vt:lpstr>Слайд 40</vt:lpstr>
      <vt:lpstr>Слайд 41</vt:lpstr>
      <vt:lpstr>Слайд 42</vt:lpstr>
    </vt:vector>
  </TitlesOfParts>
  <Company>homexp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homexp</dc:creator>
  <cp:lastModifiedBy>Алекс Алексов</cp:lastModifiedBy>
  <cp:revision>135</cp:revision>
  <dcterms:created xsi:type="dcterms:W3CDTF">2015-09-30T08:24:16Z</dcterms:created>
  <dcterms:modified xsi:type="dcterms:W3CDTF">2026-10-24T14:19:43Z</dcterms:modified>
</cp:coreProperties>
</file>