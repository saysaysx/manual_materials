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25.mp3" ContentType="audio/mpeg"/>
  <Override PartName="/ppt/media/media26.mp3" ContentType="audio/mpeg"/>
  <Override PartName="/ppt/media/media27.mp3" ContentType="audio/mpeg"/>
  <Override PartName="/ppt/media/media28.mp3" ContentType="audio/mpeg"/>
  <Override PartName="/ppt/media/media29.mp3" ContentType="audio/mpeg"/>
  <Override PartName="/ppt/media/media3.mp3" ContentType="audio/mpeg"/>
  <Override PartName="/ppt/media/media30.mp3" ContentType="audio/mpeg"/>
  <Override PartName="/ppt/media/media31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313" r:id="rId4"/>
    <p:sldId id="314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457" y="-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Добро пожаловать на лекцию об основных элементах и принципах работы компьютерной техники</a:t>
            </a:r>
          </a:p>
          <a:p>
            <a:r>
              <a:t>по архитектуре фон Неймана.</a:t>
            </a:r>
          </a:p>
          <a:p>
            <a:r>
              <a:t>Сегодня мы спустимся с уровня архитектуры на уровень физической реализации.</a:t>
            </a:r>
          </a:p>
          <a:p>
            <a:r>
              <a:t>Разберём, как производятся микросхемы — от фотолитографии до современных техпроцессов 2 нанометра.</a:t>
            </a:r>
          </a:p>
          <a:p>
            <a:r>
              <a:t>Изучим физику полупроводников: P-N переход, биполярные и полевые транзисторы, CMOS-логику.</a:t>
            </a:r>
          </a:p>
          <a:p>
            <a:r>
              <a:t>Познакомимся с базовыми элементами процессора — триггерами, счётчиками, мультиплексорами, сумматорами.</a:t>
            </a:r>
          </a:p>
          <a:p>
            <a:r>
              <a:t>Разберём устройство IBM PC, шинную архитектуру чипсета, микропроцессоры Intel и советские аналоги.</a:t>
            </a:r>
          </a:p>
          <a:p>
            <a:r>
              <a:t>И в конце — как устроена иерархия памяти: от регистров и кэшей до оперативной памяти и накопителей.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Фотолитография — ключевой метод производства микросхем.</a:t>
            </a:r>
          </a:p>
          <a:p>
            <a:r>
              <a:t>Это процесс «печати» схемы на кремниевой пластине с помощью света, во многом похожий на фотопечать.</a:t>
            </a:r>
          </a:p>
          <a:p>
            <a:r>
              <a:t>Пять этапов.</a:t>
            </a:r>
          </a:p>
          <a:p>
            <a:r>
              <a:t>Подготовка основы: на кремниевую пластину наносится тонкий слой кремния, а поверх него — фоторезист,</a:t>
            </a:r>
          </a:p>
          <a:p>
            <a:r>
              <a:t>светочувствительный полимер, который меняет свойства под действием света.</a:t>
            </a:r>
          </a:p>
          <a:p>
            <a:r>
              <a:t>Экспонирование: свет проходит через фотошаблон — маску с рисунком схемы — и систему линз,</a:t>
            </a:r>
          </a:p>
          <a:p>
            <a:r>
              <a:t>проецируя уменьшенное изображение на фоторезист.</a:t>
            </a:r>
          </a:p>
          <a:p>
            <a:r>
              <a:t>Проявление: засвеченные или незасвеченные участки фоторезиста смываются специальным раствором.</a:t>
            </a:r>
          </a:p>
          <a:p>
            <a:r>
              <a:t>Травление и ионная имплантация: защищённые остатками фоторезиста зоны остаются нетронутыми,</a:t>
            </a:r>
          </a:p>
          <a:p>
            <a:r>
              <a:t>а открытые участки кремния вытравливаются кислотой или легируются ионами</a:t>
            </a:r>
          </a:p>
          <a:p>
            <a:r>
              <a:t>для создания полупроводниковых свойств.</a:t>
            </a:r>
          </a:p>
          <a:p>
            <a:r>
              <a:t>Очистка: остатки фоторезиста удаляются.</a:t>
            </a:r>
          </a:p>
          <a:p>
            <a:r>
              <a:t>Весь процесс повторяется до 40–80 раз, чтобы создать многослойную структуру чипа.</a:t>
            </a:r>
          </a:p>
          <a:p>
            <a:r>
              <a:t>Каждый слой — это отдельный уровень транзисторов, дорожек, контактов.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Технологический предел: литография на пути к 2 нанометрам и менее.</a:t>
            </a:r>
          </a:p>
          <a:p>
            <a:r>
              <a:t>Чтобы уменьшать транзисторы, учёным пришлось кардинально уменьшать длину волны света —</a:t>
            </a:r>
          </a:p>
          <a:p>
            <a:r>
              <a:t>из-за дифракционного предела, физического ограничения, не позволяющего печатать элементы меньше длины волны.</a:t>
            </a:r>
          </a:p>
          <a:p>
            <a:r>
              <a:t>Эволюция источников света.</a:t>
            </a:r>
          </a:p>
          <a:p>
            <a:r>
              <a:t>УФ-литография в глубоком ультрафиолете, DUV: использовала аргон-фторидные лазеры с длиной волны 193 нанометра.</a:t>
            </a:r>
          </a:p>
          <a:p>
            <a:r>
              <a:t>Чтобы печатать чипы 28–10 нанометров, применяли иммерсионную жидкость — воду —</a:t>
            </a:r>
          </a:p>
          <a:p>
            <a:r>
              <a:t>и метод многократного экспонирования.</a:t>
            </a:r>
          </a:p>
          <a:p>
            <a:r>
              <a:t>Экстремальный ультрафиолет, EUV: прорывные установки компании ASML с длиной волны 13,5 нанометра.</a:t>
            </a:r>
          </a:p>
          <a:p>
            <a:r>
              <a:t>Свет генерируется лазером, бьющим по каплям расплавленного олова.</a:t>
            </a:r>
          </a:p>
          <a:p>
            <a:r>
              <a:t>Стала стандартом для техпроцессов от 7 до 3 нанометров.</a:t>
            </a:r>
          </a:p>
          <a:p>
            <a:r>
              <a:t>High-NA EUV, высокая апертура: новейшее поколение систем с индексом линз 0,55 против 0,33 у старых EUV.</a:t>
            </a:r>
          </a:p>
          <a:p>
            <a:r>
              <a:t>Позволяет проецировать ещё более мелкие элементы без сложного мультишаблонирования.</a:t>
            </a:r>
          </a:p>
          <a:p>
            <a:r>
              <a:t>Применяется для 2 нанометров и тоньше.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используется в архитектуре чипов 2 нанометра и менее.</a:t>
            </a:r>
          </a:p>
          <a:p>
            <a:r>
              <a:t>При размерах менее 3 нанометров законы классической физики уступают место квантовым эффектам:</a:t>
            </a:r>
          </a:p>
          <a:p>
            <a:r>
              <a:t>ток начинает «утекать» сквозь затвор, даже когда транзистор закрыт.</a:t>
            </a:r>
          </a:p>
          <a:p>
            <a:r>
              <a:t>Для преодоления этого барьера используются революционные технологии.</a:t>
            </a:r>
          </a:p>
          <a:p>
            <a:r>
              <a:t>Переход на GAAFET и RibbonFET: вместо трёхмерных «плавников» FinFET используются транзисторы</a:t>
            </a:r>
          </a:p>
          <a:p>
            <a:r>
              <a:t>с окружающим затвором, Gate-All-Around.</a:t>
            </a:r>
          </a:p>
          <a:p>
            <a:r>
              <a:t>Затвор полностью охватывает горизонтальные наностраницы, наноленты, исключая утечки тока.</a:t>
            </a:r>
          </a:p>
          <a:p>
            <a:r>
              <a:t>Обратная подача питания, PowerVia: провода питания переносят на оборотную сторону кремниевой пластины.</a:t>
            </a:r>
          </a:p>
          <a:p>
            <a:r>
              <a:t>Сверху остаются только сигнальные дорожки.</a:t>
            </a:r>
          </a:p>
          <a:p>
            <a:r>
              <a:t>Это решает проблему перекрёстных помех, экономит место и увеличивает тактовую частоту.</a:t>
            </a:r>
          </a:p>
          <a:p>
            <a:r>
              <a:t>Упаковка чиплетов, Chiplets и 3D Packaging: процессоры перестают быть монолитными.</a:t>
            </a:r>
          </a:p>
          <a:p>
            <a:r>
              <a:t>На одной подложке соединяются разные кристаллы — вычислительные ядра, память, контроллеры, —</a:t>
            </a:r>
          </a:p>
          <a:p>
            <a:r>
              <a:t>сделанные по разным техпроцессам.</a:t>
            </a:r>
          </a:p>
          <a:p>
            <a:r>
              <a:t>Будущее — альтернатива кремнию.</a:t>
            </a:r>
          </a:p>
          <a:p>
            <a:r>
              <a:t>На рубеже ниже 1 нанометра кремний исчерпает себя.</a:t>
            </a:r>
          </a:p>
          <a:p>
            <a:r>
              <a:t>Ведутся исследования по внедрению двумерных материалов: графена, дисульфида молибдена и углеродных нанотрубок.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этом слайде — физические основы полупроводниковой логики, P-N переход.</a:t>
            </a:r>
          </a:p>
          <a:p>
            <a:r>
              <a:t>Сверху две схемы кристаллической решётки кремния.</a:t>
            </a:r>
          </a:p>
          <a:p>
            <a:r>
              <a:t>Слева — решётка с атомом мышьяка As: он отдаёт лишний свободный электрон,</a:t>
            </a:r>
          </a:p>
          <a:p>
            <a:r>
              <a:t>получается проводимость n-типа, где основные носители — электроны.</a:t>
            </a:r>
          </a:p>
          <a:p>
            <a:r>
              <a:t>Справа — решётка с атомом индия In: он создаёт дырку, отсутствие электрона,</a:t>
            </a:r>
          </a:p>
          <a:p>
            <a:r>
              <a:t>получается проводимость p-типа, где основные носители — положительные дырки.</a:t>
            </a:r>
          </a:p>
          <a:p>
            <a:r>
              <a:t>Сами по себе N- и P-полупроводники нейтральны по заряду.</a:t>
            </a:r>
          </a:p>
          <a:p>
            <a:r>
              <a:t>Ниже — три схемы самого P-N перехода в разных режимах.</a:t>
            </a:r>
          </a:p>
          <a:p>
            <a:r>
              <a:t>Первая — без напряжения: свободные электроны диффундируют в область p, где есть свободные места,</a:t>
            </a:r>
          </a:p>
          <a:p>
            <a:r>
              <a:t>образуется электрическое поле, препятствующее дальнейшему переносу электронов.</a:t>
            </a:r>
          </a:p>
          <a:p>
            <a:r>
              <a:t>Между проводниками образуется тонкий слой нейтрального диэлектрического слоя.</a:t>
            </a:r>
          </a:p>
          <a:p>
            <a:r>
              <a:t>Вторая схема — обратное напряжение: плюс на n, минус на p.</a:t>
            </a:r>
          </a:p>
          <a:p>
            <a:r>
              <a:t>Дырки и электроны смещаются к краям полупроводника,</a:t>
            </a:r>
          </a:p>
          <a:p>
            <a:r>
              <a:t>диэлектрический слой расширяется, диод запирается, ток не идёт.</a:t>
            </a:r>
          </a:p>
          <a:p>
            <a:r>
              <a:t>Третья схема — прямое напряжение: минус на n, плюс на p.</a:t>
            </a:r>
          </a:p>
          <a:p>
            <a:r>
              <a:t>Электроны проходят через слой, заполняют его, создаётся движение заряда, диод открыт, ток идёт.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Биполярные и полевые транзисторы — два основных типа транзисторов.</a:t>
            </a:r>
          </a:p>
          <a:p>
            <a:r>
              <a:t>На схеме вверху — биполярный транзистор структуры n-p-n с общим эмиттером.</a:t>
            </a:r>
          </a:p>
          <a:p>
            <a:r>
              <a:t>Три вывода: коллектор, эмиттер, база.</a:t>
            </a:r>
          </a:p>
          <a:p>
            <a:r>
              <a:t>Биполярные транзисторы управляются током, протекающим через базу.</a:t>
            </a:r>
          </a:p>
          <a:p>
            <a:r>
              <a:t>Три схемы включения.</a:t>
            </a:r>
          </a:p>
          <a:p>
            <a:r>
              <a:t>С общей базой — усиление по напряжению.</a:t>
            </a:r>
          </a:p>
          <a:p>
            <a:r>
              <a:t>С общим эмиттером — усиление и по току, и по напряжению, самая распространённая схема.</a:t>
            </a:r>
          </a:p>
          <a:p>
            <a:r>
              <a:t>С общим коллектором — усиление только по току.</a:t>
            </a:r>
          </a:p>
          <a:p>
            <a:r>
              <a:t>Полевой транзистор основан на управлении электрическим сопротивлением токопроводящего канала</a:t>
            </a:r>
          </a:p>
          <a:p>
            <a:r>
              <a:t>поперечным электрическим полем, создаваемым приложенным к затвору напряжением.</a:t>
            </a:r>
          </a:p>
          <a:p>
            <a:r>
              <a:t>Три вывода: исток, сток, затвор.</a:t>
            </a:r>
          </a:p>
          <a:p>
            <a:r>
              <a:t>За счёт того что полевые транзисторы управляются полем, величиной напряжения на затворе,</a:t>
            </a:r>
          </a:p>
          <a:p>
            <a:r>
              <a:t>а не током, протекающим через базу, они потребляют значительно меньше энергии.</a:t>
            </a:r>
          </a:p>
          <a:p>
            <a:r>
              <a:t>Это особенно актуально в схемах ждущих и следящих устройств, в схемах малого потребления,</a:t>
            </a:r>
          </a:p>
          <a:p>
            <a:r>
              <a:t>реализации спящих режимов.</a:t>
            </a:r>
          </a:p>
          <a:p>
            <a:r>
              <a:t>Обладают меньшим уровнем шума, при тех же размерах могут оперировать большими мощностями,</a:t>
            </a:r>
          </a:p>
          <a:p>
            <a:r>
              <a:t>но ниже коэффициент усиления по напряжению по сравнению с биполярными.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Логические элементы — строительные блоки цифровых схем.</a:t>
            </a:r>
          </a:p>
          <a:p>
            <a:r>
              <a:t>На слайде пять базовых элементов с таблицами истинности.</a:t>
            </a:r>
          </a:p>
          <a:p>
            <a:r>
              <a:t>НЕ: инвертор, на входе ноль — на выходе единица, на входе единица — на выходе ноль.</a:t>
            </a:r>
          </a:p>
          <a:p>
            <a:r>
              <a:t>НЕ-И: единица на выходе только если хотя бы один вход — ноль.</a:t>
            </a:r>
          </a:p>
          <a:p>
            <a:r>
              <a:t>НЕ-ИЛИ: единица на выходе только если оба входа — ноль.</a:t>
            </a:r>
          </a:p>
          <a:p>
            <a:r>
              <a:t>И: единица на выходе только если оба входа — единица.</a:t>
            </a:r>
          </a:p>
          <a:p>
            <a:r>
              <a:t>ИЛИ: единица на выходе если хотя бы один вход — единица.</a:t>
            </a:r>
          </a:p>
          <a:p>
            <a:r>
              <a:t>Вверху показана схемотехническая реализация на транзисторах.</a:t>
            </a:r>
          </a:p>
          <a:p>
            <a:r>
              <a:t>Принцип работы транзистора в цифровой схеме простой.</a:t>
            </a:r>
          </a:p>
          <a:p>
            <a:r>
              <a:t>Если входное напряжение ниже определённого критического значения, транзистор выключается</a:t>
            </a:r>
          </a:p>
          <a:p>
            <a:r>
              <a:t>и действует как очень большое сопротивление.</a:t>
            </a:r>
          </a:p>
          <a:p>
            <a:r>
              <a:t>Это приводит к выходному сигналу, близкому к Vcc — напряжению, подаваемому извне, обычно плюс 5 вольт.</a:t>
            </a:r>
          </a:p>
          <a:p>
            <a:r>
              <a:t>Если входное напряжение превышает критическое значение, транзистор включается и действует как провод,</a:t>
            </a:r>
          </a:p>
          <a:p>
            <a:r>
              <a:t>вызывая заземление сигнала, то есть 0 вольт.</a:t>
            </a:r>
          </a:p>
          <a:p>
            <a:r>
              <a:t>Из этих простых элементов строятся сумматоры, триггеры, счётчики и целые процессоры.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Диодная логика — историческая технология.</a:t>
            </a:r>
          </a:p>
          <a:p>
            <a:r>
              <a:t>На заре вычислительной техники диодная логика, ДЛ, а затем смешанная диодно-транзисторная логика, ДТЛ,</a:t>
            </a:r>
          </a:p>
          <a:p>
            <a:r>
              <a:t>были основой схемотехники цифровых узлов в дискретном исполнении.</a:t>
            </a:r>
          </a:p>
          <a:p>
            <a:r>
              <a:t>На слайде три схемы.</a:t>
            </a:r>
          </a:p>
          <a:p>
            <a:r>
              <a:t>Слева вверху — элемент И на диодах с резистором: выход равен произведению входов.</a:t>
            </a:r>
          </a:p>
          <a:p>
            <a:r>
              <a:t>Справа — элемент ИЛИ на диодах: выход равен сумме входов.</a:t>
            </a:r>
          </a:p>
          <a:p>
            <a:r>
              <a:t>Внизу — диодная сборка в интегральном исполнении, четыре диода в одном корпусе.</a:t>
            </a:r>
          </a:p>
          <a:p>
            <a:r>
              <a:t>С появлением интегральных микросхем диодная логика довольно быстро была вытеснена</a:t>
            </a:r>
          </a:p>
          <a:p>
            <a:r>
              <a:t>транзисторно-транзисторной логикой, ТТЛ.</a:t>
            </a:r>
          </a:p>
          <a:p>
            <a:r>
              <a:t>Многочисленные варианты ТТЛ и по сей день правят бал в цифровой схемотехнике —</a:t>
            </a:r>
          </a:p>
          <a:p>
            <a:r>
              <a:t>именно на них построены классические серии 7400, 74LS, 74HC, известные каждому инженеру.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Комплементарные полевые транзисторы со структурой металл-оксид-полупроводник, CMOS.</a:t>
            </a:r>
          </a:p>
          <a:p>
            <a:r>
              <a:t>Оксисел — это диэлектрик диоксид кремния, по сути стекло.</a:t>
            </a:r>
          </a:p>
          <a:p>
            <a:r>
              <a:t>Комплементарный означает взаимно дополняющий: так называют пару транзисторов,</a:t>
            </a:r>
          </a:p>
          <a:p>
            <a:r>
              <a:t>сходных по параметрам, но противоположных по структуре.</a:t>
            </a:r>
          </a:p>
          <a:p>
            <a:r>
              <a:t>На слайде два разреза МОП-транзистора.</a:t>
            </a:r>
          </a:p>
          <a:p>
            <a:r>
              <a:t>Вверху — структура: слева исток, справа сток, сверху затвор, снизу вывод подложки.</a:t>
            </a:r>
          </a:p>
          <a:p>
            <a:r>
              <a:t>Затвор изолирован от всех выводов транзистора слоем диэлектрика,</a:t>
            </a:r>
          </a:p>
          <a:p>
            <a:r>
              <a:t>поэтому МОП-транзистор также называют транзистором с изолированным затвором.</a:t>
            </a:r>
          </a:p>
          <a:p>
            <a:r>
              <a:t>Внизу — возникновение n-канала при подаче напряжения на затвор.</a:t>
            </a:r>
          </a:p>
          <a:p>
            <a:r>
              <a:t>При подаче положительного потенциала на затвор в подложке p-типа образуется инверсный слой,</a:t>
            </a:r>
          </a:p>
          <a:p>
            <a:r>
              <a:t>заполненный электронами — это и есть проводящий канал между истоком и стоком.</a:t>
            </a:r>
          </a:p>
          <a:p>
            <a:r>
              <a:t>Именно эта технология позволила достичь миллиардов транзисторов на одном кристалле</a:t>
            </a:r>
          </a:p>
          <a:p>
            <a:r>
              <a:t>при разумном энергопотреблении, и она — основа всех современных процессоров.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P-канальный и N-канальный транзисторы — пара CMOS.</a:t>
            </a:r>
          </a:p>
          <a:p>
            <a:r>
              <a:t>Слева — p-канальный транзистор, справа — n-канальный.</a:t>
            </a:r>
          </a:p>
          <a:p>
            <a:r>
              <a:t>По сравнению с p-канальным у n-канального подложка p-типа, обеднённая электронами,</a:t>
            </a:r>
          </a:p>
          <a:p>
            <a:r>
              <a:t>в которой сделаны легированием n+ области истока и стока, обогащённые электронами.</a:t>
            </a:r>
          </a:p>
          <a:p>
            <a:r>
              <a:t>Если на затвор подать высокий потенциал, канал транзистора замыкается,</a:t>
            </a:r>
          </a:p>
          <a:p>
            <a:r>
              <a:t>и от плюса источника напряжения через нулевой провод потечёт ток стока.</a:t>
            </a:r>
          </a:p>
          <a:p>
            <a:r>
              <a:t>Выходное напряжение окажется на низком логическом уровне.</a:t>
            </a:r>
          </a:p>
          <a:p>
            <a:r>
              <a:t>Внизу слева — схема КМОП-инвертора: два транзистора, VT1 сверху, VT2 снизу.</a:t>
            </a:r>
          </a:p>
          <a:p>
            <a:r>
              <a:t>При подаче на вход логического нуля транзистор VT1 открывается, а VT2 закрывается.</a:t>
            </a:r>
          </a:p>
          <a:p>
            <a:r>
              <a:t>При подаче логической единицы — наоборот: VT2 открывается, VT1 закрывается.</a:t>
            </a:r>
          </a:p>
          <a:p>
            <a:r>
              <a:t>Внизу справа — схема элемента И-НЕ на четырёх транзисторах.</a:t>
            </a:r>
          </a:p>
          <a:p>
            <a:r>
              <a:t>Комплементарная пара — один транзистор открыт, другой закрыт, ток через схему не течёт,</a:t>
            </a:r>
          </a:p>
          <a:p>
            <a:r>
              <a:t>кроме момента переключения.</a:t>
            </a:r>
          </a:p>
          <a:p>
            <a:r>
              <a:t>Именно это делает CMOS такой энергоэффективной.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Интегральные схемы.</a:t>
            </a:r>
          </a:p>
          <a:p>
            <a:r>
              <a:t>Интегральная схема представляет собой кремний размером примерно 5 на 5 миллиметров,</a:t>
            </a:r>
          </a:p>
          <a:p>
            <a:r>
              <a:t>на котором находится несколько вентилей.</a:t>
            </a:r>
          </a:p>
          <a:p>
            <a:r>
              <a:t>Маленькие интегральные схемы обычно помещаются в прямоугольные пластиковые или керамические корпуса</a:t>
            </a:r>
          </a:p>
          <a:p>
            <a:r>
              <a:t>размером от 5 до 15 миллиметров в ширину и от 20 до 50 миллиметров в длину.</a:t>
            </a:r>
          </a:p>
          <a:p>
            <a:r>
              <a:t>Вдоль длинных сторон располагается два параллельных ряда выводов около 5 миллиметров в длину,</a:t>
            </a:r>
          </a:p>
          <a:p>
            <a:r>
              <a:t>которые можно втыкать в разъёмы или впаивать в печатную плату.</a:t>
            </a:r>
          </a:p>
          <a:p>
            <a:r>
              <a:t>Каждый вывод соединяется с входом или выходом какого-нибудь вентиля, или с источником питания, или с землёй.</a:t>
            </a:r>
          </a:p>
          <a:p>
            <a:r>
              <a:t>Корпус с двумя рядами выводов официально называется Dual Inline Package, DIP,</a:t>
            </a:r>
          </a:p>
          <a:p>
            <a:r>
              <a:t>но все называют его микросхемой, стирая различие между куском кремния и корпусом.</a:t>
            </a:r>
          </a:p>
          <a:p>
            <a:r>
              <a:t>Большинство корпусов имеют 14, 16, 18, 20, 22, 24, 28, 40, 64 или 68 выводов.</a:t>
            </a:r>
          </a:p>
          <a:p>
            <a:r>
              <a:t>Для больших микросхем используются корпуса, у которых выводы расположены со всех четырёх сторон или снизу.</a:t>
            </a:r>
          </a:p>
          <a:p>
            <a:r>
              <a:t>Классы по числу вентилей.</a:t>
            </a:r>
          </a:p>
          <a:p>
            <a:r>
              <a:t>МИС — малая интегральная схема: от 1 до 10 вентилей.</a:t>
            </a:r>
          </a:p>
          <a:p>
            <a:r>
              <a:t>СИС — средняя: от 1 до 100.</a:t>
            </a:r>
          </a:p>
          <a:p>
            <a:r>
              <a:t>БИС — большая: от 100 до 100 тысяч.</a:t>
            </a:r>
          </a:p>
          <a:p>
            <a:r>
              <a:t>СБИС — сверхбольшая: более 100 тысяч вентилей.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Триггеры — запоминающие элементы.</a:t>
            </a:r>
          </a:p>
          <a:p>
            <a:r>
              <a:t>Триггер — это запоминающий элемент с двумя или более устойчивыми состояниями,</a:t>
            </a:r>
          </a:p>
          <a:p>
            <a:r>
              <a:t>изменение которых происходит под действием входных сигналов.</a:t>
            </a:r>
          </a:p>
          <a:p>
            <a:r>
              <a:t>Предназначен для хранения одного бита информации — логического нуля или единицы.</a:t>
            </a:r>
          </a:p>
          <a:p>
            <a:r>
              <a:t>На слайде несколько типов триггеров.</a:t>
            </a:r>
          </a:p>
          <a:p>
            <a:r>
              <a:t>Вверху слева — условное обозначение RS-триггера с входами S (Set, установка) и R (Reset, сброс)</a:t>
            </a:r>
          </a:p>
          <a:p>
            <a:r>
              <a:t>и выходом Q.</a:t>
            </a:r>
          </a:p>
          <a:p>
            <a:r>
              <a:t>Вверху справа — схема RS-триггера на двух элементах И-НЕ с перекрёстной обратной связью.</a:t>
            </a:r>
          </a:p>
          <a:p>
            <a:r>
              <a:t>В таблице показаны состояния: при S=0, R=0 сохраняется предыдущее состояние Q;</a:t>
            </a:r>
          </a:p>
          <a:p>
            <a:r>
              <a:t>при S=1, R=0 установка в единицу; при S=0, R=1 сброс в ноль;</a:t>
            </a:r>
          </a:p>
          <a:p>
            <a:r>
              <a:t>комбинация S=1, R=1 запрещена, состояние не определено.</a:t>
            </a:r>
          </a:p>
          <a:p>
            <a:r>
              <a:t>Ниже описаны D-триггер и T-триггер.</a:t>
            </a:r>
          </a:p>
          <a:p>
            <a:r>
              <a:t>D-триггер, от delay или data, запоминает состояние входа и выдаёт его на выход.</a:t>
            </a:r>
          </a:p>
          <a:p>
            <a:r>
              <a:t>Имеет два входа: информационный D и синхронизации C.</a:t>
            </a:r>
          </a:p>
          <a:p>
            <a:r>
              <a:t>Вход синхронизации C может быть статическим или динамическим.</a:t>
            </a:r>
          </a:p>
          <a:p>
            <a:r>
              <a:t>T-триггер — счётный, переключается по каждому тактовому импульсу.</a:t>
            </a:r>
          </a:p>
          <a:p>
            <a:r>
              <a:t>Асинхронный T-триггер не имеет входа разрешения счёта.</a:t>
            </a:r>
          </a:p>
          <a:p>
            <a:r>
              <a:t>Синхронный T-триггер при единице на входе T по каждому такту меняет состояние на противоположное,</a:t>
            </a:r>
          </a:p>
          <a:p>
            <a:r>
              <a:t>а при нуле не меняет.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Счётчики на T-триггерах.</a:t>
            </a:r>
          </a:p>
          <a:p>
            <a:r>
              <a:t>Вверху — регистр из трёх D-триггеров: три параллельных информационных входа D2, D1, D0,</a:t>
            </a:r>
          </a:p>
          <a:p>
            <a:r>
              <a:t>общий тактовый вход C и общий сброс R.</a:t>
            </a:r>
          </a:p>
          <a:p>
            <a:r>
              <a:t>На выходах — Q2, Q1, Q0 и их инверсные значения.</a:t>
            </a:r>
          </a:p>
          <a:p>
            <a:r>
              <a:t>Такая схема хранит три бита информации и называется параллельным регистром.</a:t>
            </a:r>
          </a:p>
          <a:p>
            <a:r>
              <a:t>Внизу — счётчик на трёх T-триггерах, соединённых цепочкой.</a:t>
            </a:r>
          </a:p>
          <a:p>
            <a:r>
              <a:t>Вход C — тактовый, вход R — сброс.</a:t>
            </a:r>
          </a:p>
          <a:p>
            <a:r>
              <a:t>Выход Q1 первого триггера тактирует второй, Q2 второго — третий.</a:t>
            </a:r>
          </a:p>
          <a:p>
            <a:r>
              <a:t>Каждый T-триггер делит частоту входного сигнала пополам.</a:t>
            </a:r>
          </a:p>
          <a:p>
            <a:r>
              <a:t>Первый триггер даёт младший бит Q1, второй — Q2, третий — Q3.</a:t>
            </a:r>
          </a:p>
          <a:p>
            <a:r>
              <a:t>Вместе они образуют двоичный счётчик, считающий от 0 до 7.</a:t>
            </a:r>
          </a:p>
          <a:p>
            <a:r>
              <a:t>Счётчики используются для деления частоты, в таймерах, в счётчиках команд процессора,</a:t>
            </a:r>
          </a:p>
          <a:p>
            <a:r>
              <a:t>в устройствах памяти и многих других схемах.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Шифратор и дешифратор.</a:t>
            </a:r>
          </a:p>
          <a:p>
            <a:r>
              <a:t>Принцип работы шифратора: выходы z0, z1, и так далее, zn−1 кодируют один из входов s0, s1, и так далее,</a:t>
            </a:r>
          </a:p>
          <a:p>
            <a:r>
              <a:t>s2n−1 в двоичной системе счисления.</a:t>
            </a:r>
          </a:p>
          <a:p>
            <a:r>
              <a:t>Иными словами, шифратор принимает сигнал на одном из многих входов</a:t>
            </a:r>
          </a:p>
          <a:p>
            <a:r>
              <a:t>и выдаёт номер этого входа в двоичном виде.</a:t>
            </a:r>
          </a:p>
          <a:p>
            <a:r>
              <a:t>На слайде сверху — шифратор на четыре входа s0–s3 и два выхода z0, z1.</a:t>
            </a:r>
          </a:p>
          <a:p>
            <a:r>
              <a:t>Справа — его реализация на элементах ИЛИ: два элемента ИЛИ образуют два выходных бита.</a:t>
            </a:r>
          </a:p>
          <a:p>
            <a:r>
              <a:t>Дешифратор выполняет обратное преобразование:</a:t>
            </a:r>
          </a:p>
          <a:p>
            <a:r>
              <a:t>двоичный код на входе превращает в активный сигнал на соответствующем по номеру выходе.</a:t>
            </a:r>
          </a:p>
          <a:p>
            <a:r>
              <a:t>Внизу показан дешифратор на два входа s0, s1 и четыре выхода z0–z3.</a:t>
            </a:r>
          </a:p>
          <a:p>
            <a:r>
              <a:t>Шифраторы и дешифраторы используются в адресных схемах памяти,</a:t>
            </a:r>
          </a:p>
          <a:p>
            <a:r>
              <a:t>в устройствах ввода с клавиатуры, в системах вывода на семисегментные индикаторы.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Мультиплексор.</a:t>
            </a:r>
          </a:p>
          <a:p>
            <a:r>
              <a:t>На схеме — условное обозначение мультиплексора.</a:t>
            </a:r>
          </a:p>
          <a:p>
            <a:r>
              <a:t>Слева два адресных входа A0, A1 и четыре информационных входа D0, D1, D2, D3.</a:t>
            </a:r>
          </a:p>
          <a:p>
            <a:r>
              <a:t>Справа один выход F.</a:t>
            </a:r>
          </a:p>
          <a:p>
            <a:r>
              <a:t>Мультиплексор — устройство, имеющее несколько сигнальных входов, один или более управляющих входов</a:t>
            </a:r>
          </a:p>
          <a:p>
            <a:r>
              <a:t>и один выход.</a:t>
            </a:r>
          </a:p>
          <a:p>
            <a:r>
              <a:t>Мультиплексор позволяет передавать сигнал с одного из входов на выход.</a:t>
            </a:r>
          </a:p>
          <a:p>
            <a:r>
              <a:t>Выбор желаемого входа осуществляется подачей соответствующей комбинации управляющих сигналов.</a:t>
            </a:r>
          </a:p>
          <a:p>
            <a:r>
              <a:t>A — двоичный адрес, D — передаваемый канал.</a:t>
            </a:r>
          </a:p>
          <a:p>
            <a:r>
              <a:t>Мультиплексоры могут использоваться для преобразования параллельного двоичного кода в последовательный.</a:t>
            </a:r>
          </a:p>
          <a:p>
            <a:r>
              <a:t>Для этого достаточно подать на информационные входы параллельный код,</a:t>
            </a:r>
          </a:p>
          <a:p>
            <a:r>
              <a:t>а сигналы на адресные входы подавать в такой последовательности,</a:t>
            </a:r>
          </a:p>
          <a:p>
            <a:r>
              <a:t>чтобы к выходу поочерёдно подключались входы, начиная с первого и заканчивая последним.</a:t>
            </a:r>
          </a:p>
          <a:p>
            <a:r>
              <a:t>В процессорах мультиплексоры — ключевой компонент АЛУ: они выбирают, какая операция выполняется.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Демультиплексор.</a:t>
            </a:r>
          </a:p>
          <a:p>
            <a:r>
              <a:t>На схеме слева один информационный вход D и два адресных входа A0, A1.</a:t>
            </a:r>
          </a:p>
          <a:p>
            <a:r>
              <a:t>Справа четыре информационных выхода F0, F1, F2, F3.</a:t>
            </a:r>
          </a:p>
          <a:p>
            <a:r>
              <a:t>Демультиплексор — логическое устройство, предназначенное для переключения сигнала</a:t>
            </a:r>
          </a:p>
          <a:p>
            <a:r>
              <a:t>с одного информационного входа на один из информационных выходов.</a:t>
            </a:r>
          </a:p>
          <a:p>
            <a:r>
              <a:t>Таким образом, демультиплексор функционально противоположен мультиплексору.</a:t>
            </a:r>
          </a:p>
          <a:p>
            <a:r>
              <a:t>На схемах демультиплексоры обозначают через DMX или DMS.</a:t>
            </a:r>
          </a:p>
          <a:p>
            <a:r>
              <a:t>Демультиплексоры используются в схемах демультиплексирования каналов связи,</a:t>
            </a:r>
          </a:p>
          <a:p>
            <a:r>
              <a:t>в устройствах адресации памяти, в системах управления исполнительными устройствами.</a:t>
            </a:r>
          </a:p>
          <a:p>
            <a:r>
              <a:t>Часто мультиплексор и демультиплексор работают в паре —</a:t>
            </a:r>
          </a:p>
          <a:p>
            <a:r>
              <a:t>например, при передаче данных по одному каналу связи:</a:t>
            </a:r>
          </a:p>
          <a:p>
            <a:r>
              <a:t>на передающей стороне мультиплексор смешивает несколько сигналов в один,</a:t>
            </a:r>
          </a:p>
          <a:p>
            <a:r>
              <a:t>на приёмной демультиплексор разделяет их обратно.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Сумматор.</a:t>
            </a:r>
          </a:p>
          <a:p>
            <a:r>
              <a:t>На схеме — полный сумматор на логических элементах.</a:t>
            </a:r>
          </a:p>
          <a:p>
            <a:r>
              <a:t>Входы Ai и Bi — два бита, которые складываются.</a:t>
            </a:r>
          </a:p>
          <a:p>
            <a:r>
              <a:t>Pi-1 — перенос из предыдущего разряда.</a:t>
            </a:r>
          </a:p>
          <a:p>
            <a:r>
              <a:t>Выход Si — бит суммы по модулю два.</a:t>
            </a:r>
          </a:p>
          <a:p>
            <a:r>
              <a:t>Выход Pi — бит переноса в следующий разряд.</a:t>
            </a:r>
          </a:p>
          <a:p>
            <a:r>
              <a:t>Схема состоит из двух элементов «исключающее ИЛИ» и двух элементов И с элементом ИЛИ.</a:t>
            </a:r>
          </a:p>
          <a:p>
            <a:r>
              <a:t>Сначала Ai и Bi складываются по модулю два, затем результат складывается с Pi-1 — получается Si.</a:t>
            </a:r>
          </a:p>
          <a:p>
            <a:r>
              <a:t>Перенос формируется из комбинации трёх условий: оба входных бита единица,</a:t>
            </a:r>
          </a:p>
          <a:p>
            <a:r>
              <a:t>или один из входных бит единица и есть входящий перенос.</a:t>
            </a:r>
          </a:p>
          <a:p>
            <a:r>
              <a:t>Полусумматор складывает два бита без учёта переноса.</a:t>
            </a:r>
          </a:p>
          <a:p>
            <a:r>
              <a:t>Полный сумматор учитывает перенос из предыдущего разряда.</a:t>
            </a:r>
          </a:p>
          <a:p>
            <a:r>
              <a:t>Сумматоры — ключевой компонент АЛУ любого процессора.</a:t>
            </a:r>
          </a:p>
          <a:p>
            <a:r>
              <a:t>Для сложения многоразрядных чисел сумматоры соединяются последовательно:</a:t>
            </a:r>
          </a:p>
          <a:p>
            <a:r>
              <a:t>выход переноса одного подаётся на вход переноса следующего.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Персональный компьютер типа IBM PC — предыстория.</a:t>
            </a:r>
          </a:p>
          <a:p>
            <a:r>
              <a:t>Одним из революционных достижений в области вычислительной техники явилось создание</a:t>
            </a:r>
          </a:p>
          <a:p>
            <a:r>
              <a:t>на основе микропроцессоров персональных ЭВМ, которые можно отнести к отдельному классу</a:t>
            </a:r>
          </a:p>
          <a:p>
            <a:r>
              <a:t>машин четвёртого поколения.</a:t>
            </a:r>
          </a:p>
          <a:p>
            <a:r>
              <a:t>Первый персональный компьютер «Altair-8800», созданный Эдвардом Робертсом из фирмы MITS,</a:t>
            </a:r>
          </a:p>
          <a:p>
            <a:r>
              <a:t>на базе микропроцессора Intel 8080 с тактовой частотой 2 мегагерца</a:t>
            </a:r>
          </a:p>
          <a:p>
            <a:r>
              <a:t>и оперативной памятью 256 байт, появился в США в 1975 году.</a:t>
            </a:r>
          </a:p>
          <a:p>
            <a:r>
              <a:t>Он продавался за 397 долларов в виде комплекта, из которого любой немного сведущий в электронике</a:t>
            </a:r>
          </a:p>
          <a:p>
            <a:r>
              <a:t>мог собрать действующую машину — правда, без дисплея.</a:t>
            </a:r>
          </a:p>
          <a:p>
            <a:r>
              <a:t>Два молодых человека, Пол Аллен и Уильям Гейтс, сумели извлечь немалую выгоду из выпуска Altair,</a:t>
            </a:r>
          </a:p>
          <a:p>
            <a:r>
              <a:t>написав для него конкретную реализацию языка программирования Basic.</a:t>
            </a:r>
          </a:p>
          <a:p>
            <a:r>
              <a:t>В этом же 1975 году они организовали свою фирму Microsoft.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Apple II, IBM PC и советский «Агат».</a:t>
            </a:r>
          </a:p>
          <a:p>
            <a:r>
              <a:t>Широкую дорогу новой индустрии — промышленному производству персональных компьютеров —</a:t>
            </a:r>
          </a:p>
          <a:p>
            <a:r>
              <a:t>открыла фирма Apple.</a:t>
            </a:r>
          </a:p>
          <a:p>
            <a:r>
              <a:t>Стефен Возняк и Стивен Джобс наладили производство ПК Apple II в 1977 году.</a:t>
            </a:r>
          </a:p>
          <a:p>
            <a:r>
              <a:t>Новая эпоха началась с 1981 года.</a:t>
            </a:r>
          </a:p>
          <a:p>
            <a:r>
              <a:t>12 августа 1981 года на рынок ПК вышла корпорация IBM со своей моделью IBM PC.</a:t>
            </a:r>
          </a:p>
          <a:p>
            <a:r>
              <a:t>К этому времени рынок ПК в США составлял более 140 миллионов долларов.</a:t>
            </a:r>
          </a:p>
          <a:p>
            <a:r>
              <a:t>Самой важной особенностью IBM PC была открытая архитектура —</a:t>
            </a:r>
          </a:p>
          <a:p>
            <a:r>
              <a:t>возможность сборки ПК из комплектующих от разных производителей,</a:t>
            </a:r>
          </a:p>
          <a:p>
            <a:r>
              <a:t>а также возможность доукомплектования в процессе эксплуатации.</a:t>
            </a:r>
          </a:p>
          <a:p>
            <a:r>
              <a:t>В 1983 году появился PC/XT с жёстким диском 10 мегабайт.</a:t>
            </a:r>
          </a:p>
          <a:p>
            <a:r>
              <a:t>В 1984 — PC/XT на базе Intel 80286 с частотой 6 мегагерц.</a:t>
            </a:r>
          </a:p>
          <a:p>
            <a:r>
              <a:t>В 1986 — ПК на базе 32-разрядного Intel 80386.</a:t>
            </a:r>
          </a:p>
          <a:p>
            <a:r>
              <a:t>Первая советская персональная ЭВМ «Агат» появилась в 1982 году</a:t>
            </a:r>
          </a:p>
          <a:p>
            <a:r>
              <a:t>в НИИ вычислительных комплексов под руководством Карцева.</a:t>
            </a:r>
          </a:p>
          <a:p>
            <a:r>
              <a:t>Восьмиразрядный процессор, 300 тысяч операций в секунду, оперативная память 64 килобайта,</a:t>
            </a:r>
          </a:p>
          <a:p>
            <a:r>
              <a:t>постоянная память 16 килобайт, внешняя память — гибкие диски 109 килобайт и магнитная лента.</a:t>
            </a:r>
          </a:p>
          <a:p>
            <a:r>
              <a:t>Серийный выпуск организован только в 1985 году.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Схема чипсета IBM PC — типичная архитектура материнской платы.</a:t>
            </a:r>
          </a:p>
          <a:p>
            <a:r>
              <a:t>В центре — чипсет из двух мостов: северного и южного.</a:t>
            </a:r>
          </a:p>
          <a:p>
            <a:r>
              <a:t>Северный мост, или контроллер-концентратор памяти, связывает процессор с оперативной памятью</a:t>
            </a:r>
          </a:p>
          <a:p>
            <a:r>
              <a:t>и графическим контроллером.</a:t>
            </a:r>
          </a:p>
          <a:p>
            <a:r>
              <a:t>Это самые быстродействующие связи: фронтальная шина процессора, шина памяти, шина графического контроллера.</a:t>
            </a:r>
          </a:p>
          <a:p>
            <a:r>
              <a:t>Южный мост, или контроллер-концентратор ввода-вывода, обслуживает более медленные устройства:</a:t>
            </a:r>
          </a:p>
          <a:p>
            <a:r>
              <a:t>слоты PCI и PCI Express, жёсткие диски через IDE и SATA, USB, Ethernet, аудио.</a:t>
            </a:r>
          </a:p>
          <a:p>
            <a:r>
              <a:t>К нему же подключены ППЗУ BIOS и мультиконтроллер, обслуживающий последовательный и параллельный порты,</a:t>
            </a:r>
          </a:p>
          <a:p>
            <a:r>
              <a:t>клавиатуру и мышь.</a:t>
            </a:r>
          </a:p>
          <a:p>
            <a:r>
              <a:t>Связь между северным и южным мостами — внутренняя шина.</a:t>
            </a:r>
          </a:p>
          <a:p>
            <a:r>
              <a:t>Такая архитектура доминировала в 2000-х годах, хотя в современных системах</a:t>
            </a:r>
          </a:p>
          <a:p>
            <a:r>
              <a:t>северный мост обычно интегрирован прямо в процессор.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этом слайде представлена иллюстрация без текста — переход к следующей части лекции.</a:t>
            </a:r>
          </a:p>
          <a:p>
            <a:r>
              <a:t>Перед нами микропроцессоры Intel и их советский аналог — мы рассмотрим их подробнее далее.</a:t>
            </a:r>
          </a:p>
          <a:p>
            <a:r>
              <a:t>Обратите внимание на эволюцию: от первых 8-битных процессоров 1970-х</a:t>
            </a:r>
          </a:p>
          <a:p>
            <a:r>
              <a:t>до современных многоядерных чипов с миллиардами транзисторов.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Сравнение IBM PC 1981 года и современного компьютера 2006 года.</a:t>
            </a:r>
          </a:p>
          <a:p>
            <a:r>
              <a:t>IBM PC: цена 3045 долларов, процессор 4,77 мегагерца i8088,</a:t>
            </a:r>
          </a:p>
          <a:p>
            <a:r>
              <a:t>оперативная память 64 килобайта, гибкий диск на 160 килобайт,</a:t>
            </a:r>
          </a:p>
          <a:p>
            <a:r>
              <a:t>дисплей 11,5 дюйма монохромный текстовый монитор,</a:t>
            </a:r>
          </a:p>
          <a:p>
            <a:r>
              <a:t>последовательный и параллельный порты, встроенный динамик.</a:t>
            </a:r>
          </a:p>
          <a:p>
            <a:r>
              <a:t>Операционная система MS DOS 1.0 требует 16 килобайт памяти.</a:t>
            </a:r>
          </a:p>
          <a:p>
            <a:r>
              <a:t>Современный компьютер INTANT i7024XP фирмы Интант из Томска, ноябрь 2006 года:</a:t>
            </a:r>
          </a:p>
          <a:p>
            <a:r>
              <a:t>цена 1150 долларов, процессор Pentium D с частотой 2,8 гигагерца,</a:t>
            </a:r>
          </a:p>
          <a:p>
            <a:r>
              <a:t>оперативная память 1024 мегабайта, жёсткий диск на 160 гигабайт, DVD RW,</a:t>
            </a:r>
          </a:p>
          <a:p>
            <a:r>
              <a:t>дисплей 19 дюймов LCD с разрешением 1280 на 1024,</a:t>
            </a:r>
          </a:p>
          <a:p>
            <a:r>
              <a:t>восемь портов USB, видеоплата с DVI, встроенный звук, сетевой адаптер 1 гигабит.</a:t>
            </a:r>
          </a:p>
          <a:p>
            <a:r>
              <a:t>Операционная система Windows XP требует 256 мегабайт памяти.</a:t>
            </a:r>
          </a:p>
          <a:p>
            <a:r>
              <a:t>За 25 лет тактовая частота выросла в 600 раз, объём памяти — в 16 тысяч раз,</a:t>
            </a:r>
          </a:p>
          <a:p>
            <a:r>
              <a:t>объём диска — в миллион раз.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Микропроцессоры Intel и их эволюция.</a:t>
            </a:r>
          </a:p>
          <a:p>
            <a:r>
              <a:t>На слайде фотографии процессоров в керамических и пластиковых корпусах</a:t>
            </a:r>
          </a:p>
          <a:p>
            <a:r>
              <a:t>и таблица с числом транзисторов.</a:t>
            </a:r>
          </a:p>
          <a:p>
            <a:r>
              <a:t>Intel 4004, 1971 год — 2250 транзисторов, первый коммерческий микропроцессор.</a:t>
            </a:r>
          </a:p>
          <a:p>
            <a:r>
              <a:t>Intel 8008, 1972 — 2500 транзисторов.</a:t>
            </a:r>
          </a:p>
          <a:p>
            <a:r>
              <a:t>Intel 8080, 1974 — 5000 транзисторов.</a:t>
            </a:r>
          </a:p>
          <a:p>
            <a:r>
              <a:t>Intel 8086, 1978 — 29 тысяч транзисторов, архитектура x86.</a:t>
            </a:r>
          </a:p>
          <a:p>
            <a:r>
              <a:t>Intel 286, 1982 — 120 тысяч.</a:t>
            </a:r>
          </a:p>
          <a:p>
            <a:r>
              <a:t>Intel 386, 1985 — 275 тысяч.</a:t>
            </a:r>
          </a:p>
          <a:p>
            <a:r>
              <a:t>Intel 486 DX, 1989 — 1 миллион 180 тысяч.</a:t>
            </a:r>
          </a:p>
          <a:p>
            <a:r>
              <a:t>Pentium, 1993 — 3 миллиона 100 тысяч.</a:t>
            </a:r>
          </a:p>
          <a:p>
            <a:r>
              <a:t>Pentium II, 1997 — 7,5 миллионов.</a:t>
            </a:r>
          </a:p>
          <a:p>
            <a:r>
              <a:t>Pentium III, 1999 — 24 миллиона.</a:t>
            </a:r>
          </a:p>
          <a:p>
            <a:r>
              <a:t>Pentium 4, 2000 — 42 миллиона, 2001 — 60 миллионов, 2002 — 90 миллионов, 2003 — 120 миллионов.</a:t>
            </a:r>
          </a:p>
          <a:p>
            <a:r>
              <a:t>Pentium 4 XE, 2004 — 178 миллионов.</a:t>
            </a:r>
          </a:p>
          <a:p>
            <a:r>
              <a:t>Broadwell по техпроцессу 14 нанометров, 2014 год — 1 миллиард 900 миллионов транзисторов.</a:t>
            </a:r>
          </a:p>
          <a:p>
            <a:r>
              <a:t>За 43 года число транзисторов выросло почти в миллион раз.</a:t>
            </a:r>
          </a:p>
          <a:p>
            <a:r>
              <a:t>Это наглядная иллюстрация закона Мура.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Оперативная память.</a:t>
            </a:r>
          </a:p>
          <a:p>
            <a:r>
              <a:t>На фотографии — две планки памяти Infineon, DDR2 SDRAM.</a:t>
            </a:r>
          </a:p>
          <a:p>
            <a:r>
              <a:t>RAM, random access memory, — энергозависимая оперативная память, в которой хранятся</a:t>
            </a:r>
          </a:p>
          <a:p>
            <a:r>
              <a:t>работающие программы и данные.</a:t>
            </a:r>
          </a:p>
          <a:p>
            <a:r>
              <a:t>Иерархия типов памяти.</a:t>
            </a:r>
          </a:p>
          <a:p>
            <a:r>
              <a:t>SRAM, static ram, статическая: хранит бит на триггере, быстро, но дорого и с низкой плотностью,</a:t>
            </a:r>
          </a:p>
          <a:p>
            <a:r>
              <a:t>используется в кэше процессора.</a:t>
            </a:r>
          </a:p>
          <a:p>
            <a:r>
              <a:t>DRAM, dynamic ram, динамическая: хранит бит на конденсаторе, компактнее и дешевле,</a:t>
            </a:r>
          </a:p>
          <a:p>
            <a:r>
              <a:t>но требует периодического обновления — регенерации.</a:t>
            </a:r>
          </a:p>
          <a:p>
            <a:r>
              <a:t>SDRAM, synchronous dram, синхронная: синхронизируется с шиной.</a:t>
            </a:r>
          </a:p>
          <a:p>
            <a:r>
              <a:t>DDR, double data rate: передача данных на обоих фронтах тактового сигнала, удваивает пропускную способность.</a:t>
            </a:r>
          </a:p>
          <a:p>
            <a:r>
              <a:t>Поколения DDR сменяют друг друга: DDR2, DDR3, DDR4, DDR5.</a:t>
            </a:r>
          </a:p>
          <a:p>
            <a:r>
              <a:t>Каждое поколение даёт удвоение пропускной способности при снижении напряжения питания.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Кэш-память.</a:t>
            </a:r>
          </a:p>
          <a:p>
            <a:r>
              <a:t>На схеме: процессор, кэш-контроллер, кэш-память и оперативная память.</a:t>
            </a:r>
          </a:p>
          <a:p>
            <a:r>
              <a:t>Процессор делает большое количество запросов к оперативной памяти.</a:t>
            </a:r>
          </a:p>
          <a:p>
            <a:r>
              <a:t>Между ним и памятью стоит кэш-контроллер и сама кэш-память.</a:t>
            </a:r>
          </a:p>
          <a:p>
            <a:r>
              <a:t>Для большинства запросов в кэше имеются данные, и тогда доступ происходит очень быстро.</a:t>
            </a:r>
          </a:p>
          <a:p>
            <a:r>
              <a:t>Лишь небольшая часть запросов требует обращения к оперативной памяти.</a:t>
            </a:r>
          </a:p>
          <a:p>
            <a:r>
              <a:t>Кэш-память — это промежуточный буфер с быстрым доступом, содержащий информацию,</a:t>
            </a:r>
          </a:p>
          <a:p>
            <a:r>
              <a:t>которая может быть запрошена с наибольшей вероятностью.</a:t>
            </a:r>
          </a:p>
          <a:p>
            <a:r>
              <a:t>Доступ к данным в кэше осуществляется быстрее, чем выборка исходных данных из более медленной памяти,</a:t>
            </a:r>
          </a:p>
          <a:p>
            <a:r>
              <a:t>однако её объём существенно ограничен по сравнению с хранилищем исходных данных.</a:t>
            </a:r>
          </a:p>
          <a:p>
            <a:r>
              <a:t>Это классический инженерный компромисс: скорость против объёма.</a:t>
            </a:r>
          </a:p>
          <a:p>
            <a:r>
              <a:t>Различают три типа кэша по способу отображения адресов:</a:t>
            </a:r>
          </a:p>
          <a:p>
            <a:r>
              <a:t>кэш прямого отображения, наборно-ассоциативный и полностью ассоциативный.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Адресация в кэше.</a:t>
            </a:r>
          </a:p>
          <a:p>
            <a:r>
              <a:t>На схеме показан кэш с устройством сравнения для каждой строки.</a:t>
            </a:r>
          </a:p>
          <a:p>
            <a:r>
              <a:t>Слева — требуемый адрес из четырёх байтов AC 23 15 EB.</a:t>
            </a:r>
          </a:p>
          <a:p>
            <a:r>
              <a:t>Справа — прокэшированные данные, байт 14.</a:t>
            </a:r>
          </a:p>
          <a:p>
            <a:r>
              <a:t>В середине — кэш-память из нескольких строк.</a:t>
            </a:r>
          </a:p>
          <a:p>
            <a:r>
              <a:t>Каждая строка содержит тег, данные и флаги.</a:t>
            </a:r>
          </a:p>
          <a:p>
            <a:r>
              <a:t>Устройство сравнения проверяет, совпадает ли тег из требуемого адреса</a:t>
            </a:r>
          </a:p>
          <a:p>
            <a:r>
              <a:t>с тегом, хранящимся в строке кэша.</a:t>
            </a:r>
          </a:p>
          <a:p>
            <a:r>
              <a:t>Если теги совпадают — это попадание в кэш, и данные возвращаются процессору.</a:t>
            </a:r>
          </a:p>
          <a:p>
            <a:r>
              <a:t>Если не совпадают — промах и обращение к оперативной памяти.</a:t>
            </a:r>
          </a:p>
          <a:p>
            <a:r>
              <a:t>Адрес кэшируемой памяти разбивается на три части.</a:t>
            </a:r>
          </a:p>
          <a:p>
            <a:r>
              <a:t>Тег — старшие биты, соответствует номеру страницы оперативной памяти.</a:t>
            </a:r>
          </a:p>
          <a:p>
            <a:r>
              <a:t>Индекс — средние биты, номер строки кэша.</a:t>
            </a:r>
          </a:p>
          <a:p>
            <a:r>
              <a:t>Байт — младшие биты, смещение внутри строки.</a:t>
            </a:r>
          </a:p>
          <a:p>
            <a:r>
              <a:t>Кроме тега в каждой строке хранятся флаги V, valid, — содержит ли строка актуальные данные,</a:t>
            </a:r>
          </a:p>
          <a:p>
            <a:r>
              <a:t>и M, modified, — были ли данные изменены и должны быть записаны обратно в память.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Расширенная структура строки кэша с возрастом и битом модификации.</a:t>
            </a:r>
          </a:p>
          <a:p>
            <a:r>
              <a:t>На схеме три варианта строки кэша сверху вниз.</a:t>
            </a:r>
          </a:p>
          <a:p>
            <a:r>
              <a:t>Первый вариант — простая строка: устройство увеличения возраста, поле возраста O1, O2,</a:t>
            </a:r>
          </a:p>
          <a:p>
            <a:r>
              <a:t>устройство сравнения адреса, тег из нескольких полей A1–A4 и данные D.</a:t>
            </a:r>
          </a:p>
          <a:p>
            <a:r>
              <a:t>Возраст добавляется для удаления самой неиспользуемой строки в кэше —</a:t>
            </a:r>
          </a:p>
          <a:p>
            <a:r>
              <a:t>это алгоритм LRU, least recently used, вытеснение давно неиспользуемых данных.</a:t>
            </a:r>
          </a:p>
          <a:p>
            <a:r>
              <a:t>Второй вариант — добавлен бит модификации M.</a:t>
            </a:r>
          </a:p>
          <a:p>
            <a:r>
              <a:t>Бит модификации нужен, чтобы не забыть записать строку в оперативную память, если она изменялась,</a:t>
            </a:r>
          </a:p>
          <a:p>
            <a:r>
              <a:t>при этом не была сброшена.</a:t>
            </a:r>
          </a:p>
          <a:p>
            <a:r>
              <a:t>Не сбрасывается, чтобы ускорить доступ при последовательных считываниях и записях в ту же строку.</a:t>
            </a:r>
          </a:p>
          <a:p>
            <a:r>
              <a:t>Если сброс происходит сразу — это называется сквозная запись.</a:t>
            </a:r>
          </a:p>
          <a:p>
            <a:r>
              <a:t>Третий вариант — полная строка с битом модификации, возрастом, тегом из 28 бит</a:t>
            </a:r>
          </a:p>
          <a:p>
            <a:r>
              <a:t>и данными из 16 байтов D0–D15.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Кэш прямого отображения.</a:t>
            </a:r>
          </a:p>
          <a:p>
            <a:r>
              <a:t>На схеме слева кэш-память из четырёх строк, пронумерованных 0, 1, 2, 3.</a:t>
            </a:r>
          </a:p>
          <a:p>
            <a:r>
              <a:t>Справа оперативная память из 16 страниц.</a:t>
            </a:r>
          </a:p>
          <a:p>
            <a:r>
              <a:t>Каждая строка кэша связана ровно с одной страницей оперативной памяти через индекс.</a:t>
            </a:r>
          </a:p>
          <a:p>
            <a:r>
              <a:t>Если страниц больше, чем строк, несколько страниц претендуют на одну и ту же строку —</a:t>
            </a:r>
          </a:p>
          <a:p>
            <a:r>
              <a:t>это называется конфликтом.</a:t>
            </a:r>
          </a:p>
          <a:p>
            <a:r>
              <a:t>Преимущества: простота и дешевизна, для поиска нужен только один компаратор на строку,</a:t>
            </a:r>
          </a:p>
          <a:p>
            <a:r>
              <a:t>поиск занимает один такт.</a:t>
            </a:r>
          </a:p>
          <a:p>
            <a:r>
              <a:t>Недостатки: частые конфликты.</a:t>
            </a:r>
          </a:p>
          <a:p>
            <a:r>
              <a:t>Если программа обращается к двум страницам с одинаковым индексом,</a:t>
            </a:r>
          </a:p>
          <a:p>
            <a:r>
              <a:t>они будут постоянно вытеснять друг друга из кэша, даже если кэш почти пуст.</a:t>
            </a:r>
          </a:p>
          <a:p>
            <a:r>
              <a:t>Это снижает эффективность.</a:t>
            </a:r>
          </a:p>
          <a:p>
            <a:r>
              <a:t>Прямое отображение — это ассоциативность 1.</a:t>
            </a:r>
          </a:p>
          <a:p>
            <a:r>
              <a:t>Каждая страница имеет ровно одно место, где может храниться.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Детальная схема кэша прямого отображения.</a:t>
            </a:r>
          </a:p>
          <a:p>
            <a:r>
              <a:t>Слева память тегов: индекс строки, тег, флаги V и M.</a:t>
            </a:r>
          </a:p>
          <a:p>
            <a:r>
              <a:t>В середине кэш-память с теми же строками.</a:t>
            </a:r>
          </a:p>
          <a:p>
            <a:r>
              <a:t>Справа оперативная память, разбитая на страницы от 0 до 255.</a:t>
            </a:r>
          </a:p>
          <a:p>
            <a:r>
              <a:t>Внизу показано разбиение адреса кэшируемой памяти:</a:t>
            </a:r>
          </a:p>
          <a:p>
            <a:r>
              <a:t>старшие биты 25–18 — тег, страница оперативной памяти;</a:t>
            </a:r>
          </a:p>
          <a:p>
            <a:r>
              <a:t>биты 17–5 — индекс, строка страницы;</a:t>
            </a:r>
          </a:p>
          <a:p>
            <a:r>
              <a:t>биты 4–0 — байт, смещение внутри строки.</a:t>
            </a:r>
          </a:p>
          <a:p>
            <a:r>
              <a:t>Схема сравнения проверяет, совпадает ли тег из адреса с тегом в памяти тегов.</a:t>
            </a:r>
          </a:p>
          <a:p>
            <a:r>
              <a:t>Если совпадает и флаг V установлен — попадание, данные берутся из кэша.</a:t>
            </a:r>
          </a:p>
          <a:p>
            <a:r>
              <a:t>Если не совпадает — промах, идёт обращение к оперативной памяти,</a:t>
            </a:r>
          </a:p>
          <a:p>
            <a:r>
              <a:t>и новая страница загружается в кэш, вытесняя старую.</a:t>
            </a:r>
          </a:p>
          <a:p>
            <a:r>
              <a:t>Флаг M показывает, что старая строка была изменена и требует записи обратно в оперативную память.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Наборно-ассоциативный кэш.</a:t>
            </a:r>
          </a:p>
          <a:p>
            <a:r>
              <a:t>На схеме два банка кэш-памяти, банк #1 и банк #2.</a:t>
            </a:r>
          </a:p>
          <a:p>
            <a:r>
              <a:t>Каждый банк содержит по две строки.</a:t>
            </a:r>
          </a:p>
          <a:p>
            <a:r>
              <a:t>Каждая страница оперативной памяти может попасть в любой из банков по одинаковому индексу.</a:t>
            </a:r>
          </a:p>
          <a:p>
            <a:r>
              <a:t>Степень ассоциативности — это число банков.</a:t>
            </a:r>
          </a:p>
          <a:p>
            <a:r>
              <a:t>В двухканальном кэше каждая страница может попасть в один из двух банков.</a:t>
            </a:r>
          </a:p>
          <a:p>
            <a:r>
              <a:t>Это снижает конфликты по сравнению с прямым отображением.</a:t>
            </a:r>
          </a:p>
          <a:p>
            <a:r>
              <a:t>При запросе контроллер параллельно сравнивает тег со всеми банками набора.</a:t>
            </a:r>
          </a:p>
          <a:p>
            <a:r>
              <a:t>Если совпадение найдено в одном из них — попадание.</a:t>
            </a:r>
          </a:p>
          <a:p>
            <a:r>
              <a:t>Задержка чуть больше, чем у прямого кэша, но и промахов меньше.</a:t>
            </a:r>
          </a:p>
          <a:p>
            <a:r>
              <a:t>Большинство современных кэшей L1, L2, L3 — наборно-ассоциативные</a:t>
            </a:r>
          </a:p>
          <a:p>
            <a:r>
              <a:t>с ассоциативностью 4, 8 или 16.</a:t>
            </a:r>
          </a:p>
          <a:p>
            <a:r>
              <a:t>Это разумный компромисс между простотой прямого отображения и гибкостью полностью ассоциативного кэша.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Детальная схема наборно-ассоциативного кэша с двумя банками.</a:t>
            </a:r>
          </a:p>
          <a:p>
            <a:r>
              <a:t>Слева память тегов для банков 0 и 1: индекс строки, тег, флаги V и M, флаги обращения.</a:t>
            </a:r>
          </a:p>
          <a:p>
            <a:r>
              <a:t>В середине кэш-память с двумя банками.</a:t>
            </a:r>
          </a:p>
          <a:p>
            <a:r>
              <a:t>Справа оперативная память, разбитая на страницы.</a:t>
            </a:r>
          </a:p>
          <a:p>
            <a:r>
              <a:t>Внизу — разбиение адреса кэшируемой памяти, как и в кэше прямого отображения:</a:t>
            </a:r>
          </a:p>
          <a:p>
            <a:r>
              <a:t>тег, индекс, байт.</a:t>
            </a:r>
          </a:p>
          <a:p>
            <a:r>
              <a:t>Две схемы сравнения — по одной на каждый банк — параллельно проверяют,</a:t>
            </a:r>
          </a:p>
          <a:p>
            <a:r>
              <a:t>есть ли совпадение тега в соответствующем банке.</a:t>
            </a:r>
          </a:p>
          <a:p>
            <a:r>
              <a:t>Если совпадение есть хотя бы в одном банке — попадание.</a:t>
            </a:r>
          </a:p>
          <a:p>
            <a:r>
              <a:t>Флаги обращения помогают выбрать, какую строку вытеснить при заполнении банка.</a:t>
            </a:r>
          </a:p>
          <a:p>
            <a:r>
              <a:t>Наборно-ассоциативный кэш сочетает простоту адресации прямого отображения</a:t>
            </a:r>
          </a:p>
          <a:p>
            <a:r>
              <a:t>с гибкостью полностью ассоциативного — за счёт нескольких банков на один индекс.</a:t>
            </a:r>
          </a:p>
          <a:p>
            <a:r>
              <a:t>Именно поэтому он стал стандартом для современных процессоров.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166FF53-609C-4890-836E-AB3355CC0B24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7BF36-D4CF-46F1-AFBC-06A887148B3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26BE5-E0F4-4B65-BA6D-CACE26DDFD1F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1EC1D-6534-4E52-8FBF-D403661CB023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4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4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4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4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5.xml"/><Relationship Id="rId7" Type="http://schemas.microsoft.com/office/2007/relationships/media" Target="../media/media5.mp3"/><Relationship Id="rId8" Type="http://schemas.openxmlformats.org/officeDocument/2006/relationships/video" Target="../media/media5.mp3"/><Relationship Id="rId9" Type="http://schemas.openxmlformats.org/officeDocument/2006/relationships/image" Target="../media/image4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Relationship Id="rId4" Type="http://schemas.microsoft.com/office/2007/relationships/media" Target="../media/media6.mp3"/><Relationship Id="rId5" Type="http://schemas.openxmlformats.org/officeDocument/2006/relationships/video" Target="../media/media6.mp3"/><Relationship Id="rId6" Type="http://schemas.openxmlformats.org/officeDocument/2006/relationships/image" Target="../media/image4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Relationship Id="rId5" Type="http://schemas.microsoft.com/office/2007/relationships/media" Target="../media/media7.mp3"/><Relationship Id="rId6" Type="http://schemas.openxmlformats.org/officeDocument/2006/relationships/video" Target="../media/media7.mp3"/><Relationship Id="rId7" Type="http://schemas.openxmlformats.org/officeDocument/2006/relationships/image" Target="../media/image4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8.xml"/><Relationship Id="rId6" Type="http://schemas.microsoft.com/office/2007/relationships/media" Target="../media/media8.mp3"/><Relationship Id="rId7" Type="http://schemas.openxmlformats.org/officeDocument/2006/relationships/video" Target="../media/media8.mp3"/><Relationship Id="rId8" Type="http://schemas.openxmlformats.org/officeDocument/2006/relationships/image" Target="../media/image4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9.xml"/><Relationship Id="rId5" Type="http://schemas.microsoft.com/office/2007/relationships/media" Target="../media/media9.mp3"/><Relationship Id="rId6" Type="http://schemas.openxmlformats.org/officeDocument/2006/relationships/video" Target="../media/media9.mp3"/><Relationship Id="rId7" Type="http://schemas.openxmlformats.org/officeDocument/2006/relationships/image" Target="../media/image4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notesSlide" Target="../notesSlides/notesSlide10.xml"/><Relationship Id="rId8" Type="http://schemas.microsoft.com/office/2007/relationships/media" Target="../media/media10.mp3"/><Relationship Id="rId9" Type="http://schemas.openxmlformats.org/officeDocument/2006/relationships/video" Target="../media/media10.mp3"/><Relationship Id="rId10" Type="http://schemas.openxmlformats.org/officeDocument/2006/relationships/image" Target="../media/image4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4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2.xml"/><Relationship Id="rId5" Type="http://schemas.microsoft.com/office/2007/relationships/media" Target="../media/media12.mp3"/><Relationship Id="rId6" Type="http://schemas.openxmlformats.org/officeDocument/2006/relationships/video" Target="../media/media12.mp3"/><Relationship Id="rId7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13.xml"/><Relationship Id="rId5" Type="http://schemas.microsoft.com/office/2007/relationships/media" Target="../media/media13.mp3"/><Relationship Id="rId6" Type="http://schemas.openxmlformats.org/officeDocument/2006/relationships/video" Target="../media/media13.mp3"/><Relationship Id="rId7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notesSlide" Target="../notesSlides/notesSlide14.xml"/><Relationship Id="rId6" Type="http://schemas.microsoft.com/office/2007/relationships/media" Target="../media/media14.mp3"/><Relationship Id="rId7" Type="http://schemas.openxmlformats.org/officeDocument/2006/relationships/video" Target="../media/media14.mp3"/><Relationship Id="rId8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15.xml"/><Relationship Id="rId4" Type="http://schemas.microsoft.com/office/2007/relationships/media" Target="../media/media15.mp3"/><Relationship Id="rId5" Type="http://schemas.openxmlformats.org/officeDocument/2006/relationships/video" Target="../media/media15.mp3"/><Relationship Id="rId6" Type="http://schemas.openxmlformats.org/officeDocument/2006/relationships/image" Target="../media/image4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6.xml"/><Relationship Id="rId4" Type="http://schemas.microsoft.com/office/2007/relationships/media" Target="../media/media16.mp3"/><Relationship Id="rId5" Type="http://schemas.openxmlformats.org/officeDocument/2006/relationships/video" Target="../media/media16.mp3"/><Relationship Id="rId6" Type="http://schemas.openxmlformats.org/officeDocument/2006/relationships/image" Target="../media/image4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7.xml"/><Relationship Id="rId4" Type="http://schemas.microsoft.com/office/2007/relationships/media" Target="../media/media17.mp3"/><Relationship Id="rId5" Type="http://schemas.openxmlformats.org/officeDocument/2006/relationships/video" Target="../media/media17.mp3"/><Relationship Id="rId6" Type="http://schemas.openxmlformats.org/officeDocument/2006/relationships/image" Target="../media/image4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microsoft.com/office/2007/relationships/media" Target="../media/media18.mp3"/><Relationship Id="rId4" Type="http://schemas.openxmlformats.org/officeDocument/2006/relationships/video" Target="../media/media18.mp3"/><Relationship Id="rId5" Type="http://schemas.openxmlformats.org/officeDocument/2006/relationships/image" Target="../media/image4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microsoft.com/office/2007/relationships/media" Target="../media/media19.mp3"/><Relationship Id="rId4" Type="http://schemas.openxmlformats.org/officeDocument/2006/relationships/video" Target="../media/media19.mp3"/><Relationship Id="rId5" Type="http://schemas.openxmlformats.org/officeDocument/2006/relationships/image" Target="../media/image4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0.xml"/><Relationship Id="rId4" Type="http://schemas.microsoft.com/office/2007/relationships/media" Target="../media/media20.mp3"/><Relationship Id="rId5" Type="http://schemas.openxmlformats.org/officeDocument/2006/relationships/video" Target="../media/media20.mp3"/><Relationship Id="rId6" Type="http://schemas.openxmlformats.org/officeDocument/2006/relationships/image" Target="../media/image4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eg"/><Relationship Id="rId3" Type="http://schemas.openxmlformats.org/officeDocument/2006/relationships/notesSlide" Target="../notesSlides/notesSlide21.xml"/><Relationship Id="rId4" Type="http://schemas.microsoft.com/office/2007/relationships/media" Target="../media/media21.mp3"/><Relationship Id="rId5" Type="http://schemas.openxmlformats.org/officeDocument/2006/relationships/video" Target="../media/media21.mp3"/><Relationship Id="rId6" Type="http://schemas.openxmlformats.org/officeDocument/2006/relationships/image" Target="../media/image4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microsoft.com/office/2007/relationships/media" Target="../media/media22.mp3"/><Relationship Id="rId4" Type="http://schemas.openxmlformats.org/officeDocument/2006/relationships/video" Target="../media/media22.mp3"/><Relationship Id="rId5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jpeg"/><Relationship Id="rId3" Type="http://schemas.openxmlformats.org/officeDocument/2006/relationships/notesSlide" Target="../notesSlides/notesSlide23.xml"/><Relationship Id="rId4" Type="http://schemas.microsoft.com/office/2007/relationships/media" Target="../media/media23.mp3"/><Relationship Id="rId5" Type="http://schemas.openxmlformats.org/officeDocument/2006/relationships/video" Target="../media/media23.mp3"/><Relationship Id="rId6" Type="http://schemas.openxmlformats.org/officeDocument/2006/relationships/image" Target="../media/image4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eg"/><Relationship Id="rId3" Type="http://schemas.openxmlformats.org/officeDocument/2006/relationships/notesSlide" Target="../notesSlides/notesSlide24.xml"/><Relationship Id="rId4" Type="http://schemas.microsoft.com/office/2007/relationships/media" Target="../media/media24.mp3"/><Relationship Id="rId5" Type="http://schemas.openxmlformats.org/officeDocument/2006/relationships/video" Target="../media/media24.mp3"/><Relationship Id="rId6" Type="http://schemas.openxmlformats.org/officeDocument/2006/relationships/image" Target="../media/image4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25.xml"/><Relationship Id="rId4" Type="http://schemas.microsoft.com/office/2007/relationships/media" Target="../media/media25.mp3"/><Relationship Id="rId5" Type="http://schemas.openxmlformats.org/officeDocument/2006/relationships/video" Target="../media/media25.mp3"/><Relationship Id="rId6" Type="http://schemas.openxmlformats.org/officeDocument/2006/relationships/image" Target="../media/image4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26.xml"/><Relationship Id="rId4" Type="http://schemas.microsoft.com/office/2007/relationships/media" Target="../media/media26.mp3"/><Relationship Id="rId5" Type="http://schemas.openxmlformats.org/officeDocument/2006/relationships/video" Target="../media/media26.mp3"/><Relationship Id="rId6" Type="http://schemas.openxmlformats.org/officeDocument/2006/relationships/image" Target="../media/image4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notesSlide" Target="../notesSlides/notesSlide27.xml"/><Relationship Id="rId6" Type="http://schemas.microsoft.com/office/2007/relationships/media" Target="../media/media27.mp3"/><Relationship Id="rId7" Type="http://schemas.openxmlformats.org/officeDocument/2006/relationships/video" Target="../media/media27.mp3"/><Relationship Id="rId8" Type="http://schemas.openxmlformats.org/officeDocument/2006/relationships/image" Target="../media/image4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28.xml"/><Relationship Id="rId4" Type="http://schemas.microsoft.com/office/2007/relationships/media" Target="../media/media28.mp3"/><Relationship Id="rId5" Type="http://schemas.openxmlformats.org/officeDocument/2006/relationships/video" Target="../media/media28.mp3"/><Relationship Id="rId6" Type="http://schemas.openxmlformats.org/officeDocument/2006/relationships/image" Target="../media/image4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29.xml"/><Relationship Id="rId4" Type="http://schemas.microsoft.com/office/2007/relationships/media" Target="../media/media29.mp3"/><Relationship Id="rId5" Type="http://schemas.openxmlformats.org/officeDocument/2006/relationships/video" Target="../media/media29.mp3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0.xml"/><Relationship Id="rId4" Type="http://schemas.microsoft.com/office/2007/relationships/media" Target="../media/media30.mp3"/><Relationship Id="rId5" Type="http://schemas.openxmlformats.org/officeDocument/2006/relationships/video" Target="../media/media30.mp3"/><Relationship Id="rId6" Type="http://schemas.openxmlformats.org/officeDocument/2006/relationships/image" Target="../media/image4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31.xml"/><Relationship Id="rId4" Type="http://schemas.microsoft.com/office/2007/relationships/media" Target="../media/media31.mp3"/><Relationship Id="rId5" Type="http://schemas.openxmlformats.org/officeDocument/2006/relationships/video" Target="../media/media31.mp3"/><Relationship Id="rId6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Основные элементы и принципы работы компьютерной техники по архитектуре фон Неймана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Транзисторы, базовые элементы процессора, устройство </a:t>
            </a:r>
            <a:r>
              <a:rPr lang="en-US" dirty="0" smtClean="0"/>
              <a:t>IBM PC, </a:t>
            </a:r>
            <a:r>
              <a:rPr lang="ru-RU" dirty="0" smtClean="0"/>
              <a:t>память, шины</a:t>
            </a:r>
            <a:endParaRPr lang="ru-RU" dirty="0"/>
          </a:p>
        </p:txBody>
      </p:sp>
      <p:pic>
        <p:nvPicPr>
          <p:cNvPr id="4" name="slide_01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1" dirty="0"/>
              <a:t>Фотолитография</a:t>
            </a:r>
            <a:r>
              <a:rPr lang="ru-RU" sz="2800" dirty="0" smtClean="0"/>
              <a:t> — ключевой метод производства микросхем. Это процесс «печати» схемы на кремниевой пластине с помощью света.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000" b="1" dirty="0"/>
              <a:t>Подготовка основы:</a:t>
            </a:r>
            <a:r>
              <a:rPr lang="ru-RU" sz="2000" dirty="0"/>
              <a:t> На кремниевую пластину (подложку) наносится тонкий слой кремния, а поверх него — </a:t>
            </a:r>
            <a:r>
              <a:rPr lang="ru-RU" sz="2000" b="1" dirty="0" err="1"/>
              <a:t>фоторезист</a:t>
            </a:r>
            <a:r>
              <a:rPr lang="ru-RU" sz="2000" dirty="0"/>
              <a:t> (светочувствительный полимер).</a:t>
            </a:r>
          </a:p>
          <a:p>
            <a:r>
              <a:rPr lang="ru-RU" sz="2000" b="1" dirty="0"/>
              <a:t>Экспонирование:</a:t>
            </a:r>
            <a:r>
              <a:rPr lang="ru-RU" sz="2000" dirty="0"/>
              <a:t> Свет проходит через </a:t>
            </a:r>
            <a:r>
              <a:rPr lang="ru-RU" sz="2000" b="1" dirty="0"/>
              <a:t>фотошаблон</a:t>
            </a:r>
            <a:r>
              <a:rPr lang="ru-RU" sz="2000" dirty="0"/>
              <a:t> (маску с рисунком схемы) и систему линз, проецируя уменьшенное изображение на </a:t>
            </a:r>
            <a:r>
              <a:rPr lang="ru-RU" sz="2000" dirty="0" err="1"/>
              <a:t>фоторезист</a:t>
            </a:r>
            <a:r>
              <a:rPr lang="ru-RU" sz="2000" dirty="0"/>
              <a:t>.</a:t>
            </a:r>
          </a:p>
          <a:p>
            <a:r>
              <a:rPr lang="ru-RU" sz="2000" b="1" dirty="0"/>
              <a:t>Проявление:</a:t>
            </a:r>
            <a:r>
              <a:rPr lang="ru-RU" sz="2000" dirty="0"/>
              <a:t> Засвеченные (или </a:t>
            </a:r>
            <a:r>
              <a:rPr lang="ru-RU" sz="2000" dirty="0" err="1"/>
              <a:t>незасвеченные</a:t>
            </a:r>
            <a:r>
              <a:rPr lang="ru-RU" sz="2000" dirty="0"/>
              <a:t>) участки </a:t>
            </a:r>
            <a:r>
              <a:rPr lang="ru-RU" sz="2000" dirty="0" err="1"/>
              <a:t>фоторезиста</a:t>
            </a:r>
            <a:r>
              <a:rPr lang="ru-RU" sz="2000" dirty="0"/>
              <a:t> смываются специальным раствором.</a:t>
            </a:r>
          </a:p>
          <a:p>
            <a:r>
              <a:rPr lang="ru-RU" sz="2000" b="1" dirty="0"/>
              <a:t>Травление и ионная имплантация:</a:t>
            </a:r>
            <a:r>
              <a:rPr lang="ru-RU" sz="2000" dirty="0"/>
              <a:t> Защищенные остатками </a:t>
            </a:r>
            <a:r>
              <a:rPr lang="ru-RU" sz="2000" dirty="0" err="1"/>
              <a:t>фоторезиста</a:t>
            </a:r>
            <a:r>
              <a:rPr lang="ru-RU" sz="2000" dirty="0"/>
              <a:t> зоны остаются нетронутыми, а открытые участки кремния вытравливаются кислотой или легируются ионами для создания полупроводниковых свойств.</a:t>
            </a:r>
          </a:p>
          <a:p>
            <a:r>
              <a:rPr lang="ru-RU" sz="2000" b="1" dirty="0"/>
              <a:t>Очистка:</a:t>
            </a:r>
            <a:r>
              <a:rPr lang="ru-RU" sz="2000" dirty="0"/>
              <a:t> Остатки </a:t>
            </a:r>
            <a:r>
              <a:rPr lang="ru-RU" sz="2000" dirty="0" err="1"/>
              <a:t>фоторезиста</a:t>
            </a:r>
            <a:r>
              <a:rPr lang="ru-RU" sz="2000" dirty="0"/>
              <a:t> удаляются. Процесс повторяется до 40–80 раз для создания многослойной структуры чипа.</a:t>
            </a:r>
          </a:p>
          <a:p>
            <a:endParaRPr lang="ru-RU" sz="1800" dirty="0"/>
          </a:p>
        </p:txBody>
      </p:sp>
      <p:pic>
        <p:nvPicPr>
          <p:cNvPr id="4" name="slide_02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Технологический предел: Литография на пути к 2 нм и менее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000" dirty="0" smtClean="0"/>
              <a:t>Чтобы </a:t>
            </a:r>
            <a:r>
              <a:rPr lang="ru-RU" sz="2000" dirty="0"/>
              <a:t>уменьшать транзисторы, ученым пришлось кардинально уменьшать длину волны света (из-за дифракционного предела).</a:t>
            </a:r>
          </a:p>
          <a:p>
            <a:r>
              <a:rPr lang="ru-RU" sz="2000" b="1" dirty="0"/>
              <a:t>Эволюция источников света:</a:t>
            </a:r>
          </a:p>
          <a:p>
            <a:r>
              <a:rPr lang="ru-RU" sz="2000" b="1" dirty="0" err="1"/>
              <a:t>УФ-литография</a:t>
            </a:r>
            <a:r>
              <a:rPr lang="ru-RU" sz="2000" b="1" dirty="0"/>
              <a:t> (DUV):</a:t>
            </a:r>
            <a:r>
              <a:rPr lang="ru-RU" sz="2000" dirty="0"/>
              <a:t> Использовала </a:t>
            </a:r>
            <a:r>
              <a:rPr lang="ru-RU" sz="2000" dirty="0" err="1"/>
              <a:t>аргон-фторидные</a:t>
            </a:r>
            <a:r>
              <a:rPr lang="ru-RU" sz="2000" dirty="0"/>
              <a:t> лазеры (</a:t>
            </a:r>
            <a:r>
              <a:rPr lang="ru-RU" sz="2000" dirty="0" err="1"/>
              <a:t>ArF</a:t>
            </a:r>
            <a:r>
              <a:rPr lang="ru-RU" sz="2000" dirty="0"/>
              <a:t>) с длиной волны </a:t>
            </a:r>
            <a:r>
              <a:rPr lang="ru-RU" sz="2000" b="1" dirty="0"/>
              <a:t>193 нм</a:t>
            </a:r>
            <a:r>
              <a:rPr lang="ru-RU" sz="2000" dirty="0"/>
              <a:t>. Чтобы печатать чипы 28-10 нм, применяли иммерсионную жидкость (воду) и метод многократного экспонирования (</a:t>
            </a:r>
            <a:r>
              <a:rPr lang="ru-RU" sz="2000" dirty="0" err="1"/>
              <a:t>Multi-Patterning</a:t>
            </a:r>
            <a:r>
              <a:rPr lang="ru-RU" sz="2000" dirty="0"/>
              <a:t>).</a:t>
            </a:r>
          </a:p>
          <a:p>
            <a:r>
              <a:rPr lang="ru-RU" sz="2000" b="1" dirty="0"/>
              <a:t>Экстремальный УФ (EUV):</a:t>
            </a:r>
            <a:r>
              <a:rPr lang="ru-RU" sz="2000" dirty="0"/>
              <a:t> Прорывные установки компании </a:t>
            </a:r>
            <a:r>
              <a:rPr lang="ru-RU" sz="2000" b="1" dirty="0"/>
              <a:t>ASML</a:t>
            </a:r>
            <a:r>
              <a:rPr lang="ru-RU" sz="2000" dirty="0"/>
              <a:t> с длиной волны </a:t>
            </a:r>
            <a:r>
              <a:rPr lang="ru-RU" sz="2000" b="1" dirty="0"/>
              <a:t>13.5 нм</a:t>
            </a:r>
            <a:r>
              <a:rPr lang="ru-RU" sz="2000" dirty="0"/>
              <a:t> (свет генерируется лазером, бьющим по каплям расплавленного олова). Стала стандартом для техпроцессов от 7 нм до 3 нм.</a:t>
            </a:r>
          </a:p>
          <a:p>
            <a:r>
              <a:rPr lang="ru-RU" sz="2000" b="1" dirty="0" err="1"/>
              <a:t>High-NA</a:t>
            </a:r>
            <a:r>
              <a:rPr lang="ru-RU" sz="2000" b="1" dirty="0"/>
              <a:t> EUV (Высокая апертура):</a:t>
            </a:r>
            <a:r>
              <a:rPr lang="ru-RU" sz="2000" dirty="0"/>
              <a:t> Новейшее поколение систем (индекс линз 0.55 против 0.33 у старых EUV). Позволяет проецировать еще более мелкие элементы без сложного </a:t>
            </a:r>
            <a:r>
              <a:rPr lang="ru-RU" sz="2000" dirty="0" err="1"/>
              <a:t>мультишаблонирования</a:t>
            </a:r>
            <a:r>
              <a:rPr lang="ru-RU" sz="2000" dirty="0"/>
              <a:t>. Применяется для </a:t>
            </a:r>
            <a:r>
              <a:rPr lang="ru-RU" sz="2000" b="1" dirty="0"/>
              <a:t>2 нм и тоньше</a:t>
            </a:r>
            <a:r>
              <a:rPr lang="ru-RU" sz="2000" dirty="0"/>
              <a:t>.</a:t>
            </a:r>
          </a:p>
          <a:p>
            <a:endParaRPr lang="ru-RU" sz="2000" dirty="0"/>
          </a:p>
        </p:txBody>
      </p:sp>
      <p:pic>
        <p:nvPicPr>
          <p:cNvPr id="4" name="slide_03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sz="2700" b="1" dirty="0" smtClean="0"/>
              <a:t>Что используется в архитектуре чипов 2 нм и менее?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620688"/>
            <a:ext cx="8856984" cy="5832648"/>
          </a:xfrm>
        </p:spPr>
        <p:txBody>
          <a:bodyPr>
            <a:noAutofit/>
          </a:bodyPr>
          <a:lstStyle/>
          <a:p>
            <a:pPr algn="just"/>
            <a:r>
              <a:rPr lang="ru-RU" sz="2000" dirty="0" smtClean="0"/>
              <a:t>При </a:t>
            </a:r>
            <a:r>
              <a:rPr lang="ru-RU" sz="2000" dirty="0"/>
              <a:t>размерах менее 3 нм законы классической физики уступают место квантовым эффектам (ток начинает «утекать» сквозь затвор). Для преодоления барьера используются революционные технологии:</a:t>
            </a:r>
          </a:p>
          <a:p>
            <a:pPr algn="just"/>
            <a:r>
              <a:rPr lang="ru-RU" sz="2000" b="1" dirty="0"/>
              <a:t>Переход на GAAFET / </a:t>
            </a:r>
            <a:r>
              <a:rPr lang="ru-RU" sz="2000" b="1" dirty="0" err="1"/>
              <a:t>RibbonFET</a:t>
            </a:r>
            <a:r>
              <a:rPr lang="ru-RU" sz="2000" b="1" dirty="0"/>
              <a:t>:</a:t>
            </a:r>
            <a:r>
              <a:rPr lang="ru-RU" sz="2000" dirty="0"/>
              <a:t> Вместо трехмерных «плавников» (</a:t>
            </a:r>
            <a:r>
              <a:rPr lang="ru-RU" sz="2000" dirty="0" err="1"/>
              <a:t>FinFET</a:t>
            </a:r>
            <a:r>
              <a:rPr lang="ru-RU" sz="2000" dirty="0"/>
              <a:t>) используются транзисторы с </a:t>
            </a:r>
            <a:r>
              <a:rPr lang="ru-RU" sz="2000" b="1" dirty="0"/>
              <a:t>окружающим затвором</a:t>
            </a:r>
            <a:r>
              <a:rPr lang="ru-RU" sz="2000" dirty="0"/>
              <a:t> (</a:t>
            </a:r>
            <a:r>
              <a:rPr lang="ru-RU" sz="2000" dirty="0" err="1"/>
              <a:t>Gate-All-Around</a:t>
            </a:r>
            <a:r>
              <a:rPr lang="ru-RU" sz="2000" dirty="0"/>
              <a:t>). Затвор полностью охватывает горизонтальные </a:t>
            </a:r>
            <a:r>
              <a:rPr lang="ru-RU" sz="2000" dirty="0" err="1"/>
              <a:t>наностраницы</a:t>
            </a:r>
            <a:r>
              <a:rPr lang="ru-RU" sz="2000" dirty="0"/>
              <a:t> (</a:t>
            </a:r>
            <a:r>
              <a:rPr lang="ru-RU" sz="2000" dirty="0" err="1"/>
              <a:t>наноленты</a:t>
            </a:r>
            <a:r>
              <a:rPr lang="ru-RU" sz="2000" dirty="0"/>
              <a:t>), исключая утечки тока.</a:t>
            </a:r>
          </a:p>
          <a:p>
            <a:pPr algn="just"/>
            <a:r>
              <a:rPr lang="ru-RU" sz="2000" b="1" dirty="0"/>
              <a:t>Обратная подача питания (</a:t>
            </a:r>
            <a:r>
              <a:rPr lang="ru-RU" sz="2000" b="1" dirty="0" err="1"/>
              <a:t>Backside</a:t>
            </a:r>
            <a:r>
              <a:rPr lang="ru-RU" sz="2000" b="1" dirty="0"/>
              <a:t> </a:t>
            </a:r>
            <a:r>
              <a:rPr lang="ru-RU" sz="2000" b="1" dirty="0" err="1"/>
              <a:t>Power</a:t>
            </a:r>
            <a:r>
              <a:rPr lang="ru-RU" sz="2000" b="1" dirty="0"/>
              <a:t> </a:t>
            </a:r>
            <a:r>
              <a:rPr lang="ru-RU" sz="2000" b="1" dirty="0" err="1"/>
              <a:t>Delivery</a:t>
            </a:r>
            <a:r>
              <a:rPr lang="ru-RU" sz="2000" b="1" dirty="0"/>
              <a:t> / </a:t>
            </a:r>
            <a:r>
              <a:rPr lang="ru-RU" sz="2000" b="1" dirty="0" err="1"/>
              <a:t>PowerVia</a:t>
            </a:r>
            <a:r>
              <a:rPr lang="ru-RU" sz="2000" b="1" dirty="0"/>
              <a:t>):</a:t>
            </a:r>
            <a:r>
              <a:rPr lang="ru-RU" sz="2000" dirty="0"/>
              <a:t> Провода питания переносят на </a:t>
            </a:r>
            <a:r>
              <a:rPr lang="ru-RU" sz="2000" i="1" dirty="0"/>
              <a:t>оборотную</a:t>
            </a:r>
            <a:r>
              <a:rPr lang="ru-RU" sz="2000" dirty="0"/>
              <a:t> сторону кремниевой пластины. Сверху остаются только сигнальные дорожки. Это решает проблему перекрестных помех, экономит место и увеличивает тактовую частоту.</a:t>
            </a:r>
          </a:p>
          <a:p>
            <a:pPr algn="just"/>
            <a:r>
              <a:rPr lang="ru-RU" sz="2000" b="1" dirty="0"/>
              <a:t>Упаковка </a:t>
            </a:r>
            <a:r>
              <a:rPr lang="ru-RU" sz="2000" b="1" dirty="0" err="1"/>
              <a:t>чиплетов</a:t>
            </a:r>
            <a:r>
              <a:rPr lang="ru-RU" sz="2000" b="1" dirty="0"/>
              <a:t> (</a:t>
            </a:r>
            <a:r>
              <a:rPr lang="ru-RU" sz="2000" b="1" dirty="0" err="1"/>
              <a:t>Chiplets</a:t>
            </a:r>
            <a:r>
              <a:rPr lang="ru-RU" sz="2000" b="1" dirty="0"/>
              <a:t> &amp; 3D </a:t>
            </a:r>
            <a:r>
              <a:rPr lang="ru-RU" sz="2000" b="1" dirty="0" err="1"/>
              <a:t>Packaging</a:t>
            </a:r>
            <a:r>
              <a:rPr lang="ru-RU" sz="2000" b="1" dirty="0"/>
              <a:t>):</a:t>
            </a:r>
            <a:endParaRPr lang="ru-RU" sz="2000" dirty="0"/>
          </a:p>
          <a:p>
            <a:pPr algn="just"/>
            <a:r>
              <a:rPr lang="ru-RU" sz="2000" dirty="0"/>
              <a:t>Процессоры перестают быть монолитными. На одной подложке соединяются разные кристаллы (вычислительные ядра, память, контроллеры), сделанные по разным техпроцессам.</a:t>
            </a:r>
          </a:p>
          <a:p>
            <a:pPr algn="just"/>
            <a:r>
              <a:rPr lang="ru-RU" sz="2000" b="1" dirty="0"/>
              <a:t>Будущее (Альтернатива кремнию):</a:t>
            </a:r>
            <a:r>
              <a:rPr lang="ru-RU" sz="2000" dirty="0"/>
              <a:t> На рубеже ниже 1 нм кремний исчерпает себя. Ведутся исследования по внедрению двумерных материалов: </a:t>
            </a:r>
            <a:r>
              <a:rPr lang="ru-RU" sz="2000" b="1" dirty="0" err="1"/>
              <a:t>графена</a:t>
            </a:r>
            <a:r>
              <a:rPr lang="ru-RU" sz="2000" dirty="0"/>
              <a:t>, </a:t>
            </a:r>
            <a:r>
              <a:rPr lang="ru-RU" sz="2000" b="1" dirty="0"/>
              <a:t>дисульфида молибдена (</a:t>
            </a:r>
            <a:r>
              <a:rPr lang="ru-RU" sz="2000" b="1" dirty="0" err="1"/>
              <a:t>MoS</a:t>
            </a:r>
            <a:r>
              <a:rPr lang="ru-RU" sz="2000" b="1" dirty="0"/>
              <a:t>₂)</a:t>
            </a:r>
            <a:r>
              <a:rPr lang="ru-RU" sz="2000" dirty="0"/>
              <a:t> и углеродных </a:t>
            </a:r>
            <a:r>
              <a:rPr lang="ru-RU" sz="2000" dirty="0" err="1"/>
              <a:t>нанотрубок</a:t>
            </a:r>
            <a:r>
              <a:rPr lang="ru-RU" sz="2000" dirty="0"/>
              <a:t>.</a:t>
            </a:r>
          </a:p>
          <a:p>
            <a:endParaRPr lang="ru-RU" sz="2000" dirty="0"/>
          </a:p>
        </p:txBody>
      </p:sp>
      <p:pic>
        <p:nvPicPr>
          <p:cNvPr id="4" name="slide_04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4788024" cy="850106"/>
          </a:xfrm>
        </p:spPr>
        <p:txBody>
          <a:bodyPr>
            <a:normAutofit fontScale="90000"/>
          </a:bodyPr>
          <a:lstStyle/>
          <a:p>
            <a:r>
              <a:rPr lang="ru-RU" sz="2800" dirty="0" smtClean="0"/>
              <a:t>Полупроводниковая логика. </a:t>
            </a:r>
            <a:r>
              <a:rPr lang="en-US" sz="2800" dirty="0" smtClean="0"/>
              <a:t>P-N </a:t>
            </a:r>
            <a:r>
              <a:rPr lang="ru-RU" sz="2800" dirty="0" smtClean="0"/>
              <a:t>переход.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700808"/>
            <a:ext cx="9144000" cy="3528392"/>
          </a:xfrm>
        </p:spPr>
        <p:txBody>
          <a:bodyPr/>
          <a:lstStyle/>
          <a:p>
            <a:pPr algn="just"/>
            <a:r>
              <a:rPr lang="en-US" sz="1600" dirty="0" smtClean="0"/>
              <a:t>N – </a:t>
            </a:r>
            <a:r>
              <a:rPr lang="ru-RU" sz="1600" dirty="0" smtClean="0"/>
              <a:t>основным носителем являются свободные электроны.</a:t>
            </a:r>
          </a:p>
          <a:p>
            <a:pPr algn="just"/>
            <a:r>
              <a:rPr lang="en-US" sz="1600" dirty="0" smtClean="0"/>
              <a:t>P –</a:t>
            </a:r>
            <a:r>
              <a:rPr lang="ru-RU" sz="1600" dirty="0" smtClean="0"/>
              <a:t> основным носителем являются положительные дырки (условное обозначение). </a:t>
            </a:r>
          </a:p>
          <a:p>
            <a:pPr algn="just"/>
            <a:r>
              <a:rPr lang="ru-RU" sz="1600" dirty="0" smtClean="0"/>
              <a:t>Сами </a:t>
            </a:r>
            <a:r>
              <a:rPr lang="en-US" sz="1600" dirty="0" smtClean="0"/>
              <a:t>N </a:t>
            </a:r>
            <a:r>
              <a:rPr lang="ru-RU" sz="1600" dirty="0" smtClean="0"/>
              <a:t>или </a:t>
            </a:r>
            <a:r>
              <a:rPr lang="en-US" sz="1600" dirty="0" smtClean="0"/>
              <a:t>P </a:t>
            </a:r>
            <a:r>
              <a:rPr lang="ru-RU" sz="1600" dirty="0" smtClean="0"/>
              <a:t>полупроводники нейтральны по заряду. При отсутствии напряжения, свободные электроны диффундируют в результате хаотического движения в область </a:t>
            </a:r>
            <a:r>
              <a:rPr lang="en-US" sz="1600" dirty="0" smtClean="0"/>
              <a:t>p </a:t>
            </a:r>
            <a:r>
              <a:rPr lang="ru-RU" sz="1600" dirty="0" smtClean="0"/>
              <a:t>где есть свободные места (дырки), в результате образуется электрическое поле препятствующее дальнейшему переносу электронов. Между проводниками образуется тонкий слой нейтрального диэлектрического слоя (когда электрон занимает дырку). При подаче положительного потенциала на </a:t>
            </a:r>
            <a:r>
              <a:rPr lang="en-US" sz="1600" dirty="0" smtClean="0"/>
              <a:t>n </a:t>
            </a:r>
            <a:r>
              <a:rPr lang="ru-RU" sz="1600" dirty="0" smtClean="0"/>
              <a:t>проводник, а отрицательного на </a:t>
            </a:r>
            <a:r>
              <a:rPr lang="en-US" sz="1600" dirty="0" smtClean="0"/>
              <a:t>p</a:t>
            </a:r>
            <a:r>
              <a:rPr lang="ru-RU" sz="1600" dirty="0" smtClean="0"/>
              <a:t>, дырки и электроны смещаются к «краям» полупроводника, что приводит к расширению диэлектрического слоя и запиранию диода (плотность отрицательно заряженных становится выше в определенных частях диода и ниже в других). При подаче отрицательного потенциала на </a:t>
            </a:r>
            <a:r>
              <a:rPr lang="en-US" sz="1600" dirty="0" smtClean="0"/>
              <a:t>n </a:t>
            </a:r>
            <a:r>
              <a:rPr lang="ru-RU" sz="1600" dirty="0" smtClean="0"/>
              <a:t>электроны начинают проходить небольшой образованный потенциал, заполнять образованный нейтральный слой, что создает движение заряда и появление тока в полупроводнике. </a:t>
            </a:r>
          </a:p>
          <a:p>
            <a:endParaRPr lang="ru-RU" sz="16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1" y="0"/>
            <a:ext cx="4572000" cy="1700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Группа 34"/>
          <p:cNvGrpSpPr/>
          <p:nvPr/>
        </p:nvGrpSpPr>
        <p:grpSpPr>
          <a:xfrm>
            <a:off x="0" y="5505450"/>
            <a:ext cx="3238500" cy="1352550"/>
            <a:chOff x="0" y="5085184"/>
            <a:chExt cx="3238500" cy="1352550"/>
          </a:xfrm>
        </p:grpSpPr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5085184"/>
              <a:ext cx="3238500" cy="1352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Блок-схема: ИЛИ 10"/>
            <p:cNvSpPr/>
            <p:nvPr/>
          </p:nvSpPr>
          <p:spPr>
            <a:xfrm>
              <a:off x="611560" y="5445224"/>
              <a:ext cx="144016" cy="144016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Блок-схема: ИЛИ 11"/>
            <p:cNvSpPr/>
            <p:nvPr/>
          </p:nvSpPr>
          <p:spPr>
            <a:xfrm>
              <a:off x="539552" y="5661248"/>
              <a:ext cx="144016" cy="144016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Блок-схема: ИЛИ 12"/>
            <p:cNvSpPr/>
            <p:nvPr/>
          </p:nvSpPr>
          <p:spPr>
            <a:xfrm>
              <a:off x="827584" y="5517232"/>
              <a:ext cx="144016" cy="144016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Блок-схема: ИЛИ 13"/>
            <p:cNvSpPr/>
            <p:nvPr/>
          </p:nvSpPr>
          <p:spPr>
            <a:xfrm>
              <a:off x="539552" y="5949280"/>
              <a:ext cx="144016" cy="144016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Блок-схема: ИЛИ 14"/>
            <p:cNvSpPr/>
            <p:nvPr/>
          </p:nvSpPr>
          <p:spPr>
            <a:xfrm>
              <a:off x="899592" y="6021288"/>
              <a:ext cx="144016" cy="144016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Блок-схема: ИЛИ 15"/>
            <p:cNvSpPr/>
            <p:nvPr/>
          </p:nvSpPr>
          <p:spPr>
            <a:xfrm>
              <a:off x="1115616" y="5805264"/>
              <a:ext cx="144016" cy="144016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Блок-схема: ИЛИ 16"/>
            <p:cNvSpPr/>
            <p:nvPr/>
          </p:nvSpPr>
          <p:spPr>
            <a:xfrm>
              <a:off x="395536" y="5373216"/>
              <a:ext cx="144016" cy="144016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Блок-схема: ИЛИ 17"/>
            <p:cNvSpPr/>
            <p:nvPr/>
          </p:nvSpPr>
          <p:spPr>
            <a:xfrm>
              <a:off x="323528" y="5805264"/>
              <a:ext cx="144016" cy="144016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Блок-схема: узел 18"/>
            <p:cNvSpPr/>
            <p:nvPr/>
          </p:nvSpPr>
          <p:spPr>
            <a:xfrm>
              <a:off x="2339752" y="5373216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  <p:sp>
          <p:nvSpPr>
            <p:cNvPr id="24" name="Блок-схема: узел 23"/>
            <p:cNvSpPr/>
            <p:nvPr/>
          </p:nvSpPr>
          <p:spPr>
            <a:xfrm>
              <a:off x="2627784" y="5589240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  <p:sp>
          <p:nvSpPr>
            <p:cNvPr id="25" name="Блок-схема: узел 24"/>
            <p:cNvSpPr/>
            <p:nvPr/>
          </p:nvSpPr>
          <p:spPr>
            <a:xfrm>
              <a:off x="2627784" y="5373216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  <p:sp>
          <p:nvSpPr>
            <p:cNvPr id="26" name="Блок-схема: узел 25"/>
            <p:cNvSpPr/>
            <p:nvPr/>
          </p:nvSpPr>
          <p:spPr>
            <a:xfrm>
              <a:off x="2555776" y="5805264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  <p:sp>
          <p:nvSpPr>
            <p:cNvPr id="27" name="Блок-схема: узел 26"/>
            <p:cNvSpPr/>
            <p:nvPr/>
          </p:nvSpPr>
          <p:spPr>
            <a:xfrm>
              <a:off x="2051720" y="5733256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  <p:sp>
          <p:nvSpPr>
            <p:cNvPr id="28" name="Блок-схема: узел 27"/>
            <p:cNvSpPr/>
            <p:nvPr/>
          </p:nvSpPr>
          <p:spPr>
            <a:xfrm>
              <a:off x="2051720" y="5949280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  <p:sp>
          <p:nvSpPr>
            <p:cNvPr id="29" name="Блок-схема: узел 28"/>
            <p:cNvSpPr/>
            <p:nvPr/>
          </p:nvSpPr>
          <p:spPr>
            <a:xfrm>
              <a:off x="2627784" y="6021288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  <p:sp>
          <p:nvSpPr>
            <p:cNvPr id="30" name="Блок-схема: узел 29"/>
            <p:cNvSpPr/>
            <p:nvPr/>
          </p:nvSpPr>
          <p:spPr>
            <a:xfrm>
              <a:off x="2339752" y="6021288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  <p:sp>
          <p:nvSpPr>
            <p:cNvPr id="31" name="Блок-схема: узел 30"/>
            <p:cNvSpPr/>
            <p:nvPr/>
          </p:nvSpPr>
          <p:spPr>
            <a:xfrm>
              <a:off x="2195736" y="5517232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  <p:sp>
          <p:nvSpPr>
            <p:cNvPr id="32" name="Блок-схема: узел 31"/>
            <p:cNvSpPr/>
            <p:nvPr/>
          </p:nvSpPr>
          <p:spPr>
            <a:xfrm>
              <a:off x="1907704" y="6021288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  <p:sp>
          <p:nvSpPr>
            <p:cNvPr id="33" name="Блок-схема: узел 32"/>
            <p:cNvSpPr/>
            <p:nvPr/>
          </p:nvSpPr>
          <p:spPr>
            <a:xfrm>
              <a:off x="1907704" y="5661248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</p:grp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47864" y="5233789"/>
            <a:ext cx="2808312" cy="162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28184" y="5229200"/>
            <a:ext cx="2746995" cy="16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" name="Номер слайда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3337D-4521-475E-A86D-AB608776E4E4}" type="slidenum">
              <a:rPr lang="ru-RU" smtClean="0"/>
              <a:pPr/>
              <a:t>5</a:t>
            </a:fld>
            <a:endParaRPr lang="ru-RU"/>
          </a:p>
        </p:txBody>
      </p:sp>
      <p:pic>
        <p:nvPicPr>
          <p:cNvPr id="1034" name="slide_05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63888" y="274638"/>
            <a:ext cx="5122912" cy="1143000"/>
          </a:xfrm>
        </p:spPr>
        <p:txBody>
          <a:bodyPr/>
          <a:lstStyle/>
          <a:p>
            <a:r>
              <a:rPr lang="ru-RU" sz="3200" dirty="0" smtClean="0"/>
              <a:t>Биполярные и полевые транзисторы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844824"/>
            <a:ext cx="8964488" cy="5013176"/>
          </a:xfrm>
        </p:spPr>
        <p:txBody>
          <a:bodyPr/>
          <a:lstStyle/>
          <a:p>
            <a:pPr algn="just"/>
            <a:r>
              <a:rPr lang="ru-RU" sz="1800" dirty="0" smtClean="0"/>
              <a:t>Биполярные транзисторы управляются током. (коллектор, эмиттер, база.)</a:t>
            </a:r>
          </a:p>
          <a:p>
            <a:pPr algn="just"/>
            <a:r>
              <a:rPr lang="ru-RU" sz="1800" dirty="0" smtClean="0"/>
              <a:t>Биполярные транзисторы с общей базой позволяют усилить по напряжению.</a:t>
            </a:r>
          </a:p>
          <a:p>
            <a:pPr algn="just"/>
            <a:r>
              <a:rPr lang="ru-RU" sz="1800" dirty="0" smtClean="0"/>
              <a:t>С общим эмиттером усилить по току и напряжению</a:t>
            </a:r>
          </a:p>
          <a:p>
            <a:pPr algn="just"/>
            <a:r>
              <a:rPr lang="ru-RU" sz="1800" dirty="0" smtClean="0"/>
              <a:t>С общим коллектором усилить по току. </a:t>
            </a:r>
          </a:p>
          <a:p>
            <a:pPr algn="just"/>
            <a:r>
              <a:rPr lang="ru-RU" sz="1800" dirty="0" smtClean="0"/>
              <a:t>Полевой транзистор основан на управлении электрическим сопротивлением токопроводящего канала поперечным электрическим полем, создаваемым приложенным к затвору напряжением. (исток, сток, затвор). </a:t>
            </a:r>
          </a:p>
          <a:p>
            <a:pPr algn="just"/>
            <a:r>
              <a:rPr lang="ru-RU" sz="1800" dirty="0" smtClean="0"/>
              <a:t>За счёт того, что полевые транзисторы управляются полем (величиной напряжения приложенного к затвору), а не током, протекающим через базу (как в биполярных транзисторах), полевые транзисторы потребляют значительно меньше энергии, что особенно актуально в схемах ждущих и следящих устройств, а также в схемах малого потребления и энергосбережения (реализация спящих режимов). Обладают меньшим уровнем шума чем биполярные транзисторы, при тех же размерах могут оперировать большими мощностями, но ниже коэффициент усиления по напряжению по сравнению с биполярным. </a:t>
            </a:r>
          </a:p>
          <a:p>
            <a:endParaRPr lang="ru-RU" sz="1800" dirty="0"/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3817620" cy="1874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3337D-4521-475E-A86D-AB608776E4E4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6" name="slide_06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764704"/>
            <a:ext cx="5803265" cy="2770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Рисунок 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293096"/>
            <a:ext cx="5848350" cy="226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611560" y="3573016"/>
            <a:ext cx="72008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не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267744" y="3573016"/>
            <a:ext cx="129614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 smtClean="0"/>
              <a:t>Не-И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499992" y="3501008"/>
            <a:ext cx="129614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 smtClean="0"/>
              <a:t>Не-ИЛИ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228184" y="188640"/>
            <a:ext cx="291581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Если входное напряжение ниже определенного критического значения, транзистор выключается и действует как очень большое сопротивление. Это приводит к выходному сигналу, близкому к </a:t>
            </a:r>
            <a:r>
              <a:rPr lang="ru-RU" dirty="0" err="1"/>
              <a:t>Vcc</a:t>
            </a:r>
            <a:r>
              <a:rPr lang="ru-RU" dirty="0"/>
              <a:t> (напряжению, подаваемому извне), обычно +5 В для данного типа транзистора. Если входное напряжение превышает критическое значение, транзистор включается и действует как провод, вызывая заземление сигнала (по соглашению 0 В).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79512" y="0"/>
            <a:ext cx="5832648" cy="83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Элементы логики вычислительных систем</a:t>
            </a:r>
            <a:endParaRPr lang="ru-RU" dirty="0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12" name="slide_07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auto">
          <a:xfrm>
            <a:off x="3923928" y="260648"/>
            <a:ext cx="4968552" cy="3456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/>
          <p:cNvPicPr/>
          <p:nvPr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lumMod val="50000"/>
                <a:tint val="45000"/>
                <a:satMod val="400000"/>
              </a:schemeClr>
            </a:duotone>
          </a:blip>
          <a:stretch>
            <a:fillRect/>
          </a:stretch>
        </p:blipFill>
        <p:spPr bwMode="auto">
          <a:xfrm>
            <a:off x="179512" y="188640"/>
            <a:ext cx="3635896" cy="242088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рямоугольник 4"/>
          <p:cNvSpPr/>
          <p:nvPr/>
        </p:nvSpPr>
        <p:spPr>
          <a:xfrm>
            <a:off x="2627784" y="4293096"/>
            <a:ext cx="61206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На заре вычислительной техники диодная логика (ДЛ), а затем смешанная диодно-транзисторная логика (ДТЛ) были основой </a:t>
            </a:r>
            <a:r>
              <a:rPr lang="ru-RU" dirty="0" err="1"/>
              <a:t>схемотехники</a:t>
            </a:r>
            <a:r>
              <a:rPr lang="ru-RU" dirty="0"/>
              <a:t> цифровых узлов (в дискретном исполнении), но с появлением интегральных микросхем довольно быстро были вытеснены транзисторно-транзисторной логикой (ТТЛ), многочисленные варианты которой и по сей день "правят бал" в цифровой </a:t>
            </a:r>
            <a:r>
              <a:rPr lang="ru-RU" dirty="0" err="1"/>
              <a:t>схемотехнике</a:t>
            </a:r>
            <a:r>
              <a:rPr lang="ru-RU" dirty="0"/>
              <a:t>.</a:t>
            </a:r>
          </a:p>
        </p:txBody>
      </p:sp>
      <p:pic>
        <p:nvPicPr>
          <p:cNvPr id="6" name="Рисунок 5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504" y="2996952"/>
            <a:ext cx="2448272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8</a:t>
            </a:fld>
            <a:endParaRPr lang="ru-RU"/>
          </a:p>
        </p:txBody>
      </p:sp>
      <p:pic>
        <p:nvPicPr>
          <p:cNvPr id="8" name="slide_08.mp3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9552" y="188640"/>
            <a:ext cx="784887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КМОП</a:t>
            </a:r>
            <a:r>
              <a:rPr lang="ru-RU" dirty="0"/>
              <a:t> </a:t>
            </a:r>
            <a:endParaRPr lang="ru-RU" dirty="0" smtClean="0"/>
          </a:p>
          <a:p>
            <a:r>
              <a:rPr lang="ru-RU" dirty="0" err="1" smtClean="0"/>
              <a:t>Комплементарные</a:t>
            </a:r>
            <a:r>
              <a:rPr lang="ru-RU" dirty="0" smtClean="0"/>
              <a:t> </a:t>
            </a:r>
            <a:r>
              <a:rPr lang="ru-RU" dirty="0"/>
              <a:t>полевые транзисторы со структурой металл-окисел-полупроводник</a:t>
            </a:r>
            <a:r>
              <a:rPr lang="ru-RU" dirty="0" smtClean="0"/>
              <a:t>. (окисел – диэлектрик </a:t>
            </a:r>
            <a:r>
              <a:rPr lang="en-US" dirty="0" smtClean="0"/>
              <a:t>SiO2 - </a:t>
            </a:r>
            <a:r>
              <a:rPr lang="ru-RU" dirty="0" smtClean="0"/>
              <a:t>стекло)</a:t>
            </a:r>
            <a:endParaRPr lang="ru-RU" dirty="0"/>
          </a:p>
          <a:p>
            <a:r>
              <a:rPr lang="ru-RU" dirty="0" err="1"/>
              <a:t>Комплементарный</a:t>
            </a:r>
            <a:r>
              <a:rPr lang="ru-RU" dirty="0"/>
              <a:t> - взаимно дополняющий. Так называют пару транзисторов, сходных по параметрам, но противоположных по структуре, например </a:t>
            </a:r>
            <a:r>
              <a:rPr lang="ru-RU" dirty="0" err="1"/>
              <a:t>n-p-n</a:t>
            </a:r>
            <a:r>
              <a:rPr lang="ru-RU" dirty="0"/>
              <a:t> и </a:t>
            </a:r>
            <a:r>
              <a:rPr lang="ru-RU" dirty="0" err="1"/>
              <a:t>p-n-p</a:t>
            </a:r>
            <a:r>
              <a:rPr lang="ru-RU" dirty="0"/>
              <a:t> для биполярных и p-канальные и n-канальные для униполярных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852936"/>
            <a:ext cx="4099069" cy="3501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Прямая со стрелкой 4"/>
          <p:cNvCxnSpPr/>
          <p:nvPr/>
        </p:nvCxnSpPr>
        <p:spPr>
          <a:xfrm flipH="1">
            <a:off x="2699792" y="4725144"/>
            <a:ext cx="144016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851920" y="4293096"/>
            <a:ext cx="1080120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Полупроводник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139952" y="198884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Затвор</a:t>
            </a:r>
            <a:r>
              <a:rPr lang="ru-RU" dirty="0"/>
              <a:t> </a:t>
            </a:r>
            <a:r>
              <a:rPr lang="ru-RU" dirty="0" smtClean="0"/>
              <a:t>изолирован </a:t>
            </a:r>
            <a:r>
              <a:rPr lang="ru-RU" dirty="0"/>
              <a:t>от всех выводов транзистора, поэтому </a:t>
            </a:r>
            <a:r>
              <a:rPr lang="ru-RU" dirty="0" err="1"/>
              <a:t>МОП-транзистор</a:t>
            </a:r>
            <a:r>
              <a:rPr lang="ru-RU" dirty="0"/>
              <a:t> также называют транзистором с изолированным затвором</a:t>
            </a:r>
            <a:r>
              <a:rPr lang="ru-RU" dirty="0" smtClean="0"/>
              <a:t>. Возникновение </a:t>
            </a:r>
            <a:r>
              <a:rPr lang="en-US" dirty="0" smtClean="0"/>
              <a:t>n – </a:t>
            </a:r>
            <a:r>
              <a:rPr lang="ru-RU" dirty="0" smtClean="0"/>
              <a:t>канала. </a:t>
            </a:r>
            <a:endParaRPr lang="ru-RU" dirty="0"/>
          </a:p>
        </p:txBody>
      </p:sp>
      <p:pic>
        <p:nvPicPr>
          <p:cNvPr id="11" name="Рисунок 10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064" y="3501008"/>
            <a:ext cx="3995936" cy="3356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12" name="slide_09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32656"/>
            <a:ext cx="2267744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Рисунок 2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63888" y="548680"/>
            <a:ext cx="3096344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3419872" cy="4046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 –</a:t>
            </a:r>
            <a:r>
              <a:rPr lang="ru-RU" dirty="0" smtClean="0"/>
              <a:t> канальный транзистор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563888" y="0"/>
            <a:ext cx="30243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  <a:r>
              <a:rPr lang="en-US" dirty="0" smtClean="0"/>
              <a:t> –</a:t>
            </a:r>
            <a:r>
              <a:rPr lang="ru-RU" dirty="0" smtClean="0"/>
              <a:t> канальный транзистор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365104"/>
            <a:ext cx="1801495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Прямоугольник 6"/>
          <p:cNvSpPr/>
          <p:nvPr/>
        </p:nvSpPr>
        <p:spPr>
          <a:xfrm>
            <a:off x="323528" y="6525344"/>
            <a:ext cx="1296144" cy="3326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Не</a:t>
            </a:r>
            <a:endParaRPr lang="ru-RU" dirty="0"/>
          </a:p>
        </p:txBody>
      </p:sp>
      <p:pic>
        <p:nvPicPr>
          <p:cNvPr id="8" name="Рисунок 7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4008" y="4149080"/>
            <a:ext cx="3839339" cy="2564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Прямоугольник 8"/>
          <p:cNvSpPr/>
          <p:nvPr/>
        </p:nvSpPr>
        <p:spPr>
          <a:xfrm>
            <a:off x="7668344" y="5301208"/>
            <a:ext cx="129614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 smtClean="0"/>
              <a:t>И-Не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835696" y="4293096"/>
            <a:ext cx="302433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подаче на вход логического «0», транзистор VT1 открывается, а VT2 закрывается, а при подаче логической «1» все произойдет наоборот – VT2 откроется, а VT1 закроется.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6660232" y="0"/>
            <a:ext cx="2483768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По сравнению с </a:t>
            </a:r>
            <a:r>
              <a:rPr lang="ru-RU" sz="1400" dirty="0" err="1"/>
              <a:t>р-канальным</a:t>
            </a:r>
            <a:r>
              <a:rPr lang="ru-RU" sz="1400" dirty="0"/>
              <a:t> у </a:t>
            </a:r>
            <a:r>
              <a:rPr lang="en-US" sz="1400" dirty="0"/>
              <a:t>n</a:t>
            </a:r>
            <a:r>
              <a:rPr lang="ru-RU" sz="1400" dirty="0"/>
              <a:t>-</a:t>
            </a:r>
            <a:r>
              <a:rPr lang="ru-RU" sz="1400" dirty="0" err="1"/>
              <a:t>кан-го</a:t>
            </a:r>
            <a:r>
              <a:rPr lang="ru-RU" sz="1400" dirty="0"/>
              <a:t> подложка </a:t>
            </a:r>
            <a:r>
              <a:rPr lang="ru-RU" sz="1400" dirty="0" err="1"/>
              <a:t>р-типа</a:t>
            </a:r>
            <a:r>
              <a:rPr lang="ru-RU" sz="1400" dirty="0"/>
              <a:t> (кремний, бедный электронами), в которой сделаны легированием </a:t>
            </a:r>
            <a:r>
              <a:rPr lang="ru-RU" sz="1400" dirty="0" err="1"/>
              <a:t>n+</a:t>
            </a:r>
            <a:r>
              <a:rPr lang="ru-RU" sz="1400" dirty="0"/>
              <a:t>, области истока и стока, обогащенные отрицательными носителями – электронами. Если на затвор подать высокий потенциал, канал транзистора замкнется, и от плюса источника напряжения в нулевой провод потечет ток стока, а выходное напряжение окажется на низком логическом уровне.</a:t>
            </a:r>
          </a:p>
        </p:txBody>
      </p:sp>
      <p:pic>
        <p:nvPicPr>
          <p:cNvPr id="12" name="Рисунок 11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2060848"/>
            <a:ext cx="3059832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14" name="slide_10.mp3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 noChangeArrowheads="1"/>
          </p:cNvSpPr>
          <p:nvPr/>
        </p:nvSpPr>
        <p:spPr bwMode="auto">
          <a:xfrm>
            <a:off x="0" y="0"/>
            <a:ext cx="9144000" cy="6555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Интегральная схема представляет собой кремний размером примерно 5x5 мм, на котором находится несколько вентилей. Маленькие интегральные схемы обычно помещаются в прямоугольные пластиковые или керамические корпуса размером от 5 до 15 мм в ширину и от 20 до 50 мм в длину. Вдоль длинных сторон располагается два параллельных ряда выводов около 5 мм в длину, которые можно втыкать в разъемы или впаивать в печатную плату. Каждый вывод соединяется с входом или выходом какого-нибудь вентиля, или с источником питания, или с «землей».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Корпус с двумя рядами выводов снаружи и интегральными схемами внутри официально называется двурядным корпусом (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Dual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Inline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Package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, сокращенно DIP), но все называют его микросхемой, стирая различие между куском кремния и корпусом, в который он помещается. Большинство корпусов имеют 14, 16, 18, 20, 22, 24, 28,40, 64 или 68 выводов. Для больших микросхем часто используются корпуса, у которых выводы расположены со всех четырех сторон или снизу. Микросхемы можно разделить на несколько классов с точки зрения количества вентилей, которые они содержат. Эта классификация, конечно, очень грубая, но иногда она может быть полезна: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   МИС (малая интегральная схема): от 1 до 10 вентилей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   СИС (средняя интегральная схема): от 1 до 100 вентилей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  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БИС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(большая интегральная схема): от 100 до 100 000 вентилей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   СБИС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(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сверхбольшая интегральная схема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): более 100 000 вентилей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41986" name="slide_11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198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3528" y="188640"/>
            <a:ext cx="84969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Триггер</a:t>
            </a:r>
            <a:r>
              <a:rPr lang="ru-RU" dirty="0"/>
              <a:t> — это запоминающий элемент с двумя (или более) устойчивыми состояниями, изменение которых происходит под действием входных сигналов и предназначен для хранения одного бита информации, то есть лог. 0 или лог. 1</a:t>
            </a:r>
            <a:r>
              <a:rPr lang="ru-RU" dirty="0" smtClean="0"/>
              <a:t>. Пример </a:t>
            </a:r>
            <a:r>
              <a:rPr lang="en-US" dirty="0" smtClean="0"/>
              <a:t>RS – </a:t>
            </a:r>
            <a:r>
              <a:rPr lang="ru-RU" dirty="0" smtClean="0"/>
              <a:t>триггера (</a:t>
            </a:r>
            <a:r>
              <a:rPr lang="en-US" dirty="0" smtClean="0"/>
              <a:t>Reset - Set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700808"/>
            <a:ext cx="1801495" cy="1545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Рисунок 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11760" y="1628800"/>
            <a:ext cx="1847215" cy="171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5004048" y="1772816"/>
          <a:ext cx="2448272" cy="1402080"/>
        </p:xfrm>
        <a:graphic>
          <a:graphicData uri="http://schemas.openxmlformats.org/drawingml/2006/table">
            <a:tbl>
              <a:tblPr/>
              <a:tblGrid>
                <a:gridCol w="491495"/>
                <a:gridCol w="391171"/>
                <a:gridCol w="782343"/>
                <a:gridCol w="783263"/>
              </a:tblGrid>
              <a:tr h="2736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S  </a:t>
                      </a:r>
                      <a:endParaRPr lang="ru-RU" sz="1600" dirty="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 R  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Q(t) 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Q(t)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6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0 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1 </a:t>
                      </a:r>
                      <a:endParaRPr lang="ru-RU" sz="1600" dirty="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0 </a:t>
                      </a:r>
                      <a:endParaRPr lang="ru-RU" sz="1600" dirty="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</a:tr>
              <a:tr h="2736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1 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0 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1 </a:t>
                      </a:r>
                      <a:endParaRPr lang="ru-RU" sz="1600" dirty="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ru-RU" sz="1600" dirty="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36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0 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0 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Q(t-1) 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Q(t-1)</a:t>
                      </a:r>
                      <a:endParaRPr lang="ru-RU" sz="1600" dirty="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</a:tr>
              <a:tr h="2736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1 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1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1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0" y="3212976"/>
            <a:ext cx="896448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D-триггер </a:t>
            </a:r>
            <a:r>
              <a:rPr lang="ru-RU" dirty="0"/>
              <a:t>(D - </a:t>
            </a:r>
            <a:r>
              <a:rPr lang="ru-RU" dirty="0" err="1"/>
              <a:t>delay</a:t>
            </a:r>
            <a:r>
              <a:rPr lang="ru-RU" dirty="0"/>
              <a:t> — задержка, либо от </a:t>
            </a:r>
            <a:r>
              <a:rPr lang="ru-RU" dirty="0" err="1"/>
              <a:t>data</a:t>
            </a:r>
            <a:r>
              <a:rPr lang="ru-RU" dirty="0"/>
              <a:t> — данные) — запоминает состояние входа и выдаёт его на выход. D-триггеры имеют, как минимум, два входа: информационный D и синхронизации С. Вход синхронизации С может быть статическим (потенциальным) и динамическим. У триггеров со статическим входом С информация записывается в течение времени, при котором уровень сигнала C=1. В триггерах с динамическим входом С информация записывается только в течение перепада напряжения на входе С.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79512" y="5229200"/>
            <a:ext cx="86409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Асинхронный Т-триггер </a:t>
            </a:r>
            <a:r>
              <a:rPr lang="ru-RU" dirty="0"/>
              <a:t>не имеет входа разрешения счёта — Т и переключается по каждому тактовому импульсу на входе С.</a:t>
            </a:r>
          </a:p>
          <a:p>
            <a:r>
              <a:rPr lang="ru-RU" dirty="0">
                <a:solidFill>
                  <a:srgbClr val="0070C0"/>
                </a:solidFill>
              </a:rPr>
              <a:t>Синхронный Т-триггер, </a:t>
            </a:r>
            <a:r>
              <a:rPr lang="ru-RU" dirty="0"/>
              <a:t>при единице на входе Т, по каждому такту на входе С изменяет своё логическое состояние на противоположное, и не изменяет выходное состояние при нуле на входе T.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9" name="slide_12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84784"/>
            <a:ext cx="2880320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Рисунок 2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1920" y="2276872"/>
            <a:ext cx="4824536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Прямоугольник 3"/>
          <p:cNvSpPr/>
          <p:nvPr/>
        </p:nvSpPr>
        <p:spPr>
          <a:xfrm>
            <a:off x="611560" y="332656"/>
            <a:ext cx="2448272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Регистр на </a:t>
            </a:r>
            <a:r>
              <a:rPr lang="en-US" dirty="0" smtClean="0"/>
              <a:t>D </a:t>
            </a:r>
            <a:r>
              <a:rPr lang="ru-RU" dirty="0" smtClean="0"/>
              <a:t>триггерах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436096" y="1412776"/>
            <a:ext cx="2448272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Счетчик на </a:t>
            </a:r>
            <a:r>
              <a:rPr lang="en-US" dirty="0" smtClean="0"/>
              <a:t>T </a:t>
            </a:r>
            <a:r>
              <a:rPr lang="ru-RU" dirty="0" smtClean="0"/>
              <a:t>триггерах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7" name="slide_13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484784"/>
            <a:ext cx="2592288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Рисунок 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1412776"/>
            <a:ext cx="3528392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251520" y="0"/>
            <a:ext cx="7200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0070C0"/>
                </a:solidFill>
              </a:rPr>
              <a:t>Шифратор. </a:t>
            </a:r>
            <a:r>
              <a:rPr lang="ru-RU" dirty="0" smtClean="0"/>
              <a:t>Принцип </a:t>
            </a:r>
            <a:r>
              <a:rPr lang="ru-RU" dirty="0"/>
              <a:t>работы шифратора заключается в том, что выходы z0, z1, …, zn−1 кодируют один из входов s0, s1, …, s2n−1 в двоичной системе счисления</a:t>
            </a:r>
            <a:r>
              <a:rPr lang="ru-RU" dirty="0" smtClean="0"/>
              <a:t>. </a:t>
            </a:r>
            <a:r>
              <a:rPr lang="ru-RU" dirty="0" smtClean="0">
                <a:solidFill>
                  <a:srgbClr val="0070C0"/>
                </a:solidFill>
              </a:rPr>
              <a:t>Дешифратор</a:t>
            </a:r>
            <a:r>
              <a:rPr lang="ru-RU" dirty="0" smtClean="0"/>
              <a:t> обратно преобразует двоичный код в соответствующую 1 на соответствующем по номеру выходе. 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67544" y="1916832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0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67544" y="2348880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0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467544" y="2780928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67544" y="3212976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0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419872" y="2132856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0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3419872" y="2852936"/>
            <a:ext cx="351656" cy="3516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0" y="1916832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0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2348880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0" y="2780928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3212976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3995936" y="1628800"/>
            <a:ext cx="351656" cy="3516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3275856" y="1628800"/>
            <a:ext cx="57606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01</a:t>
            </a:r>
            <a:endParaRPr lang="ru-RU" dirty="0"/>
          </a:p>
        </p:txBody>
      </p:sp>
      <p:pic>
        <p:nvPicPr>
          <p:cNvPr id="18" name="Рисунок 17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576" y="4077072"/>
            <a:ext cx="2495436" cy="263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Номер слайда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14</a:t>
            </a:fld>
            <a:endParaRPr lang="ru-RU"/>
          </a:p>
        </p:txBody>
      </p:sp>
      <p:pic>
        <p:nvPicPr>
          <p:cNvPr id="20" name="slide_14.mp3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4664"/>
            <a:ext cx="4408805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Прямоугольник 2"/>
          <p:cNvSpPr/>
          <p:nvPr/>
        </p:nvSpPr>
        <p:spPr>
          <a:xfrm>
            <a:off x="4049688" y="0"/>
            <a:ext cx="5094312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>
                <a:solidFill>
                  <a:srgbClr val="0070C0"/>
                </a:solidFill>
              </a:rPr>
              <a:t>Mультипле́ксор</a:t>
            </a:r>
            <a:r>
              <a:rPr lang="ru-RU" sz="2000" dirty="0"/>
              <a:t> — устройство, имеющее несколько сигнальных входов, один или более управляющих входов и один выход. Мультиплексор позволяет передавать сигнал с одного из входов на выход; при этом выбор желаемого входа осуществляется подачей соответствующей комбинации управляющих сигналов.</a:t>
            </a:r>
          </a:p>
          <a:p>
            <a:r>
              <a:rPr lang="ru-RU" sz="2000" dirty="0">
                <a:solidFill>
                  <a:srgbClr val="00B050"/>
                </a:solidFill>
              </a:rPr>
              <a:t>Мультиплексоры</a:t>
            </a:r>
            <a:r>
              <a:rPr lang="ru-RU" sz="2000" dirty="0"/>
              <a:t> могут использоваться для преобразования параллельного двоичного кода в последовательный. Для такого преобразования достаточно подать на информационные входы мультиплексора параллельный двоичный код, а сигналы на адресные входы подавать в такой последовательности, чтобы к выходу поочередно подключались входы, начиная с первого и заканчивая последним.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11560" y="4293096"/>
            <a:ext cx="2592288" cy="17281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 – двоичный адрес.</a:t>
            </a:r>
          </a:p>
          <a:p>
            <a:pPr algn="ctr"/>
            <a:r>
              <a:rPr lang="en-US" dirty="0" smtClean="0"/>
              <a:t>D – </a:t>
            </a:r>
            <a:r>
              <a:rPr lang="ru-RU" dirty="0" smtClean="0"/>
              <a:t>передаваемый канал.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6" name="slide_15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404664"/>
            <a:ext cx="3512820" cy="2118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Прямоугольник 3"/>
          <p:cNvSpPr/>
          <p:nvPr/>
        </p:nvSpPr>
        <p:spPr>
          <a:xfrm>
            <a:off x="4139952" y="548680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>
                <a:solidFill>
                  <a:srgbClr val="00B050"/>
                </a:solidFill>
              </a:rPr>
              <a:t>Демультиплексор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/>
              <a:t>— это логическое устройство, предназначенное для переключения сигнала с одного информационного входа на один из информационных выходов. Таким образом, </a:t>
            </a:r>
            <a:r>
              <a:rPr lang="ru-RU" dirty="0" err="1"/>
              <a:t>демультиплексор</a:t>
            </a:r>
            <a:r>
              <a:rPr lang="ru-RU" dirty="0"/>
              <a:t> в функциональном отношении противоположен мультиплексору. На схемах </a:t>
            </a:r>
            <a:r>
              <a:rPr lang="ru-RU" dirty="0" err="1"/>
              <a:t>демультиплексоры</a:t>
            </a:r>
            <a:r>
              <a:rPr lang="ru-RU" dirty="0"/>
              <a:t> обозначают через DMX или DMS.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16</a:t>
            </a:fld>
            <a:endParaRPr lang="ru-RU"/>
          </a:p>
        </p:txBody>
      </p:sp>
      <p:pic>
        <p:nvPicPr>
          <p:cNvPr id="6" name="slide_16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340768"/>
            <a:ext cx="5556572" cy="3268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Прямоугольник 2"/>
          <p:cNvSpPr/>
          <p:nvPr/>
        </p:nvSpPr>
        <p:spPr>
          <a:xfrm>
            <a:off x="6660232" y="1700808"/>
            <a:ext cx="2232248" cy="2736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Si – </a:t>
            </a:r>
            <a:r>
              <a:rPr lang="ru-RU" dirty="0" smtClean="0"/>
              <a:t>бит сложения по модулю два.</a:t>
            </a:r>
          </a:p>
          <a:p>
            <a:pPr algn="ctr"/>
            <a:r>
              <a:rPr lang="en-US" dirty="0" smtClean="0"/>
              <a:t>Pi – </a:t>
            </a:r>
            <a:r>
              <a:rPr lang="ru-RU" dirty="0" smtClean="0"/>
              <a:t>бит переноса.</a:t>
            </a:r>
          </a:p>
          <a:p>
            <a:pPr algn="ctr"/>
            <a:r>
              <a:rPr lang="ru-RU" dirty="0" smtClean="0">
                <a:solidFill>
                  <a:srgbClr val="00B050"/>
                </a:solidFill>
              </a:rPr>
              <a:t>Схема сумматора.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17</a:t>
            </a:fld>
            <a:endParaRPr lang="ru-RU"/>
          </a:p>
        </p:txBody>
      </p:sp>
      <p:pic>
        <p:nvPicPr>
          <p:cNvPr id="5" name="slide_17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/>
              <a:t>Персональный компьютер типа IBM PC 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8893175" cy="5257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sz="2400"/>
              <a:t>Одним из революционных достижений в области вычислительной техники явилось создание на основе микропроцессоров персональных ЭВМ, которые можно отнести к отдельному классу машин четвертого поколения. Первый персональный компьютер «</a:t>
            </a:r>
            <a:r>
              <a:rPr lang="en-US" sz="2400"/>
              <a:t>Altair</a:t>
            </a:r>
            <a:r>
              <a:rPr lang="ru-RU" sz="2400"/>
              <a:t>-8800» (Эдвард Робертс, фирма MITS) на базе микропроцессора </a:t>
            </a:r>
            <a:r>
              <a:rPr lang="en-US" sz="2400"/>
              <a:t>Intel</a:t>
            </a:r>
            <a:r>
              <a:rPr lang="ru-RU" sz="2400"/>
              <a:t> 8080 с тактовой частотой 2 Мгц и оперативной памятью 256 байт появился в США в 1975 году. Он продавался за 397 долл. в виде комплекта, из которого любой немного сведущий в электронике мог собрать действующую машину (правда, без дисплея). </a:t>
            </a:r>
            <a:br>
              <a:rPr lang="ru-RU" sz="2400"/>
            </a:br>
            <a:r>
              <a:rPr lang="ru-RU" sz="2400">
                <a:solidFill>
                  <a:schemeClr val="hlink"/>
                </a:solidFill>
              </a:rPr>
              <a:t>Два молодых человека – Пол Аллен и Уильям Гейтс сумели извлечь немалую выгоду из выпуска ПК «</a:t>
            </a:r>
            <a:r>
              <a:rPr lang="en-US" sz="2400">
                <a:solidFill>
                  <a:schemeClr val="hlink"/>
                </a:solidFill>
              </a:rPr>
              <a:t>Altair</a:t>
            </a:r>
            <a:r>
              <a:rPr lang="ru-RU" sz="2400">
                <a:solidFill>
                  <a:schemeClr val="hlink"/>
                </a:solidFill>
              </a:rPr>
              <a:t>», написав для него конкретную реализацию языка программирования Basic. В этом же 1975 году они организовали свою фирму – «Microsoft».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3337D-4521-475E-A86D-AB608776E4E4}" type="slidenum">
              <a:rPr lang="ru-RU" smtClean="0"/>
              <a:pPr/>
              <a:t>18</a:t>
            </a:fld>
            <a:endParaRPr lang="ru-RU"/>
          </a:p>
        </p:txBody>
      </p:sp>
      <p:pic>
        <p:nvPicPr>
          <p:cNvPr id="16388" name="slide_18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38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1" name="Rectangle 33"/>
          <p:cNvSpPr>
            <a:spLocks noChangeArrowheads="1"/>
          </p:cNvSpPr>
          <p:nvPr/>
        </p:nvSpPr>
        <p:spPr bwMode="auto">
          <a:xfrm>
            <a:off x="179388" y="636588"/>
            <a:ext cx="8964612" cy="558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342900"/>
            <a:r>
              <a:rPr lang="ru-RU"/>
              <a:t>Но широкую дорогу новой индустрии – промышленному производству персональных компьютеров открыла фирма «</a:t>
            </a:r>
            <a:r>
              <a:rPr lang="en-US"/>
              <a:t>Apple</a:t>
            </a:r>
            <a:r>
              <a:rPr lang="ru-RU"/>
              <a:t>» (Стефен Возняк и Стивен Джобс), наладив производство ПК «</a:t>
            </a:r>
            <a:r>
              <a:rPr lang="en-US"/>
              <a:t>Apple</a:t>
            </a:r>
            <a:r>
              <a:rPr lang="ru-RU"/>
              <a:t>-2» в 1977 году.</a:t>
            </a:r>
          </a:p>
          <a:p>
            <a:pPr indent="342900"/>
            <a:r>
              <a:rPr lang="ru-RU"/>
              <a:t>Новая эпоха персональных компьютеров началась с 1981 года. 12 августа 1981 года на рынок ПК вышла корпорация </a:t>
            </a:r>
            <a:r>
              <a:rPr lang="en-US"/>
              <a:t>IBM</a:t>
            </a:r>
            <a:r>
              <a:rPr lang="ru-RU"/>
              <a:t> (</a:t>
            </a:r>
            <a:r>
              <a:rPr lang="en-US"/>
              <a:t>International Business Machines</a:t>
            </a:r>
            <a:r>
              <a:rPr lang="ru-RU"/>
              <a:t>) со своей моделью </a:t>
            </a:r>
            <a:r>
              <a:rPr lang="en-US"/>
              <a:t>IBM PC</a:t>
            </a:r>
            <a:r>
              <a:rPr lang="ru-RU"/>
              <a:t>. (Отметим, что к этому времени рынок ПК в США составлял более 140 млн. долл.). Самой важной особенностью этого компьютера была так называемая </a:t>
            </a:r>
            <a:r>
              <a:rPr lang="ru-RU" i="1">
                <a:solidFill>
                  <a:srgbClr val="FF0000"/>
                </a:solidFill>
              </a:rPr>
              <a:t>открытая архитектура</a:t>
            </a:r>
            <a:r>
              <a:rPr lang="ru-RU"/>
              <a:t>, то есть возможность сборки ПК из комплектующих от разных производителей, а также возможность доукомплектования ПК в процессе эксплуатации. </a:t>
            </a:r>
          </a:p>
          <a:p>
            <a:pPr indent="342900"/>
            <a:r>
              <a:rPr lang="ru-RU"/>
              <a:t>В 1983 г. появился </a:t>
            </a:r>
            <a:r>
              <a:rPr lang="en-US"/>
              <a:t>PC</a:t>
            </a:r>
            <a:r>
              <a:rPr lang="ru-RU"/>
              <a:t>/</a:t>
            </a:r>
            <a:r>
              <a:rPr lang="en-US"/>
              <a:t>XT</a:t>
            </a:r>
            <a:r>
              <a:rPr lang="ru-RU"/>
              <a:t> с жестким 10 Мб диском, в 1984 г. – </a:t>
            </a:r>
            <a:r>
              <a:rPr lang="en-US"/>
              <a:t>PC</a:t>
            </a:r>
            <a:r>
              <a:rPr lang="ru-RU"/>
              <a:t>/</a:t>
            </a:r>
            <a:r>
              <a:rPr lang="en-US"/>
              <a:t>XT</a:t>
            </a:r>
            <a:r>
              <a:rPr lang="ru-RU"/>
              <a:t> на базе процессора </a:t>
            </a:r>
            <a:r>
              <a:rPr lang="en-US"/>
              <a:t>Intel</a:t>
            </a:r>
            <a:r>
              <a:rPr lang="ru-RU"/>
              <a:t> 80286 (6 МГц), в 1986 г. – ПК на базе 32-х разрядного процессора </a:t>
            </a:r>
            <a:r>
              <a:rPr lang="en-US"/>
              <a:t>Intel</a:t>
            </a:r>
            <a:r>
              <a:rPr lang="ru-RU"/>
              <a:t> 80386.</a:t>
            </a:r>
          </a:p>
          <a:p>
            <a:pPr indent="342900"/>
            <a:r>
              <a:rPr lang="ru-RU"/>
              <a:t>Кстати, первая советская персональная ЭВМ «Агат» появилась в 1982 году (НИИ вычислительных комплексов, М.А. Карцев). (8-разрядный процессор, 300 тыс. операций в секунду, оперативная память 64 Кб, постоянная память 16 Кб, внешняя память – накопитель на гибких магнитных дисках (109 Кб) и накопитель на магнитной ленте (бытовой магнитофон с кассетой МК-60)). Но серийный выпуск был организован только в 1985 году. Отметим, что в этом же году в СССР началось инициированное правительством движение по информатизации школ.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19</a:t>
            </a:fld>
            <a:endParaRPr lang="ru-RU"/>
          </a:p>
        </p:txBody>
      </p:sp>
      <p:pic>
        <p:nvPicPr>
          <p:cNvPr id="17442" name="slide_19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4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0" name="Picture 4" descr="370px-Motherboard_diagram_ru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350" y="17463"/>
            <a:ext cx="6481763" cy="6840537"/>
          </a:xfrm>
          <a:prstGeom prst="rect">
            <a:avLst/>
          </a:prstGeom>
          <a:noFill/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20</a:t>
            </a:fld>
            <a:endParaRPr lang="ru-RU"/>
          </a:p>
        </p:txBody>
      </p:sp>
      <p:pic>
        <p:nvPicPr>
          <p:cNvPr id="19461" name="slide_20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4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 descr="newbigplat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58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21</a:t>
            </a:fld>
            <a:endParaRPr lang="ru-RU"/>
          </a:p>
        </p:txBody>
      </p:sp>
      <p:pic>
        <p:nvPicPr>
          <p:cNvPr id="21509" name="slide_21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50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89" name="Group 157"/>
          <p:cNvGraphicFramePr>
            <a:graphicFrameLocks noGrp="1"/>
          </p:cNvGraphicFramePr>
          <p:nvPr/>
        </p:nvGraphicFramePr>
        <p:xfrm>
          <a:off x="0" y="260350"/>
          <a:ext cx="9144000" cy="4572000"/>
        </p:xfrm>
        <a:graphic>
          <a:graphicData uri="http://schemas.openxmlformats.org/drawingml/2006/table">
            <a:tbl>
              <a:tblPr/>
              <a:tblGrid>
                <a:gridCol w="2433638"/>
                <a:gridCol w="2611437"/>
                <a:gridCol w="4098925"/>
              </a:tblGrid>
              <a:tr h="1746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Основные параметры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IBM PC</a:t>
                      </a:r>
                      <a:r>
                        <a:rPr kumimoji="0" 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(1981 г.)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INTANT i7024XP (фирма Интант (Томск), ноябрь 2006 г.)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Цена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$3045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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$1150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ЦП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4,77 МГц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8088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2,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 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ГГц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Pentium 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ОЗУ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64 Кб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1024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Мб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Накопители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Гибкий диск на 160 Кб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HDD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на 160 Мб,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FDD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на 1,44 Мб, 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DVD RW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/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CD RW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Дисплей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11,5” монохромный текстовый монитор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19”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LCD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монитор с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TFT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-матрицей 1280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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1024 пикс.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Другие свойства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Параллельный порт для касс. магнитофона, 2” встроенный динамик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 портов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USB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видеоплата с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DVI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TV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out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и 256 Мб памятью, встроенный 6-канальный звук, 1 Гбит сетевой адаптер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ОС и требования к ОЗУ для работы ОС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MS DOS 1.0 (16 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Кб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Windows 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ХР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(256 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Мб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22</a:t>
            </a:fld>
            <a:endParaRPr lang="ru-RU"/>
          </a:p>
        </p:txBody>
      </p:sp>
      <p:pic>
        <p:nvPicPr>
          <p:cNvPr id="18590" name="slide_22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59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/>
          <a:lstStyle/>
          <a:p>
            <a:r>
              <a:rPr lang="ru-RU"/>
              <a:t>Микропроцессор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315200" y="0"/>
            <a:ext cx="1828800" cy="1943100"/>
            <a:chOff x="1881" y="5814"/>
            <a:chExt cx="2880" cy="3060"/>
          </a:xfrm>
        </p:grpSpPr>
        <p:pic>
          <p:nvPicPr>
            <p:cNvPr id="22533" name="Picture 5" descr="Prescott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881" y="5814"/>
              <a:ext cx="2880" cy="24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534" name="Text Box 6"/>
            <p:cNvSpPr txBox="1">
              <a:spLocks noChangeArrowheads="1"/>
            </p:cNvSpPr>
            <p:nvPr/>
          </p:nvSpPr>
          <p:spPr bwMode="auto">
            <a:xfrm>
              <a:off x="2421" y="8334"/>
              <a:ext cx="2030" cy="5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r>
                <a:rPr lang="ru-RU" sz="1200">
                  <a:solidFill>
                    <a:srgbClr val="000000"/>
                  </a:solidFill>
                  <a:latin typeface="Times New Roman" pitchFamily="18" charset="0"/>
                  <a:ea typeface="Mangal" pitchFamily="2"/>
                  <a:cs typeface="Mangal" pitchFamily="2"/>
                </a:rPr>
                <a:t>Процессор </a:t>
              </a:r>
              <a:endParaRPr lang="ru-RU"/>
            </a:p>
          </p:txBody>
        </p:sp>
      </p:grpSp>
      <p:sp>
        <p:nvSpPr>
          <p:cNvPr id="22842" name="Rectangle 314"/>
          <p:cNvSpPr>
            <a:spLocks noChangeArrowheads="1"/>
          </p:cNvSpPr>
          <p:nvPr/>
        </p:nvSpPr>
        <p:spPr bwMode="auto">
          <a:xfrm>
            <a:off x="274638" y="-10621963"/>
            <a:ext cx="311943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ru-RU" sz="1200">
                <a:solidFill>
                  <a:srgbClr val="000000"/>
                </a:solidFill>
                <a:ea typeface="Arial" charset="0"/>
                <a:cs typeface="Times New Roman" pitchFamily="18" charset="0"/>
              </a:rPr>
              <a:t>Количество транзисторов в процессорах </a:t>
            </a:r>
            <a:endParaRPr lang="ru-RU" sz="600">
              <a:ea typeface="Arial" charset="0"/>
              <a:cs typeface="Times New Roman" pitchFamily="18" charset="0"/>
            </a:endParaRPr>
          </a:p>
          <a:p>
            <a:pPr eaLnBrk="0" hangingPunct="0"/>
            <a:endParaRPr lang="ru-RU">
              <a:ea typeface="Arial" charset="0"/>
              <a:cs typeface="Times New Roman" pitchFamily="18" charset="0"/>
            </a:endParaRPr>
          </a:p>
        </p:txBody>
      </p:sp>
      <p:sp>
        <p:nvSpPr>
          <p:cNvPr id="22843" name="Rectangle 315"/>
          <p:cNvSpPr>
            <a:spLocks noChangeArrowheads="1"/>
          </p:cNvSpPr>
          <p:nvPr/>
        </p:nvSpPr>
        <p:spPr bwMode="auto">
          <a:xfrm>
            <a:off x="274638" y="-10621963"/>
            <a:ext cx="8594725" cy="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3180" name="Group 652"/>
          <p:cNvGraphicFramePr>
            <a:graphicFrameLocks noGrp="1"/>
          </p:cNvGraphicFramePr>
          <p:nvPr>
            <p:ph idx="1"/>
          </p:nvPr>
        </p:nvGraphicFramePr>
        <p:xfrm>
          <a:off x="468313" y="981075"/>
          <a:ext cx="8229600" cy="5813743"/>
        </p:xfrm>
        <a:graphic>
          <a:graphicData uri="http://schemas.openxmlformats.org/drawingml/2006/table">
            <a:tbl>
              <a:tblPr/>
              <a:tblGrid>
                <a:gridCol w="2892425"/>
                <a:gridCol w="2520950"/>
                <a:gridCol w="2816225"/>
              </a:tblGrid>
              <a:tr h="44926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Процессор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Год выпуска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Кол-во транзисторов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51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4004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1971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2 250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8008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1972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2 500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8080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1974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5 000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8086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1978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29 000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51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286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1982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120 000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Процессор 386™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1985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275 000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Процессор 486™ DX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1989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1 180 000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51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Процессор Pentium®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1993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100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000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Процессор Pentium II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1997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7 500 000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Процессор Pentium III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1999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24 000 000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51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Процессор Pentium 4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2000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42 000 000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Процессор Pentium 4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2001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60 000 000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Процессор Pentium 4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2002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90 000 000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Процессор Pentium 4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2003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120 000 000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51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Процессор Pentium 4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 XE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2004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Arial" charset="0"/>
                          <a:cs typeface="Times New Roman" pitchFamily="18" charset="0"/>
                        </a:rPr>
                        <a:t>178 000 000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Broadwell, 14нм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2014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1 900 000 000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FF53-609C-4890-836E-AB3355CC0B24}" type="slidenum">
              <a:rPr lang="ru-RU" smtClean="0"/>
              <a:pPr/>
              <a:t>23</a:t>
            </a:fld>
            <a:endParaRPr lang="ru-RU"/>
          </a:p>
        </p:txBody>
      </p:sp>
      <p:pic>
        <p:nvPicPr>
          <p:cNvPr id="23181" name="slide_23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1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6" name="Picture 4" descr="opimage0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340768"/>
            <a:ext cx="5976938" cy="143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468313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ru-RU" sz="4400">
                <a:solidFill>
                  <a:schemeClr val="tx2"/>
                </a:solidFill>
              </a:rPr>
              <a:t>Оперативная память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3284984"/>
            <a:ext cx="43924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RAM (random access memory)</a:t>
            </a:r>
          </a:p>
          <a:p>
            <a:r>
              <a:rPr lang="en-US" sz="2400" dirty="0" smtClean="0"/>
              <a:t>SRAM (static ram)</a:t>
            </a:r>
          </a:p>
          <a:p>
            <a:r>
              <a:rPr lang="en-US" sz="2400" dirty="0" smtClean="0"/>
              <a:t>DRAM (dynamic ram)</a:t>
            </a:r>
          </a:p>
          <a:p>
            <a:r>
              <a:rPr lang="en-US" sz="2400" dirty="0" smtClean="0"/>
              <a:t>SDRAM (synchronous dram)  </a:t>
            </a:r>
          </a:p>
          <a:p>
            <a:r>
              <a:rPr lang="en-US" sz="2400" dirty="0" smtClean="0"/>
              <a:t>DDR (double data rate)</a:t>
            </a:r>
            <a:endParaRPr lang="ru-RU" sz="2400" dirty="0"/>
          </a:p>
        </p:txBody>
      </p:sp>
      <p:cxnSp>
        <p:nvCxnSpPr>
          <p:cNvPr id="6" name="Прямая со стрелкой 5"/>
          <p:cNvCxnSpPr/>
          <p:nvPr/>
        </p:nvCxnSpPr>
        <p:spPr>
          <a:xfrm>
            <a:off x="5220072" y="4941168"/>
            <a:ext cx="29523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V="1">
            <a:off x="5220072" y="2996952"/>
            <a:ext cx="0" cy="19442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5436096" y="4581128"/>
            <a:ext cx="21602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5868144" y="4581128"/>
            <a:ext cx="21602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6372200" y="4581128"/>
            <a:ext cx="21602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6876256" y="4581128"/>
            <a:ext cx="21602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 flipV="1">
            <a:off x="5724128" y="4941168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 flipV="1">
            <a:off x="6228184" y="4941168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flipV="1">
            <a:off x="6732240" y="4941168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24</a:t>
            </a:fld>
            <a:endParaRPr lang="ru-RU"/>
          </a:p>
        </p:txBody>
      </p:sp>
      <p:pic>
        <p:nvPicPr>
          <p:cNvPr id="23558" name="slide_24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5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706438"/>
          </a:xfrm>
        </p:spPr>
        <p:txBody>
          <a:bodyPr/>
          <a:lstStyle/>
          <a:p>
            <a:pPr eaLnBrk="1" hangingPunct="1"/>
            <a:r>
              <a:rPr lang="ru-RU" sz="4000" smtClean="0"/>
              <a:t>Кэш память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2133600"/>
            <a:ext cx="8064500" cy="1150938"/>
          </a:xfrm>
        </p:spPr>
        <p:txBody>
          <a:bodyPr/>
          <a:lstStyle/>
          <a:p>
            <a:pPr eaLnBrk="1" hangingPunct="1"/>
            <a:r>
              <a:rPr lang="ru-RU" sz="2000" smtClean="0"/>
              <a:t>Кэш прямого доступа</a:t>
            </a:r>
          </a:p>
          <a:p>
            <a:pPr eaLnBrk="1" hangingPunct="1"/>
            <a:r>
              <a:rPr lang="ru-RU" sz="2000" smtClean="0"/>
              <a:t>Наборно-ассоциативный кэш</a:t>
            </a:r>
          </a:p>
          <a:p>
            <a:pPr eaLnBrk="1" hangingPunct="1"/>
            <a:r>
              <a:rPr lang="ru-RU" sz="2000" smtClean="0"/>
              <a:t>Ассоциативный кэш</a:t>
            </a:r>
          </a:p>
          <a:p>
            <a:pPr eaLnBrk="1" hangingPunct="1"/>
            <a:endParaRPr lang="ru-RU" sz="2000" smtClean="0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280988" y="692150"/>
            <a:ext cx="8863012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ru-RU"/>
              <a:t>Промежуточный буфер с быстрым доступом, содержащий информацию, которая может быть запрошена с наибольшей вероятностью. Доступ к данным в кэше осуществляется быстрее, чем выборка исходных данных из более медленной памяти или удаленного источника, однако её объём существенно ограничен по сравнению с хранилищем исходных данных.</a:t>
            </a:r>
          </a:p>
        </p:txBody>
      </p:sp>
      <p:pic>
        <p:nvPicPr>
          <p:cNvPr id="3077" name="Picture 5" descr="cache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619250" y="3357563"/>
            <a:ext cx="6551613" cy="3276600"/>
          </a:xfrm>
          <a:noFill/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37BF36-D4CF-46F1-AFBC-06A887148B36}" type="slidenum">
              <a:rPr lang="ru-RU" smtClean="0"/>
              <a:pPr>
                <a:defRPr/>
              </a:pPr>
              <a:t>25</a:t>
            </a:fld>
            <a:endParaRPr lang="ru-RU"/>
          </a:p>
        </p:txBody>
      </p:sp>
      <p:pic>
        <p:nvPicPr>
          <p:cNvPr id="3078" name="slide_25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7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mtClean="0"/>
              <a:t>Ассоциативный  кэш</a:t>
            </a:r>
          </a:p>
        </p:txBody>
      </p:sp>
      <p:pic>
        <p:nvPicPr>
          <p:cNvPr id="4099" name="Picture 4" descr="adress_match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124075" y="1196975"/>
            <a:ext cx="5545138" cy="5353050"/>
          </a:xfrm>
          <a:noFill/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EC346F-F062-4865-AA78-21B699532AE0}" type="slidenum">
              <a:rPr lang="ru-RU" smtClean="0"/>
              <a:pPr>
                <a:defRPr/>
              </a:pPr>
              <a:t>26</a:t>
            </a:fld>
            <a:endParaRPr lang="ru-RU"/>
          </a:p>
        </p:txBody>
      </p:sp>
      <p:pic>
        <p:nvPicPr>
          <p:cNvPr id="4100" name="slide_26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1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4" descr="line_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417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5" descr="line_mod_fla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700213"/>
            <a:ext cx="9144000" cy="157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6" descr="more_dat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388" y="4508500"/>
            <a:ext cx="8964612" cy="2163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5" name="Rectangle 7"/>
          <p:cNvSpPr>
            <a:spLocks noChangeArrowheads="1"/>
          </p:cNvSpPr>
          <p:nvPr/>
        </p:nvSpPr>
        <p:spPr bwMode="auto">
          <a:xfrm>
            <a:off x="179388" y="1268413"/>
            <a:ext cx="8569325" cy="5762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Возраст добавляется для удаления самой неиспользуемой строки в кэше</a:t>
            </a:r>
          </a:p>
        </p:txBody>
      </p:sp>
      <p:sp>
        <p:nvSpPr>
          <p:cNvPr id="5126" name="Rectangle 8"/>
          <p:cNvSpPr>
            <a:spLocks noChangeArrowheads="1"/>
          </p:cNvSpPr>
          <p:nvPr/>
        </p:nvSpPr>
        <p:spPr bwMode="auto">
          <a:xfrm>
            <a:off x="0" y="3221038"/>
            <a:ext cx="9144000" cy="12001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ru-RU"/>
              <a:t>Бит модификации добавляется чтобы не забыть записать строку в ОЗУ, если она изменялась, при этом не была сброшена в ОЗУ. Не сбрасывается чтобы ускорить доступ если есть последовательные считывания и записи в ту же строку. Если есть сбрасывание сразу – называется сквозная запись.  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23B133-9196-4E31-ABCE-DFFD23D934D1}" type="slidenum">
              <a:rPr lang="ru-RU" smtClean="0"/>
              <a:pPr>
                <a:defRPr/>
              </a:pPr>
              <a:t>27</a:t>
            </a:fld>
            <a:endParaRPr lang="ru-RU"/>
          </a:p>
        </p:txBody>
      </p:sp>
      <p:pic>
        <p:nvPicPr>
          <p:cNvPr id="5127" name="slide_27.mp3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1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 smtClean="0"/>
              <a:t>Кэш прямого </a:t>
            </a:r>
            <a:r>
              <a:rPr lang="ru-RU" dirty="0" smtClean="0"/>
              <a:t>отображения</a:t>
            </a:r>
            <a:endParaRPr lang="ru-RU" dirty="0" smtClean="0"/>
          </a:p>
        </p:txBody>
      </p:sp>
      <p:pic>
        <p:nvPicPr>
          <p:cNvPr id="6147" name="Picture 4" descr="Pic_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763713" y="1341438"/>
            <a:ext cx="5545137" cy="4737100"/>
          </a:xfrm>
          <a:noFill/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EC346F-F062-4865-AA78-21B699532AE0}" type="slidenum">
              <a:rPr lang="ru-RU" smtClean="0"/>
              <a:pPr>
                <a:defRPr/>
              </a:pPr>
              <a:t>28</a:t>
            </a:fld>
            <a:endParaRPr lang="ru-RU"/>
          </a:p>
        </p:txBody>
      </p:sp>
      <p:pic>
        <p:nvPicPr>
          <p:cNvPr id="6148" name="slide_28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1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4" descr="CashDir"/>
          <p:cNvPicPr>
            <a:picLocks noChangeAspect="1" noChangeArrowheads="1"/>
          </p:cNvPicPr>
          <p:nvPr/>
        </p:nvPicPr>
        <p:blipFill>
          <a:blip r:embed="rId2" cstate="print"/>
          <a:srcRect b="7487"/>
          <a:stretch>
            <a:fillRect/>
          </a:stretch>
        </p:blipFill>
        <p:spPr bwMode="auto">
          <a:xfrm>
            <a:off x="0" y="0"/>
            <a:ext cx="9144000" cy="6577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23B133-9196-4E31-ABCE-DFFD23D934D1}" type="slidenum">
              <a:rPr lang="ru-RU" smtClean="0"/>
              <a:pPr>
                <a:defRPr/>
              </a:pPr>
              <a:t>29</a:t>
            </a:fld>
            <a:endParaRPr lang="ru-RU"/>
          </a:p>
        </p:txBody>
      </p:sp>
      <p:pic>
        <p:nvPicPr>
          <p:cNvPr id="7171" name="slide_29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17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/>
          <a:lstStyle/>
          <a:p>
            <a:pPr eaLnBrk="1" hangingPunct="1"/>
            <a:r>
              <a:rPr lang="ru-RU" smtClean="0"/>
              <a:t>Наборно-ассоциативный кэш</a:t>
            </a:r>
          </a:p>
        </p:txBody>
      </p:sp>
      <p:pic>
        <p:nvPicPr>
          <p:cNvPr id="8195" name="Picture 4" descr="Pic_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258888" y="1196975"/>
            <a:ext cx="5905500" cy="5111750"/>
          </a:xfrm>
          <a:noFill/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EC346F-F062-4865-AA78-21B699532AE0}" type="slidenum">
              <a:rPr lang="ru-RU" smtClean="0"/>
              <a:pPr>
                <a:defRPr/>
              </a:pPr>
              <a:t>30</a:t>
            </a:fld>
            <a:endParaRPr lang="ru-RU"/>
          </a:p>
        </p:txBody>
      </p:sp>
      <p:pic>
        <p:nvPicPr>
          <p:cNvPr id="8196" name="slide_30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19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4" descr="CashSeAs"/>
          <p:cNvPicPr>
            <a:picLocks noChangeAspect="1" noChangeArrowheads="1"/>
          </p:cNvPicPr>
          <p:nvPr/>
        </p:nvPicPr>
        <p:blipFill>
          <a:blip r:embed="rId2" cstate="print"/>
          <a:srcRect b="6435"/>
          <a:stretch>
            <a:fillRect/>
          </a:stretch>
        </p:blipFill>
        <p:spPr bwMode="auto">
          <a:xfrm>
            <a:off x="684213" y="0"/>
            <a:ext cx="7524750" cy="679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23B133-9196-4E31-ABCE-DFFD23D934D1}" type="slidenum">
              <a:rPr lang="ru-RU" smtClean="0"/>
              <a:pPr>
                <a:defRPr/>
              </a:pPr>
              <a:t>31</a:t>
            </a:fld>
            <a:endParaRPr lang="ru-RU"/>
          </a:p>
        </p:txBody>
      </p:sp>
      <p:pic>
        <p:nvPicPr>
          <p:cNvPr id="9219" name="slide_31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2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2537</Words>
  <Application>Microsoft Office PowerPoint</Application>
  <PresentationFormat>Экран (4:3)</PresentationFormat>
  <Paragraphs>240</Paragraphs>
  <Slides>31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2" baseType="lpstr">
      <vt:lpstr>Тема Office</vt:lpstr>
      <vt:lpstr>Основные элементы и принципы работы компьютерной техники по архитектуре фон Неймана</vt:lpstr>
      <vt:lpstr>Фотолитография — ключевой метод производства микросхем. Это процесс «печати» схемы на кремниевой пластине с помощью света.</vt:lpstr>
      <vt:lpstr>Технологический предел: Литография на пути к 2 нм и менее</vt:lpstr>
      <vt:lpstr>Что используется в архитектуре чипов 2 нм и менее?</vt:lpstr>
      <vt:lpstr>Полупроводниковая логика. P-N переход.</vt:lpstr>
      <vt:lpstr>Биполярные и полевые транзисторы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Персональный компьютер типа IBM PC </vt:lpstr>
      <vt:lpstr>Слайд 19</vt:lpstr>
      <vt:lpstr>Слайд 20</vt:lpstr>
      <vt:lpstr>Слайд 21</vt:lpstr>
      <vt:lpstr>Слайд 22</vt:lpstr>
      <vt:lpstr>Микропроцессор</vt:lpstr>
      <vt:lpstr>Слайд 24</vt:lpstr>
      <vt:lpstr>Кэш память</vt:lpstr>
      <vt:lpstr>Ассоциативный  кэш</vt:lpstr>
      <vt:lpstr>Слайд 27</vt:lpstr>
      <vt:lpstr>Кэш прямого отображения</vt:lpstr>
      <vt:lpstr>Слайд 29</vt:lpstr>
      <vt:lpstr>Наборно-ассоциативный кэш</vt:lpstr>
      <vt:lpstr>Слайд 31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Алекс Алексов</dc:creator>
  <cp:lastModifiedBy>Алекс Алексов</cp:lastModifiedBy>
  <cp:revision>5</cp:revision>
  <dcterms:created xsi:type="dcterms:W3CDTF">2026-10-22T15:00:56Z</dcterms:created>
  <dcterms:modified xsi:type="dcterms:W3CDTF">2026-10-22T15:16:30Z</dcterms:modified>
</cp:coreProperties>
</file>