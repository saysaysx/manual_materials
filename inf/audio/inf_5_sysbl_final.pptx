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media1.mp3" ContentType="audio/mpeg"/>
  <Override PartName="/ppt/media/media10.mp3" ContentType="audio/mpeg"/>
  <Override PartName="/ppt/media/media11.mp3" ContentType="audio/mpeg"/>
  <Override PartName="/ppt/media/media12.mp3" ContentType="audio/mpeg"/>
  <Override PartName="/ppt/media/media13.mp3" ContentType="audio/mpeg"/>
  <Override PartName="/ppt/media/media14.mp3" ContentType="audio/mpeg"/>
  <Override PartName="/ppt/media/media15.mp3" ContentType="audio/mpeg"/>
  <Override PartName="/ppt/media/media16.mp3" ContentType="audio/mpeg"/>
  <Override PartName="/ppt/media/media17.mp3" ContentType="audio/mpeg"/>
  <Override PartName="/ppt/media/media18.mp3" ContentType="audio/mpeg"/>
  <Override PartName="/ppt/media/media19.mp3" ContentType="audio/mpeg"/>
  <Override PartName="/ppt/media/media2.mp3" ContentType="audio/mpeg"/>
  <Override PartName="/ppt/media/media20.mp3" ContentType="audio/mpeg"/>
  <Override PartName="/ppt/media/media21.mp3" ContentType="audio/mpeg"/>
  <Override PartName="/ppt/media/media22.mp3" ContentType="audio/mpeg"/>
  <Override PartName="/ppt/media/media23.mp3" ContentType="audio/mpeg"/>
  <Override PartName="/ppt/media/media24.mp3" ContentType="audio/mpeg"/>
  <Override PartName="/ppt/media/media25.mp3" ContentType="audio/mpeg"/>
  <Override PartName="/ppt/media/media26.mp3" ContentType="audio/mpeg"/>
  <Override PartName="/ppt/media/media27.mp3" ContentType="audio/mpeg"/>
  <Override PartName="/ppt/media/media28.mp3" ContentType="audio/mpeg"/>
  <Override PartName="/ppt/media/media29.mp3" ContentType="audio/mpeg"/>
  <Override PartName="/ppt/media/media3.mp3" ContentType="audio/mpeg"/>
  <Override PartName="/ppt/media/media4.mp3" ContentType="audio/mpeg"/>
  <Override PartName="/ppt/media/media5.mp3" ContentType="audio/mpeg"/>
  <Override PartName="/ppt/media/media6.mp3" ContentType="audio/mpeg"/>
  <Override PartName="/ppt/media/media7.mp3" ContentType="audio/mpeg"/>
  <Override PartName="/ppt/media/media8.mp3" ContentType="audio/mpeg"/>
  <Override PartName="/ppt/media/media9.mp3" ContentType="audio/mpeg"/>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9144000" cy="6858000" type="screen4x3"/>
  <p:notesSz cx="6858000" cy="9144000"/>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p:cViewPr varScale="1">
        <p:scale>
          <a:sx n="63" d="100"/>
          <a:sy n="63" d="100"/>
        </p:scale>
        <p:origin x="-1457" y="-43"/>
      </p:cViewPr>
      <p:guideLst>
        <p:guide orient="horz" pos="2160"/>
        <p:guide pos="2880"/>
      </p:guideLst>
    </p:cSldViewPr>
  </p:slideViewPr>
  <p:notesTextViewPr>
    <p:cViewPr>
      <p:scale>
        <a:sx n="100" d="100"/>
        <a:sy n="100" d="100"/>
      </p:scale>
      <p:origin x="0" y="0"/>
    </p:cViewPr>
  </p:notesTextViewPr>
  <p:gridSpacing cx="73736200" cy="7373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 Id="rId35"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Добро пожаловать на лекцию о других устройствах системного блока IBM PC.</a:t>
            </a:r>
          </a:p>
          <a:p>
            <a:r>
              <a:t>В прошлых лекциях мы разобрали архитектуру компьютера, процессоры и память.</a:t>
            </a:r>
          </a:p>
          <a:p>
            <a:r>
              <a:t>Сегодня поговорим о том, как всё это соединяется между собой.</a:t>
            </a:r>
          </a:p>
          <a:p>
            <a:r>
              <a:t>Начнём с понятия шины — подсистемы передачи данных между функциональными блоками компьютера.</a:t>
            </a:r>
          </a:p>
          <a:p>
            <a:r>
              <a:t>Проследим эволюцию шин за 40 лет: от восьмибитной ISA до шестнадцатигигабитного PCI Express.</a:t>
            </a:r>
          </a:p>
          <a:p>
            <a:r>
              <a:t>Подробно разберём USB — универсальный последовательный интерфейс, его версии и вопросы безопасности.</a:t>
            </a:r>
          </a:p>
          <a:p>
            <a:r>
              <a:t>Завершим накопителями: ATA и SATA, устройство жёстких дисков, методы магнитной записи.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Компьютерная шина — подсистема, служащая для передачи данных между функциональными блоками компьютера.</a:t>
            </a:r>
          </a:p>
          <a:p>
            <a:r>
              <a:t>В отличие от соединения точка-точка, к шине обычно можно подключить несколько устройств</a:t>
            </a:r>
          </a:p>
          <a:p>
            <a:r>
              <a:t>по одному набору проводников.</a:t>
            </a:r>
          </a:p>
          <a:p>
            <a:r>
              <a:t>Каждая шина определяет свой набор коннекторов для физического подключения устройств, карт и кабелей.</a:t>
            </a:r>
          </a:p>
          <a:p>
            <a:r>
              <a:t>Компьютерные шины ранних вычислительных машин представляли собой жгуты —</a:t>
            </a:r>
          </a:p>
          <a:p>
            <a:r>
              <a:t>пучки соединительных проводов, сигнальных и питания, для компактности увязанных вместе.</a:t>
            </a:r>
          </a:p>
          <a:p>
            <a:r>
              <a:t>В современных системах термин используется для любых физических механизмов,</a:t>
            </a:r>
          </a:p>
          <a:p>
            <a:r>
              <a:t>предоставляющих такую же логическую функциональность.</a:t>
            </a:r>
          </a:p>
          <a:p>
            <a:r>
              <a:t>Современные шины используют как параллельные, так и последовательные соединения.</a:t>
            </a:r>
          </a:p>
          <a:p>
            <a:r>
              <a:t>Могут иметь параллельные (multidrop) и цепные (daisy chain) топологии.</a:t>
            </a:r>
          </a:p>
          <a:p>
            <a:r>
              <a:t>В случае USB и некоторых других шин могут также использоваться хабы-концентраторы.</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этом слайде — фотография материнской платы со слотами расширения.</a:t>
            </a:r>
          </a:p>
          <a:p>
            <a:r>
              <a:t>Сверху вниз: слоты PCI Express x4, x16, x1 и снова x16, они жёлтого цвета.</a:t>
            </a:r>
          </a:p>
          <a:p>
            <a:r>
              <a:t>Внизу — обычный 32-битный слот шины PCI, он чёрный.</a:t>
            </a:r>
          </a:p>
          <a:p>
            <a:r>
              <a:t>Слоты PCI Express разных размеров отличаются числом линий и пропускной способностью.</a:t>
            </a:r>
          </a:p>
          <a:p>
            <a:r>
              <a:t>Видеокарта обычно ставится в x16, звуковая карта или сетевая — в x1.</a:t>
            </a:r>
          </a:p>
          <a:p>
            <a:r>
              <a:t>Устройства PCI Express меньшего размера можно вставлять в большие слоты — это допускается стандартом.</a:t>
            </a:r>
          </a:p>
          <a:p>
            <a:r>
              <a:t>Обратите внимание, как на одной плате сосуществуют разные поколения: PCI Express и устаревший PCI.</a:t>
            </a:r>
          </a:p>
          <a:p>
            <a:r>
              <a:t>На современных платах PCI почти не встречается, но в промышленных и встраиваемых системах</a:t>
            </a:r>
          </a:p>
          <a:p>
            <a:r>
              <a:t>он ещё используется.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Шины бывают параллельными и последовательными.</a:t>
            </a:r>
          </a:p>
          <a:p>
            <a:r>
              <a:t>Параллельные: данные переносятся по словам, распределённым между несколькими проводниками.</a:t>
            </a:r>
          </a:p>
          <a:p>
            <a:r>
              <a:t>Последовательные: данные переносятся побитово по одной линии.</a:t>
            </a:r>
          </a:p>
          <a:p>
            <a:r>
              <a:t>Теоретически параллельная передача быстрее: за такт — целое слово.</a:t>
            </a:r>
          </a:p>
          <a:p>
            <a:r>
              <a:t>На практике с ростом частоты параллельные шины сталкиваются с проблемой синхронизации:</a:t>
            </a:r>
          </a:p>
          <a:p>
            <a:r>
              <a:t>сигналы по разным проводникам приходят с разной задержкой.</a:t>
            </a:r>
          </a:p>
          <a:p>
            <a:r>
              <a:t>На гигагерцах разница становится критичной.</a:t>
            </a:r>
          </a:p>
          <a:p>
            <a:r>
              <a:t>Большинство компьютеров имеет как внутренние, так и внешние шины.</a:t>
            </a:r>
          </a:p>
          <a:p>
            <a:r>
              <a:t>Внутренняя шина подключает все внутренние компоненты компьютера к материнской плате,</a:t>
            </a:r>
          </a:p>
          <a:p>
            <a:r>
              <a:t>и, следовательно, к процессору и памяти.</a:t>
            </a:r>
          </a:p>
          <a:p>
            <a:r>
              <a:t>Такой тип шин также называют локальной шиной.</a:t>
            </a:r>
          </a:p>
          <a:p>
            <a:r>
              <a:t>Внешняя шина подключает внешнюю периферию к материнской плате.</a:t>
            </a:r>
          </a:p>
          <a:p>
            <a:r>
              <a:t>Поэтому современные высокоскоростные интерфейсы — SATA, PCI Express, USB — последовательные.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ISA — Industry Standard Architecture, произносится ай-эс-эй.</a:t>
            </a:r>
          </a:p>
          <a:p>
            <a:r>
              <a:t>Восьми- или шестнадцатиразрядная шина ввода-вывода IBM PC-совместимых компьютеров.</a:t>
            </a:r>
          </a:p>
          <a:p>
            <a:r>
              <a:t>Служит для подключения плат расширения стандарта ISA.</a:t>
            </a:r>
          </a:p>
          <a:p>
            <a:r>
              <a:t>Конструктивно выполняется в виде 62- или 98-контактного разъёма на материнской плате.</a:t>
            </a:r>
          </a:p>
          <a:p>
            <a:r>
              <a:t>Впервые шина ISA появилась на компьютерах IBM PC в 1981 году.</a:t>
            </a:r>
          </a:p>
          <a:p>
            <a:r>
              <a:t>Это была восьмиразрядная шина с частотой до 8 мегагерц и скоростью передачи данных до 4 мегабайт в секунду.</a:t>
            </a:r>
          </a:p>
          <a:p>
            <a:r>
              <a:t>Передача каждого байта требовала минимум двух тактов шины.</a:t>
            </a:r>
          </a:p>
          <a:p>
            <a:r>
              <a:t>Разъём состоял из 62 контактов: 8 для данных, 20 для адреса,</a:t>
            </a:r>
          </a:p>
          <a:p>
            <a:r>
              <a:t>остальные для управляющих сигналов и питания — 5 и 12 вольт плюс и минус.</a:t>
            </a:r>
          </a:p>
          <a:p>
            <a:r>
              <a:t>В 1993 году Intel и Microsoft усовершенствовали шину в плане поддержки Plug and Play,</a:t>
            </a:r>
          </a:p>
          <a:p>
            <a:r>
              <a:t>явив миру ISA PnP, которая позволяла операционной системе самой определять ресурсы устройства.</a:t>
            </a:r>
          </a:p>
          <a:p>
            <a:r>
              <a:t>С середины 1990-х ISA на платах форм-фактора ATX стала вытесняться PCI.</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слайд — переходный, с минимальным содержимым.</a:t>
            </a:r>
          </a:p>
          <a:p>
            <a:r>
              <a:t>Переходим к следующей шине — EISA, которая стала ответом индустрии на проприетарную архитектуру IBM.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EISA — Extended Industry Standard Architecture.</a:t>
            </a:r>
          </a:p>
          <a:p>
            <a:r>
              <a:t>Шина для IBM-совместимых компьютеров.</a:t>
            </a:r>
          </a:p>
          <a:p>
            <a:r>
              <a:t>Была анонсирована в конце 1988 года консорциумом из девяти основных производителей</a:t>
            </a:r>
          </a:p>
          <a:p>
            <a:r>
              <a:t>IBM-совместимых компьютеров: Compaq, Hewlett-Packard, Epson, NEC, Olivetti, AST Research, Tandy, Wyse и Zenith.</a:t>
            </a:r>
          </a:p>
          <a:p>
            <a:r>
              <a:t>Это был ответ на введение фирмой IBM новой скоростной, но проприетарной шины MCA</a:t>
            </a:r>
          </a:p>
          <a:p>
            <a:r>
              <a:t>в компьютерах серии PS/2.</a:t>
            </a:r>
          </a:p>
          <a:p>
            <a:r>
              <a:t>EISA расширяет распространённую шину ISA до 32 разрядов</a:t>
            </a:r>
          </a:p>
          <a:p>
            <a:r>
              <a:t>и позволяет подключать к шине более одного процессора.</a:t>
            </a:r>
          </a:p>
          <a:p>
            <a:r>
              <a:t>Адресное пространство по сравнению с ISA увеличено до 4 гигабайт.</a:t>
            </a:r>
          </a:p>
          <a:p>
            <a:r>
              <a:t>Использование EISA было дорогостоящим, хотя и дешевле MCA,</a:t>
            </a:r>
          </a:p>
          <a:p>
            <a:r>
              <a:t>так что в персональных компьютерах она не получила распространения.</a:t>
            </a:r>
          </a:p>
          <a:p>
            <a:r>
              <a:t>Зато использовалась в серверах, где нужна большая пропускная способность:</a:t>
            </a:r>
          </a:p>
          <a:p>
            <a:r>
              <a:t>обмен с жёсткими дисками и работа в сети.</a:t>
            </a:r>
          </a:p>
          <a:p>
            <a:r>
              <a:t>История EISA — пример конкуренции открытых и проприетарных стандартов.</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Переходный слайд.</a:t>
            </a:r>
          </a:p>
          <a:p>
            <a:r>
              <a:t>Дальше рассмотрим локальные шины для видеоадаптеров — VESA local bus, PCI и AGP.</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VESA local bus, VL-Bus или VLB — тип локальной шины, разработанный ассоциацией VESA для ПК.</a:t>
            </a:r>
          </a:p>
          <a:p>
            <a:r>
              <a:t>По существу, это расширение внутренней шины микропроцессора Intel 80486</a:t>
            </a:r>
          </a:p>
          <a:p>
            <a:r>
              <a:t>для связи с видеоадаптером и реже с контроллером жёсткого диска.</a:t>
            </a:r>
          </a:p>
          <a:p>
            <a:r>
              <a:t>Реальная скорость передачи данных — 80 мегабайт в секунду, теоретически достижимая — 132.</a:t>
            </a:r>
          </a:p>
          <a:p>
            <a:r>
              <a:t>Разработана в 1992 году Ассоциацией стандартов видеооборудования, VESA.</a:t>
            </a:r>
          </a:p>
          <a:p>
            <a:r>
              <a:t>Главной целью была дешёвая альтернатива шинам MicroChannel и EISA,</a:t>
            </a:r>
          </a:p>
          <a:p>
            <a:r>
              <a:t>пригодная для внедрения в массовые настольные компьютеры.</a:t>
            </a:r>
          </a:p>
          <a:p>
            <a:r>
              <a:t>С этой ролью шина VLB успешно справилась.</a:t>
            </a:r>
          </a:p>
          <a:p>
            <a:r>
              <a:t>Было выпущено большое количество плат контроллеров на основе выпущенных ранее микросхем,</a:t>
            </a:r>
          </a:p>
          <a:p>
            <a:r>
              <a:t>работавших до этого с шиной ISA.</a:t>
            </a:r>
          </a:p>
          <a:p>
            <a:r>
              <a:t>Даже при 16-битной архитектуре мог быть получен выигрыш в 4 раза по тактовой частоте.</a:t>
            </a:r>
          </a:p>
          <a:p>
            <a:r>
              <a:t>С появлением шины PCI и процессоров Intel Pentium необходимость в VLB исчезла.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PCI — Peripheral Component Interconnect, дословно взаимосвязь периферийных компонентов.</a:t>
            </a:r>
          </a:p>
          <a:p>
            <a:r>
              <a:t>Шина ввода-вывода для подключения периферийных устройств к материнской плате компьютера.</a:t>
            </a:r>
          </a:p>
          <a:p>
            <a:r>
              <a:t>Стандарт на шину PCI определяет три группы параметров.</a:t>
            </a:r>
          </a:p>
          <a:p>
            <a:r>
              <a:t>Физические: разъёмы и разводка сигнальных линий.</a:t>
            </a:r>
          </a:p>
          <a:p>
            <a:r>
              <a:t>Электрические: напряжения питания и уровни сигналов.</a:t>
            </a:r>
          </a:p>
          <a:p>
            <a:r>
              <a:t>Логическая модель: типы циклов шины, адресация на шине.</a:t>
            </a:r>
          </a:p>
          <a:p>
            <a:r>
              <a:t>Развитием стандарта PCI занимается организация PCI Special Interest Group.</a:t>
            </a:r>
          </a:p>
          <a:p>
            <a:r>
              <a:t>Интерфейс широко применялся в бытовых компьютерах в период с 1995 по 2005 год.</a:t>
            </a:r>
          </a:p>
          <a:p>
            <a:r>
              <a:t>PCI стал первым по-настоящему массовым открытым стандартом шины расширения,</a:t>
            </a:r>
          </a:p>
          <a:p>
            <a:r>
              <a:t>и именно на нём выросла целая индустрия плат расширения — звуковых, сетевых, видео.</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История развития PCI.</a:t>
            </a:r>
          </a:p>
          <a:p>
            <a:r>
              <a:t>В 1992 году появляется первая версия шины PCI.</a:t>
            </a:r>
          </a:p>
          <a:p>
            <a:r>
              <a:t>Intel объявляет, что стандарт будет открытым, и создаёт PCI Special Interest Group.</a:t>
            </a:r>
          </a:p>
          <a:p>
            <a:r>
              <a:t>Благодаря этому любой заинтересованный разработчик получает возможность создавать устройства</a:t>
            </a:r>
          </a:p>
          <a:p>
            <a:r>
              <a:t>без приобретения лицензии.</a:t>
            </a:r>
          </a:p>
          <a:p>
            <a:r>
              <a:t>Первая версия имела тактовую частоту 33 мегагерца, могла быть 32- или 64-битной,</a:t>
            </a:r>
          </a:p>
          <a:p>
            <a:r>
              <a:t>устройства могли работать с сигналами 5 или 3,3 вольта.</a:t>
            </a:r>
          </a:p>
          <a:p>
            <a:r>
              <a:t>Теоретическая пропускная способность — 133 мегабайта в секунду, реальная — около 80.</a:t>
            </a:r>
          </a:p>
          <a:p>
            <a:r>
              <a:t>В 1995 году появляется версия PCI 2.1, ещё одно название — параллельная шина PCI.</a:t>
            </a:r>
          </a:p>
          <a:p>
            <a:r>
              <a:t>Она обеспечила частоту 66 мегагерц и максимальную скорость 533 мегабайта в секунду</a:t>
            </a:r>
          </a:p>
          <a:p>
            <a:r>
              <a:t>для 64-битного варианта.</a:t>
            </a:r>
          </a:p>
          <a:p>
            <a:r>
              <a:t>Эта шина уже была поддержана на уровне Windows 95, технология Plug and Play.</a:t>
            </a:r>
          </a:p>
          <a:p>
            <a:r>
              <a:t>Версия оказалась настолько популярной, что вскоре была перенесена на платформы</a:t>
            </a:r>
          </a:p>
          <a:p>
            <a:r>
              <a:t>Alpha, MIPS, PowerPC, SPARC.</a:t>
            </a:r>
          </a:p>
          <a:p>
            <a:r>
              <a:t>В 1997 году в связи с развитием компьютерной графики появилась шина AGP,</a:t>
            </a:r>
          </a:p>
          <a:p>
            <a:r>
              <a:t>и PCI перестала использоваться для видеокарт.</a:t>
            </a:r>
          </a:p>
          <a:p>
            <a:r>
              <a:t>В конце 2000-х PCI постепенно вытеснилась PCI Express и USB.</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AGP — Accelerated Graphics Port, ускоренный графический порт.</a:t>
            </a:r>
          </a:p>
          <a:p>
            <a:r>
              <a:t>Специализированная 32-разрядная системная шина для видеокарты, разработанная в 1996 году компанией Intel.</a:t>
            </a:r>
          </a:p>
          <a:p>
            <a:r>
              <a:t>Появилась одновременно с чипсетами для процессора Intel Pentium MMX.</a:t>
            </a:r>
          </a:p>
          <a:p>
            <a:r>
              <a:t>Основной задачей разработчиков было увеличение производительности и уменьшение стоимости видеокарты</a:t>
            </a:r>
          </a:p>
          <a:p>
            <a:r>
              <a:t>за счёт уменьшения количества встроенной видеопамяти.</a:t>
            </a:r>
          </a:p>
          <a:p>
            <a:r>
              <a:t>По замыслу Intel, большие объёмы видеопамяти для AGP-карт были бы не нужны,</a:t>
            </a:r>
          </a:p>
          <a:p>
            <a:r>
              <a:t>поскольку технология предусматривала высокоскоростной доступ к общей памяти.</a:t>
            </a:r>
          </a:p>
          <a:p>
            <a:r>
              <a:t>Отличия AGP от предшественницы, шины PCI.</a:t>
            </a:r>
          </a:p>
          <a:p>
            <a:r>
              <a:t>Работа на тактовой частоте 66 мегагерц, увеличенная пропускная способность,</a:t>
            </a:r>
          </a:p>
          <a:p>
            <a:r>
              <a:t>режим работы с памятью DMA и DME, разделение запросов на операцию и передачу данных,</a:t>
            </a:r>
          </a:p>
          <a:p>
            <a:r>
              <a:t>возможность использования видеокарт с большим энергопотреблением.</a:t>
            </a:r>
          </a:p>
          <a:p>
            <a:r>
              <a:t>С середины 2000-х материнские платы со слотами AGP практически не выпускаются,</a:t>
            </a:r>
          </a:p>
          <a:p>
            <a:r>
              <a:t>стандарт был повсеместно вытеснен более быстрым и универсальным PCI Express.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PCI Express, или PCIe, или PCI-E.</a:t>
            </a:r>
          </a:p>
          <a:p>
            <a:r>
              <a:t>Также известная как 3GIO for 3rd Generation I/O — не путать с PCI-X и PXI.</a:t>
            </a:r>
          </a:p>
          <a:p>
            <a:r>
              <a:t>Компьютерная шина, хотя на физическом уровне шиной не является,</a:t>
            </a:r>
          </a:p>
          <a:p>
            <a:r>
              <a:t>будучи соединением типа точка-точка.</a:t>
            </a:r>
          </a:p>
          <a:p>
            <a:r>
              <a:t>Использует программную модель шины PCI и высокопроизводительный физический протокол,</a:t>
            </a:r>
          </a:p>
          <a:p>
            <a:r>
              <a:t>основанный на последовательной передаче данных.</a:t>
            </a:r>
          </a:p>
          <a:p>
            <a:r>
              <a:t>В отличие от стандарта PCI, использовавшего общую шину с подключением параллельно нескольких устройств,</a:t>
            </a:r>
          </a:p>
          <a:p>
            <a:r>
              <a:t>PCI Express является пакетной сетью с топологией типа звезда.</a:t>
            </a:r>
          </a:p>
          <a:p>
            <a:r>
              <a:t>Устройства PCI Express взаимодействуют между собой через среду, образованную коммутаторами,</a:t>
            </a:r>
          </a:p>
          <a:p>
            <a:r>
              <a:t>при этом каждое устройство напрямую связано соединением точка-точка с коммутатором.</a:t>
            </a:r>
          </a:p>
          <a:p>
            <a:r>
              <a:t>Кроме того, шиной PCI Express поддерживается: горячая замена карт,</a:t>
            </a:r>
          </a:p>
          <a:p>
            <a:r>
              <a:t>гарантированная полоса пропускания QoS, управление энергопотреблением,</a:t>
            </a:r>
          </a:p>
          <a:p>
            <a:r>
              <a:t>контроль целостности передаваемых данных.</a:t>
            </a:r>
          </a:p>
          <a:p>
            <a:r>
              <a:t>PCIe 1.0 — 2,5 гигабита в секунду на линию, PCIe 2.0 — 5, PCIe 3.0 — 8 гигабит.</a:t>
            </a:r>
          </a:p>
          <a:p>
            <a:r>
              <a:t>С шестнадцатью линиями скорость достигает десятков гигабит в секунду.</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USB — Universal Serial Bus, универсальная последовательная шина.</a:t>
            </a:r>
          </a:p>
          <a:p>
            <a:r>
              <a:t>Произносится ю-эс-би.</a:t>
            </a:r>
          </a:p>
          <a:p>
            <a:r>
              <a:t>Последовательный интерфейс передачи данных для среднескоростных и низкоскоростных</a:t>
            </a:r>
          </a:p>
          <a:p>
            <a:r>
              <a:t>периферийных устройств в вычислительной технике.</a:t>
            </a:r>
          </a:p>
          <a:p>
            <a:r>
              <a:t>Сегодня это самый распространённый интерфейс в мире.</a:t>
            </a:r>
          </a:p>
          <a:p>
            <a:r>
              <a:t>Для подключения периферийных устройств к шине USB используется четырёхпроводной кабель.</a:t>
            </a:r>
          </a:p>
          <a:p>
            <a:r>
              <a:t>Два провода, витая пара, в дифференциальном включении используются для приёма и передачи данных.</a:t>
            </a:r>
          </a:p>
          <a:p>
            <a:r>
              <a:t>Два других провода — для питания периферийного устройства.</a:t>
            </a:r>
          </a:p>
          <a:p>
            <a:r>
              <a:t>Благодаря встроенным линиям питания USB позволяет подключать периферийные устройства</a:t>
            </a:r>
          </a:p>
          <a:p>
            <a:r>
              <a:t>без собственного источника питания.</a:t>
            </a:r>
          </a:p>
          <a:p>
            <a:r>
              <a:t>Максимальная сила тока по линиям питания шины USB не должна превышать 500 миллиампер,</a:t>
            </a:r>
          </a:p>
          <a:p>
            <a:r>
              <a:t>у USB 3.0 — 900 миллиампер, у USB 3.1 — до 5 ампер.</a:t>
            </a:r>
          </a:p>
          <a:p>
            <a:r>
              <a:t>На слайде — логотип USB: стилизованный трезубец с кругом, стрелкой и квадратом на концах.</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USB 1.0 — первая версия.</a:t>
            </a:r>
          </a:p>
          <a:p>
            <a:r>
              <a:t>Спецификация выпущена 15 января 1996 года.</a:t>
            </a:r>
          </a:p>
          <a:p>
            <a:r>
              <a:t>Два режима работы.</a:t>
            </a:r>
          </a:p>
          <a:p>
            <a:r>
              <a:t>Low-Speed, низкая пропускная способность — 1,5 мегабита в секунду.</a:t>
            </a:r>
          </a:p>
          <a:p>
            <a:r>
              <a:t>Full-Speed, высокая пропускная способность — 12 мегабит в секунду.</a:t>
            </a:r>
          </a:p>
          <a:p>
            <a:r>
              <a:t>Максимальная длина кабеля без экрана для режима Low-Speed — 3 метра.</a:t>
            </a:r>
          </a:p>
          <a:p>
            <a:r>
              <a:t>Максимальная длина кабеля в экране для режима Full-Speed — 5 метров.</a:t>
            </a:r>
          </a:p>
          <a:p>
            <a:r>
              <a:t>Максимальное количество подключённых устройств, включая размножители-хабы — 127.</a:t>
            </a:r>
          </a:p>
          <a:p>
            <a:r>
              <a:t>Возможно подключение разноскоростных периферийных устройств к одному контроллеру USB.</a:t>
            </a:r>
          </a:p>
          <a:p>
            <a:r>
              <a:t>Напряжение питания для периферийных устройств — 5 вольт.</a:t>
            </a:r>
          </a:p>
          <a:p>
            <a:r>
              <a:t>Максимальный ток, потребляемый периферийным устройством — 500 миллиампер.</a:t>
            </a:r>
          </a:p>
          <a:p>
            <a:r>
              <a:t>Несмотря на скромные по современным меркам скорости, USB 1.0 решил главную проблему:</a:t>
            </a:r>
          </a:p>
          <a:p>
            <a:r>
              <a:t>заменил разношёрстные последовательные и параллельные порты одним универсальным разъёмом.</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USB 2.0 и USB 3.0.</a:t>
            </a:r>
          </a:p>
          <a:p>
            <a:r>
              <a:t>Спецификация USB 2.0 выпущена в апреле 2000 года.</a:t>
            </a:r>
          </a:p>
          <a:p>
            <a:r>
              <a:t>Для устройств USB 2.0 регламентировано три режима работы.</a:t>
            </a:r>
          </a:p>
          <a:p>
            <a:r>
              <a:t>Low-Speed — от 10 до 1500 килобит в секунду, для клавиатур, мышей, джойстиков.</a:t>
            </a:r>
          </a:p>
          <a:p>
            <a:r>
              <a:t>Full-Speed — от 0,5 до 12 мегабит в секунду, для аудио- и видеоустройств.</a:t>
            </a:r>
          </a:p>
          <a:p>
            <a:r>
              <a:t>High-Speed — от 25 до 480 мегабит в секунду, для видеоустройств и устройств хранения информации.</a:t>
            </a:r>
          </a:p>
          <a:p>
            <a:r>
              <a:t>Спецификация USB 3.0 повышает максимальную скорость передачи до 5 гигабит в секунду —</a:t>
            </a:r>
          </a:p>
          <a:p>
            <a:r>
              <a:t>на порядок больше 480 мегабит, которые может обеспечить USB 2.0.</a:t>
            </a:r>
          </a:p>
          <a:p>
            <a:r>
              <a:t>Скорость передачи возрастает с 60 мегабайт в секунду, тридцати эффективных, до 600 мегабайт,</a:t>
            </a:r>
          </a:p>
          <a:p>
            <a:r>
              <a:t>что позволяет передать 1 терабайт не за 8–10 часов, а за 40–60 минут.</a:t>
            </a:r>
          </a:p>
          <a:p>
            <a:r>
              <a:t>Версия 3.0 отличается не только скоростью, но и увеличенной силой тока с 500 до 900 миллиампер.</a:t>
            </a:r>
          </a:p>
          <a:p>
            <a:r>
              <a:t>От одного хаба можно подпитывать большее количество устройств.</a:t>
            </a:r>
          </a:p>
          <a:p>
            <a:r>
              <a:t>На некоторых материнских платах гнёзда USB 3.0 помечены значком молнии —</a:t>
            </a:r>
          </a:p>
          <a:p>
            <a:r>
              <a:t>это значит, что от порта можно заряжать устройства с током более 1 ампера,</a:t>
            </a:r>
          </a:p>
          <a:p>
            <a:r>
              <a:t>и зарядка будет идти при выключенном компьютере.</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USB 3.1 и уязвимость BadUSB.</a:t>
            </a:r>
          </a:p>
          <a:p>
            <a:r>
              <a:t>31 июля 2013 года USB 3.0 Promoter Group объявила о принятии спецификации следующего интерфейса, USB 3.1,</a:t>
            </a:r>
          </a:p>
          <a:p>
            <a:r>
              <a:t>скорость передачи которого может достигать 10 гигабит в секунду.</a:t>
            </a:r>
          </a:p>
          <a:p>
            <a:r>
              <a:t>Разъём USB 3.1 Type-C является симметричным, позволяя вставлять кабель любой стороной,</a:t>
            </a:r>
          </a:p>
          <a:p>
            <a:r>
              <a:t>как это ранее сделала Apple с разъёмом Lightning.</a:t>
            </a:r>
          </a:p>
          <a:p>
            <a:r>
              <a:t>В августе 2014 года была продемонстрирована реализация уязвимости устройств USB,</a:t>
            </a:r>
          </a:p>
          <a:p>
            <a:r>
              <a:t>получившей название BadUSB.</a:t>
            </a:r>
          </a:p>
          <a:p>
            <a:r>
              <a:t>Некоторые USB-устройства позволяют изменять микропрограмму микросхемы,</a:t>
            </a:r>
          </a:p>
          <a:p>
            <a:r>
              <a:t>отвечающую за взаимодействие с компьютером.</a:t>
            </a:r>
          </a:p>
          <a:p>
            <a:r>
              <a:t>Злоумышленник, проведя реверс-инжиниринг конкретного устройства,</a:t>
            </a:r>
          </a:p>
          <a:p>
            <a:r>
              <a:t>может создать и записать в него вредоносный код.</a:t>
            </a:r>
          </a:p>
          <a:p>
            <a:r>
              <a:t>Этот вредоносный код может, например, имитируя клавиатуру,</a:t>
            </a:r>
          </a:p>
          <a:p>
            <a:r>
              <a:t>произвести необходимые действия за пользователя на заражаемом компьютере.</a:t>
            </a:r>
          </a:p>
          <a:p>
            <a:r>
              <a:t>Или, имитируя сетевое устройство, изменить сетевые настройки так,</a:t>
            </a:r>
          </a:p>
          <a:p>
            <a:r>
              <a:t>что пользователь будет просматривать сайты через подконтрольные злоумышленнику серверы —</a:t>
            </a:r>
          </a:p>
          <a:p>
            <a:r>
              <a:t>это называется фарминг.</a:t>
            </a:r>
          </a:p>
          <a:p>
            <a:r>
              <a:t>Кроме того, имитируя USB-флешку, вредоносный код может загрузить и запустить вирус.</a:t>
            </a:r>
          </a:p>
          <a:p>
            <a:r>
              <a:t>Заражение может распространяться на другие USB-устройства.</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размеров разъёмов USB.</a:t>
            </a:r>
          </a:p>
          <a:p>
            <a:r>
              <a:t>Четыре типа разъёмов: обычный, Mini и Micro, для двух форм — Type A и Type B.</a:t>
            </a:r>
          </a:p>
          <a:p>
            <a:r>
              <a:t>Type A обычный: 4 на 12 миллиметров.</a:t>
            </a:r>
          </a:p>
          <a:p>
            <a:r>
              <a:t>Type A Mini: 3 на 7 миллиметров.</a:t>
            </a:r>
          </a:p>
          <a:p>
            <a:r>
              <a:t>Type A Micro: 2 на 7 миллиметров.</a:t>
            </a:r>
          </a:p>
          <a:p>
            <a:r>
              <a:t>Type B обычный: 7 на 8 миллиметров.</a:t>
            </a:r>
          </a:p>
          <a:p>
            <a:r>
              <a:t>Type B Mini: 3 на 7 миллиметров.</a:t>
            </a:r>
          </a:p>
          <a:p>
            <a:r>
              <a:t>Type B Micro: 2 на 7 миллиметров.</a:t>
            </a:r>
          </a:p>
          <a:p>
            <a:r>
              <a:t>Type A — стандартный прямоугольный разъём, который мы видим на компьютере.</a:t>
            </a:r>
          </a:p>
          <a:p>
            <a:r>
              <a:t>Type B — квадратный, для принтеров и сканеров.</a:t>
            </a:r>
          </a:p>
          <a:p>
            <a:r>
              <a:t>Mini и Micro — уменьшенные версии для мобильных устройств.</a:t>
            </a:r>
          </a:p>
          <a:p>
            <a:r>
              <a:t>С появлением USB 3.0 разъёмы получили дополнительные контакты и синий цвет.</a:t>
            </a:r>
          </a:p>
          <a:p>
            <a:r>
              <a:t>Type-A USB 3.0 обратно совместим с USB 2.0, но для полной скорости нужен соответствующий разъём.</a:t>
            </a:r>
          </a:p>
          <a:p>
            <a:r>
              <a:t>С 2014 года развивается симметричный Type-C, который стал стандартом для зарядки в Евросоюзе.</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этом слайде — фотографии разъёмов USB в разных форм-факторах.</a:t>
            </a:r>
          </a:p>
          <a:p>
            <a:r>
              <a:t>Сверху — Type A обычный: прямоугольный разъём с четырьмя контактами, синего цвета,</a:t>
            </a:r>
          </a:p>
          <a:p>
            <a:r>
              <a:t>характерного для USB 3.0.</a:t>
            </a:r>
          </a:p>
          <a:p>
            <a:r>
              <a:t>Слева внизу — Type B обычный: квадратный разъём, тоже синий.</a:t>
            </a:r>
          </a:p>
          <a:p>
            <a:r>
              <a:t>В центре — Type B Mini: уменьшенный разъём для старых мобильных устройств.</a:t>
            </a:r>
          </a:p>
          <a:p>
            <a:r>
              <a:t>Справа — Type B Micro: ещё меньше, для смартфонов и планшетов.</a:t>
            </a:r>
          </a:p>
          <a:p>
            <a:r>
              <a:t>Обратите внимание: Type A Mini и Type A Micro на фотографии не показаны,</a:t>
            </a:r>
          </a:p>
          <a:p>
            <a:r>
              <a:t>но они существуют и выглядят аналогично Type B соответствующего размера.</a:t>
            </a:r>
          </a:p>
          <a:p>
            <a:r>
              <a:t>Размеры уменьшались вместе с устройствами: если в 1996 году USB использовался только для периферии ПК,</a:t>
            </a:r>
          </a:p>
          <a:p>
            <a:r>
              <a:t>то к 2010-м он стал основным разъёмом для зарядки смартфонов.</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ATA — Advanced Technology Attachment.</a:t>
            </a:r>
          </a:p>
          <a:p>
            <a:r>
              <a:t>Параллельный интерфейс подключения накопителей, жёстких дисков и оптических дисководов к компьютеру.</a:t>
            </a:r>
          </a:p>
          <a:p>
            <a:r>
              <a:t>В 1990-е годы был стандартом на платформе IBM PC.</a:t>
            </a:r>
          </a:p>
          <a:p>
            <a:r>
              <a:t>В настоящее время вытесняется своим последователем SATA,</a:t>
            </a:r>
          </a:p>
          <a:p>
            <a:r>
              <a:t>и с его появлением получил название PATA — Parallel ATA.</a:t>
            </a:r>
          </a:p>
          <a:p>
            <a:r>
              <a:t>Иное название этого понятия — IDE, Integrated Drive Electronics,</a:t>
            </a:r>
          </a:p>
          <a:p>
            <a:r>
              <a:t>электроника, встроенная в привод.</a:t>
            </a:r>
          </a:p>
          <a:p>
            <a:r>
              <a:t>Контроллер привода располагается в нём самом, а не в виде отдельной платы расширения,</a:t>
            </a:r>
          </a:p>
          <a:p>
            <a:r>
              <a:t>как в предшествующем стандарте ST-506 и существовавших тогда интерфейсах SCSI и ST-412.</a:t>
            </a:r>
          </a:p>
          <a:p>
            <a:r>
              <a:t>Это позволило улучшить характеристики накопителей за счёт меньшего расстояния до контроллера,</a:t>
            </a:r>
          </a:p>
          <a:p>
            <a:r>
              <a:t>упростить управление, удешевить производство.</a:t>
            </a:r>
          </a:p>
          <a:p>
            <a:r>
              <a:t>В стандарте ATA определён интерфейс между контроллером и накопителем,</a:t>
            </a:r>
          </a:p>
          <a:p>
            <a:r>
              <a:t>а также передаваемые по нему команды.</a:t>
            </a:r>
          </a:p>
          <a:p>
            <a:r>
              <a:t>Интерфейс имеет 8 регистров, занимающих 8 адресов в пространстве ввода-вывода.</a:t>
            </a:r>
          </a:p>
          <a:p>
            <a:r>
              <a:t>Ширина шины данных — 16 бит.</a:t>
            </a:r>
          </a:p>
          <a:p>
            <a:r>
              <a:t>К каждому каналу можно подключить два устройства — master и slave,</a:t>
            </a:r>
          </a:p>
          <a:p>
            <a:r>
              <a:t>но в каждый момент времени может работать лишь одно.</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Для подключения жёстких дисков с интерфейсом PATA обычно используется 40-проводный кабель,</a:t>
            </a:r>
          </a:p>
          <a:p>
            <a:r>
              <a:t>именуемый также шлейфом.</a:t>
            </a:r>
          </a:p>
          <a:p>
            <a:r>
              <a:t>Каждый шлейф обычно имеет два или три разъёма.</a:t>
            </a:r>
          </a:p>
          <a:p>
            <a:r>
              <a:t>Один подключается к разъёму контроллера на материнской плате,</a:t>
            </a:r>
          </a:p>
          <a:p>
            <a:r>
              <a:t>в более старых компьютерах контроллер размещался на отдельной плате расширения,</a:t>
            </a:r>
          </a:p>
          <a:p>
            <a:r>
              <a:t>а один или два других подключаются к дискам.</a:t>
            </a:r>
          </a:p>
          <a:p>
            <a:r>
              <a:t>В один момент времени шлейф PATA передаёт 16 бит данных.</a:t>
            </a:r>
          </a:p>
          <a:p>
            <a:r>
              <a:t>Иногда встречаются шлейфы IDE, позволяющие подключение трёх дисков к одному каналу,</a:t>
            </a:r>
          </a:p>
          <a:p>
            <a:r>
              <a:t>но в этом случае один из дисков работает в режиме read-only.</a:t>
            </a:r>
          </a:p>
          <a:p>
            <a:r>
              <a:t>Долгое время шлейф ATA содержал 40 проводников,</a:t>
            </a:r>
          </a:p>
          <a:p>
            <a:r>
              <a:t>но с введением режима Ultra DMA/66 появилась его 80-проводная версия.</a:t>
            </a:r>
          </a:p>
          <a:p>
            <a:r>
              <a:t>Стандарты ATA-1 — ATA-5 поддерживают максимум 137 гигабайт, Ultra DMA — до 66 мегабайт в секунду.</a:t>
            </a:r>
          </a:p>
          <a:p>
            <a:r>
              <a:t>На фотографии — два синих разъёма IDE на материнской плате, под ними белый разъём питания.</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Переходный слайд.</a:t>
            </a:r>
          </a:p>
          <a:p>
            <a:r>
              <a:t>Переходим к последовательному интерфейсу SATA, который заменил PATA.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SATA — Serial ATA, последовательный интерфейс обмена данными с накопителями информации.</a:t>
            </a:r>
          </a:p>
          <a:p>
            <a:r>
              <a:t>Является развитием параллельного интерфейса ATA (IDE),</a:t>
            </a:r>
          </a:p>
          <a:p>
            <a:r>
              <a:t>который после появления SATA был переименован в PATA, Parallel ATA.</a:t>
            </a:r>
          </a:p>
          <a:p>
            <a:r>
              <a:t>SATA использует 7-контактный разъём вместо 40-контактного у PATA.</a:t>
            </a:r>
          </a:p>
          <a:p>
            <a:r>
              <a:t>SATA-кабель имеет меньшую площадь, за счёт чего уменьшается сопротивление воздуху,</a:t>
            </a:r>
          </a:p>
          <a:p>
            <a:r>
              <a:t>обдувающему комплектующие компьютера, упрощается разводка проводов внутри системного блока.</a:t>
            </a:r>
          </a:p>
          <a:p>
            <a:r>
              <a:t>SATA-кабель за счёт своей формы более устойчив к многократному подключению.</a:t>
            </a:r>
          </a:p>
          <a:p>
            <a:r>
              <a:t>Питающий шнур SATA также разработан с учётом многократных подключений.</a:t>
            </a:r>
          </a:p>
          <a:p>
            <a:r>
              <a:t>Разъём питания SATA подаёт 3 напряжения: плюс 12, плюс 5 и плюс 3,3 вольта.</a:t>
            </a:r>
          </a:p>
          <a:p>
            <a:r>
              <a:t>Однако современные устройства могут работать без напряжения плюс 3,3 вольта,</a:t>
            </a:r>
          </a:p>
          <a:p>
            <a:r>
              <a:t>что даёт возможность использовать пассивный переходник со стандартного разъёма питания IDE на SATA.</a:t>
            </a:r>
          </a:p>
          <a:p>
            <a:r>
              <a:t>Ряд SATA-устройств поставляется с двумя разъёмами питания: SATA и Molex.</a:t>
            </a:r>
          </a:p>
          <a:p>
            <a:r>
              <a:t>На фотографии сверху — красный SATA-кабель с разъёмом,</a:t>
            </a:r>
          </a:p>
          <a:p>
            <a:r>
              <a:t>снизу — два красных SATA-разъёма на материнской плате.</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SATA Revision 1.0 и низковольтная дифференциальная передача сигналов.</a:t>
            </a:r>
          </a:p>
          <a:p>
            <a:r>
              <a:t>Спецификация SATA 1.0 была представлена 7 января 2003 года.</a:t>
            </a:r>
          </a:p>
          <a:p>
            <a:r>
              <a:t>Первоначально стандарт предусматривал работу шины на частоте 1,5 гигагерца,</a:t>
            </a:r>
          </a:p>
          <a:p>
            <a:r>
              <a:t>обеспечивающей пропускную способность приблизительно 1,2 гигабита в секунду, или 150 мегабайт в секунду.</a:t>
            </a:r>
          </a:p>
          <a:p>
            <a:r>
              <a:t>Двадцатипроцентная потеря производительности объясняется использованием системы кодирования 8b/10b:</a:t>
            </a:r>
          </a:p>
          <a:p>
            <a:r>
              <a:t>на каждые 8 бит полезной информации приходится 2 служебных бита.</a:t>
            </a:r>
          </a:p>
          <a:p>
            <a:r>
              <a:t>Пропускная способность SATA/150 незначительно выше пропускной способности шины Ultra ATA.</a:t>
            </a:r>
          </a:p>
          <a:p>
            <a:r>
              <a:t>Главное преимущество SATA перед PATA — использование последовательной шины вместо параллельной.</a:t>
            </a:r>
          </a:p>
          <a:p>
            <a:r>
              <a:t>Несмотря на то что последовательный способ обмена принципиально медленнее параллельного,</a:t>
            </a:r>
          </a:p>
          <a:p>
            <a:r>
              <a:t>здесь это компенсируется возможностью работы на более высоких частотах</a:t>
            </a:r>
          </a:p>
          <a:p>
            <a:r>
              <a:t>за счёт отсутствия необходимости синхронизации каналов и большей помехоустойчивостью кабеля.</a:t>
            </a:r>
          </a:p>
          <a:p>
            <a:r>
              <a:t>Низковольтная дифференциальная передача сигналов, LVDS, — способ передачи электрических сигналов,</a:t>
            </a:r>
          </a:p>
          <a:p>
            <a:r>
              <a:t>позволяющий передавать информацию на высоких частотах при помощи дешёвых соединений</a:t>
            </a:r>
          </a:p>
          <a:p>
            <a:r>
              <a:t>на основе медной витой пары.</a:t>
            </a:r>
          </a:p>
          <a:p>
            <a:r>
              <a:t>При дифференциальной передаче для передачи одного сигнала используется дифференциальная пара:</a:t>
            </a:r>
          </a:p>
          <a:p>
            <a:r>
              <a:t>передающая сторона подаёт на проводники пары различные уровни напряжения,</a:t>
            </a:r>
          </a:p>
          <a:p>
            <a:r>
              <a:t>которые сравниваются на приёмной стороне.</a:t>
            </a:r>
          </a:p>
          <a:p>
            <a:r>
              <a:t>Для декодирования используется разница напряжений на проводниках пары.</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SATA 2.0, 3.0 и SATA Express.</a:t>
            </a:r>
          </a:p>
          <a:p>
            <a:r>
              <a:t>Спецификация SATA Revision 2.0, также SATA II или SATA/300,</a:t>
            </a:r>
          </a:p>
          <a:p>
            <a:r>
              <a:t>работает на частоте 3 гигагерца, обеспечивает пропускную способность до 3 гигабит в секунду брутто,</a:t>
            </a:r>
          </a:p>
          <a:p>
            <a:r>
              <a:t>300 мегабайт в секунду нетто для данных с учётом 8b/10b кодирования.</a:t>
            </a:r>
          </a:p>
          <a:p>
            <a:r>
              <a:t>Впервые был реализован в контроллере чипсета nForce 4 фирмы NVIDIA.</a:t>
            </a:r>
          </a:p>
          <a:p>
            <a:r>
              <a:t>SATA Revision 3.0, SATA III, представлена в июле 2008 года</a:t>
            </a:r>
          </a:p>
          <a:p>
            <a:r>
              <a:t>и предусматривает пропускную способность до 6 гигабит в секунду брутто,</a:t>
            </a:r>
          </a:p>
          <a:p>
            <a:r>
              <a:t>600 мегабайт в секунду нетто.</a:t>
            </a:r>
          </a:p>
          <a:p>
            <a:r>
              <a:t>SATA Express, 3.2, программно совместим с SATA,</a:t>
            </a:r>
          </a:p>
          <a:p>
            <a:r>
              <a:t>но в качестве несущего интерфейса используется PCI Express.</a:t>
            </a:r>
          </a:p>
          <a:p>
            <a:r>
              <a:t>Конструктивно представляет собой два рядом расположенных в длину SATA-порта,</a:t>
            </a:r>
          </a:p>
          <a:p>
            <a:r>
              <a:t>что позволяет использовать как накопители с интерфейсом SATA,</a:t>
            </a:r>
          </a:p>
          <a:p>
            <a:r>
              <a:t>так и непосредственно накопители, изначально поддерживающие SATA Express.</a:t>
            </a:r>
          </a:p>
          <a:p>
            <a:r>
              <a:t>Скорость передачи данных достигает 8 гигабит в секунду с одним разъёмом</a:t>
            </a:r>
          </a:p>
          <a:p>
            <a:r>
              <a:t>и 16 гигабит с двумя.</a:t>
            </a:r>
          </a:p>
          <a:p>
            <a:r>
              <a:t>Предполагается, что на замену SATA Express придёт разъём U.2, SFF-8639,</a:t>
            </a:r>
          </a:p>
          <a:p>
            <a:r>
              <a:t>в котором предоставляется 4 линии PCI Express 3.0.</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Накопитель на жёстких магнитных дисках, сокращённо НЖМД.</a:t>
            </a:r>
          </a:p>
          <a:p>
            <a:r>
              <a:t>Английское hard disk drive, HDD. В компьютерном сленге — «винчестер».</a:t>
            </a:r>
          </a:p>
          <a:p>
            <a:r>
              <a:t>Запоминающее устройство произвольного доступа, основанное на принципе магнитной записи.</a:t>
            </a:r>
          </a:p>
          <a:p>
            <a:r>
              <a:t>Является основным накопителем данных в большинстве компьютеров.</a:t>
            </a:r>
          </a:p>
          <a:p>
            <a:r>
              <a:t>В отличие от гибкого диска, дискеты, информация в НЖМД записывается на жёсткие,</a:t>
            </a:r>
          </a:p>
          <a:p>
            <a:r>
              <a:t>алюминиевые или стеклянные, пластины, покрытые слоем ферромагнитного материала,</a:t>
            </a:r>
          </a:p>
          <a:p>
            <a:r>
              <a:t>чаще всего двуокиси хрома. Это и есть магнитные диски.</a:t>
            </a:r>
          </a:p>
          <a:p>
            <a:r>
              <a:t>В НЖМД используется одна или несколько пластин на одной оси.</a:t>
            </a:r>
          </a:p>
          <a:p>
            <a:r>
              <a:t>Считывающие головки в рабочем режиме не касаются поверхности пластин</a:t>
            </a:r>
          </a:p>
          <a:p>
            <a:r>
              <a:t>благодаря прослойке набегающего потока воздуха, образующейся у поверхности при быстром вращении.</a:t>
            </a:r>
          </a:p>
          <a:p>
            <a:r>
              <a:t>Расстояние между головкой и диском — несколько нанометров, в современных дисках около 10.</a:t>
            </a:r>
          </a:p>
          <a:p>
            <a:r>
              <a:t>Отсутствие механического контакта обеспечивает долгий срок службы.</a:t>
            </a:r>
          </a:p>
          <a:p>
            <a:r>
              <a:t>При отсутствии вращения дисков головки находятся у шпинделя</a:t>
            </a:r>
          </a:p>
          <a:p>
            <a:r>
              <a:t>или за пределами диска в безопасной парковочной зоне,</a:t>
            </a:r>
          </a:p>
          <a:p>
            <a:r>
              <a:t>где исключён их нештатный контакт с поверхностью.</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Переходный слайд.</a:t>
            </a:r>
          </a:p>
          <a:p>
            <a:r>
              <a:t>Дальше — методы магнитной записи, продольная и перпендикулярная.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Метод продольной записи.</a:t>
            </a:r>
          </a:p>
          <a:p>
            <a:r>
              <a:t>Биты информации записываются с помощью маленькой головки,</a:t>
            </a:r>
          </a:p>
          <a:p>
            <a:r>
              <a:t>которая, проходя над поверхностью вращающегося диска,</a:t>
            </a:r>
          </a:p>
          <a:p>
            <a:r>
              <a:t>намагничивает миллиарды горизонтальных дискретных областей — доменов.</a:t>
            </a:r>
          </a:p>
          <a:p>
            <a:r>
              <a:t>При этом вектор намагниченности домена расположен продольно,</a:t>
            </a:r>
          </a:p>
          <a:p>
            <a:r>
              <a:t>то есть параллельно поверхности диска.</a:t>
            </a:r>
          </a:p>
          <a:p>
            <a:r>
              <a:t>Каждая из этих областей является логическим нулём или единицей,</a:t>
            </a:r>
          </a:p>
          <a:p>
            <a:r>
              <a:t>в зависимости от направления намагниченности.</a:t>
            </a:r>
          </a:p>
          <a:p>
            <a:r>
              <a:t>Максимально достижимая при использовании данного метода плотность записи — около 23 гигабит на квадратный сантиметр.</a:t>
            </a:r>
          </a:p>
          <a:p>
            <a:r>
              <a:t>К 2010 году этот метод был практически вытеснен методом перпендикулярной записи,</a:t>
            </a:r>
          </a:p>
          <a:p>
            <a:r>
              <a:t>поскольку инженеры упёрлись в потолок плотности.</a:t>
            </a:r>
          </a:p>
          <a:p>
            <a:r>
              <a:t>Метод перпендикулярной записи — технология, при которой биты информации сохраняются</a:t>
            </a:r>
          </a:p>
          <a:p>
            <a:r>
              <a:t>в вертикальных доменах.</a:t>
            </a:r>
          </a:p>
          <a:p>
            <a:r>
              <a:t>Это позволяет использовать более сильные магнитные поля и снизить площадь материала,</a:t>
            </a:r>
          </a:p>
          <a:p>
            <a:r>
              <a:t>необходимую для записи одного бита.</a:t>
            </a:r>
          </a:p>
          <a:p>
            <a:r>
              <a:t>Плотность записи резко подскочила, свыше 30 процентов ещё на первых образцах.</a:t>
            </a:r>
          </a:p>
          <a:p>
            <a:r>
              <a:t>На 2009 год — 400 гигабит на квадратный дюйм, или 62 гигабита на квадратный сантиметр.</a:t>
            </a:r>
          </a:p>
          <a:p>
            <a:r>
              <a:t>Теоретический предел — 1 терабит на квадратный дюйм.</a:t>
            </a:r>
          </a:p>
          <a:p>
            <a:r>
              <a:t>Жёсткие диски с перпендикулярной записью стали доступны с 2006 года.</a:t>
            </a:r>
          </a:p>
          <a:p>
            <a:r>
              <a:t>Благодаря этому винчестеры продолжают бить рекорды ёмкости, вмещая уже по 8 и даже 10 терабайт.</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Параметры жёстких дисков.</a:t>
            </a:r>
          </a:p>
          <a:p>
            <a:r>
              <a:t>Интерфейс — совокупность линий связи, сигналов, контроллеров и протокола обмена.</a:t>
            </a:r>
          </a:p>
          <a:p>
            <a:r>
              <a:t>Современные интерфейсы: ATA, он же IDE и PATA, SATA, eSATA, SCSI, SAS, FireWire, SDIO и Fibre Channel.</a:t>
            </a:r>
          </a:p>
          <a:p>
            <a:r>
              <a:t>Ёмкость — количество данных, которые могут храниться накопителем.</a:t>
            </a:r>
          </a:p>
          <a:p>
            <a:r>
              <a:t>Ёмкость современных дисков форм-фактора 3,5 дюйма на начало 2015 года достигает 6 терабайт.</a:t>
            </a:r>
          </a:p>
          <a:p>
            <a:r>
              <a:t>Физический размер, форм-фактор: почти все накопители 2001–2008 годов имеют ширину либо 3,5, либо 2,5 дюйма.</a:t>
            </a:r>
          </a:p>
          <a:p>
            <a:r>
              <a:t>Время произвольного доступа — среднее время позиционирования головки на произвольный участок диска.</a:t>
            </a:r>
          </a:p>
          <a:p>
            <a:r>
              <a:t>Диапазон — от 2,5 до 16 миллисекунд.</a:t>
            </a:r>
          </a:p>
          <a:p>
            <a:r>
              <a:t>Для сравнения, у SSD-накопителей меньше 1 миллисекунды.</a:t>
            </a:r>
          </a:p>
          <a:p>
            <a:r>
              <a:t>Скорость вращения шпинделя: 4200–7200 оборотов в минуту у ноутбуков,</a:t>
            </a:r>
          </a:p>
          <a:p>
            <a:r>
              <a:t>5400–10000 у персональных компьютеров, 10000–15000 у серверов.</a:t>
            </a:r>
          </a:p>
          <a:p>
            <a:r>
              <a:t>Увеличению скорости вращения в ноутбуках препятствует гироскопический эффект.</a:t>
            </a:r>
          </a:p>
          <a:p>
            <a:r>
              <a:t>Надёжность — среднее время наработки на отказ.</a:t>
            </a:r>
          </a:p>
          <a:p>
            <a:r>
              <a:t>Количество операций ввода-вывода в секунду, IOPS — около 50 при произвольном доступе</a:t>
            </a:r>
          </a:p>
          <a:p>
            <a:r>
              <a:t>и около 100 при последовательном.</a:t>
            </a:r>
          </a:p>
          <a:p>
            <a:r>
              <a:t>Скорость передачи данных при последовательном доступе: внутренняя зона — 44–74 мегабайта в секунду,</a:t>
            </a:r>
          </a:p>
          <a:p>
            <a:r>
              <a:t>внешняя зона — 60–111 мегабайт в секунду.</a:t>
            </a:r>
          </a:p>
          <a:p>
            <a:r>
              <a:t>Объём буфера — в современных дисках от 8 до 128 мегабайт.</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685800" y="2130425"/>
            <a:ext cx="7772400" cy="1470025"/>
          </a:xfrm>
        </p:spPr>
        <p:txBody>
          <a:bodyPr/>
          <a:lstStyle/>
          <a:p>
            <a:r>
              <a:rPr lang="ru-RU" smtClean="0"/>
              <a:t>Образец заголовка</a:t>
            </a:r>
            <a:endParaRPr lang="ru-RU"/>
          </a:p>
        </p:txBody>
      </p:sp>
      <p:sp>
        <p:nvSpPr>
          <p:cNvPr id="3" name="Подзаголовок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ru-RU" smtClean="0"/>
              <a:t>Образец подзаголовка</a:t>
            </a:r>
            <a:endParaRPr lang="ru-RU"/>
          </a:p>
        </p:txBody>
      </p:sp>
      <p:sp>
        <p:nvSpPr>
          <p:cNvPr id="4" name="Дата 3"/>
          <p:cNvSpPr>
            <a:spLocks noGrp="1"/>
          </p:cNvSpPr>
          <p:nvPr>
            <p:ph type="dt" sz="half" idx="10"/>
          </p:nvPr>
        </p:nvSpPr>
        <p:spPr/>
        <p:txBody>
          <a:bodyPr/>
          <a:lstStyle/>
          <a:p>
            <a:fld id="{F3FB8BB6-5C91-47CE-8971-6E6B03D37BE4}" type="datetimeFigureOut">
              <a:rPr lang="ru-RU" smtClean="0"/>
              <a:t>22.10.2026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E8ABA070-E9F6-4452-AC73-01CBE82E82EE}" type="slidenum">
              <a:rPr lang="ru-RU" smtClean="0"/>
              <a:t>‹#›</a:t>
            </a:fld>
            <a:endParaRPr lang="ru-RU"/>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smtClean="0"/>
              <a:t>Образец заголовка</a:t>
            </a:r>
            <a:endParaRPr lang="ru-RU"/>
          </a:p>
        </p:txBody>
      </p:sp>
      <p:sp>
        <p:nvSpPr>
          <p:cNvPr id="3" name="Содержимое 2"/>
          <p:cNvSpPr>
            <a:spLocks noGrp="1"/>
          </p:cNvSpPr>
          <p:nvPr>
            <p:ph idx="1"/>
          </p:nvPr>
        </p:nvSpPr>
        <p:spPr/>
        <p:txBody>
          <a:body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Дата 3"/>
          <p:cNvSpPr>
            <a:spLocks noGrp="1"/>
          </p:cNvSpPr>
          <p:nvPr>
            <p:ph type="dt" sz="half" idx="10"/>
          </p:nvPr>
        </p:nvSpPr>
        <p:spPr/>
        <p:txBody>
          <a:bodyPr/>
          <a:lstStyle/>
          <a:p>
            <a:fld id="{F3FB8BB6-5C91-47CE-8971-6E6B03D37BE4}" type="datetimeFigureOut">
              <a:rPr lang="ru-RU" smtClean="0"/>
              <a:t>22.10.2026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E8ABA070-E9F6-4452-AC73-01CBE82E82EE}" type="slidenum">
              <a:rPr lang="ru-RU" smtClean="0"/>
              <a:t>‹#›</a:t>
            </a:fld>
            <a:endParaRPr lang="ru-RU"/>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722313" y="4406900"/>
            <a:ext cx="7772400" cy="1362075"/>
          </a:xfrm>
        </p:spPr>
        <p:txBody>
          <a:bodyPr anchor="t"/>
          <a:lstStyle>
            <a:lvl1pPr algn="l">
              <a:defRPr sz="4000" b="1" cap="all"/>
            </a:lvl1pPr>
          </a:lstStyle>
          <a:p>
            <a:r>
              <a:rPr lang="ru-RU" smtClean="0"/>
              <a:t>Образец заголовка</a:t>
            </a:r>
            <a:endParaRPr lang="ru-RU"/>
          </a:p>
        </p:txBody>
      </p:sp>
      <p:sp>
        <p:nvSpPr>
          <p:cNvPr id="3" name="Текст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ru-RU" smtClean="0"/>
              <a:t>Образец текста</a:t>
            </a:r>
          </a:p>
        </p:txBody>
      </p:sp>
      <p:sp>
        <p:nvSpPr>
          <p:cNvPr id="4" name="Дата 3"/>
          <p:cNvSpPr>
            <a:spLocks noGrp="1"/>
          </p:cNvSpPr>
          <p:nvPr>
            <p:ph type="dt" sz="half" idx="10"/>
          </p:nvPr>
        </p:nvSpPr>
        <p:spPr/>
        <p:txBody>
          <a:bodyPr/>
          <a:lstStyle/>
          <a:p>
            <a:fld id="{F3FB8BB6-5C91-47CE-8971-6E6B03D37BE4}" type="datetimeFigureOut">
              <a:rPr lang="ru-RU" smtClean="0"/>
              <a:t>22.10.2026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E8ABA070-E9F6-4452-AC73-01CBE82E82EE}" type="slidenum">
              <a:rPr lang="ru-RU" smtClean="0"/>
              <a:t>‹#›</a:t>
            </a:fld>
            <a:endParaRPr lang="ru-RU"/>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smtClean="0"/>
              <a:t>Образец заголовка</a:t>
            </a:r>
            <a:endParaRPr lang="ru-RU"/>
          </a:p>
        </p:txBody>
      </p:sp>
      <p:sp>
        <p:nvSpPr>
          <p:cNvPr id="3" name="Содержимое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Содержимое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5" name="Дата 4"/>
          <p:cNvSpPr>
            <a:spLocks noGrp="1"/>
          </p:cNvSpPr>
          <p:nvPr>
            <p:ph type="dt" sz="half" idx="10"/>
          </p:nvPr>
        </p:nvSpPr>
        <p:spPr/>
        <p:txBody>
          <a:bodyPr/>
          <a:lstStyle/>
          <a:p>
            <a:fld id="{F3FB8BB6-5C91-47CE-8971-6E6B03D37BE4}" type="datetimeFigureOut">
              <a:rPr lang="ru-RU" smtClean="0"/>
              <a:t>22.10.2026</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E8ABA070-E9F6-4452-AC73-01CBE82E82EE}" type="slidenum">
              <a:rPr lang="ru-RU" smtClean="0"/>
              <a:t>‹#›</a:t>
            </a:fld>
            <a:endParaRPr lang="ru-RU"/>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lvl1pPr>
              <a:defRPr/>
            </a:lvl1pPr>
          </a:lstStyle>
          <a:p>
            <a:r>
              <a:rPr lang="ru-RU" smtClean="0"/>
              <a:t>Образец заголовка</a:t>
            </a:r>
            <a:endParaRPr lang="ru-RU"/>
          </a:p>
        </p:txBody>
      </p:sp>
      <p:sp>
        <p:nvSpPr>
          <p:cNvPr id="3" name="Текст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smtClean="0"/>
              <a:t>Образец текста</a:t>
            </a:r>
          </a:p>
        </p:txBody>
      </p:sp>
      <p:sp>
        <p:nvSpPr>
          <p:cNvPr id="4" name="Содержимое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5" name="Текст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smtClean="0"/>
              <a:t>Образец текста</a:t>
            </a:r>
          </a:p>
        </p:txBody>
      </p:sp>
      <p:sp>
        <p:nvSpPr>
          <p:cNvPr id="6" name="Содержимое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7" name="Дата 6"/>
          <p:cNvSpPr>
            <a:spLocks noGrp="1"/>
          </p:cNvSpPr>
          <p:nvPr>
            <p:ph type="dt" sz="half" idx="10"/>
          </p:nvPr>
        </p:nvSpPr>
        <p:spPr/>
        <p:txBody>
          <a:bodyPr/>
          <a:lstStyle/>
          <a:p>
            <a:fld id="{F3FB8BB6-5C91-47CE-8971-6E6B03D37BE4}" type="datetimeFigureOut">
              <a:rPr lang="ru-RU" smtClean="0"/>
              <a:t>22.10.2026</a:t>
            </a:fld>
            <a:endParaRPr lang="ru-RU"/>
          </a:p>
        </p:txBody>
      </p:sp>
      <p:sp>
        <p:nvSpPr>
          <p:cNvPr id="8" name="Нижний колонтитул 7"/>
          <p:cNvSpPr>
            <a:spLocks noGrp="1"/>
          </p:cNvSpPr>
          <p:nvPr>
            <p:ph type="ftr" sz="quarter" idx="11"/>
          </p:nvPr>
        </p:nvSpPr>
        <p:spPr/>
        <p:txBody>
          <a:bodyPr/>
          <a:lstStyle/>
          <a:p>
            <a:endParaRPr lang="ru-RU"/>
          </a:p>
        </p:txBody>
      </p:sp>
      <p:sp>
        <p:nvSpPr>
          <p:cNvPr id="9" name="Номер слайда 8"/>
          <p:cNvSpPr>
            <a:spLocks noGrp="1"/>
          </p:cNvSpPr>
          <p:nvPr>
            <p:ph type="sldNum" sz="quarter" idx="12"/>
          </p:nvPr>
        </p:nvSpPr>
        <p:spPr/>
        <p:txBody>
          <a:bodyPr/>
          <a:lstStyle/>
          <a:p>
            <a:fld id="{E8ABA070-E9F6-4452-AC73-01CBE82E82EE}" type="slidenum">
              <a:rPr lang="ru-RU" smtClean="0"/>
              <a:t>‹#›</a:t>
            </a:fld>
            <a:endParaRPr lang="ru-RU"/>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smtClean="0"/>
              <a:t>Образец заголовка</a:t>
            </a:r>
            <a:endParaRPr lang="ru-RU"/>
          </a:p>
        </p:txBody>
      </p:sp>
      <p:sp>
        <p:nvSpPr>
          <p:cNvPr id="3" name="Дата 2"/>
          <p:cNvSpPr>
            <a:spLocks noGrp="1"/>
          </p:cNvSpPr>
          <p:nvPr>
            <p:ph type="dt" sz="half" idx="10"/>
          </p:nvPr>
        </p:nvSpPr>
        <p:spPr/>
        <p:txBody>
          <a:bodyPr/>
          <a:lstStyle/>
          <a:p>
            <a:fld id="{F3FB8BB6-5C91-47CE-8971-6E6B03D37BE4}" type="datetimeFigureOut">
              <a:rPr lang="ru-RU" smtClean="0"/>
              <a:t>22.10.2026</a:t>
            </a:fld>
            <a:endParaRPr lang="ru-RU"/>
          </a:p>
        </p:txBody>
      </p:sp>
      <p:sp>
        <p:nvSpPr>
          <p:cNvPr id="4" name="Нижний колонтитул 3"/>
          <p:cNvSpPr>
            <a:spLocks noGrp="1"/>
          </p:cNvSpPr>
          <p:nvPr>
            <p:ph type="ftr" sz="quarter" idx="11"/>
          </p:nvPr>
        </p:nvSpPr>
        <p:spPr/>
        <p:txBody>
          <a:bodyPr/>
          <a:lstStyle/>
          <a:p>
            <a:endParaRPr lang="ru-RU"/>
          </a:p>
        </p:txBody>
      </p:sp>
      <p:sp>
        <p:nvSpPr>
          <p:cNvPr id="5" name="Номер слайда 4"/>
          <p:cNvSpPr>
            <a:spLocks noGrp="1"/>
          </p:cNvSpPr>
          <p:nvPr>
            <p:ph type="sldNum" sz="quarter" idx="12"/>
          </p:nvPr>
        </p:nvSpPr>
        <p:spPr/>
        <p:txBody>
          <a:bodyPr/>
          <a:lstStyle/>
          <a:p>
            <a:fld id="{E8ABA070-E9F6-4452-AC73-01CBE82E82EE}" type="slidenum">
              <a:rPr lang="ru-RU" smtClean="0"/>
              <a:t>‹#›</a:t>
            </a:fld>
            <a:endParaRPr lang="ru-RU"/>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spTree>
      <p:nvGrpSpPr>
        <p:cNvPr id="1" name=""/>
        <p:cNvGrpSpPr/>
        <p:nvPr/>
      </p:nvGrpSpPr>
      <p:grpSpPr>
        <a:xfrm>
          <a:off x="0" y="0"/>
          <a:ext cx="0" cy="0"/>
          <a:chOff x="0" y="0"/>
          <a:chExt cx="0" cy="0"/>
        </a:xfrm>
      </p:grpSpPr>
      <p:sp>
        <p:nvSpPr>
          <p:cNvPr id="2" name="Дата 1"/>
          <p:cNvSpPr>
            <a:spLocks noGrp="1"/>
          </p:cNvSpPr>
          <p:nvPr>
            <p:ph type="dt" sz="half" idx="10"/>
          </p:nvPr>
        </p:nvSpPr>
        <p:spPr/>
        <p:txBody>
          <a:bodyPr/>
          <a:lstStyle/>
          <a:p>
            <a:fld id="{F3FB8BB6-5C91-47CE-8971-6E6B03D37BE4}" type="datetimeFigureOut">
              <a:rPr lang="ru-RU" smtClean="0"/>
              <a:t>22.10.2026</a:t>
            </a:fld>
            <a:endParaRPr lang="ru-RU"/>
          </a:p>
        </p:txBody>
      </p:sp>
      <p:sp>
        <p:nvSpPr>
          <p:cNvPr id="3" name="Нижний колонтитул 2"/>
          <p:cNvSpPr>
            <a:spLocks noGrp="1"/>
          </p:cNvSpPr>
          <p:nvPr>
            <p:ph type="ftr" sz="quarter" idx="11"/>
          </p:nvPr>
        </p:nvSpPr>
        <p:spPr/>
        <p:txBody>
          <a:bodyPr/>
          <a:lstStyle/>
          <a:p>
            <a:endParaRPr lang="ru-RU"/>
          </a:p>
        </p:txBody>
      </p:sp>
      <p:sp>
        <p:nvSpPr>
          <p:cNvPr id="4" name="Номер слайда 3"/>
          <p:cNvSpPr>
            <a:spLocks noGrp="1"/>
          </p:cNvSpPr>
          <p:nvPr>
            <p:ph type="sldNum" sz="quarter" idx="12"/>
          </p:nvPr>
        </p:nvSpPr>
        <p:spPr/>
        <p:txBody>
          <a:bodyPr/>
          <a:lstStyle/>
          <a:p>
            <a:fld id="{E8ABA070-E9F6-4452-AC73-01CBE82E82EE}" type="slidenum">
              <a:rPr lang="ru-RU" smtClean="0"/>
              <a:t>‹#›</a:t>
            </a:fld>
            <a:endParaRPr lang="ru-RU"/>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273050"/>
            <a:ext cx="3008313" cy="1162050"/>
          </a:xfrm>
        </p:spPr>
        <p:txBody>
          <a:bodyPr anchor="b"/>
          <a:lstStyle>
            <a:lvl1pPr algn="l">
              <a:defRPr sz="2000" b="1"/>
            </a:lvl1pPr>
          </a:lstStyle>
          <a:p>
            <a:r>
              <a:rPr lang="ru-RU" smtClean="0"/>
              <a:t>Образец заголовка</a:t>
            </a:r>
            <a:endParaRPr lang="ru-RU"/>
          </a:p>
        </p:txBody>
      </p:sp>
      <p:sp>
        <p:nvSpPr>
          <p:cNvPr id="3" name="Содержимое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Текст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smtClean="0"/>
              <a:t>Образец текста</a:t>
            </a:r>
          </a:p>
        </p:txBody>
      </p:sp>
      <p:sp>
        <p:nvSpPr>
          <p:cNvPr id="5" name="Дата 4"/>
          <p:cNvSpPr>
            <a:spLocks noGrp="1"/>
          </p:cNvSpPr>
          <p:nvPr>
            <p:ph type="dt" sz="half" idx="10"/>
          </p:nvPr>
        </p:nvSpPr>
        <p:spPr/>
        <p:txBody>
          <a:bodyPr/>
          <a:lstStyle/>
          <a:p>
            <a:fld id="{F3FB8BB6-5C91-47CE-8971-6E6B03D37BE4}" type="datetimeFigureOut">
              <a:rPr lang="ru-RU" smtClean="0"/>
              <a:t>22.10.2026</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E8ABA070-E9F6-4452-AC73-01CBE82E82EE}" type="slidenum">
              <a:rPr lang="ru-RU" smtClean="0"/>
              <a:t>‹#›</a:t>
            </a:fld>
            <a:endParaRPr lang="ru-RU"/>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1792288" y="4800600"/>
            <a:ext cx="5486400" cy="566738"/>
          </a:xfrm>
        </p:spPr>
        <p:txBody>
          <a:bodyPr anchor="b"/>
          <a:lstStyle>
            <a:lvl1pPr algn="l">
              <a:defRPr sz="2000" b="1"/>
            </a:lvl1pPr>
          </a:lstStyle>
          <a:p>
            <a:r>
              <a:rPr lang="ru-RU" smtClean="0"/>
              <a:t>Образец заголовка</a:t>
            </a:r>
            <a:endParaRPr lang="ru-RU"/>
          </a:p>
        </p:txBody>
      </p:sp>
      <p:sp>
        <p:nvSpPr>
          <p:cNvPr id="3" name="Рисунок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ru-RU"/>
          </a:p>
        </p:txBody>
      </p:sp>
      <p:sp>
        <p:nvSpPr>
          <p:cNvPr id="4" name="Текст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ru-RU" smtClean="0"/>
              <a:t>Образец текста</a:t>
            </a:r>
          </a:p>
        </p:txBody>
      </p:sp>
      <p:sp>
        <p:nvSpPr>
          <p:cNvPr id="5" name="Дата 4"/>
          <p:cNvSpPr>
            <a:spLocks noGrp="1"/>
          </p:cNvSpPr>
          <p:nvPr>
            <p:ph type="dt" sz="half" idx="10"/>
          </p:nvPr>
        </p:nvSpPr>
        <p:spPr/>
        <p:txBody>
          <a:bodyPr/>
          <a:lstStyle/>
          <a:p>
            <a:fld id="{F3FB8BB6-5C91-47CE-8971-6E6B03D37BE4}" type="datetimeFigureOut">
              <a:rPr lang="ru-RU" smtClean="0"/>
              <a:t>22.10.2026</a:t>
            </a:fld>
            <a:endParaRPr lang="ru-RU"/>
          </a:p>
        </p:txBody>
      </p:sp>
      <p:sp>
        <p:nvSpPr>
          <p:cNvPr id="6" name="Нижний колонтитул 5"/>
          <p:cNvSpPr>
            <a:spLocks noGrp="1"/>
          </p:cNvSpPr>
          <p:nvPr>
            <p:ph type="ftr" sz="quarter" idx="11"/>
          </p:nvPr>
        </p:nvSpPr>
        <p:spPr/>
        <p:txBody>
          <a:bodyPr/>
          <a:lstStyle/>
          <a:p>
            <a:endParaRPr lang="ru-RU"/>
          </a:p>
        </p:txBody>
      </p:sp>
      <p:sp>
        <p:nvSpPr>
          <p:cNvPr id="7" name="Номер слайда 6"/>
          <p:cNvSpPr>
            <a:spLocks noGrp="1"/>
          </p:cNvSpPr>
          <p:nvPr>
            <p:ph type="sldNum" sz="quarter" idx="12"/>
          </p:nvPr>
        </p:nvSpPr>
        <p:spPr/>
        <p:txBody>
          <a:bodyPr/>
          <a:lstStyle/>
          <a:p>
            <a:fld id="{E8ABA070-E9F6-4452-AC73-01CBE82E82EE}" type="slidenum">
              <a:rPr lang="ru-RU" smtClean="0"/>
              <a:t>‹#›</a:t>
            </a:fld>
            <a:endParaRPr lang="ru-RU"/>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spTree>
      <p:nvGrpSpPr>
        <p:cNvPr id="1" name=""/>
        <p:cNvGrpSpPr/>
        <p:nvPr/>
      </p:nvGrpSpPr>
      <p:grpSpPr>
        <a:xfrm>
          <a:off x="0" y="0"/>
          <a:ext cx="0" cy="0"/>
          <a:chOff x="0" y="0"/>
          <a:chExt cx="0" cy="0"/>
        </a:xfrm>
      </p:grpSpPr>
      <p:sp>
        <p:nvSpPr>
          <p:cNvPr id="2" name="Заголовок 1"/>
          <p:cNvSpPr>
            <a:spLocks noGrp="1"/>
          </p:cNvSpPr>
          <p:nvPr>
            <p:ph type="title"/>
          </p:nvPr>
        </p:nvSpPr>
        <p:spPr/>
        <p:txBody>
          <a:bodyPr/>
          <a:lstStyle/>
          <a:p>
            <a:r>
              <a:rPr lang="ru-RU" smtClean="0"/>
              <a:t>Образец заголовка</a:t>
            </a:r>
            <a:endParaRPr lang="ru-RU"/>
          </a:p>
        </p:txBody>
      </p:sp>
      <p:sp>
        <p:nvSpPr>
          <p:cNvPr id="3" name="Вертикальный текст 2"/>
          <p:cNvSpPr>
            <a:spLocks noGrp="1"/>
          </p:cNvSpPr>
          <p:nvPr>
            <p:ph type="body" orient="vert" idx="1"/>
          </p:nvPr>
        </p:nvSpPr>
        <p:spPr/>
        <p:txBody>
          <a:bodyPr vert="eaVert"/>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Дата 3"/>
          <p:cNvSpPr>
            <a:spLocks noGrp="1"/>
          </p:cNvSpPr>
          <p:nvPr>
            <p:ph type="dt" sz="half" idx="10"/>
          </p:nvPr>
        </p:nvSpPr>
        <p:spPr/>
        <p:txBody>
          <a:bodyPr/>
          <a:lstStyle/>
          <a:p>
            <a:fld id="{F3FB8BB6-5C91-47CE-8971-6E6B03D37BE4}" type="datetimeFigureOut">
              <a:rPr lang="ru-RU" smtClean="0"/>
              <a:t>22.10.2026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E8ABA070-E9F6-4452-AC73-01CBE82E82EE}" type="slidenum">
              <a:rPr lang="ru-RU" smtClean="0"/>
              <a:t>‹#›</a:t>
            </a:fld>
            <a:endParaRPr lang="ru-RU"/>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spTree>
      <p:nvGrpSpPr>
        <p:cNvPr id="1" name=""/>
        <p:cNvGrpSpPr/>
        <p:nvPr/>
      </p:nvGrpSpPr>
      <p:grpSpPr>
        <a:xfrm>
          <a:off x="0" y="0"/>
          <a:ext cx="0" cy="0"/>
          <a:chOff x="0" y="0"/>
          <a:chExt cx="0" cy="0"/>
        </a:xfrm>
      </p:grpSpPr>
      <p:sp>
        <p:nvSpPr>
          <p:cNvPr id="2" name="Вертикальный заголовок 1"/>
          <p:cNvSpPr>
            <a:spLocks noGrp="1"/>
          </p:cNvSpPr>
          <p:nvPr>
            <p:ph type="title" orient="vert"/>
          </p:nvPr>
        </p:nvSpPr>
        <p:spPr>
          <a:xfrm>
            <a:off x="6629400" y="274638"/>
            <a:ext cx="2057400" cy="5851525"/>
          </a:xfrm>
        </p:spPr>
        <p:txBody>
          <a:bodyPr vert="eaVert"/>
          <a:lstStyle/>
          <a:p>
            <a:r>
              <a:rPr lang="ru-RU" smtClean="0"/>
              <a:t>Образец заголовка</a:t>
            </a:r>
            <a:endParaRPr lang="ru-RU"/>
          </a:p>
        </p:txBody>
      </p:sp>
      <p:sp>
        <p:nvSpPr>
          <p:cNvPr id="3" name="Вертикальный текст 2"/>
          <p:cNvSpPr>
            <a:spLocks noGrp="1"/>
          </p:cNvSpPr>
          <p:nvPr>
            <p:ph type="body" orient="vert" idx="1"/>
          </p:nvPr>
        </p:nvSpPr>
        <p:spPr>
          <a:xfrm>
            <a:off x="457200" y="274638"/>
            <a:ext cx="6019800" cy="5851525"/>
          </a:xfrm>
        </p:spPr>
        <p:txBody>
          <a:bodyPr vert="eaVert"/>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Дата 3"/>
          <p:cNvSpPr>
            <a:spLocks noGrp="1"/>
          </p:cNvSpPr>
          <p:nvPr>
            <p:ph type="dt" sz="half" idx="10"/>
          </p:nvPr>
        </p:nvSpPr>
        <p:spPr/>
        <p:txBody>
          <a:bodyPr/>
          <a:lstStyle/>
          <a:p>
            <a:fld id="{F3FB8BB6-5C91-47CE-8971-6E6B03D37BE4}" type="datetimeFigureOut">
              <a:rPr lang="ru-RU" smtClean="0"/>
              <a:t>22.10.2026</a:t>
            </a:fld>
            <a:endParaRPr lang="ru-RU"/>
          </a:p>
        </p:txBody>
      </p:sp>
      <p:sp>
        <p:nvSpPr>
          <p:cNvPr id="5" name="Нижний колонтитул 4"/>
          <p:cNvSpPr>
            <a:spLocks noGrp="1"/>
          </p:cNvSpPr>
          <p:nvPr>
            <p:ph type="ftr" sz="quarter" idx="11"/>
          </p:nvPr>
        </p:nvSpPr>
        <p:spPr/>
        <p:txBody>
          <a:bodyPr/>
          <a:lstStyle/>
          <a:p>
            <a:endParaRPr lang="ru-RU"/>
          </a:p>
        </p:txBody>
      </p:sp>
      <p:sp>
        <p:nvSpPr>
          <p:cNvPr id="6" name="Номер слайда 5"/>
          <p:cNvSpPr>
            <a:spLocks noGrp="1"/>
          </p:cNvSpPr>
          <p:nvPr>
            <p:ph type="sldNum" sz="quarter" idx="12"/>
          </p:nvPr>
        </p:nvSpPr>
        <p:spPr/>
        <p:txBody>
          <a:bodyPr/>
          <a:lstStyle/>
          <a:p>
            <a:fld id="{E8ABA070-E9F6-4452-AC73-01CBE82E82EE}" type="slidenum">
              <a:rPr lang="ru-RU" smtClean="0"/>
              <a:t>‹#›</a:t>
            </a:fld>
            <a:endParaRPr lang="ru-RU"/>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xAndObj">
  <p:cSld name="Заголовок, текст и объект">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274638"/>
            <a:ext cx="8229600" cy="1143000"/>
          </a:xfrm>
        </p:spPr>
        <p:txBody>
          <a:bodyPr/>
          <a:lstStyle/>
          <a:p>
            <a:r>
              <a:rPr lang="ru-RU" smtClean="0"/>
              <a:t>Образец заголовка</a:t>
            </a:r>
            <a:endParaRPr lang="ru-RU"/>
          </a:p>
        </p:txBody>
      </p:sp>
      <p:sp>
        <p:nvSpPr>
          <p:cNvPr id="3" name="Текст 2"/>
          <p:cNvSpPr>
            <a:spLocks noGrp="1"/>
          </p:cNvSpPr>
          <p:nvPr>
            <p:ph type="body" sz="half" idx="1"/>
          </p:nvPr>
        </p:nvSpPr>
        <p:spPr>
          <a:xfrm>
            <a:off x="457200" y="1600200"/>
            <a:ext cx="4038600" cy="4525963"/>
          </a:xfrm>
        </p:spPr>
        <p:txBody>
          <a:body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Содержимое 3"/>
          <p:cNvSpPr>
            <a:spLocks noGrp="1"/>
          </p:cNvSpPr>
          <p:nvPr>
            <p:ph sz="half" idx="2"/>
          </p:nvPr>
        </p:nvSpPr>
        <p:spPr>
          <a:xfrm>
            <a:off x="4648200" y="1600200"/>
            <a:ext cx="4038600" cy="4525963"/>
          </a:xfrm>
        </p:spPr>
        <p:txBody>
          <a:body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5" name="Rectangle 4"/>
          <p:cNvSpPr>
            <a:spLocks noGrp="1" noChangeArrowheads="1"/>
          </p:cNvSpPr>
          <p:nvPr>
            <p:ph type="dt" sz="half" idx="10"/>
          </p:nvPr>
        </p:nvSpPr>
        <p:spPr>
          <a:ln/>
        </p:spPr>
        <p:txBody>
          <a:bodyPr/>
          <a:lstStyle>
            <a:lvl1pPr>
              <a:defRPr/>
            </a:lvl1pPr>
          </a:lstStyle>
          <a:p>
            <a:pPr>
              <a:defRPr/>
            </a:pPr>
            <a:endParaRPr lang="ru-RU"/>
          </a:p>
        </p:txBody>
      </p:sp>
      <p:sp>
        <p:nvSpPr>
          <p:cNvPr id="6" name="Rectangle 5"/>
          <p:cNvSpPr>
            <a:spLocks noGrp="1" noChangeArrowheads="1"/>
          </p:cNvSpPr>
          <p:nvPr>
            <p:ph type="ftr" sz="quarter" idx="11"/>
          </p:nvPr>
        </p:nvSpPr>
        <p:spPr>
          <a:ln/>
        </p:spPr>
        <p:txBody>
          <a:bodyPr/>
          <a:lstStyle>
            <a:lvl1pPr>
              <a:defRPr/>
            </a:lvl1pPr>
          </a:lstStyle>
          <a:p>
            <a:pPr>
              <a:defRPr/>
            </a:pPr>
            <a:endParaRPr lang="ru-RU"/>
          </a:p>
        </p:txBody>
      </p:sp>
      <p:sp>
        <p:nvSpPr>
          <p:cNvPr id="7" name="Rectangle 6"/>
          <p:cNvSpPr>
            <a:spLocks noGrp="1" noChangeArrowheads="1"/>
          </p:cNvSpPr>
          <p:nvPr>
            <p:ph type="sldNum" sz="quarter" idx="12"/>
          </p:nvPr>
        </p:nvSpPr>
        <p:spPr>
          <a:ln/>
        </p:spPr>
        <p:txBody>
          <a:bodyPr/>
          <a:lstStyle>
            <a:lvl1pPr>
              <a:defRPr/>
            </a:lvl1pPr>
          </a:lstStyle>
          <a:p>
            <a:pPr>
              <a:defRPr/>
            </a:pPr>
            <a:fld id="{D237BF36-D4CF-46F1-AFBC-06A887148B36}" type="slidenum">
              <a:rPr lang="ru-RU"/>
              <a:pPr>
                <a:defRPr/>
              </a:pPr>
              <a:t>‹#›</a:t>
            </a:fld>
            <a:endParaRPr lang="ru-RU"/>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ru-RU" smtClean="0"/>
              <a:t>Образец заголовка</a:t>
            </a:r>
            <a:endParaRPr lang="ru-RU"/>
          </a:p>
        </p:txBody>
      </p:sp>
      <p:sp>
        <p:nvSpPr>
          <p:cNvPr id="3" name="Текст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ru-RU" smtClean="0"/>
              <a:t>Образец текста</a:t>
            </a:r>
          </a:p>
          <a:p>
            <a:pPr lvl="1"/>
            <a:r>
              <a:rPr lang="ru-RU" smtClean="0"/>
              <a:t>Второй уровень</a:t>
            </a:r>
          </a:p>
          <a:p>
            <a:pPr lvl="2"/>
            <a:r>
              <a:rPr lang="ru-RU" smtClean="0"/>
              <a:t>Третий уровень</a:t>
            </a:r>
          </a:p>
          <a:p>
            <a:pPr lvl="3"/>
            <a:r>
              <a:rPr lang="ru-RU" smtClean="0"/>
              <a:t>Четвертый уровень</a:t>
            </a:r>
          </a:p>
          <a:p>
            <a:pPr lvl="4"/>
            <a:r>
              <a:rPr lang="ru-RU" smtClean="0"/>
              <a:t>Пятый уровень</a:t>
            </a:r>
            <a:endParaRPr lang="ru-RU"/>
          </a:p>
        </p:txBody>
      </p:sp>
      <p:sp>
        <p:nvSpPr>
          <p:cNvPr id="4" name="Дата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3FB8BB6-5C91-47CE-8971-6E6B03D37BE4}" type="datetimeFigureOut">
              <a:rPr lang="ru-RU" smtClean="0"/>
              <a:t>22.10.2026</a:t>
            </a:fld>
            <a:endParaRPr lang="ru-RU"/>
          </a:p>
        </p:txBody>
      </p:sp>
      <p:sp>
        <p:nvSpPr>
          <p:cNvPr id="5" name="Нижний колонтитул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ru-RU"/>
          </a:p>
        </p:txBody>
      </p:sp>
      <p:sp>
        <p:nvSpPr>
          <p:cNvPr id="6" name="Номер слайда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8ABA070-E9F6-4452-AC73-01CBE82E82EE}" type="slidenum">
              <a:rPr lang="ru-RU" smtClean="0"/>
              <a:t>‹#›</a:t>
            </a:fld>
            <a:endParaRPr lang="ru-RU"/>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microsoft.com/office/2007/relationships/media" Target="../media/media1.mp3"/><Relationship Id="rId4" Type="http://schemas.openxmlformats.org/officeDocument/2006/relationships/video" Target="../media/media1.mp3"/><Relationship Id="rId5"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microsoft.com/office/2007/relationships/media" Target="../media/media2.mp3"/><Relationship Id="rId4" Type="http://schemas.openxmlformats.org/officeDocument/2006/relationships/video" Target="../media/media2.mp3"/><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eg"/><Relationship Id="rId3" Type="http://schemas.openxmlformats.org/officeDocument/2006/relationships/notesSlide" Target="../notesSlides/notesSlide3.xml"/><Relationship Id="rId4" Type="http://schemas.microsoft.com/office/2007/relationships/media" Target="../media/media3.mp3"/><Relationship Id="rId5" Type="http://schemas.openxmlformats.org/officeDocument/2006/relationships/video" Target="../media/media3.mp3"/><Relationship Id="rId6"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microsoft.com/office/2007/relationships/media" Target="../media/media4.mp3"/><Relationship Id="rId4" Type="http://schemas.openxmlformats.org/officeDocument/2006/relationships/video" Target="../media/media4.mp3"/><Relationship Id="rId5" Type="http://schemas.openxmlformats.org/officeDocument/2006/relationships/image" Target="../media/image1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microsoft.com/office/2007/relationships/media" Target="../media/media5.mp3"/><Relationship Id="rId4" Type="http://schemas.openxmlformats.org/officeDocument/2006/relationships/video" Target="../media/media5.mp3"/><Relationship Id="rId5" Type="http://schemas.openxmlformats.org/officeDocument/2006/relationships/image" Target="../media/image1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eg"/><Relationship Id="rId3" Type="http://schemas.openxmlformats.org/officeDocument/2006/relationships/notesSlide" Target="../notesSlides/notesSlide6.xml"/><Relationship Id="rId4" Type="http://schemas.microsoft.com/office/2007/relationships/media" Target="../media/media6.mp3"/><Relationship Id="rId5" Type="http://schemas.openxmlformats.org/officeDocument/2006/relationships/video" Target="../media/media6.mp3"/><Relationship Id="rId6"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microsoft.com/office/2007/relationships/media" Target="../media/media7.mp3"/><Relationship Id="rId4" Type="http://schemas.openxmlformats.org/officeDocument/2006/relationships/video" Target="../media/media7.mp3"/><Relationship Id="rId5"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eg"/><Relationship Id="rId3" Type="http://schemas.openxmlformats.org/officeDocument/2006/relationships/notesSlide" Target="../notesSlides/notesSlide8.xml"/><Relationship Id="rId4" Type="http://schemas.microsoft.com/office/2007/relationships/media" Target="../media/media8.mp3"/><Relationship Id="rId5" Type="http://schemas.openxmlformats.org/officeDocument/2006/relationships/video" Target="../media/media8.mp3"/><Relationship Id="rId6"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microsoft.com/office/2007/relationships/media" Target="../media/media9.mp3"/><Relationship Id="rId4" Type="http://schemas.openxmlformats.org/officeDocument/2006/relationships/video" Target="../media/media9.mp3"/><Relationship Id="rId5" Type="http://schemas.openxmlformats.org/officeDocument/2006/relationships/image" Target="../media/image1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microsoft.com/office/2007/relationships/media" Target="../media/media10.mp3"/><Relationship Id="rId4" Type="http://schemas.openxmlformats.org/officeDocument/2006/relationships/video" Target="../media/media10.mp3"/><Relationship Id="rId5" Type="http://schemas.openxmlformats.org/officeDocument/2006/relationships/image" Target="../media/image1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microsoft.com/office/2007/relationships/media" Target="../media/media11.mp3"/><Relationship Id="rId4" Type="http://schemas.openxmlformats.org/officeDocument/2006/relationships/video" Target="../media/media11.mp3"/><Relationship Id="rId5" Type="http://schemas.openxmlformats.org/officeDocument/2006/relationships/image" Target="../media/image1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microsoft.com/office/2007/relationships/media" Target="../media/media12.mp3"/><Relationship Id="rId4" Type="http://schemas.openxmlformats.org/officeDocument/2006/relationships/video" Target="../media/media12.mp3"/><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microsoft.com/office/2007/relationships/media" Target="../media/media13.mp3"/><Relationship Id="rId4" Type="http://schemas.openxmlformats.org/officeDocument/2006/relationships/video" Target="../media/media13.mp3"/><Relationship Id="rId5" Type="http://schemas.openxmlformats.org/officeDocument/2006/relationships/image" Target="../media/image1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notesSlide" Target="../notesSlides/notesSlide14.xml"/><Relationship Id="rId4" Type="http://schemas.microsoft.com/office/2007/relationships/media" Target="../media/media14.mp3"/><Relationship Id="rId5" Type="http://schemas.openxmlformats.org/officeDocument/2006/relationships/video" Target="../media/media14.mp3"/><Relationship Id="rId6"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microsoft.com/office/2007/relationships/media" Target="../media/media15.mp3"/><Relationship Id="rId4" Type="http://schemas.openxmlformats.org/officeDocument/2006/relationships/video" Target="../media/media15.mp3"/><Relationship Id="rId5"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microsoft.com/office/2007/relationships/media" Target="../media/media16.mp3"/><Relationship Id="rId4" Type="http://schemas.openxmlformats.org/officeDocument/2006/relationships/video" Target="../media/media16.mp3"/><Relationship Id="rId5"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microsoft.com/office/2007/relationships/media" Target="../media/media17.mp3"/><Relationship Id="rId4" Type="http://schemas.openxmlformats.org/officeDocument/2006/relationships/video" Target="../media/media17.mp3"/><Relationship Id="rId5"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 Id="rId3" Type="http://schemas.openxmlformats.org/officeDocument/2006/relationships/notesSlide" Target="../notesSlides/notesSlide18.xml"/><Relationship Id="rId4" Type="http://schemas.microsoft.com/office/2007/relationships/media" Target="../media/media18.mp3"/><Relationship Id="rId5" Type="http://schemas.openxmlformats.org/officeDocument/2006/relationships/video" Target="../media/media18.mp3"/><Relationship Id="rId6"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jpeg"/><Relationship Id="rId3" Type="http://schemas.openxmlformats.org/officeDocument/2006/relationships/notesSlide" Target="../notesSlides/notesSlide19.xml"/><Relationship Id="rId4" Type="http://schemas.microsoft.com/office/2007/relationships/media" Target="../media/media19.mp3"/><Relationship Id="rId5" Type="http://schemas.openxmlformats.org/officeDocument/2006/relationships/video" Target="../media/media19.mp3"/><Relationship Id="rId6"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microsoft.com/office/2007/relationships/media" Target="../media/media20.mp3"/><Relationship Id="rId4" Type="http://schemas.openxmlformats.org/officeDocument/2006/relationships/video" Target="../media/media20.mp3"/><Relationship Id="rId5" Type="http://schemas.openxmlformats.org/officeDocument/2006/relationships/image" Target="../media/image1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eg"/><Relationship Id="rId3" Type="http://schemas.openxmlformats.org/officeDocument/2006/relationships/notesSlide" Target="../notesSlides/notesSlide21.xml"/><Relationship Id="rId4" Type="http://schemas.microsoft.com/office/2007/relationships/media" Target="../media/media21.mp3"/><Relationship Id="rId5" Type="http://schemas.openxmlformats.org/officeDocument/2006/relationships/video" Target="../media/media21.mp3"/><Relationship Id="rId6" Type="http://schemas.openxmlformats.org/officeDocument/2006/relationships/image" Target="../media/image1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eg"/><Relationship Id="rId3" Type="http://schemas.openxmlformats.org/officeDocument/2006/relationships/notesSlide" Target="../notesSlides/notesSlide22.xml"/><Relationship Id="rId4" Type="http://schemas.microsoft.com/office/2007/relationships/media" Target="../media/media22.mp3"/><Relationship Id="rId5" Type="http://schemas.openxmlformats.org/officeDocument/2006/relationships/video" Target="../media/media22.mp3"/><Relationship Id="rId6"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microsoft.com/office/2007/relationships/media" Target="../media/media23.mp3"/><Relationship Id="rId4" Type="http://schemas.openxmlformats.org/officeDocument/2006/relationships/video" Target="../media/media23.mp3"/><Relationship Id="rId5"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microsoft.com/office/2007/relationships/media" Target="../media/media24.mp3"/><Relationship Id="rId4" Type="http://schemas.openxmlformats.org/officeDocument/2006/relationships/video" Target="../media/media24.mp3"/><Relationship Id="rId5" Type="http://schemas.openxmlformats.org/officeDocument/2006/relationships/image" Target="../media/image1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9.jpeg"/><Relationship Id="rId3" Type="http://schemas.openxmlformats.org/officeDocument/2006/relationships/notesSlide" Target="../notesSlides/notesSlide25.xml"/><Relationship Id="rId4" Type="http://schemas.microsoft.com/office/2007/relationships/media" Target="../media/media25.mp3"/><Relationship Id="rId5" Type="http://schemas.openxmlformats.org/officeDocument/2006/relationships/video" Target="../media/media25.mp3"/><Relationship Id="rId6"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microsoft.com/office/2007/relationships/media" Target="../media/media26.mp3"/><Relationship Id="rId4" Type="http://schemas.openxmlformats.org/officeDocument/2006/relationships/video" Target="../media/media26.mp3"/><Relationship Id="rId5"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eg"/><Relationship Id="rId3" Type="http://schemas.openxmlformats.org/officeDocument/2006/relationships/notesSlide" Target="../notesSlides/notesSlide27.xml"/><Relationship Id="rId4" Type="http://schemas.microsoft.com/office/2007/relationships/media" Target="../media/media27.mp3"/><Relationship Id="rId5" Type="http://schemas.openxmlformats.org/officeDocument/2006/relationships/video" Target="../media/media27.mp3"/><Relationship Id="rId6"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microsoft.com/office/2007/relationships/media" Target="../media/media28.mp3"/><Relationship Id="rId4" Type="http://schemas.openxmlformats.org/officeDocument/2006/relationships/video" Target="../media/media28.mp3"/><Relationship Id="rId5" Type="http://schemas.openxmlformats.org/officeDocument/2006/relationships/image" Target="../media/image1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microsoft.com/office/2007/relationships/media" Target="../media/media29.mp3"/><Relationship Id="rId4" Type="http://schemas.openxmlformats.org/officeDocument/2006/relationships/video" Target="../media/media29.mp3"/><Relationship Id="rId5"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Заголовок 1"/>
          <p:cNvSpPr>
            <a:spLocks noGrp="1"/>
          </p:cNvSpPr>
          <p:nvPr>
            <p:ph type="ctrTitle"/>
          </p:nvPr>
        </p:nvSpPr>
        <p:spPr/>
        <p:txBody>
          <a:bodyPr/>
          <a:lstStyle/>
          <a:p>
            <a:r>
              <a:rPr lang="ru-RU" dirty="0" smtClean="0"/>
              <a:t>Другие устройства системного блока </a:t>
            </a:r>
            <a:r>
              <a:rPr lang="en-US" dirty="0" smtClean="0"/>
              <a:t>IBM PC</a:t>
            </a:r>
            <a:endParaRPr lang="ru-RU" dirty="0"/>
          </a:p>
        </p:txBody>
      </p:sp>
      <p:sp>
        <p:nvSpPr>
          <p:cNvPr id="3" name="Подзаголовок 2"/>
          <p:cNvSpPr>
            <a:spLocks noGrp="1"/>
          </p:cNvSpPr>
          <p:nvPr>
            <p:ph type="subTitle" idx="1"/>
          </p:nvPr>
        </p:nvSpPr>
        <p:spPr/>
        <p:txBody>
          <a:bodyPr/>
          <a:lstStyle/>
          <a:p>
            <a:endParaRPr lang="ru-RU"/>
          </a:p>
        </p:txBody>
      </p:sp>
      <p:pic>
        <p:nvPicPr>
          <p:cNvPr id="4" name="slide_01.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4"/>
                                        </p:tgtEl>
                                      </p:cBhvr>
                                    </p:cmd>
                                  </p:childTnLst>
                                </p:cTn>
                              </p:par>
                            </p:childTnLst>
                          </p:cTn>
                        </p:par>
                      </p:childTnLst>
                    </p:cTn>
                  </p:par>
                </p:childTnLst>
              </p:cTn>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242" name="Rectangle 2"/>
          <p:cNvSpPr>
            <a:spLocks noGrp="1" noChangeArrowheads="1"/>
          </p:cNvSpPr>
          <p:nvPr>
            <p:ph type="title"/>
          </p:nvPr>
        </p:nvSpPr>
        <p:spPr>
          <a:xfrm>
            <a:off x="468313" y="115888"/>
            <a:ext cx="8229600" cy="633412"/>
          </a:xfrm>
        </p:spPr>
        <p:txBody>
          <a:bodyPr>
            <a:normAutofit fontScale="90000"/>
          </a:bodyPr>
          <a:lstStyle/>
          <a:p>
            <a:pPr eaLnBrk="1" hangingPunct="1"/>
            <a:r>
              <a:rPr lang="ru-RU" sz="4000" smtClean="0"/>
              <a:t>Шины</a:t>
            </a:r>
          </a:p>
        </p:txBody>
      </p:sp>
      <p:sp>
        <p:nvSpPr>
          <p:cNvPr id="10243" name="Rectangle 3"/>
          <p:cNvSpPr>
            <a:spLocks noGrp="1" noChangeArrowheads="1"/>
          </p:cNvSpPr>
          <p:nvPr>
            <p:ph type="body" idx="1"/>
          </p:nvPr>
        </p:nvSpPr>
        <p:spPr>
          <a:xfrm>
            <a:off x="0" y="692150"/>
            <a:ext cx="9036050" cy="6165850"/>
          </a:xfrm>
        </p:spPr>
        <p:txBody>
          <a:bodyPr/>
          <a:lstStyle/>
          <a:p>
            <a:pPr algn="just" eaLnBrk="1" hangingPunct="1">
              <a:lnSpc>
                <a:spcPct val="80000"/>
              </a:lnSpc>
            </a:pPr>
            <a:r>
              <a:rPr lang="ru-RU" sz="2000" smtClean="0">
                <a:solidFill>
                  <a:srgbClr val="FF0000"/>
                </a:solidFill>
              </a:rPr>
              <a:t>Компьютерная ши́на</a:t>
            </a:r>
            <a:r>
              <a:rPr lang="ru-RU" sz="2000" smtClean="0"/>
              <a:t> (англ. computer bus) в архитектуре компьютера — подсистема, служащая для передачи данных между функциональными блоками компьютера. </a:t>
            </a:r>
          </a:p>
          <a:p>
            <a:pPr algn="just" eaLnBrk="1" hangingPunct="1">
              <a:lnSpc>
                <a:spcPct val="80000"/>
              </a:lnSpc>
            </a:pPr>
            <a:r>
              <a:rPr lang="ru-RU" sz="2000" smtClean="0"/>
              <a:t>В отличие от соединения точка-точка, к шине обычно </a:t>
            </a:r>
            <a:r>
              <a:rPr lang="ru-RU" sz="2000" smtClean="0">
                <a:solidFill>
                  <a:srgbClr val="0070C0"/>
                </a:solidFill>
              </a:rPr>
              <a:t>можно подключить несколько устройств по одному набору проводников</a:t>
            </a:r>
            <a:r>
              <a:rPr lang="ru-RU" sz="2000" smtClean="0"/>
              <a:t>. Каждая шина определяет свой набор коннекторов (соединений) для физического подключения устройств, карт и кабелей.</a:t>
            </a:r>
          </a:p>
          <a:p>
            <a:pPr algn="just" eaLnBrk="1" hangingPunct="1">
              <a:lnSpc>
                <a:spcPct val="80000"/>
              </a:lnSpc>
            </a:pPr>
            <a:r>
              <a:rPr lang="ru-RU" sz="2000" smtClean="0"/>
              <a:t>Компьютерные шины ранних вычислительных машин представляли собой жгуты (</a:t>
            </a:r>
            <a:r>
              <a:rPr lang="ru-RU" sz="2000" smtClean="0">
                <a:solidFill>
                  <a:srgbClr val="7030A0"/>
                </a:solidFill>
              </a:rPr>
              <a:t>пучки соединительных проводов — сигнальных и питания, для компактности и удобства обслуживания увязанных вместе</a:t>
            </a:r>
            <a:r>
              <a:rPr lang="ru-RU" sz="2000" smtClean="0"/>
              <a:t>), реализующие параллельные электрические шины с несколькими подключениями. В современных вычислительных системах данный термин используется для любых физических механизмов, предоставляющих такую же логическую функциональность, как </a:t>
            </a:r>
            <a:r>
              <a:rPr lang="ru-RU" sz="2000" smtClean="0">
                <a:solidFill>
                  <a:srgbClr val="7030A0"/>
                </a:solidFill>
              </a:rPr>
              <a:t>параллельные компьютерные шины</a:t>
            </a:r>
            <a:r>
              <a:rPr lang="ru-RU" sz="2000" smtClean="0"/>
              <a:t>.</a:t>
            </a:r>
          </a:p>
          <a:p>
            <a:pPr algn="just" eaLnBrk="1" hangingPunct="1">
              <a:lnSpc>
                <a:spcPct val="80000"/>
              </a:lnSpc>
            </a:pPr>
            <a:r>
              <a:rPr lang="ru-RU" sz="2000" smtClean="0"/>
              <a:t>Современные компьютерные шины используют как параллельные, так и последовательные соединения и могут иметь параллельные (англ. multidrop) и цепные (англ. daisy chain) топологии. В случае USB и некоторых других шин могут также использоваться хабы (концентраторы).</a:t>
            </a:r>
          </a:p>
        </p:txBody>
      </p:sp>
      <p:sp>
        <p:nvSpPr>
          <p:cNvPr id="4" name="Номер слайда 3"/>
          <p:cNvSpPr>
            <a:spLocks noGrp="1"/>
          </p:cNvSpPr>
          <p:nvPr>
            <p:ph type="sldNum" sz="quarter" idx="12"/>
          </p:nvPr>
        </p:nvSpPr>
        <p:spPr/>
        <p:txBody>
          <a:bodyPr/>
          <a:lstStyle/>
          <a:p>
            <a:pPr>
              <a:defRPr/>
            </a:pPr>
            <a:fld id="{EAEC346F-F062-4865-AA78-21B699532AE0}" type="slidenum">
              <a:rPr lang="ru-RU" smtClean="0"/>
              <a:pPr>
                <a:defRPr/>
              </a:pPr>
              <a:t>2</a:t>
            </a:fld>
            <a:endParaRPr lang="ru-RU"/>
          </a:p>
        </p:txBody>
      </p:sp>
      <p:pic>
        <p:nvPicPr>
          <p:cNvPr id="10244" name="slide_02.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0244"/>
                                        </p:tgtEl>
                                      </p:cBhvr>
                                    </p:cmd>
                                  </p:childTnLst>
                                </p:cTn>
                              </p:par>
                            </p:childTnLst>
                          </p:cTn>
                        </p:par>
                      </p:childTnLst>
                    </p:cTn>
                  </p:par>
                </p:childTnLst>
              </p:cTn>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266" name="Picture 4" descr="800px-PCIExpress"/>
          <p:cNvPicPr>
            <a:picLocks noChangeAspect="1" noChangeArrowheads="1"/>
          </p:cNvPicPr>
          <p:nvPr/>
        </p:nvPicPr>
        <p:blipFill>
          <a:blip r:embed="rId2" cstate="print"/>
          <a:srcRect/>
          <a:stretch>
            <a:fillRect/>
          </a:stretch>
        </p:blipFill>
        <p:spPr bwMode="auto">
          <a:xfrm>
            <a:off x="900113" y="1341438"/>
            <a:ext cx="7620000" cy="5172075"/>
          </a:xfrm>
          <a:prstGeom prst="rect">
            <a:avLst/>
          </a:prstGeom>
          <a:noFill/>
          <a:ln w="9525">
            <a:noFill/>
            <a:miter lim="800000"/>
            <a:headEnd/>
            <a:tailEnd/>
          </a:ln>
        </p:spPr>
      </p:pic>
      <p:sp>
        <p:nvSpPr>
          <p:cNvPr id="11267" name="Rectangle 5"/>
          <p:cNvSpPr>
            <a:spLocks noChangeArrowheads="1"/>
          </p:cNvSpPr>
          <p:nvPr/>
        </p:nvSpPr>
        <p:spPr bwMode="auto">
          <a:xfrm>
            <a:off x="1547813" y="333375"/>
            <a:ext cx="6019800" cy="641350"/>
          </a:xfrm>
          <a:prstGeom prst="rect">
            <a:avLst/>
          </a:prstGeom>
          <a:noFill/>
          <a:ln w="9525">
            <a:noFill/>
            <a:miter lim="800000"/>
            <a:headEnd/>
            <a:tailEnd/>
          </a:ln>
        </p:spPr>
        <p:txBody>
          <a:bodyPr>
            <a:spAutoFit/>
          </a:bodyPr>
          <a:lstStyle/>
          <a:p>
            <a:r>
              <a:rPr lang="ru-RU"/>
              <a:t>Разъёмы шины </a:t>
            </a:r>
            <a:r>
              <a:rPr lang="ru-RU">
                <a:solidFill>
                  <a:srgbClr val="00B050"/>
                </a:solidFill>
              </a:rPr>
              <a:t>PCI Express </a:t>
            </a:r>
            <a:r>
              <a:rPr lang="ru-RU"/>
              <a:t>(сверху вниз: x4, x16, x1 и x16). Ниже — обычный 32-битный разъём шины PCI.</a:t>
            </a:r>
          </a:p>
        </p:txBody>
      </p:sp>
      <p:sp>
        <p:nvSpPr>
          <p:cNvPr id="4" name="Номер слайда 3"/>
          <p:cNvSpPr>
            <a:spLocks noGrp="1"/>
          </p:cNvSpPr>
          <p:nvPr>
            <p:ph type="sldNum" sz="quarter" idx="12"/>
          </p:nvPr>
        </p:nvSpPr>
        <p:spPr/>
        <p:txBody>
          <a:bodyPr/>
          <a:lstStyle/>
          <a:p>
            <a:pPr>
              <a:defRPr/>
            </a:pPr>
            <a:fld id="{5B23B133-9196-4E31-ABCE-DFFD23D934D1}" type="slidenum">
              <a:rPr lang="ru-RU" smtClean="0"/>
              <a:pPr>
                <a:defRPr/>
              </a:pPr>
              <a:t>3</a:t>
            </a:fld>
            <a:endParaRPr lang="ru-RU"/>
          </a:p>
        </p:txBody>
      </p:sp>
      <p:pic>
        <p:nvPicPr>
          <p:cNvPr id="11268" name="slide_03.mp3">
            <a:hlinkClick r:id="" action="ppaction://media"/>
          </p:cNvPr>
          <p:cNvPicPr>
            <a:picLocks noChangeAspect="1"/>
          </p:cNvPicPr>
          <p:nvPr>
            <a:audioFile r:link="rId5"/>
            <p:extLst>
              <p:ext uri="{DAA4B4D4-6D71-4841-9C94-3DE7FCFB9230}">
                <p14:media xmlns:p14="http://schemas.microsoft.com/office/powerpoint/2010/main" r:embed="rId4"/>
              </p:ext>
            </p:extLst>
          </p:nvPr>
        </p:nvPicPr>
        <p:blipFill>
          <a:blip r:embed="rId6"/>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1268"/>
                                        </p:tgtEl>
                                      </p:cBhvr>
                                    </p:cmd>
                                  </p:childTnLst>
                                </p:cTn>
                              </p:par>
                            </p:childTnLst>
                          </p:cTn>
                        </p:par>
                      </p:childTnLst>
                    </p:cTn>
                  </p:par>
                </p:childTnLst>
              </p:cTn>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290" name="Rectangle 3"/>
          <p:cNvSpPr>
            <a:spLocks noGrp="1" noChangeArrowheads="1"/>
          </p:cNvSpPr>
          <p:nvPr>
            <p:ph type="body" idx="1"/>
          </p:nvPr>
        </p:nvSpPr>
        <p:spPr>
          <a:xfrm>
            <a:off x="468313" y="692150"/>
            <a:ext cx="8229600" cy="4525963"/>
          </a:xfrm>
        </p:spPr>
        <p:txBody>
          <a:bodyPr/>
          <a:lstStyle/>
          <a:p>
            <a:pPr algn="just" eaLnBrk="1" hangingPunct="1">
              <a:lnSpc>
                <a:spcPct val="90000"/>
              </a:lnSpc>
            </a:pPr>
            <a:r>
              <a:rPr lang="ru-RU" sz="2400" smtClean="0"/>
              <a:t>Шины бывают </a:t>
            </a:r>
            <a:r>
              <a:rPr lang="ru-RU" sz="2400" smtClean="0">
                <a:solidFill>
                  <a:srgbClr val="00B050"/>
                </a:solidFill>
              </a:rPr>
              <a:t>параллельными</a:t>
            </a:r>
            <a:r>
              <a:rPr lang="ru-RU" sz="2400" smtClean="0"/>
              <a:t> (данные переносятся по словам, распределенные между несколькими проводниками) и </a:t>
            </a:r>
            <a:r>
              <a:rPr lang="ru-RU" sz="2400" smtClean="0">
                <a:solidFill>
                  <a:srgbClr val="00B050"/>
                </a:solidFill>
              </a:rPr>
              <a:t>последовательными</a:t>
            </a:r>
            <a:r>
              <a:rPr lang="ru-RU" sz="2400" smtClean="0"/>
              <a:t> (данные переносятся побитово).</a:t>
            </a:r>
          </a:p>
          <a:p>
            <a:pPr algn="just" eaLnBrk="1" hangingPunct="1">
              <a:lnSpc>
                <a:spcPct val="90000"/>
              </a:lnSpc>
            </a:pPr>
            <a:endParaRPr lang="ru-RU" sz="2400" smtClean="0"/>
          </a:p>
          <a:p>
            <a:pPr algn="just" eaLnBrk="1" hangingPunct="1">
              <a:lnSpc>
                <a:spcPct val="90000"/>
              </a:lnSpc>
            </a:pPr>
            <a:r>
              <a:rPr lang="ru-RU" sz="2400" smtClean="0"/>
              <a:t>Большинство компьютеров имеет как </a:t>
            </a:r>
            <a:r>
              <a:rPr lang="ru-RU" sz="2400" smtClean="0">
                <a:solidFill>
                  <a:srgbClr val="0070C0"/>
                </a:solidFill>
              </a:rPr>
              <a:t>внутренние</a:t>
            </a:r>
            <a:r>
              <a:rPr lang="ru-RU" sz="2400" smtClean="0"/>
              <a:t>, так и </a:t>
            </a:r>
            <a:r>
              <a:rPr lang="ru-RU" sz="2400" smtClean="0">
                <a:solidFill>
                  <a:srgbClr val="0070C0"/>
                </a:solidFill>
              </a:rPr>
              <a:t>внешние</a:t>
            </a:r>
            <a:r>
              <a:rPr lang="ru-RU" sz="2400" smtClean="0"/>
              <a:t> шины. Внутренняя шина подключает все внутренние компоненты компьютера к материнской плате (и, следовательно, к процессору и памяти). Такой тип шин также называют </a:t>
            </a:r>
            <a:r>
              <a:rPr lang="ru-RU" sz="2400" smtClean="0">
                <a:solidFill>
                  <a:srgbClr val="7030A0"/>
                </a:solidFill>
              </a:rPr>
              <a:t>локальной шиной</a:t>
            </a:r>
            <a:r>
              <a:rPr lang="ru-RU" sz="2400" smtClean="0"/>
              <a:t>, поскольку она служит для подключения локальных устройств. </a:t>
            </a:r>
            <a:r>
              <a:rPr lang="ru-RU" sz="2400" smtClean="0">
                <a:solidFill>
                  <a:srgbClr val="7030A0"/>
                </a:solidFill>
              </a:rPr>
              <a:t>Внешняя шина</a:t>
            </a:r>
            <a:r>
              <a:rPr lang="ru-RU" sz="2400" smtClean="0"/>
              <a:t> подключает внешнюю периферию к материнской плате.</a:t>
            </a:r>
          </a:p>
        </p:txBody>
      </p:sp>
      <p:sp>
        <p:nvSpPr>
          <p:cNvPr id="3" name="Номер слайда 2"/>
          <p:cNvSpPr>
            <a:spLocks noGrp="1"/>
          </p:cNvSpPr>
          <p:nvPr>
            <p:ph type="sldNum" sz="quarter" idx="12"/>
          </p:nvPr>
        </p:nvSpPr>
        <p:spPr/>
        <p:txBody>
          <a:bodyPr/>
          <a:lstStyle/>
          <a:p>
            <a:pPr>
              <a:defRPr/>
            </a:pPr>
            <a:fld id="{EAEC346F-F062-4865-AA78-21B699532AE0}" type="slidenum">
              <a:rPr lang="ru-RU" smtClean="0"/>
              <a:pPr>
                <a:defRPr/>
              </a:pPr>
              <a:t>4</a:t>
            </a:fld>
            <a:endParaRPr lang="ru-RU"/>
          </a:p>
        </p:txBody>
      </p:sp>
      <p:pic>
        <p:nvPicPr>
          <p:cNvPr id="12291" name="slide_04.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2291"/>
                                        </p:tgtEl>
                                      </p:cBhvr>
                                    </p:cmd>
                                  </p:childTnLst>
                                </p:cTn>
                              </p:par>
                            </p:childTnLst>
                          </p:cTn>
                        </p:par>
                      </p:childTnLst>
                    </p:cTn>
                  </p:par>
                </p:childTnLst>
              </p:cTn>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314" name="Rectangle 3"/>
          <p:cNvSpPr>
            <a:spLocks noGrp="1" noChangeArrowheads="1"/>
          </p:cNvSpPr>
          <p:nvPr>
            <p:ph type="body" idx="1"/>
          </p:nvPr>
        </p:nvSpPr>
        <p:spPr>
          <a:xfrm>
            <a:off x="179388" y="188913"/>
            <a:ext cx="8785225" cy="6840537"/>
          </a:xfrm>
        </p:spPr>
        <p:txBody>
          <a:bodyPr/>
          <a:lstStyle/>
          <a:p>
            <a:pPr algn="just" eaLnBrk="1" hangingPunct="1">
              <a:lnSpc>
                <a:spcPct val="80000"/>
              </a:lnSpc>
            </a:pPr>
            <a:r>
              <a:rPr lang="ru-RU" sz="2000" smtClean="0">
                <a:solidFill>
                  <a:srgbClr val="FF0000"/>
                </a:solidFill>
              </a:rPr>
              <a:t>ISA</a:t>
            </a:r>
            <a:r>
              <a:rPr lang="ru-RU" sz="2000" smtClean="0"/>
              <a:t> (от англ. Industry Standard Architecture, ISA bus, произносится как ай-эс-эй) — </a:t>
            </a:r>
            <a:r>
              <a:rPr lang="ru-RU" sz="2000" smtClean="0">
                <a:solidFill>
                  <a:srgbClr val="7030A0"/>
                </a:solidFill>
              </a:rPr>
              <a:t>8- или 16-разрядная </a:t>
            </a:r>
            <a:r>
              <a:rPr lang="ru-RU" sz="2000" smtClean="0"/>
              <a:t>шина ввода-вывода IBM PC-совместимых компьютеров. Служит для подключения плат расширения стандарта ISA. Конструктивно выполняется в виде 62- или 98-контактного разъёма на материнской плате.</a:t>
            </a:r>
          </a:p>
          <a:p>
            <a:pPr algn="just" eaLnBrk="1" hangingPunct="1">
              <a:lnSpc>
                <a:spcPct val="80000"/>
              </a:lnSpc>
            </a:pPr>
            <a:r>
              <a:rPr lang="ru-RU" sz="2000" smtClean="0"/>
              <a:t>Впервые шина ISA появилась на компьютерах IBM PC в </a:t>
            </a:r>
            <a:r>
              <a:rPr lang="ru-RU" sz="2000" smtClean="0">
                <a:solidFill>
                  <a:srgbClr val="FF0000"/>
                </a:solidFill>
              </a:rPr>
              <a:t>1981</a:t>
            </a:r>
            <a:r>
              <a:rPr lang="ru-RU" sz="2000" smtClean="0">
                <a:solidFill>
                  <a:schemeClr val="folHlink"/>
                </a:solidFill>
              </a:rPr>
              <a:t> </a:t>
            </a:r>
            <a:r>
              <a:rPr lang="ru-RU" sz="2000" smtClean="0"/>
              <a:t>году. Это была 8-разрядная шина с частотой до </a:t>
            </a:r>
            <a:r>
              <a:rPr lang="ru-RU" sz="2000" smtClean="0">
                <a:solidFill>
                  <a:srgbClr val="7030A0"/>
                </a:solidFill>
              </a:rPr>
              <a:t>8 МГц </a:t>
            </a:r>
            <a:r>
              <a:rPr lang="ru-RU" sz="2000" smtClean="0"/>
              <a:t>и скоростью передачи данных </a:t>
            </a:r>
            <a:r>
              <a:rPr lang="ru-RU" sz="2000" smtClean="0">
                <a:solidFill>
                  <a:srgbClr val="7030A0"/>
                </a:solidFill>
              </a:rPr>
              <a:t>до 4 Мбайт/с </a:t>
            </a:r>
            <a:r>
              <a:rPr lang="ru-RU" sz="2000" smtClean="0"/>
              <a:t>(передача каждого байта требовала минимум двух тактов шины). Разъём состоял из 62 контактов, из которых 8 использовалось для данных, 20 — для адреса, остальные — для управляющих сигналов, а также подачи напряжений питания (GND, +5 В, −5 В, +12 В и −12 В).</a:t>
            </a:r>
          </a:p>
          <a:p>
            <a:pPr algn="just" eaLnBrk="1" hangingPunct="1">
              <a:lnSpc>
                <a:spcPct val="80000"/>
              </a:lnSpc>
            </a:pPr>
            <a:r>
              <a:rPr lang="ru-RU" sz="2000" smtClean="0"/>
              <a:t>В </a:t>
            </a:r>
            <a:r>
              <a:rPr lang="ru-RU" sz="2000" smtClean="0">
                <a:solidFill>
                  <a:srgbClr val="FF0000"/>
                </a:solidFill>
              </a:rPr>
              <a:t>1993</a:t>
            </a:r>
            <a:r>
              <a:rPr lang="ru-RU" sz="2000" smtClean="0"/>
              <a:t> году компании Intel и Microsoft усовершенствовали шину в плане поддержки </a:t>
            </a:r>
            <a:r>
              <a:rPr lang="ru-RU" sz="2000" smtClean="0">
                <a:solidFill>
                  <a:schemeClr val="hlink"/>
                </a:solidFill>
              </a:rPr>
              <a:t>Plug and Play</a:t>
            </a:r>
            <a:r>
              <a:rPr lang="ru-RU" sz="2000" smtClean="0"/>
              <a:t>, таким образом явив миру </a:t>
            </a:r>
            <a:r>
              <a:rPr lang="ru-RU" sz="2000" smtClean="0">
                <a:solidFill>
                  <a:schemeClr val="folHlink"/>
                </a:solidFill>
              </a:rPr>
              <a:t>ISA PnP</a:t>
            </a:r>
            <a:r>
              <a:rPr lang="ru-RU" sz="2000" smtClean="0"/>
              <a:t>, которая позволяла операционной системе самой определять ресурсы, назначаемые для устройства (прерывание, адреса памяти для обмена с системой и т.п.).</a:t>
            </a:r>
          </a:p>
          <a:p>
            <a:pPr algn="just" eaLnBrk="1" hangingPunct="1">
              <a:lnSpc>
                <a:spcPct val="80000"/>
              </a:lnSpc>
            </a:pPr>
            <a:endParaRPr lang="ru-RU" sz="2000" smtClean="0"/>
          </a:p>
          <a:p>
            <a:pPr algn="just" eaLnBrk="1" hangingPunct="1">
              <a:lnSpc>
                <a:spcPct val="80000"/>
              </a:lnSpc>
            </a:pPr>
            <a:r>
              <a:rPr lang="ru-RU" sz="2000" smtClean="0"/>
              <a:t>Интерфейс ISA был основным на системах типа </a:t>
            </a:r>
            <a:r>
              <a:rPr lang="ru-RU" sz="2000" smtClean="0">
                <a:solidFill>
                  <a:srgbClr val="FF0000"/>
                </a:solidFill>
              </a:rPr>
              <a:t>AT</a:t>
            </a:r>
            <a:r>
              <a:rPr lang="ru-RU" sz="2000" smtClean="0"/>
              <a:t>, в дальнейшем с середины 1990-х годов на материнских платах форм-фактора ATX, он стал вытесняться перспективными PCI. </a:t>
            </a:r>
          </a:p>
        </p:txBody>
      </p:sp>
      <p:sp>
        <p:nvSpPr>
          <p:cNvPr id="3" name="Номер слайда 2"/>
          <p:cNvSpPr>
            <a:spLocks noGrp="1"/>
          </p:cNvSpPr>
          <p:nvPr>
            <p:ph type="sldNum" sz="quarter" idx="12"/>
          </p:nvPr>
        </p:nvSpPr>
        <p:spPr/>
        <p:txBody>
          <a:bodyPr/>
          <a:lstStyle/>
          <a:p>
            <a:pPr>
              <a:defRPr/>
            </a:pPr>
            <a:fld id="{EAEC346F-F062-4865-AA78-21B699532AE0}" type="slidenum">
              <a:rPr lang="ru-RU" smtClean="0"/>
              <a:pPr>
                <a:defRPr/>
              </a:pPr>
              <a:t>5</a:t>
            </a:fld>
            <a:endParaRPr lang="ru-RU"/>
          </a:p>
        </p:txBody>
      </p:sp>
      <p:pic>
        <p:nvPicPr>
          <p:cNvPr id="13315" name="slide_05.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3315"/>
                                        </p:tgtEl>
                                      </p:cBhvr>
                                    </p:cmd>
                                  </p:childTnLst>
                                </p:cTn>
                              </p:par>
                            </p:childTnLst>
                          </p:cTn>
                        </p:par>
                      </p:childTnLst>
                    </p:cTn>
                  </p:par>
                </p:childTnLst>
              </p:cTn>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4338" name="Picture 4" descr="800px-Siemens_SIMATIC_RACK_PC_840_V2_0007"/>
          <p:cNvPicPr>
            <a:picLocks noChangeAspect="1" noChangeArrowheads="1"/>
          </p:cNvPicPr>
          <p:nvPr/>
        </p:nvPicPr>
        <p:blipFill>
          <a:blip r:embed="rId2" cstate="print"/>
          <a:srcRect/>
          <a:stretch>
            <a:fillRect/>
          </a:stretch>
        </p:blipFill>
        <p:spPr bwMode="auto">
          <a:xfrm>
            <a:off x="0" y="0"/>
            <a:ext cx="9144000" cy="6858000"/>
          </a:xfrm>
          <a:prstGeom prst="rect">
            <a:avLst/>
          </a:prstGeom>
          <a:noFill/>
          <a:ln w="9525">
            <a:noFill/>
            <a:miter lim="800000"/>
            <a:headEnd/>
            <a:tailEnd/>
          </a:ln>
        </p:spPr>
      </p:pic>
      <p:sp>
        <p:nvSpPr>
          <p:cNvPr id="3" name="Номер слайда 2"/>
          <p:cNvSpPr>
            <a:spLocks noGrp="1"/>
          </p:cNvSpPr>
          <p:nvPr>
            <p:ph type="sldNum" sz="quarter" idx="12"/>
          </p:nvPr>
        </p:nvSpPr>
        <p:spPr/>
        <p:txBody>
          <a:bodyPr/>
          <a:lstStyle/>
          <a:p>
            <a:pPr>
              <a:defRPr/>
            </a:pPr>
            <a:fld id="{5B23B133-9196-4E31-ABCE-DFFD23D934D1}" type="slidenum">
              <a:rPr lang="ru-RU" smtClean="0"/>
              <a:pPr>
                <a:defRPr/>
              </a:pPr>
              <a:t>6</a:t>
            </a:fld>
            <a:endParaRPr lang="ru-RU"/>
          </a:p>
        </p:txBody>
      </p:sp>
      <p:pic>
        <p:nvPicPr>
          <p:cNvPr id="14339" name="slide_06.mp3">
            <a:hlinkClick r:id="" action="ppaction://media"/>
          </p:cNvPr>
          <p:cNvPicPr>
            <a:picLocks noChangeAspect="1"/>
          </p:cNvPicPr>
          <p:nvPr>
            <a:audioFile r:link="rId5"/>
            <p:extLst>
              <p:ext uri="{DAA4B4D4-6D71-4841-9C94-3DE7FCFB9230}">
                <p14:media xmlns:p14="http://schemas.microsoft.com/office/powerpoint/2010/main" r:embed="rId4"/>
              </p:ext>
            </p:extLst>
          </p:nvPr>
        </p:nvPicPr>
        <p:blipFill>
          <a:blip r:embed="rId6"/>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4339"/>
                                        </p:tgtEl>
                                      </p:cBhvr>
                                    </p:cmd>
                                  </p:childTnLst>
                                </p:cTn>
                              </p:par>
                            </p:childTnLst>
                          </p:cTn>
                        </p:par>
                      </p:childTnLst>
                    </p:cTn>
                  </p:par>
                </p:childTnLst>
              </p:cTn>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Rectangle 3"/>
          <p:cNvSpPr>
            <a:spLocks noGrp="1" noChangeArrowheads="1"/>
          </p:cNvSpPr>
          <p:nvPr>
            <p:ph type="body" idx="1"/>
          </p:nvPr>
        </p:nvSpPr>
        <p:spPr>
          <a:xfrm>
            <a:off x="250825" y="0"/>
            <a:ext cx="8893175" cy="6858000"/>
          </a:xfrm>
        </p:spPr>
        <p:txBody>
          <a:bodyPr/>
          <a:lstStyle/>
          <a:p>
            <a:pPr algn="just" eaLnBrk="1" hangingPunct="1">
              <a:lnSpc>
                <a:spcPct val="90000"/>
              </a:lnSpc>
            </a:pPr>
            <a:r>
              <a:rPr lang="ru-RU" sz="2400" smtClean="0">
                <a:solidFill>
                  <a:srgbClr val="C00000"/>
                </a:solidFill>
              </a:rPr>
              <a:t>EISA (англ. Extended Industry Standard Architecture) </a:t>
            </a:r>
            <a:r>
              <a:rPr lang="ru-RU" sz="2400" smtClean="0"/>
              <a:t>— шина для IBM-совместимых компьютеров. Была анонсирована в конце 1988 консорциумом из девяти основных производителей IBM-совместимых компьютеров (Compaq, Hewlett-Packard, Epson, NEC, Olivetti, AST Research, Tandy, Wyse и Zenith) как ответ на введение фирмой IBM новой скоростной (по сравнению с устаревающей ISA), но проприетарной, шины MCA в компьютерах серии PS/2.</a:t>
            </a:r>
          </a:p>
          <a:p>
            <a:pPr algn="just" eaLnBrk="1" hangingPunct="1">
              <a:lnSpc>
                <a:spcPct val="90000"/>
              </a:lnSpc>
            </a:pPr>
            <a:r>
              <a:rPr lang="ru-RU" sz="2400" smtClean="0"/>
              <a:t>EISA расширяет распространённую шину ISA до 32 разрядов и позволяет подключать к шине более одного ЦПУ. </a:t>
            </a:r>
            <a:r>
              <a:rPr lang="ru-RU" sz="2400" smtClean="0">
                <a:solidFill>
                  <a:srgbClr val="7030A0"/>
                </a:solidFill>
              </a:rPr>
              <a:t>Адресное пространство, по сравнению с ISA, увеличено до 4 ГБ. </a:t>
            </a:r>
          </a:p>
          <a:p>
            <a:pPr algn="just" eaLnBrk="1" hangingPunct="1">
              <a:lnSpc>
                <a:spcPct val="90000"/>
              </a:lnSpc>
            </a:pPr>
            <a:r>
              <a:rPr lang="ru-RU" sz="2400" smtClean="0"/>
              <a:t>Использование шины EISA было дорогостоящим (хотя и дешевле MCA), так что EISA не получила распространения в персональных компьютерах. Однако она получила распространение в серверах, так как была приспособлена для задач, требующих большой пропускной способности шины (например, обмен с НЖМД и работа в сети).</a:t>
            </a:r>
          </a:p>
          <a:p>
            <a:pPr eaLnBrk="1" hangingPunct="1">
              <a:lnSpc>
                <a:spcPct val="90000"/>
              </a:lnSpc>
            </a:pPr>
            <a:endParaRPr lang="ru-RU" sz="2400" smtClean="0"/>
          </a:p>
          <a:p>
            <a:pPr eaLnBrk="1" hangingPunct="1">
              <a:lnSpc>
                <a:spcPct val="90000"/>
              </a:lnSpc>
            </a:pPr>
            <a:endParaRPr lang="ru-RU" sz="2400" smtClean="0"/>
          </a:p>
        </p:txBody>
      </p:sp>
      <p:sp>
        <p:nvSpPr>
          <p:cNvPr id="3" name="Номер слайда 2"/>
          <p:cNvSpPr>
            <a:spLocks noGrp="1"/>
          </p:cNvSpPr>
          <p:nvPr>
            <p:ph type="sldNum" sz="quarter" idx="12"/>
          </p:nvPr>
        </p:nvSpPr>
        <p:spPr/>
        <p:txBody>
          <a:bodyPr/>
          <a:lstStyle/>
          <a:p>
            <a:pPr>
              <a:defRPr/>
            </a:pPr>
            <a:fld id="{EAEC346F-F062-4865-AA78-21B699532AE0}" type="slidenum">
              <a:rPr lang="ru-RU" smtClean="0"/>
              <a:pPr>
                <a:defRPr/>
              </a:pPr>
              <a:t>7</a:t>
            </a:fld>
            <a:endParaRPr lang="ru-RU"/>
          </a:p>
        </p:txBody>
      </p:sp>
      <p:pic>
        <p:nvPicPr>
          <p:cNvPr id="15363" name="slide_07.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5363"/>
                                        </p:tgtEl>
                                      </p:cBhvr>
                                    </p:cmd>
                                  </p:childTnLst>
                                </p:cTn>
                              </p:par>
                            </p:childTnLst>
                          </p:cTn>
                        </p:par>
                      </p:childTnLst>
                    </p:cTn>
                  </p:par>
                </p:childTnLst>
              </p:cTn>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386" name="Picture 4" descr="450px-EISA_Bus"/>
          <p:cNvPicPr>
            <a:picLocks noChangeAspect="1" noChangeArrowheads="1"/>
          </p:cNvPicPr>
          <p:nvPr/>
        </p:nvPicPr>
        <p:blipFill>
          <a:blip r:embed="rId2" cstate="print"/>
          <a:srcRect/>
          <a:stretch>
            <a:fillRect/>
          </a:stretch>
        </p:blipFill>
        <p:spPr bwMode="auto">
          <a:xfrm>
            <a:off x="1116013" y="260350"/>
            <a:ext cx="6697662" cy="6146800"/>
          </a:xfrm>
          <a:prstGeom prst="rect">
            <a:avLst/>
          </a:prstGeom>
          <a:noFill/>
          <a:ln w="9525">
            <a:noFill/>
            <a:miter lim="800000"/>
            <a:headEnd/>
            <a:tailEnd/>
          </a:ln>
        </p:spPr>
      </p:pic>
      <p:sp>
        <p:nvSpPr>
          <p:cNvPr id="3" name="Номер слайда 2"/>
          <p:cNvSpPr>
            <a:spLocks noGrp="1"/>
          </p:cNvSpPr>
          <p:nvPr>
            <p:ph type="sldNum" sz="quarter" idx="12"/>
          </p:nvPr>
        </p:nvSpPr>
        <p:spPr/>
        <p:txBody>
          <a:bodyPr/>
          <a:lstStyle/>
          <a:p>
            <a:pPr>
              <a:defRPr/>
            </a:pPr>
            <a:fld id="{5B23B133-9196-4E31-ABCE-DFFD23D934D1}" type="slidenum">
              <a:rPr lang="ru-RU" smtClean="0"/>
              <a:pPr>
                <a:defRPr/>
              </a:pPr>
              <a:t>8</a:t>
            </a:fld>
            <a:endParaRPr lang="ru-RU"/>
          </a:p>
        </p:txBody>
      </p:sp>
      <p:pic>
        <p:nvPicPr>
          <p:cNvPr id="16387" name="slide_08.mp3">
            <a:hlinkClick r:id="" action="ppaction://media"/>
          </p:cNvPr>
          <p:cNvPicPr>
            <a:picLocks noChangeAspect="1"/>
          </p:cNvPicPr>
          <p:nvPr>
            <a:audioFile r:link="rId5"/>
            <p:extLst>
              <p:ext uri="{DAA4B4D4-6D71-4841-9C94-3DE7FCFB9230}">
                <p14:media xmlns:p14="http://schemas.microsoft.com/office/powerpoint/2010/main" r:embed="rId4"/>
              </p:ext>
            </p:extLst>
          </p:nvPr>
        </p:nvPicPr>
        <p:blipFill>
          <a:blip r:embed="rId6"/>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6387"/>
                                        </p:tgtEl>
                                      </p:cBhvr>
                                    </p:cmd>
                                  </p:childTnLst>
                                </p:cTn>
                              </p:par>
                            </p:childTnLst>
                          </p:cTn>
                        </p:par>
                      </p:childTnLst>
                    </p:cTn>
                  </p:par>
                </p:childTnLst>
              </p:cTn>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Rectangle 3"/>
          <p:cNvSpPr>
            <a:spLocks noGrp="1" noChangeArrowheads="1"/>
          </p:cNvSpPr>
          <p:nvPr>
            <p:ph type="body" idx="1"/>
          </p:nvPr>
        </p:nvSpPr>
        <p:spPr>
          <a:xfrm>
            <a:off x="250825" y="188913"/>
            <a:ext cx="8642350" cy="6553200"/>
          </a:xfrm>
        </p:spPr>
        <p:txBody>
          <a:bodyPr/>
          <a:lstStyle/>
          <a:p>
            <a:pPr algn="just" eaLnBrk="1" hangingPunct="1">
              <a:lnSpc>
                <a:spcPct val="80000"/>
              </a:lnSpc>
            </a:pPr>
            <a:r>
              <a:rPr lang="ru-RU" sz="2400" smtClean="0">
                <a:solidFill>
                  <a:srgbClr val="C00000"/>
                </a:solidFill>
              </a:rPr>
              <a:t>VESA local bus — VL-Bus или VLB </a:t>
            </a:r>
            <a:r>
              <a:rPr lang="ru-RU" sz="2400" smtClean="0"/>
              <a:t>— тип локальной шины, разработанный ассоциацией VESA для ПК. Шина VLB, по существу, является расширением внутренней шины МП Intel 80486 для связи с видеоадаптером и реже с контроллером HDD. Реальная скорость передачи данных по </a:t>
            </a:r>
            <a:r>
              <a:rPr lang="ru-RU" sz="2400" smtClean="0">
                <a:solidFill>
                  <a:srgbClr val="00B050"/>
                </a:solidFill>
              </a:rPr>
              <a:t>VLB — 80 Мбайт/с (теоретически достижимая — 132 Мбайт/с).</a:t>
            </a:r>
          </a:p>
          <a:p>
            <a:pPr algn="just" eaLnBrk="1" hangingPunct="1">
              <a:lnSpc>
                <a:spcPct val="80000"/>
              </a:lnSpc>
            </a:pPr>
            <a:r>
              <a:rPr lang="ru-RU" sz="2400" smtClean="0"/>
              <a:t>Разработана в 1992 г. Ассоциацией стандартов видеооборудования (VESA — Video Electronics Standards Association), поэтому часто ее называют шиной VESA. Главной целью её разработки была дешёвая альтернатива шинам MicroChannel и EISA, пригодная для внедрения в массовые настольные компьютеры. С этой ролью шина VLB успешно справилась. Было выпущено большое количество плат контроллеров, использовавших эту шину, на основе выпущенных ранее микросхем, работавших до этого с шиной ISA. Даже при 16-битной архитектуре мог быть получен выигрыш от в 4 раза большей тактовой частоты. С появлением шины PCI и процессоров Intel Pentium необходимость в ее использовании исчезла</a:t>
            </a:r>
          </a:p>
        </p:txBody>
      </p:sp>
      <p:sp>
        <p:nvSpPr>
          <p:cNvPr id="3" name="Номер слайда 2"/>
          <p:cNvSpPr>
            <a:spLocks noGrp="1"/>
          </p:cNvSpPr>
          <p:nvPr>
            <p:ph type="sldNum" sz="quarter" idx="12"/>
          </p:nvPr>
        </p:nvSpPr>
        <p:spPr/>
        <p:txBody>
          <a:bodyPr/>
          <a:lstStyle/>
          <a:p>
            <a:pPr>
              <a:defRPr/>
            </a:pPr>
            <a:fld id="{EAEC346F-F062-4865-AA78-21B699532AE0}" type="slidenum">
              <a:rPr lang="ru-RU" smtClean="0"/>
              <a:pPr>
                <a:defRPr/>
              </a:pPr>
              <a:t>9</a:t>
            </a:fld>
            <a:endParaRPr lang="ru-RU"/>
          </a:p>
        </p:txBody>
      </p:sp>
      <p:pic>
        <p:nvPicPr>
          <p:cNvPr id="17411" name="slide_09.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7411"/>
                                        </p:tgtEl>
                                      </p:cBhvr>
                                    </p:cmd>
                                  </p:childTnLst>
                                </p:cTn>
                              </p:par>
                            </p:childTnLst>
                          </p:cTn>
                        </p:par>
                      </p:childTnLst>
                    </p:cTn>
                  </p:par>
                </p:childTnLst>
              </p:cTn>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3"/>
          <p:cNvSpPr>
            <a:spLocks noGrp="1" noChangeArrowheads="1"/>
          </p:cNvSpPr>
          <p:nvPr>
            <p:ph type="body" idx="1"/>
          </p:nvPr>
        </p:nvSpPr>
        <p:spPr>
          <a:xfrm>
            <a:off x="323850" y="260350"/>
            <a:ext cx="8496300" cy="6408738"/>
          </a:xfrm>
        </p:spPr>
        <p:txBody>
          <a:bodyPr/>
          <a:lstStyle/>
          <a:p>
            <a:pPr algn="just" eaLnBrk="1" hangingPunct="1">
              <a:lnSpc>
                <a:spcPct val="80000"/>
              </a:lnSpc>
            </a:pPr>
            <a:r>
              <a:rPr lang="ru-RU" sz="2400" smtClean="0">
                <a:solidFill>
                  <a:srgbClr val="C00000"/>
                </a:solidFill>
              </a:rPr>
              <a:t>PCI (англ. Peripheral component interconnect</a:t>
            </a:r>
            <a:r>
              <a:rPr lang="ru-RU" sz="2400" smtClean="0"/>
              <a:t>, дословно — взаимосвязь периферийных компонентов) — шина ввода-вывода для подключения периферийных устройств к материнской плате компьютера.</a:t>
            </a:r>
          </a:p>
          <a:p>
            <a:pPr algn="just" eaLnBrk="1" hangingPunct="1">
              <a:lnSpc>
                <a:spcPct val="80000"/>
              </a:lnSpc>
            </a:pPr>
            <a:endParaRPr lang="ru-RU" sz="2400" smtClean="0"/>
          </a:p>
          <a:p>
            <a:pPr algn="just" eaLnBrk="1" hangingPunct="1">
              <a:lnSpc>
                <a:spcPct val="80000"/>
              </a:lnSpc>
            </a:pPr>
            <a:r>
              <a:rPr lang="ru-RU" sz="2400" smtClean="0"/>
              <a:t>Стандарт на шину PCI определяет:</a:t>
            </a:r>
          </a:p>
          <a:p>
            <a:pPr algn="just" eaLnBrk="1" hangingPunct="1">
              <a:lnSpc>
                <a:spcPct val="80000"/>
              </a:lnSpc>
            </a:pPr>
            <a:endParaRPr lang="ru-RU" sz="2400" smtClean="0"/>
          </a:p>
          <a:p>
            <a:pPr algn="just" eaLnBrk="1" hangingPunct="1">
              <a:lnSpc>
                <a:spcPct val="80000"/>
              </a:lnSpc>
            </a:pPr>
            <a:r>
              <a:rPr lang="ru-RU" sz="2400" smtClean="0"/>
              <a:t>    физические параметры (например, разъёмы и разводку сигнальных линий);</a:t>
            </a:r>
          </a:p>
          <a:p>
            <a:pPr algn="just" eaLnBrk="1" hangingPunct="1">
              <a:lnSpc>
                <a:spcPct val="80000"/>
              </a:lnSpc>
            </a:pPr>
            <a:r>
              <a:rPr lang="ru-RU" sz="2400" smtClean="0"/>
              <a:t>    электрические параметры (например, напряжения);</a:t>
            </a:r>
          </a:p>
          <a:p>
            <a:pPr algn="just" eaLnBrk="1" hangingPunct="1">
              <a:lnSpc>
                <a:spcPct val="80000"/>
              </a:lnSpc>
            </a:pPr>
            <a:r>
              <a:rPr lang="ru-RU" sz="2400" smtClean="0"/>
              <a:t>    логическую модель (например, типы циклов шины, адресацию на шине).</a:t>
            </a:r>
          </a:p>
          <a:p>
            <a:pPr algn="just" eaLnBrk="1" hangingPunct="1">
              <a:lnSpc>
                <a:spcPct val="80000"/>
              </a:lnSpc>
            </a:pPr>
            <a:endParaRPr lang="ru-RU" sz="2400" smtClean="0"/>
          </a:p>
          <a:p>
            <a:pPr algn="just" eaLnBrk="1" hangingPunct="1">
              <a:lnSpc>
                <a:spcPct val="80000"/>
              </a:lnSpc>
            </a:pPr>
            <a:r>
              <a:rPr lang="ru-RU" sz="2400" smtClean="0"/>
              <a:t>Развитием стандарта PCI занимается организация PCI Special Interest Group.</a:t>
            </a:r>
          </a:p>
          <a:p>
            <a:pPr algn="just" eaLnBrk="1" hangingPunct="1">
              <a:lnSpc>
                <a:spcPct val="80000"/>
              </a:lnSpc>
            </a:pPr>
            <a:endParaRPr lang="ru-RU" sz="2400" smtClean="0"/>
          </a:p>
          <a:p>
            <a:pPr algn="just" eaLnBrk="1" hangingPunct="1">
              <a:lnSpc>
                <a:spcPct val="80000"/>
              </a:lnSpc>
            </a:pPr>
            <a:r>
              <a:rPr lang="ru-RU" sz="2400" smtClean="0"/>
              <a:t>Интерфейс широко применялся в бытовых компьютерах в период 1995-2005 год</a:t>
            </a:r>
          </a:p>
        </p:txBody>
      </p:sp>
      <p:sp>
        <p:nvSpPr>
          <p:cNvPr id="3" name="Номер слайда 2"/>
          <p:cNvSpPr>
            <a:spLocks noGrp="1"/>
          </p:cNvSpPr>
          <p:nvPr>
            <p:ph type="sldNum" sz="quarter" idx="12"/>
          </p:nvPr>
        </p:nvSpPr>
        <p:spPr/>
        <p:txBody>
          <a:bodyPr/>
          <a:lstStyle/>
          <a:p>
            <a:pPr>
              <a:defRPr/>
            </a:pPr>
            <a:fld id="{EAEC346F-F062-4865-AA78-21B699532AE0}" type="slidenum">
              <a:rPr lang="ru-RU" smtClean="0"/>
              <a:pPr>
                <a:defRPr/>
              </a:pPr>
              <a:t>10</a:t>
            </a:fld>
            <a:endParaRPr lang="ru-RU"/>
          </a:p>
        </p:txBody>
      </p:sp>
      <p:pic>
        <p:nvPicPr>
          <p:cNvPr id="18435" name="slide_10.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8435"/>
                                        </p:tgtEl>
                                      </p:cBhvr>
                                    </p:cmd>
                                  </p:childTnLst>
                                </p:cTn>
                              </p:par>
                            </p:childTnLst>
                          </p:cTn>
                        </p:par>
                      </p:childTnLst>
                    </p:cTn>
                  </p:par>
                </p:childTnLst>
              </p:cTn>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3"/>
          <p:cNvSpPr>
            <a:spLocks noGrp="1" noChangeArrowheads="1"/>
          </p:cNvSpPr>
          <p:nvPr>
            <p:ph type="body" idx="1"/>
          </p:nvPr>
        </p:nvSpPr>
        <p:spPr>
          <a:xfrm>
            <a:off x="179388" y="188913"/>
            <a:ext cx="8785225" cy="6480175"/>
          </a:xfrm>
        </p:spPr>
        <p:txBody>
          <a:bodyPr/>
          <a:lstStyle/>
          <a:p>
            <a:pPr algn="just" eaLnBrk="1" hangingPunct="1">
              <a:lnSpc>
                <a:spcPct val="80000"/>
              </a:lnSpc>
            </a:pPr>
            <a:r>
              <a:rPr lang="ru-RU" sz="2000" smtClean="0">
                <a:solidFill>
                  <a:srgbClr val="C00000"/>
                </a:solidFill>
              </a:rPr>
              <a:t>В 1992 году </a:t>
            </a:r>
            <a:r>
              <a:rPr lang="ru-RU" sz="2000" smtClean="0"/>
              <a:t>появляется первая версия шины PCI, Intel объявляет, что стандарт шины будет открытым, и создаёт PCI Special Interest Group. Благодаря этому любой заинтересованный разработчик получает возможность создавать устройства для шины PCI без необходимости приобретения лицензии. Первая версия шины имела тактовую частоту 33 МГц, могла быть 32- или 64-битной, а устройства могли работать с сигналами в 5 В или 3,3 В. Теоретически </a:t>
            </a:r>
            <a:r>
              <a:rPr lang="ru-RU" sz="2000" smtClean="0">
                <a:solidFill>
                  <a:srgbClr val="7030A0"/>
                </a:solidFill>
              </a:rPr>
              <a:t>пропускная способность шины 133 Мбайт/с</a:t>
            </a:r>
            <a:r>
              <a:rPr lang="ru-RU" sz="2000" smtClean="0"/>
              <a:t>, однако </a:t>
            </a:r>
            <a:r>
              <a:rPr lang="ru-RU" sz="2000" smtClean="0">
                <a:solidFill>
                  <a:srgbClr val="00B050"/>
                </a:solidFill>
              </a:rPr>
              <a:t>в реальности пропускная способность составляла около 80 Мбайт/с</a:t>
            </a:r>
            <a:r>
              <a:rPr lang="ru-RU" sz="2000" smtClean="0"/>
              <a:t>.</a:t>
            </a:r>
          </a:p>
          <a:p>
            <a:pPr algn="just" eaLnBrk="1" hangingPunct="1">
              <a:lnSpc>
                <a:spcPct val="80000"/>
              </a:lnSpc>
            </a:pPr>
            <a:r>
              <a:rPr lang="ru-RU" sz="2000" smtClean="0"/>
              <a:t>В 1995 году появляется версия PCI 2.1 (ещё одно название — «параллельная шина PCI»), которая обеспечила передачу данных по шине с частотой 66 МГц и максимальную скорость передачи в 533 Мбайт/с (для 64-битного варианта с частотой 66 МГц). Кроме того, эта шина уже была поддержана на уровне ОС Windows 95 (технология Plug and Play). Версия шины PCI 2.1 оказалась настолько популярной, что вскоре уже она была перенесена на платформы с процессорами Alpha, MIPS, PowerPC, SPARC и др.</a:t>
            </a:r>
          </a:p>
          <a:p>
            <a:pPr algn="just" eaLnBrk="1" hangingPunct="1">
              <a:lnSpc>
                <a:spcPct val="80000"/>
              </a:lnSpc>
            </a:pPr>
            <a:r>
              <a:rPr lang="ru-RU" sz="2000" smtClean="0"/>
              <a:t>В 1997 году, в связи с развитием компьютерной графики и разработкой шины AGP, шина PCI перестала удовлетворять новым, повышенным требованиям к видеокартам и перестала использоваться для установки видеокарт.</a:t>
            </a:r>
          </a:p>
          <a:p>
            <a:pPr algn="just" eaLnBrk="1" hangingPunct="1">
              <a:lnSpc>
                <a:spcPct val="80000"/>
              </a:lnSpc>
            </a:pPr>
            <a:r>
              <a:rPr lang="ru-RU" sz="2000" smtClean="0"/>
              <a:t>В конце 2000-х - начале 2010-х интерфейс PCI постепенно вытеснился интерфейсами PCI Express и USB</a:t>
            </a:r>
          </a:p>
        </p:txBody>
      </p:sp>
      <p:sp>
        <p:nvSpPr>
          <p:cNvPr id="3" name="Номер слайда 2"/>
          <p:cNvSpPr>
            <a:spLocks noGrp="1"/>
          </p:cNvSpPr>
          <p:nvPr>
            <p:ph type="sldNum" sz="quarter" idx="12"/>
          </p:nvPr>
        </p:nvSpPr>
        <p:spPr/>
        <p:txBody>
          <a:bodyPr/>
          <a:lstStyle/>
          <a:p>
            <a:pPr>
              <a:defRPr/>
            </a:pPr>
            <a:fld id="{EAEC346F-F062-4865-AA78-21B699532AE0}" type="slidenum">
              <a:rPr lang="ru-RU" smtClean="0"/>
              <a:pPr>
                <a:defRPr/>
              </a:pPr>
              <a:t>11</a:t>
            </a:fld>
            <a:endParaRPr lang="ru-RU"/>
          </a:p>
        </p:txBody>
      </p:sp>
      <p:pic>
        <p:nvPicPr>
          <p:cNvPr id="19459" name="slide_11.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19459"/>
                                        </p:tgtEl>
                                      </p:cBhvr>
                                    </p:cmd>
                                  </p:childTnLst>
                                </p:cTn>
                              </p:par>
                            </p:childTnLst>
                          </p:cTn>
                        </p:par>
                      </p:childTnLst>
                    </p:cTn>
                  </p:par>
                </p:childTnLst>
              </p:cTn>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482" name="Rectangle 3"/>
          <p:cNvSpPr>
            <a:spLocks noGrp="1" noChangeArrowheads="1"/>
          </p:cNvSpPr>
          <p:nvPr>
            <p:ph type="body" idx="1"/>
          </p:nvPr>
        </p:nvSpPr>
        <p:spPr>
          <a:xfrm>
            <a:off x="179388" y="188913"/>
            <a:ext cx="8713787" cy="6335712"/>
          </a:xfrm>
        </p:spPr>
        <p:txBody>
          <a:bodyPr/>
          <a:lstStyle/>
          <a:p>
            <a:pPr eaLnBrk="1" hangingPunct="1">
              <a:lnSpc>
                <a:spcPct val="80000"/>
              </a:lnSpc>
            </a:pPr>
            <a:r>
              <a:rPr lang="ru-RU" sz="2000" smtClean="0"/>
              <a:t>AGP (от англ. Accelerated Graphics Port, ускоренный графический порт) — специализированная 32-разрядная системная шина для видеокарты, разработанная в 1996 году компанией Intel. Появилась одновременно с чипсетами для процессора Intel Pentium MMX; у сторонних производителей появилась в чипсетах MVP3, MVP5 c Super Socket 7. Основной задачей разработчиков было увеличение производительности и уменьшение стоимости видеокарты, за счёт уменьшения количества встроенной видеопамяти. По замыслу Intel, большие объёмы видеопамяти для AGP-карт были бы не нужны, поскольку технология предусматривала высокоскоростной доступ к общей памяти. Её отличия от предшественницы, шины PCI:</a:t>
            </a:r>
          </a:p>
          <a:p>
            <a:pPr eaLnBrk="1" hangingPunct="1">
              <a:lnSpc>
                <a:spcPct val="80000"/>
              </a:lnSpc>
            </a:pPr>
            <a:endParaRPr lang="ru-RU" sz="2000" smtClean="0"/>
          </a:p>
          <a:p>
            <a:pPr eaLnBrk="1" hangingPunct="1">
              <a:lnSpc>
                <a:spcPct val="80000"/>
              </a:lnSpc>
            </a:pPr>
            <a:r>
              <a:rPr lang="ru-RU" sz="2000" smtClean="0"/>
              <a:t>    работа на тактовой частоте 66 МГц;</a:t>
            </a:r>
          </a:p>
          <a:p>
            <a:pPr eaLnBrk="1" hangingPunct="1">
              <a:lnSpc>
                <a:spcPct val="80000"/>
              </a:lnSpc>
            </a:pPr>
            <a:r>
              <a:rPr lang="ru-RU" sz="2000" smtClean="0"/>
              <a:t>    увеличенная пропускная способность;</a:t>
            </a:r>
          </a:p>
          <a:p>
            <a:pPr eaLnBrk="1" hangingPunct="1">
              <a:lnSpc>
                <a:spcPct val="80000"/>
              </a:lnSpc>
            </a:pPr>
            <a:r>
              <a:rPr lang="ru-RU" sz="2000" smtClean="0"/>
              <a:t>    режим работы с памятью DMA и DME;</a:t>
            </a:r>
          </a:p>
          <a:p>
            <a:pPr eaLnBrk="1" hangingPunct="1">
              <a:lnSpc>
                <a:spcPct val="80000"/>
              </a:lnSpc>
            </a:pPr>
            <a:r>
              <a:rPr lang="ru-RU" sz="2000" smtClean="0"/>
              <a:t>    разделение запросов на операцию и передачу данных;</a:t>
            </a:r>
          </a:p>
          <a:p>
            <a:pPr eaLnBrk="1" hangingPunct="1">
              <a:lnSpc>
                <a:spcPct val="80000"/>
              </a:lnSpc>
            </a:pPr>
            <a:r>
              <a:rPr lang="ru-RU" sz="2000" smtClean="0"/>
              <a:t>    возможность использования видеокарт с большим энергопотреблением, нежели PCI.</a:t>
            </a:r>
          </a:p>
          <a:p>
            <a:pPr eaLnBrk="1" hangingPunct="1">
              <a:lnSpc>
                <a:spcPct val="80000"/>
              </a:lnSpc>
            </a:pPr>
            <a:r>
              <a:rPr lang="ru-RU" sz="2000" smtClean="0"/>
              <a:t>С середины 2000-х материнские платы со слотами AGP практически не выпускаются; стандарт AGP был повсеместно вытеснен на рынке более быстрым и универсальным PCI Express</a:t>
            </a:r>
          </a:p>
        </p:txBody>
      </p:sp>
      <p:sp>
        <p:nvSpPr>
          <p:cNvPr id="3" name="Номер слайда 2"/>
          <p:cNvSpPr>
            <a:spLocks noGrp="1"/>
          </p:cNvSpPr>
          <p:nvPr>
            <p:ph type="sldNum" sz="quarter" idx="12"/>
          </p:nvPr>
        </p:nvSpPr>
        <p:spPr/>
        <p:txBody>
          <a:bodyPr/>
          <a:lstStyle/>
          <a:p>
            <a:pPr>
              <a:defRPr/>
            </a:pPr>
            <a:fld id="{EAEC346F-F062-4865-AA78-21B699532AE0}" type="slidenum">
              <a:rPr lang="ru-RU" smtClean="0"/>
              <a:pPr>
                <a:defRPr/>
              </a:pPr>
              <a:t>12</a:t>
            </a:fld>
            <a:endParaRPr lang="ru-RU"/>
          </a:p>
        </p:txBody>
      </p:sp>
      <p:pic>
        <p:nvPicPr>
          <p:cNvPr id="20483" name="slide_12.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0483"/>
                                        </p:tgtEl>
                                      </p:cBhvr>
                                    </p:cmd>
                                  </p:childTnLst>
                                </p:cTn>
                              </p:par>
                            </p:childTnLst>
                          </p:cTn>
                        </p:par>
                      </p:childTnLst>
                    </p:cTn>
                  </p:par>
                </p:childTnLst>
              </p:cTn>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Rectangle 3"/>
          <p:cNvSpPr>
            <a:spLocks noGrp="1" noChangeArrowheads="1"/>
          </p:cNvSpPr>
          <p:nvPr>
            <p:ph type="body" idx="1"/>
          </p:nvPr>
        </p:nvSpPr>
        <p:spPr>
          <a:xfrm>
            <a:off x="179388" y="188913"/>
            <a:ext cx="8964612" cy="6335712"/>
          </a:xfrm>
        </p:spPr>
        <p:txBody>
          <a:bodyPr/>
          <a:lstStyle/>
          <a:p>
            <a:pPr eaLnBrk="1" hangingPunct="1">
              <a:lnSpc>
                <a:spcPct val="80000"/>
              </a:lnSpc>
            </a:pPr>
            <a:r>
              <a:rPr lang="ru-RU" sz="2000" smtClean="0"/>
              <a:t>PCI Express, или PCIe, или PCI-E (также известная как 3GIO for 3rd Generation I/O; не путать с PCI-X и PXI) — компьютерная шина (хотя на физическом уровне шиной не является, будучи соединением типа «точка-точка»), использующая программную модель шины PCI и высокопроизводительный физический протокол, основанный на последовательной передаче данных.</a:t>
            </a:r>
          </a:p>
          <a:p>
            <a:pPr eaLnBrk="1" hangingPunct="1">
              <a:lnSpc>
                <a:spcPct val="80000"/>
              </a:lnSpc>
            </a:pPr>
            <a:r>
              <a:rPr lang="ru-RU" sz="2000" smtClean="0"/>
              <a:t>В отличие от стандарта PCI, использовавшего для передачи данных общую шину с подключением параллельно нескольких устройств, PCI Express, в общем случае, является пакетной сетью с топологией типа звезда.</a:t>
            </a:r>
          </a:p>
          <a:p>
            <a:pPr eaLnBrk="1" hangingPunct="1">
              <a:lnSpc>
                <a:spcPct val="80000"/>
              </a:lnSpc>
            </a:pPr>
            <a:endParaRPr lang="ru-RU" sz="2000" smtClean="0"/>
          </a:p>
          <a:p>
            <a:pPr eaLnBrk="1" hangingPunct="1">
              <a:lnSpc>
                <a:spcPct val="80000"/>
              </a:lnSpc>
            </a:pPr>
            <a:r>
              <a:rPr lang="ru-RU" sz="2000" smtClean="0"/>
              <a:t>Устройства PCI Express взаимодействуют между собой через среду, образованную коммутаторами, при этом каждое устройство напрямую связано соединением типа точка-точка с коммутатором.</a:t>
            </a:r>
          </a:p>
          <a:p>
            <a:pPr eaLnBrk="1" hangingPunct="1">
              <a:lnSpc>
                <a:spcPct val="80000"/>
              </a:lnSpc>
            </a:pPr>
            <a:endParaRPr lang="ru-RU" sz="2000" smtClean="0"/>
          </a:p>
          <a:p>
            <a:pPr eaLnBrk="1" hangingPunct="1">
              <a:lnSpc>
                <a:spcPct val="80000"/>
              </a:lnSpc>
            </a:pPr>
            <a:r>
              <a:rPr lang="ru-RU" sz="2000" smtClean="0"/>
              <a:t>Кроме того, шиной PCI Express поддерживается:</a:t>
            </a:r>
          </a:p>
          <a:p>
            <a:pPr eaLnBrk="1" hangingPunct="1">
              <a:lnSpc>
                <a:spcPct val="80000"/>
              </a:lnSpc>
            </a:pPr>
            <a:endParaRPr lang="ru-RU" sz="2000" smtClean="0"/>
          </a:p>
          <a:p>
            <a:pPr eaLnBrk="1" hangingPunct="1">
              <a:lnSpc>
                <a:spcPct val="80000"/>
              </a:lnSpc>
            </a:pPr>
            <a:r>
              <a:rPr lang="ru-RU" sz="2000" smtClean="0"/>
              <a:t>    горячая замена карт;</a:t>
            </a:r>
          </a:p>
          <a:p>
            <a:pPr eaLnBrk="1" hangingPunct="1">
              <a:lnSpc>
                <a:spcPct val="80000"/>
              </a:lnSpc>
            </a:pPr>
            <a:r>
              <a:rPr lang="ru-RU" sz="2000" smtClean="0"/>
              <a:t>    гарантированная полоса пропускания (QoS);</a:t>
            </a:r>
          </a:p>
          <a:p>
            <a:pPr eaLnBrk="1" hangingPunct="1">
              <a:lnSpc>
                <a:spcPct val="80000"/>
              </a:lnSpc>
            </a:pPr>
            <a:r>
              <a:rPr lang="ru-RU" sz="2000" smtClean="0"/>
              <a:t>    управление энергопотреблением;</a:t>
            </a:r>
          </a:p>
          <a:p>
            <a:pPr eaLnBrk="1" hangingPunct="1">
              <a:lnSpc>
                <a:spcPct val="80000"/>
              </a:lnSpc>
            </a:pPr>
            <a:r>
              <a:rPr lang="ru-RU" sz="2000" smtClean="0"/>
              <a:t>    контроль целостности передаваемых данных.</a:t>
            </a:r>
          </a:p>
          <a:p>
            <a:pPr eaLnBrk="1" hangingPunct="1">
              <a:lnSpc>
                <a:spcPct val="80000"/>
              </a:lnSpc>
            </a:pPr>
            <a:endParaRPr lang="ru-RU" sz="2000" smtClean="0"/>
          </a:p>
          <a:p>
            <a:pPr eaLnBrk="1" hangingPunct="1">
              <a:lnSpc>
                <a:spcPct val="80000"/>
              </a:lnSpc>
            </a:pPr>
            <a:endParaRPr lang="ru-RU" sz="2000" smtClean="0"/>
          </a:p>
        </p:txBody>
      </p:sp>
      <p:sp>
        <p:nvSpPr>
          <p:cNvPr id="3" name="Номер слайда 2"/>
          <p:cNvSpPr>
            <a:spLocks noGrp="1"/>
          </p:cNvSpPr>
          <p:nvPr>
            <p:ph type="sldNum" sz="quarter" idx="12"/>
          </p:nvPr>
        </p:nvSpPr>
        <p:spPr/>
        <p:txBody>
          <a:bodyPr/>
          <a:lstStyle/>
          <a:p>
            <a:pPr>
              <a:defRPr/>
            </a:pPr>
            <a:fld id="{EAEC346F-F062-4865-AA78-21B699532AE0}" type="slidenum">
              <a:rPr lang="ru-RU" smtClean="0"/>
              <a:pPr>
                <a:defRPr/>
              </a:pPr>
              <a:t>13</a:t>
            </a:fld>
            <a:endParaRPr lang="ru-RU"/>
          </a:p>
        </p:txBody>
      </p:sp>
      <p:pic>
        <p:nvPicPr>
          <p:cNvPr id="21507" name="slide_13.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1507"/>
                                        </p:tgtEl>
                                      </p:cBhvr>
                                    </p:cmd>
                                  </p:childTnLst>
                                </p:cTn>
                              </p:par>
                            </p:childTnLst>
                          </p:cTn>
                        </p:par>
                      </p:childTnLst>
                    </p:cTn>
                  </p:par>
                </p:childTnLst>
              </p:cTn>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30" name="Rectangle 3"/>
          <p:cNvSpPr>
            <a:spLocks noGrp="1" noChangeArrowheads="1"/>
          </p:cNvSpPr>
          <p:nvPr>
            <p:ph type="body" sz="half" idx="1"/>
          </p:nvPr>
        </p:nvSpPr>
        <p:spPr>
          <a:xfrm>
            <a:off x="323850" y="260350"/>
            <a:ext cx="8496300" cy="3240088"/>
          </a:xfrm>
        </p:spPr>
        <p:txBody>
          <a:bodyPr/>
          <a:lstStyle/>
          <a:p>
            <a:pPr eaLnBrk="1" hangingPunct="1"/>
            <a:r>
              <a:rPr lang="ru-RU" sz="2800" smtClean="0"/>
              <a:t>USB (ю-эс-би, англ. Universal Serial Bus — «универсальная последовательная шина») — последовательный интерфейс передачи данных для среднескоростных и низкоскоростных периферийных устройств в вычислительной технике.</a:t>
            </a:r>
          </a:p>
        </p:txBody>
      </p:sp>
      <p:pic>
        <p:nvPicPr>
          <p:cNvPr id="22531" name="Picture 4" descr="330px-Usb-svg"/>
          <p:cNvPicPr>
            <a:picLocks noGrp="1" noChangeAspect="1" noChangeArrowheads="1"/>
          </p:cNvPicPr>
          <p:nvPr>
            <p:ph sz="half" idx="2"/>
          </p:nvPr>
        </p:nvPicPr>
        <p:blipFill>
          <a:blip r:embed="rId2" cstate="print"/>
          <a:srcRect/>
          <a:stretch>
            <a:fillRect/>
          </a:stretch>
        </p:blipFill>
        <p:spPr>
          <a:xfrm>
            <a:off x="5795963" y="3357563"/>
            <a:ext cx="3143250" cy="3143250"/>
          </a:xfrm>
          <a:noFill/>
        </p:spPr>
      </p:pic>
      <p:sp>
        <p:nvSpPr>
          <p:cNvPr id="22532" name="Rectangle 7"/>
          <p:cNvSpPr>
            <a:spLocks noChangeArrowheads="1"/>
          </p:cNvSpPr>
          <p:nvPr/>
        </p:nvSpPr>
        <p:spPr bwMode="auto">
          <a:xfrm>
            <a:off x="395288" y="2924175"/>
            <a:ext cx="5329237" cy="3662363"/>
          </a:xfrm>
          <a:prstGeom prst="rect">
            <a:avLst/>
          </a:prstGeom>
          <a:noFill/>
          <a:ln w="9525">
            <a:noFill/>
            <a:miter lim="800000"/>
            <a:headEnd/>
            <a:tailEnd/>
          </a:ln>
        </p:spPr>
        <p:txBody>
          <a:bodyPr>
            <a:spAutoFit/>
          </a:bodyPr>
          <a:lstStyle/>
          <a:p>
            <a:r>
              <a:rPr lang="ru-RU"/>
              <a:t>Для подключения периферийных устройств к шине USB используется четырёхпроводной кабель, при этом два провода (витая пара) в дифференциальном включении используются для приёма и передачи данных, а два провода — для питания периферийного устройства. Благодаря встроенным линиям питания USB позволяет подключать периферийные устройства без собственного источника питания (максимальная сила тока, потребляемого устройством по линиям питания шины USB, не должна превышать 500 мА, у USB 3.0 — 900 мА, у USB 3.1 до 5А).</a:t>
            </a:r>
          </a:p>
        </p:txBody>
      </p:sp>
      <p:sp>
        <p:nvSpPr>
          <p:cNvPr id="5" name="Номер слайда 4"/>
          <p:cNvSpPr>
            <a:spLocks noGrp="1"/>
          </p:cNvSpPr>
          <p:nvPr>
            <p:ph type="sldNum" sz="quarter" idx="12"/>
          </p:nvPr>
        </p:nvSpPr>
        <p:spPr/>
        <p:txBody>
          <a:bodyPr/>
          <a:lstStyle/>
          <a:p>
            <a:pPr>
              <a:defRPr/>
            </a:pPr>
            <a:fld id="{D237BF36-D4CF-46F1-AFBC-06A887148B36}" type="slidenum">
              <a:rPr lang="ru-RU" smtClean="0"/>
              <a:pPr>
                <a:defRPr/>
              </a:pPr>
              <a:t>14</a:t>
            </a:fld>
            <a:endParaRPr lang="ru-RU"/>
          </a:p>
        </p:txBody>
      </p:sp>
      <p:pic>
        <p:nvPicPr>
          <p:cNvPr id="22533" name="slide_14.mp3">
            <a:hlinkClick r:id="" action="ppaction://media"/>
          </p:cNvPr>
          <p:cNvPicPr>
            <a:picLocks noChangeAspect="1"/>
          </p:cNvPicPr>
          <p:nvPr>
            <a:audioFile r:link="rId5"/>
            <p:extLst>
              <p:ext uri="{DAA4B4D4-6D71-4841-9C94-3DE7FCFB9230}">
                <p14:media xmlns:p14="http://schemas.microsoft.com/office/powerpoint/2010/main" r:embed="rId4"/>
              </p:ext>
            </p:extLst>
          </p:nvPr>
        </p:nvPicPr>
        <p:blipFill>
          <a:blip r:embed="rId6"/>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2533"/>
                                        </p:tgtEl>
                                      </p:cBhvr>
                                    </p:cmd>
                                  </p:childTnLst>
                                </p:cTn>
                              </p:par>
                            </p:childTnLst>
                          </p:cTn>
                        </p:par>
                      </p:childTnLst>
                    </p:cTn>
                  </p:par>
                </p:childTnLst>
              </p:cTn>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Rectangle 3"/>
          <p:cNvSpPr>
            <a:spLocks noGrp="1" noChangeArrowheads="1"/>
          </p:cNvSpPr>
          <p:nvPr>
            <p:ph type="body" idx="1"/>
          </p:nvPr>
        </p:nvSpPr>
        <p:spPr>
          <a:xfrm>
            <a:off x="179388" y="0"/>
            <a:ext cx="8964612" cy="6742113"/>
          </a:xfrm>
        </p:spPr>
        <p:txBody>
          <a:bodyPr/>
          <a:lstStyle/>
          <a:p>
            <a:pPr eaLnBrk="1" hangingPunct="1">
              <a:lnSpc>
                <a:spcPct val="80000"/>
              </a:lnSpc>
            </a:pPr>
            <a:r>
              <a:rPr lang="ru-RU" sz="2000" smtClean="0"/>
              <a:t>USB 1.0</a:t>
            </a:r>
          </a:p>
          <a:p>
            <a:pPr eaLnBrk="1" hangingPunct="1">
              <a:lnSpc>
                <a:spcPct val="80000"/>
              </a:lnSpc>
            </a:pPr>
            <a:endParaRPr lang="ru-RU" sz="2000" smtClean="0"/>
          </a:p>
          <a:p>
            <a:pPr eaLnBrk="1" hangingPunct="1">
              <a:lnSpc>
                <a:spcPct val="80000"/>
              </a:lnSpc>
            </a:pPr>
            <a:r>
              <a:rPr lang="ru-RU" sz="2000" smtClean="0"/>
              <a:t>Спецификация выпущена 15 января 1996 года.</a:t>
            </a:r>
          </a:p>
          <a:p>
            <a:pPr eaLnBrk="1" hangingPunct="1">
              <a:lnSpc>
                <a:spcPct val="80000"/>
              </a:lnSpc>
            </a:pPr>
            <a:endParaRPr lang="ru-RU" sz="2000" smtClean="0"/>
          </a:p>
          <a:p>
            <a:pPr eaLnBrk="1" hangingPunct="1">
              <a:lnSpc>
                <a:spcPct val="80000"/>
              </a:lnSpc>
            </a:pPr>
            <a:r>
              <a:rPr lang="ru-RU" sz="2000" smtClean="0"/>
              <a:t>Технические характеристики:</a:t>
            </a:r>
          </a:p>
          <a:p>
            <a:pPr eaLnBrk="1" hangingPunct="1">
              <a:lnSpc>
                <a:spcPct val="80000"/>
              </a:lnSpc>
            </a:pPr>
            <a:endParaRPr lang="ru-RU" sz="2000" smtClean="0"/>
          </a:p>
          <a:p>
            <a:pPr eaLnBrk="1" hangingPunct="1">
              <a:lnSpc>
                <a:spcPct val="80000"/>
              </a:lnSpc>
            </a:pPr>
            <a:r>
              <a:rPr lang="ru-RU" sz="2000" smtClean="0"/>
              <a:t>    два режима работы:</a:t>
            </a:r>
          </a:p>
          <a:p>
            <a:pPr eaLnBrk="1" hangingPunct="1">
              <a:lnSpc>
                <a:spcPct val="80000"/>
              </a:lnSpc>
              <a:buFontTx/>
              <a:buNone/>
            </a:pPr>
            <a:r>
              <a:rPr lang="ru-RU" sz="2000" smtClean="0">
                <a:solidFill>
                  <a:srgbClr val="FF0000"/>
                </a:solidFill>
              </a:rPr>
              <a:t>режим с низкой пропускной способностью</a:t>
            </a:r>
            <a:r>
              <a:rPr lang="ru-RU" sz="2000" smtClean="0"/>
              <a:t> (Low-Speed) — </a:t>
            </a:r>
            <a:r>
              <a:rPr lang="ru-RU" sz="2000" smtClean="0">
                <a:solidFill>
                  <a:srgbClr val="FF0000"/>
                </a:solidFill>
              </a:rPr>
              <a:t>1,5 Мбит/с</a:t>
            </a:r>
          </a:p>
          <a:p>
            <a:pPr eaLnBrk="1" hangingPunct="1">
              <a:lnSpc>
                <a:spcPct val="80000"/>
              </a:lnSpc>
              <a:buFontTx/>
              <a:buNone/>
            </a:pPr>
            <a:r>
              <a:rPr lang="ru-RU" sz="2000" smtClean="0"/>
              <a:t>режим с высокой пропускной способностью (Full-Speed) — </a:t>
            </a:r>
            <a:r>
              <a:rPr lang="ru-RU" sz="2000" smtClean="0">
                <a:solidFill>
                  <a:srgbClr val="FF0000"/>
                </a:solidFill>
              </a:rPr>
              <a:t>12 Мбит/с</a:t>
            </a:r>
          </a:p>
          <a:p>
            <a:pPr eaLnBrk="1" hangingPunct="1">
              <a:lnSpc>
                <a:spcPct val="80000"/>
              </a:lnSpc>
              <a:buFontTx/>
              <a:buNone/>
            </a:pPr>
            <a:r>
              <a:rPr lang="ru-RU" sz="2000" smtClean="0">
                <a:solidFill>
                  <a:srgbClr val="FF0000"/>
                </a:solidFill>
              </a:rPr>
              <a:t>максимальная длина кабеля</a:t>
            </a:r>
            <a:r>
              <a:rPr lang="ru-RU" sz="2000" smtClean="0"/>
              <a:t> (без экрана) для режима Low-Speed — 3 м</a:t>
            </a:r>
          </a:p>
          <a:p>
            <a:pPr eaLnBrk="1" hangingPunct="1">
              <a:lnSpc>
                <a:spcPct val="80000"/>
              </a:lnSpc>
              <a:buFontTx/>
              <a:buNone/>
            </a:pPr>
            <a:r>
              <a:rPr lang="ru-RU" sz="2000" smtClean="0"/>
              <a:t>максимальная длина кабеля (в экране) для режима Full-Speed — 5 м</a:t>
            </a:r>
          </a:p>
          <a:p>
            <a:pPr eaLnBrk="1" hangingPunct="1">
              <a:lnSpc>
                <a:spcPct val="80000"/>
              </a:lnSpc>
            </a:pPr>
            <a:r>
              <a:rPr lang="ru-RU" sz="2000" smtClean="0"/>
              <a:t>    максимальное количество подключённых устройств (включая размножители) — 127</a:t>
            </a:r>
          </a:p>
          <a:p>
            <a:pPr eaLnBrk="1" hangingPunct="1">
              <a:lnSpc>
                <a:spcPct val="80000"/>
              </a:lnSpc>
            </a:pPr>
            <a:r>
              <a:rPr lang="ru-RU" sz="2000" smtClean="0"/>
              <a:t>    возможно подключение «разноскоростных» периферийных устройств к одному контроллеру USB</a:t>
            </a:r>
          </a:p>
          <a:p>
            <a:pPr eaLnBrk="1" hangingPunct="1">
              <a:lnSpc>
                <a:spcPct val="80000"/>
              </a:lnSpc>
            </a:pPr>
            <a:r>
              <a:rPr lang="ru-RU" sz="2000" smtClean="0"/>
              <a:t>    напряжение питания для периферийных устройств — 5 В</a:t>
            </a:r>
          </a:p>
          <a:p>
            <a:pPr eaLnBrk="1" hangingPunct="1">
              <a:lnSpc>
                <a:spcPct val="80000"/>
              </a:lnSpc>
            </a:pPr>
            <a:r>
              <a:rPr lang="ru-RU" sz="2000" smtClean="0"/>
              <a:t>    максимальный ток, потребляемый периферийным устройством — 500 мА</a:t>
            </a:r>
          </a:p>
          <a:p>
            <a:pPr eaLnBrk="1" hangingPunct="1">
              <a:lnSpc>
                <a:spcPct val="80000"/>
              </a:lnSpc>
            </a:pPr>
            <a:endParaRPr lang="ru-RU" sz="2000" smtClean="0"/>
          </a:p>
        </p:txBody>
      </p:sp>
      <p:sp>
        <p:nvSpPr>
          <p:cNvPr id="3" name="Номер слайда 2"/>
          <p:cNvSpPr>
            <a:spLocks noGrp="1"/>
          </p:cNvSpPr>
          <p:nvPr>
            <p:ph type="sldNum" sz="quarter" idx="12"/>
          </p:nvPr>
        </p:nvSpPr>
        <p:spPr/>
        <p:txBody>
          <a:bodyPr/>
          <a:lstStyle/>
          <a:p>
            <a:pPr>
              <a:defRPr/>
            </a:pPr>
            <a:fld id="{EAEC346F-F062-4865-AA78-21B699532AE0}" type="slidenum">
              <a:rPr lang="ru-RU" smtClean="0"/>
              <a:pPr>
                <a:defRPr/>
              </a:pPr>
              <a:t>15</a:t>
            </a:fld>
            <a:endParaRPr lang="ru-RU"/>
          </a:p>
        </p:txBody>
      </p:sp>
      <p:pic>
        <p:nvPicPr>
          <p:cNvPr id="23555" name="slide_15.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3555"/>
                                        </p:tgtEl>
                                      </p:cBhvr>
                                    </p:cmd>
                                  </p:childTnLst>
                                </p:cTn>
                              </p:par>
                            </p:childTnLst>
                          </p:cTn>
                        </p:par>
                      </p:childTnLst>
                    </p:cTn>
                  </p:par>
                </p:childTnLst>
              </p:cTn>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4578" name="Rectangle 3"/>
          <p:cNvSpPr>
            <a:spLocks noGrp="1" noChangeArrowheads="1"/>
          </p:cNvSpPr>
          <p:nvPr>
            <p:ph type="body" idx="1"/>
          </p:nvPr>
        </p:nvSpPr>
        <p:spPr>
          <a:xfrm>
            <a:off x="179388" y="188913"/>
            <a:ext cx="8964612" cy="6553200"/>
          </a:xfrm>
        </p:spPr>
        <p:txBody>
          <a:bodyPr/>
          <a:lstStyle/>
          <a:p>
            <a:pPr eaLnBrk="1" hangingPunct="1">
              <a:lnSpc>
                <a:spcPct val="80000"/>
              </a:lnSpc>
            </a:pPr>
            <a:r>
              <a:rPr lang="ru-RU" sz="2000" smtClean="0">
                <a:solidFill>
                  <a:srgbClr val="FF0000"/>
                </a:solidFill>
              </a:rPr>
              <a:t>USB 2.0</a:t>
            </a:r>
          </a:p>
          <a:p>
            <a:pPr eaLnBrk="1" hangingPunct="1">
              <a:lnSpc>
                <a:spcPct val="80000"/>
              </a:lnSpc>
            </a:pPr>
            <a:r>
              <a:rPr lang="ru-RU" sz="2000" smtClean="0"/>
              <a:t>Спецификация выпущена в апреле 2000 года.</a:t>
            </a:r>
          </a:p>
          <a:p>
            <a:pPr eaLnBrk="1" hangingPunct="1">
              <a:lnSpc>
                <a:spcPct val="80000"/>
              </a:lnSpc>
            </a:pPr>
            <a:r>
              <a:rPr lang="ru-RU" sz="2000" smtClean="0"/>
              <a:t>Для устройств USB 2.0 регламентировано три режима работы:</a:t>
            </a:r>
          </a:p>
          <a:p>
            <a:pPr eaLnBrk="1" hangingPunct="1">
              <a:lnSpc>
                <a:spcPct val="80000"/>
              </a:lnSpc>
            </a:pPr>
            <a:r>
              <a:rPr lang="ru-RU" sz="2000" smtClean="0"/>
              <a:t>    Low-speed, 10—1500 Кбит/c (клавиатуры, мыши, джойстики, геймпады)</a:t>
            </a:r>
          </a:p>
          <a:p>
            <a:pPr eaLnBrk="1" hangingPunct="1">
              <a:lnSpc>
                <a:spcPct val="80000"/>
              </a:lnSpc>
            </a:pPr>
            <a:r>
              <a:rPr lang="ru-RU" sz="2000" smtClean="0"/>
              <a:t>    Full-speed, 0,5—12 Мбит/с (аудио-, видеоустройства)</a:t>
            </a:r>
          </a:p>
          <a:p>
            <a:pPr eaLnBrk="1" hangingPunct="1">
              <a:lnSpc>
                <a:spcPct val="80000"/>
              </a:lnSpc>
            </a:pPr>
            <a:r>
              <a:rPr lang="ru-RU" sz="2000" smtClean="0"/>
              <a:t>    High-speed, 25—480 Мбит/с (видеоустройства, устройства хранения информации)</a:t>
            </a:r>
          </a:p>
          <a:p>
            <a:pPr eaLnBrk="1" hangingPunct="1">
              <a:lnSpc>
                <a:spcPct val="80000"/>
              </a:lnSpc>
            </a:pPr>
            <a:r>
              <a:rPr lang="ru-RU" sz="2000" smtClean="0"/>
              <a:t>Спецификация USB 3.0 повышает максимальную скорость передачи информации до 5 Гбит/с — что на порядок больше 480 Мбит/с, которые может обеспечить USB 2.0. Таким образом, скорость передачи возрастает с 60 Мбайт/с (30 Мбайт/с эффективных) до 600 Мбайт/с и позволяет передать 1 ТБ не за 8—10 часов, а за 40—60 минут.</a:t>
            </a:r>
          </a:p>
          <a:p>
            <a:pPr eaLnBrk="1" hangingPunct="1">
              <a:lnSpc>
                <a:spcPct val="80000"/>
              </a:lnSpc>
            </a:pPr>
            <a:r>
              <a:rPr lang="ru-RU" sz="2000" smtClean="0">
                <a:solidFill>
                  <a:srgbClr val="FF0000"/>
                </a:solidFill>
              </a:rPr>
              <a:t>USB 3.0</a:t>
            </a:r>
          </a:p>
          <a:p>
            <a:pPr eaLnBrk="1" hangingPunct="1">
              <a:lnSpc>
                <a:spcPct val="80000"/>
              </a:lnSpc>
            </a:pPr>
            <a:r>
              <a:rPr lang="ru-RU" sz="2000" smtClean="0"/>
              <a:t>Версия 3.0 отличается не только более высокой скоростью передачи информации, но и увеличенной силой тока с 500 мА до 900 мА. Таким образом, от одного хаба можно подпитывать большее количество устройств либо избавить сами устройства от отдельных блоков питания. На некоторых материнских платах и ноутбуках одно или несколько гнезд USB 3.0 могут быть помечены значком молнии. Это значит, что от данного порта можно запитывать и заряжать устройства, потребляющие ток более 1 А, а также зарядка будет идти при выключенном компьютере.</a:t>
            </a:r>
          </a:p>
          <a:p>
            <a:pPr eaLnBrk="1" hangingPunct="1">
              <a:lnSpc>
                <a:spcPct val="80000"/>
              </a:lnSpc>
            </a:pPr>
            <a:endParaRPr lang="ru-RU" sz="2000" smtClean="0"/>
          </a:p>
        </p:txBody>
      </p:sp>
      <p:sp>
        <p:nvSpPr>
          <p:cNvPr id="3" name="Номер слайда 2"/>
          <p:cNvSpPr>
            <a:spLocks noGrp="1"/>
          </p:cNvSpPr>
          <p:nvPr>
            <p:ph type="sldNum" sz="quarter" idx="12"/>
          </p:nvPr>
        </p:nvSpPr>
        <p:spPr/>
        <p:txBody>
          <a:bodyPr/>
          <a:lstStyle/>
          <a:p>
            <a:pPr>
              <a:defRPr/>
            </a:pPr>
            <a:fld id="{EAEC346F-F062-4865-AA78-21B699532AE0}" type="slidenum">
              <a:rPr lang="ru-RU" smtClean="0"/>
              <a:pPr>
                <a:defRPr/>
              </a:pPr>
              <a:t>16</a:t>
            </a:fld>
            <a:endParaRPr lang="ru-RU"/>
          </a:p>
        </p:txBody>
      </p:sp>
      <p:pic>
        <p:nvPicPr>
          <p:cNvPr id="24579" name="slide_16.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4579"/>
                                        </p:tgtEl>
                                      </p:cBhvr>
                                    </p:cmd>
                                  </p:childTnLst>
                                </p:cTn>
                              </p:par>
                            </p:childTnLst>
                          </p:cTn>
                        </p:par>
                      </p:childTnLst>
                    </p:cTn>
                  </p:par>
                </p:childTnLst>
              </p:cTn>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3"/>
          <p:cNvSpPr>
            <a:spLocks noGrp="1" noChangeArrowheads="1"/>
          </p:cNvSpPr>
          <p:nvPr>
            <p:ph type="body" idx="1"/>
          </p:nvPr>
        </p:nvSpPr>
        <p:spPr>
          <a:xfrm>
            <a:off x="179388" y="188913"/>
            <a:ext cx="8964612" cy="6553200"/>
          </a:xfrm>
        </p:spPr>
        <p:txBody>
          <a:bodyPr/>
          <a:lstStyle/>
          <a:p>
            <a:pPr eaLnBrk="1" hangingPunct="1">
              <a:lnSpc>
                <a:spcPct val="80000"/>
              </a:lnSpc>
            </a:pPr>
            <a:r>
              <a:rPr lang="ru-RU" sz="2000" smtClean="0"/>
              <a:t>31 июля 2013 года USB 3.0 Promoter Group объявила о принятии спецификации следующего интерфейса, USB 3.1, скорость передачи которого может достигать 10 Гбит/с. Разъём USB 3.1 Type-C является симметричным, позволяя вставлять кабель любой стороной, как это ранее сделала Apple с разъёмом Lightning.</a:t>
            </a:r>
          </a:p>
          <a:p>
            <a:pPr eaLnBrk="1" hangingPunct="1">
              <a:lnSpc>
                <a:spcPct val="80000"/>
              </a:lnSpc>
            </a:pPr>
            <a:endParaRPr lang="ru-RU" sz="2000" smtClean="0"/>
          </a:p>
          <a:p>
            <a:pPr eaLnBrk="1" hangingPunct="1">
              <a:lnSpc>
                <a:spcPct val="80000"/>
              </a:lnSpc>
            </a:pPr>
            <a:r>
              <a:rPr lang="ru-RU" sz="2000" smtClean="0"/>
              <a:t>В августе 2014 года была продемонстрирована реализация уязвимости устройств USB, получившей название BadUSB. Некоторые USB устройства позволяют изменять микропрограмму микросхемы, отвечающую за взаимодействие с компьютером. Злоумышленник, проведя реверс-инжиниринг конкретного устройства, может создать и записать в него вредоносный код. Этот вредоносный код может, например, имитируя клавиатуру, произвести необходимые действия за пользователя на заражаемом компьютере. Или, имитируя сетевое устройство, изменить сетевые настройки таким образом, что пользователь будет просматривать сайты интернет через подконтрольные злоумышленнику промежуточные серверы (Фарминг). Кроме того, имитируя USB-флешку, вредоносный код может загрузить и запустить на компьютере с включенным автозапуском вирусную программу. Такой вирус может скопировать себя и на другие устройства USB, подключённые в данный момент к компьютеру, заражая всё новые USB устройства (Веб-камеры, клавиатуры, флеш-карты и др.)</a:t>
            </a:r>
          </a:p>
        </p:txBody>
      </p:sp>
      <p:sp>
        <p:nvSpPr>
          <p:cNvPr id="3" name="Номер слайда 2"/>
          <p:cNvSpPr>
            <a:spLocks noGrp="1"/>
          </p:cNvSpPr>
          <p:nvPr>
            <p:ph type="sldNum" sz="quarter" idx="12"/>
          </p:nvPr>
        </p:nvSpPr>
        <p:spPr/>
        <p:txBody>
          <a:bodyPr/>
          <a:lstStyle/>
          <a:p>
            <a:pPr>
              <a:defRPr/>
            </a:pPr>
            <a:fld id="{EAEC346F-F062-4865-AA78-21B699532AE0}" type="slidenum">
              <a:rPr lang="ru-RU" smtClean="0"/>
              <a:pPr>
                <a:defRPr/>
              </a:pPr>
              <a:t>17</a:t>
            </a:fld>
            <a:endParaRPr lang="ru-RU"/>
          </a:p>
        </p:txBody>
      </p:sp>
      <p:pic>
        <p:nvPicPr>
          <p:cNvPr id="25603" name="slide_17.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5603"/>
                                        </p:tgtEl>
                                      </p:cBhvr>
                                    </p:cmd>
                                  </p:childTnLst>
                                </p:cTn>
                              </p:par>
                            </p:childTnLst>
                          </p:cTn>
                        </p:par>
                      </p:childTnLst>
                    </p:cTn>
                  </p:par>
                </p:childTnLst>
              </p:cTn>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6626" name="Picture 4" descr="usb10"/>
          <p:cNvPicPr>
            <a:picLocks noChangeAspect="1" noChangeArrowheads="1"/>
          </p:cNvPicPr>
          <p:nvPr/>
        </p:nvPicPr>
        <p:blipFill>
          <a:blip r:embed="rId2" cstate="print"/>
          <a:srcRect/>
          <a:stretch>
            <a:fillRect/>
          </a:stretch>
        </p:blipFill>
        <p:spPr bwMode="auto">
          <a:xfrm>
            <a:off x="0" y="647700"/>
            <a:ext cx="9144000" cy="6210300"/>
          </a:xfrm>
          <a:prstGeom prst="rect">
            <a:avLst/>
          </a:prstGeom>
          <a:noFill/>
          <a:ln w="9525">
            <a:noFill/>
            <a:miter lim="800000"/>
            <a:headEnd/>
            <a:tailEnd/>
          </a:ln>
        </p:spPr>
      </p:pic>
      <p:sp>
        <p:nvSpPr>
          <p:cNvPr id="26627" name="Rectangle 5"/>
          <p:cNvSpPr>
            <a:spLocks noChangeArrowheads="1"/>
          </p:cNvSpPr>
          <p:nvPr/>
        </p:nvSpPr>
        <p:spPr bwMode="auto">
          <a:xfrm>
            <a:off x="1547813" y="115888"/>
            <a:ext cx="6480175" cy="504825"/>
          </a:xfrm>
          <a:prstGeom prst="rect">
            <a:avLst/>
          </a:prstGeom>
          <a:solidFill>
            <a:schemeClr val="accent1"/>
          </a:solidFill>
          <a:ln w="9525">
            <a:solidFill>
              <a:schemeClr val="tx1"/>
            </a:solidFill>
            <a:miter lim="800000"/>
            <a:headEnd/>
            <a:tailEnd/>
          </a:ln>
        </p:spPr>
        <p:txBody>
          <a:bodyPr wrap="none" anchor="ctr"/>
          <a:lstStyle/>
          <a:p>
            <a:pPr algn="ctr"/>
            <a:r>
              <a:rPr lang="en-US"/>
              <a:t>USB 1.0, USB 2.0</a:t>
            </a:r>
            <a:endParaRPr lang="ru-RU"/>
          </a:p>
        </p:txBody>
      </p:sp>
      <p:sp>
        <p:nvSpPr>
          <p:cNvPr id="4" name="Номер слайда 3"/>
          <p:cNvSpPr>
            <a:spLocks noGrp="1"/>
          </p:cNvSpPr>
          <p:nvPr>
            <p:ph type="sldNum" sz="quarter" idx="12"/>
          </p:nvPr>
        </p:nvSpPr>
        <p:spPr/>
        <p:txBody>
          <a:bodyPr/>
          <a:lstStyle/>
          <a:p>
            <a:pPr>
              <a:defRPr/>
            </a:pPr>
            <a:fld id="{5B23B133-9196-4E31-ABCE-DFFD23D934D1}" type="slidenum">
              <a:rPr lang="ru-RU" smtClean="0"/>
              <a:pPr>
                <a:defRPr/>
              </a:pPr>
              <a:t>18</a:t>
            </a:fld>
            <a:endParaRPr lang="ru-RU"/>
          </a:p>
        </p:txBody>
      </p:sp>
      <p:pic>
        <p:nvPicPr>
          <p:cNvPr id="26628" name="slide_18.mp3">
            <a:hlinkClick r:id="" action="ppaction://media"/>
          </p:cNvPr>
          <p:cNvPicPr>
            <a:picLocks noChangeAspect="1"/>
          </p:cNvPicPr>
          <p:nvPr>
            <a:audioFile r:link="rId5"/>
            <p:extLst>
              <p:ext uri="{DAA4B4D4-6D71-4841-9C94-3DE7FCFB9230}">
                <p14:media xmlns:p14="http://schemas.microsoft.com/office/powerpoint/2010/main" r:embed="rId4"/>
              </p:ext>
            </p:extLst>
          </p:nvPr>
        </p:nvPicPr>
        <p:blipFill>
          <a:blip r:embed="rId6"/>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6628"/>
                                        </p:tgtEl>
                                      </p:cBhvr>
                                    </p:cmd>
                                  </p:childTnLst>
                                </p:cTn>
                              </p:par>
                            </p:childTnLst>
                          </p:cTn>
                        </p:par>
                      </p:childTnLst>
                    </p:cTn>
                  </p:par>
                </p:childTnLst>
              </p:cTn>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Rectangle 2"/>
          <p:cNvSpPr>
            <a:spLocks noGrp="1" noChangeArrowheads="1"/>
          </p:cNvSpPr>
          <p:nvPr>
            <p:ph type="title"/>
          </p:nvPr>
        </p:nvSpPr>
        <p:spPr>
          <a:xfrm>
            <a:off x="468313" y="0"/>
            <a:ext cx="8229600" cy="417513"/>
          </a:xfrm>
        </p:spPr>
        <p:txBody>
          <a:bodyPr>
            <a:normAutofit fontScale="90000"/>
          </a:bodyPr>
          <a:lstStyle/>
          <a:p>
            <a:pPr eaLnBrk="1" hangingPunct="1"/>
            <a:r>
              <a:rPr lang="en-US" sz="4000" smtClean="0"/>
              <a:t>USB 3.0</a:t>
            </a:r>
            <a:endParaRPr lang="ru-RU" sz="4000" smtClean="0"/>
          </a:p>
        </p:txBody>
      </p:sp>
      <p:pic>
        <p:nvPicPr>
          <p:cNvPr id="27651" name="Picture 4" descr="usb30"/>
          <p:cNvPicPr>
            <a:picLocks noGrp="1" noChangeAspect="1" noChangeArrowheads="1"/>
          </p:cNvPicPr>
          <p:nvPr>
            <p:ph idx="1"/>
          </p:nvPr>
        </p:nvPicPr>
        <p:blipFill>
          <a:blip r:embed="rId2" cstate="print"/>
          <a:srcRect/>
          <a:stretch>
            <a:fillRect/>
          </a:stretch>
        </p:blipFill>
        <p:spPr>
          <a:xfrm>
            <a:off x="323850" y="625475"/>
            <a:ext cx="8388350" cy="6232525"/>
          </a:xfrm>
          <a:noFill/>
        </p:spPr>
      </p:pic>
      <p:sp>
        <p:nvSpPr>
          <p:cNvPr id="4" name="Номер слайда 3"/>
          <p:cNvSpPr>
            <a:spLocks noGrp="1"/>
          </p:cNvSpPr>
          <p:nvPr>
            <p:ph type="sldNum" sz="quarter" idx="12"/>
          </p:nvPr>
        </p:nvSpPr>
        <p:spPr/>
        <p:txBody>
          <a:bodyPr/>
          <a:lstStyle/>
          <a:p>
            <a:pPr>
              <a:defRPr/>
            </a:pPr>
            <a:fld id="{EAEC346F-F062-4865-AA78-21B699532AE0}" type="slidenum">
              <a:rPr lang="ru-RU" smtClean="0"/>
              <a:pPr>
                <a:defRPr/>
              </a:pPr>
              <a:t>19</a:t>
            </a:fld>
            <a:endParaRPr lang="ru-RU"/>
          </a:p>
        </p:txBody>
      </p:sp>
      <p:pic>
        <p:nvPicPr>
          <p:cNvPr id="27652" name="slide_19.mp3">
            <a:hlinkClick r:id="" action="ppaction://media"/>
          </p:cNvPr>
          <p:cNvPicPr>
            <a:picLocks noChangeAspect="1"/>
          </p:cNvPicPr>
          <p:nvPr>
            <a:audioFile r:link="rId5"/>
            <p:extLst>
              <p:ext uri="{DAA4B4D4-6D71-4841-9C94-3DE7FCFB9230}">
                <p14:media xmlns:p14="http://schemas.microsoft.com/office/powerpoint/2010/main" r:embed="rId4"/>
              </p:ext>
            </p:extLst>
          </p:nvPr>
        </p:nvPicPr>
        <p:blipFill>
          <a:blip r:embed="rId6"/>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7652"/>
                                        </p:tgtEl>
                                      </p:cBhvr>
                                    </p:cmd>
                                  </p:childTnLst>
                                </p:cTn>
                              </p:par>
                            </p:childTnLst>
                          </p:cTn>
                        </p:par>
                      </p:childTnLst>
                    </p:cTn>
                  </p:par>
                </p:childTnLst>
              </p:cTn>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Rectangle 3"/>
          <p:cNvSpPr>
            <a:spLocks noGrp="1" noChangeArrowheads="1"/>
          </p:cNvSpPr>
          <p:nvPr>
            <p:ph type="body" idx="1"/>
          </p:nvPr>
        </p:nvSpPr>
        <p:spPr>
          <a:xfrm>
            <a:off x="179388" y="115888"/>
            <a:ext cx="8713787" cy="6742112"/>
          </a:xfrm>
        </p:spPr>
        <p:txBody>
          <a:bodyPr/>
          <a:lstStyle/>
          <a:p>
            <a:pPr eaLnBrk="1" hangingPunct="1">
              <a:lnSpc>
                <a:spcPct val="80000"/>
              </a:lnSpc>
            </a:pPr>
            <a:r>
              <a:rPr lang="ru-RU" sz="2000" smtClean="0"/>
              <a:t>ATA (англ. Advanced Technology Attachment) — параллельный интерфейс подключения накопителей (жёстких дисков и оптических дисководов) к компьютеру. В 1990-е годы был стандартом на платформе IBM PC; в настоящее время вытесняется своим последователем — SATA — и с его появлением получил название PATA (Parallel ATA).</a:t>
            </a:r>
            <a:endParaRPr lang="en-US" sz="2000" smtClean="0"/>
          </a:p>
          <a:p>
            <a:pPr eaLnBrk="1" hangingPunct="1">
              <a:lnSpc>
                <a:spcPct val="80000"/>
              </a:lnSpc>
            </a:pPr>
            <a:r>
              <a:rPr lang="ru-RU" sz="2000" smtClean="0"/>
              <a:t>Иное название этого понятия — «</a:t>
            </a:r>
            <a:r>
              <a:rPr lang="ru-RU" sz="2000" smtClean="0">
                <a:solidFill>
                  <a:srgbClr val="FF0000"/>
                </a:solidFill>
              </a:rPr>
              <a:t>IDE</a:t>
            </a:r>
            <a:r>
              <a:rPr lang="ru-RU" sz="2000" smtClean="0"/>
              <a:t>»</a:t>
            </a:r>
            <a:r>
              <a:rPr lang="en-US" sz="2000" smtClean="0"/>
              <a:t> </a:t>
            </a:r>
            <a:r>
              <a:rPr lang="ru-RU" sz="2000" smtClean="0"/>
              <a:t>Integrated Drive Electronics — «электроника, встроенная в привод»</a:t>
            </a:r>
            <a:endParaRPr lang="en-US" sz="2000" smtClean="0"/>
          </a:p>
          <a:p>
            <a:pPr eaLnBrk="1" hangingPunct="1">
              <a:lnSpc>
                <a:spcPct val="80000"/>
              </a:lnSpc>
            </a:pPr>
            <a:r>
              <a:rPr lang="ru-RU" sz="2000" smtClean="0"/>
              <a:t>контроллер привода располагается в нём самом, а не в виде отдельной платы расширения, как в предшествующем стандарте ST-506 и существовавших тогда интерфейсах SCSI и ST-412. Это позволило улучшить характеристики накопителей (за счёт меньшего расстояния до контроллера), упростить управление им (так как контроллер канала IDE абстрагировался от деталей работы привода) и удешевить производство (контроллер привода мог быть рассчитан только на «свой» привод, а не на все возможные; контроллер канала же вообще становился стандартным).</a:t>
            </a:r>
            <a:endParaRPr lang="en-US" sz="2000" smtClean="0"/>
          </a:p>
          <a:p>
            <a:pPr eaLnBrk="1" hangingPunct="1">
              <a:lnSpc>
                <a:spcPct val="80000"/>
              </a:lnSpc>
            </a:pPr>
            <a:r>
              <a:rPr lang="ru-RU" sz="2000" smtClean="0"/>
              <a:t>В стандарте АТА определён интерфейс между контроллером и накопителем, а также передаваемые по нему команды.</a:t>
            </a:r>
          </a:p>
          <a:p>
            <a:pPr eaLnBrk="1" hangingPunct="1">
              <a:lnSpc>
                <a:spcPct val="80000"/>
              </a:lnSpc>
            </a:pPr>
            <a:r>
              <a:rPr lang="ru-RU" sz="2000" smtClean="0"/>
              <a:t>Интерфейс имеет 8 регистров, занимающих 8 адресов в пространстве ввода-вывода. Ширина шины данных составляет 16 бит. Количество каналов, присутствующих в системе, может быть больше 2. Главное, чтобы адреса каналов не пересекались с адресами других устройств ввода-вывода. К каждому каналу можно подключить 2 устройства (</a:t>
            </a:r>
            <a:r>
              <a:rPr lang="ru-RU" sz="2000" smtClean="0">
                <a:solidFill>
                  <a:srgbClr val="FF0000"/>
                </a:solidFill>
              </a:rPr>
              <a:t>master и slave</a:t>
            </a:r>
            <a:r>
              <a:rPr lang="ru-RU" sz="2000" smtClean="0"/>
              <a:t>), но в каждый момент времени может работать лишь одно устройство.</a:t>
            </a:r>
          </a:p>
        </p:txBody>
      </p:sp>
      <p:sp>
        <p:nvSpPr>
          <p:cNvPr id="3" name="Номер слайда 2"/>
          <p:cNvSpPr>
            <a:spLocks noGrp="1"/>
          </p:cNvSpPr>
          <p:nvPr>
            <p:ph type="sldNum" sz="quarter" idx="12"/>
          </p:nvPr>
        </p:nvSpPr>
        <p:spPr/>
        <p:txBody>
          <a:bodyPr/>
          <a:lstStyle/>
          <a:p>
            <a:pPr>
              <a:defRPr/>
            </a:pPr>
            <a:fld id="{EAEC346F-F062-4865-AA78-21B699532AE0}" type="slidenum">
              <a:rPr lang="ru-RU" smtClean="0"/>
              <a:pPr>
                <a:defRPr/>
              </a:pPr>
              <a:t>20</a:t>
            </a:fld>
            <a:endParaRPr lang="ru-RU"/>
          </a:p>
        </p:txBody>
      </p:sp>
      <p:pic>
        <p:nvPicPr>
          <p:cNvPr id="28675" name="slide_20.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8675"/>
                                        </p:tgtEl>
                                      </p:cBhvr>
                                    </p:cmd>
                                  </p:childTnLst>
                                </p:cTn>
                              </p:par>
                            </p:childTnLst>
                          </p:cTn>
                        </p:par>
                      </p:childTnLst>
                    </p:cTn>
                  </p:par>
                </p:childTnLst>
              </p:cTn>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Rectangle 4"/>
          <p:cNvSpPr>
            <a:spLocks noChangeArrowheads="1"/>
          </p:cNvSpPr>
          <p:nvPr/>
        </p:nvSpPr>
        <p:spPr bwMode="auto">
          <a:xfrm>
            <a:off x="179388" y="260350"/>
            <a:ext cx="8748712" cy="3113088"/>
          </a:xfrm>
          <a:prstGeom prst="rect">
            <a:avLst/>
          </a:prstGeom>
          <a:noFill/>
          <a:ln w="9525">
            <a:noFill/>
            <a:miter lim="800000"/>
            <a:headEnd/>
            <a:tailEnd/>
          </a:ln>
        </p:spPr>
        <p:txBody>
          <a:bodyPr>
            <a:spAutoFit/>
          </a:bodyPr>
          <a:lstStyle/>
          <a:p>
            <a:r>
              <a:rPr lang="ru-RU"/>
              <a:t>Для подключения жёстких дисков с интерфейсом PATA обычно используется </a:t>
            </a:r>
            <a:r>
              <a:rPr lang="ru-RU">
                <a:solidFill>
                  <a:srgbClr val="FF0000"/>
                </a:solidFill>
              </a:rPr>
              <a:t>40-проводный </a:t>
            </a:r>
            <a:r>
              <a:rPr lang="ru-RU"/>
              <a:t>кабель (именуемый также шлейфом). Каждый шлейф обычно имеет два или три разъёма, один из которых подключается к разъёму контроллера на материнской плате (в более старых компьютерах этот контроллер размещался на отдельной плате расширения), а один или два других подключаются к дискам. В один момент времени шлейф P-ATA передаёт </a:t>
            </a:r>
            <a:r>
              <a:rPr lang="ru-RU">
                <a:solidFill>
                  <a:srgbClr val="FF0000"/>
                </a:solidFill>
              </a:rPr>
              <a:t>16 бит</a:t>
            </a:r>
            <a:r>
              <a:rPr lang="ru-RU"/>
              <a:t> данных. Иногда встречаются шлейфы IDE, позволяющие подключение трёх дисков к одному IDE каналу, но в этом случае один из дисков работает в режиме read-only.</a:t>
            </a:r>
            <a:r>
              <a:rPr lang="en-US"/>
              <a:t> </a:t>
            </a:r>
            <a:r>
              <a:rPr lang="ru-RU"/>
              <a:t>Долгое время шлейф ATA содержал </a:t>
            </a:r>
            <a:r>
              <a:rPr lang="ru-RU">
                <a:solidFill>
                  <a:srgbClr val="FF0000"/>
                </a:solidFill>
              </a:rPr>
              <a:t>40 проводников</a:t>
            </a:r>
            <a:r>
              <a:rPr lang="ru-RU"/>
              <a:t>, но с введением режима Ultra DMA/66 (UDMA4) появилась его </a:t>
            </a:r>
            <a:r>
              <a:rPr lang="ru-RU">
                <a:solidFill>
                  <a:srgbClr val="FF0000"/>
                </a:solidFill>
              </a:rPr>
              <a:t>80-проводная</a:t>
            </a:r>
            <a:r>
              <a:rPr lang="ru-RU"/>
              <a:t> версия.</a:t>
            </a:r>
            <a:r>
              <a:rPr lang="en-US"/>
              <a:t> ATA-1-ATA-5 – 137 </a:t>
            </a:r>
            <a:r>
              <a:rPr lang="ru-RU"/>
              <a:t>Гб максимум, </a:t>
            </a:r>
            <a:r>
              <a:rPr lang="en-US"/>
              <a:t>ULTRA DMA – 66 </a:t>
            </a:r>
            <a:r>
              <a:rPr lang="ru-RU"/>
              <a:t>мб</a:t>
            </a:r>
            <a:r>
              <a:rPr lang="en-US"/>
              <a:t>/</a:t>
            </a:r>
            <a:r>
              <a:rPr lang="ru-RU"/>
              <a:t>сек</a:t>
            </a:r>
          </a:p>
        </p:txBody>
      </p:sp>
      <p:pic>
        <p:nvPicPr>
          <p:cNvPr id="29699" name="Picture 5" descr="800px-ATA_on_mainboard"/>
          <p:cNvPicPr>
            <a:picLocks noChangeAspect="1" noChangeArrowheads="1"/>
          </p:cNvPicPr>
          <p:nvPr/>
        </p:nvPicPr>
        <p:blipFill>
          <a:blip r:embed="rId2" cstate="print"/>
          <a:srcRect/>
          <a:stretch>
            <a:fillRect/>
          </a:stretch>
        </p:blipFill>
        <p:spPr bwMode="auto">
          <a:xfrm>
            <a:off x="2339975" y="3573463"/>
            <a:ext cx="4602163" cy="3008312"/>
          </a:xfrm>
          <a:prstGeom prst="rect">
            <a:avLst/>
          </a:prstGeom>
          <a:noFill/>
          <a:ln w="9525">
            <a:noFill/>
            <a:miter lim="800000"/>
            <a:headEnd/>
            <a:tailEnd/>
          </a:ln>
        </p:spPr>
      </p:pic>
      <p:sp>
        <p:nvSpPr>
          <p:cNvPr id="4" name="Номер слайда 3"/>
          <p:cNvSpPr>
            <a:spLocks noGrp="1"/>
          </p:cNvSpPr>
          <p:nvPr>
            <p:ph type="sldNum" sz="quarter" idx="12"/>
          </p:nvPr>
        </p:nvSpPr>
        <p:spPr/>
        <p:txBody>
          <a:bodyPr/>
          <a:lstStyle/>
          <a:p>
            <a:pPr>
              <a:defRPr/>
            </a:pPr>
            <a:fld id="{5B23B133-9196-4E31-ABCE-DFFD23D934D1}" type="slidenum">
              <a:rPr lang="ru-RU" smtClean="0"/>
              <a:pPr>
                <a:defRPr/>
              </a:pPr>
              <a:t>21</a:t>
            </a:fld>
            <a:endParaRPr lang="ru-RU"/>
          </a:p>
        </p:txBody>
      </p:sp>
      <p:pic>
        <p:nvPicPr>
          <p:cNvPr id="29700" name="slide_21.mp3">
            <a:hlinkClick r:id="" action="ppaction://media"/>
          </p:cNvPr>
          <p:cNvPicPr>
            <a:picLocks noChangeAspect="1"/>
          </p:cNvPicPr>
          <p:nvPr>
            <a:audioFile r:link="rId5"/>
            <p:extLst>
              <p:ext uri="{DAA4B4D4-6D71-4841-9C94-3DE7FCFB9230}">
                <p14:media xmlns:p14="http://schemas.microsoft.com/office/powerpoint/2010/main" r:embed="rId4"/>
              </p:ext>
            </p:extLst>
          </p:nvPr>
        </p:nvPicPr>
        <p:blipFill>
          <a:blip r:embed="rId6"/>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29700"/>
                                        </p:tgtEl>
                                      </p:cBhvr>
                                    </p:cmd>
                                  </p:childTnLst>
                                </p:cTn>
                              </p:par>
                            </p:childTnLst>
                          </p:cTn>
                        </p:par>
                      </p:childTnLst>
                    </p:cTn>
                  </p:par>
                </p:childTnLst>
              </p:cTn>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0722" name="Picture 4" descr="ATA_cables"/>
          <p:cNvPicPr>
            <a:picLocks noChangeAspect="1" noChangeArrowheads="1"/>
          </p:cNvPicPr>
          <p:nvPr/>
        </p:nvPicPr>
        <p:blipFill>
          <a:blip r:embed="rId2" cstate="print"/>
          <a:srcRect/>
          <a:stretch>
            <a:fillRect/>
          </a:stretch>
        </p:blipFill>
        <p:spPr bwMode="auto">
          <a:xfrm>
            <a:off x="-2916238" y="765175"/>
            <a:ext cx="12241213" cy="5184775"/>
          </a:xfrm>
          <a:prstGeom prst="rect">
            <a:avLst/>
          </a:prstGeom>
          <a:noFill/>
          <a:ln w="9525">
            <a:noFill/>
            <a:miter lim="800000"/>
            <a:headEnd/>
            <a:tailEnd/>
          </a:ln>
        </p:spPr>
      </p:pic>
      <p:sp>
        <p:nvSpPr>
          <p:cNvPr id="3" name="Номер слайда 2"/>
          <p:cNvSpPr>
            <a:spLocks noGrp="1"/>
          </p:cNvSpPr>
          <p:nvPr>
            <p:ph type="sldNum" sz="quarter" idx="12"/>
          </p:nvPr>
        </p:nvSpPr>
        <p:spPr/>
        <p:txBody>
          <a:bodyPr/>
          <a:lstStyle/>
          <a:p>
            <a:pPr>
              <a:defRPr/>
            </a:pPr>
            <a:fld id="{5B23B133-9196-4E31-ABCE-DFFD23D934D1}" type="slidenum">
              <a:rPr lang="ru-RU" smtClean="0"/>
              <a:pPr>
                <a:defRPr/>
              </a:pPr>
              <a:t>22</a:t>
            </a:fld>
            <a:endParaRPr lang="ru-RU"/>
          </a:p>
        </p:txBody>
      </p:sp>
      <p:pic>
        <p:nvPicPr>
          <p:cNvPr id="30723" name="slide_22.mp3">
            <a:hlinkClick r:id="" action="ppaction://media"/>
          </p:cNvPr>
          <p:cNvPicPr>
            <a:picLocks noChangeAspect="1"/>
          </p:cNvPicPr>
          <p:nvPr>
            <a:audioFile r:link="rId5"/>
            <p:extLst>
              <p:ext uri="{DAA4B4D4-6D71-4841-9C94-3DE7FCFB9230}">
                <p14:media xmlns:p14="http://schemas.microsoft.com/office/powerpoint/2010/main" r:embed="rId4"/>
              </p:ext>
            </p:extLst>
          </p:nvPr>
        </p:nvPicPr>
        <p:blipFill>
          <a:blip r:embed="rId6"/>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0723"/>
                                        </p:tgtEl>
                                      </p:cBhvr>
                                    </p:cmd>
                                  </p:childTnLst>
                                </p:cTn>
                              </p:par>
                            </p:childTnLst>
                          </p:cTn>
                        </p:par>
                      </p:childTnLst>
                    </p:cTn>
                  </p:par>
                </p:childTnLst>
              </p:cTn>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46" name="Rectangle 4"/>
          <p:cNvSpPr>
            <a:spLocks noChangeArrowheads="1"/>
          </p:cNvSpPr>
          <p:nvPr/>
        </p:nvSpPr>
        <p:spPr bwMode="auto">
          <a:xfrm>
            <a:off x="179388" y="115888"/>
            <a:ext cx="8964612" cy="1190625"/>
          </a:xfrm>
          <a:prstGeom prst="rect">
            <a:avLst/>
          </a:prstGeom>
          <a:noFill/>
          <a:ln w="9525">
            <a:noFill/>
            <a:miter lim="800000"/>
            <a:headEnd/>
            <a:tailEnd/>
          </a:ln>
        </p:spPr>
        <p:txBody>
          <a:bodyPr>
            <a:spAutoFit/>
          </a:bodyPr>
          <a:lstStyle/>
          <a:p>
            <a:pPr algn="just"/>
            <a:r>
              <a:rPr lang="ru-RU"/>
              <a:t>SATA (англ. Serial ATA) — последовательный интерфейс обмена данными с накопителями информации. SATA является развитием параллельного интерфейса ATA (IDE), который после появления SATA был переименован в PATA (Parallel ATA).</a:t>
            </a:r>
          </a:p>
        </p:txBody>
      </p:sp>
      <p:sp>
        <p:nvSpPr>
          <p:cNvPr id="31747" name="Rectangle 5"/>
          <p:cNvSpPr>
            <a:spLocks noChangeArrowheads="1"/>
          </p:cNvSpPr>
          <p:nvPr/>
        </p:nvSpPr>
        <p:spPr bwMode="auto">
          <a:xfrm>
            <a:off x="250825" y="1412875"/>
            <a:ext cx="7848600" cy="3662363"/>
          </a:xfrm>
          <a:prstGeom prst="rect">
            <a:avLst/>
          </a:prstGeom>
          <a:noFill/>
          <a:ln w="9525">
            <a:noFill/>
            <a:miter lim="800000"/>
            <a:headEnd/>
            <a:tailEnd/>
          </a:ln>
        </p:spPr>
        <p:txBody>
          <a:bodyPr>
            <a:spAutoFit/>
          </a:bodyPr>
          <a:lstStyle/>
          <a:p>
            <a:r>
              <a:rPr lang="ru-RU"/>
              <a:t>SATA использует 7-контактный разъём вместо 40-контактного разъёма у PATA. SATA-кабель имеет меньшую площадь, за счёт чего уменьшается сопротивление воздуху, обдувающему комплектующие компьютера, упрощается разводка проводов внутри системного блока.</a:t>
            </a:r>
          </a:p>
          <a:p>
            <a:endParaRPr lang="ru-RU"/>
          </a:p>
          <a:p>
            <a:r>
              <a:rPr lang="ru-RU"/>
              <a:t>SATA-кабель за счёт своей формы более устойчив к многократному подключению. Питающий шнур SATA также разработан с учётом многократных подключений. Разъём питания SATA подаёт 3 напряжения питания: +12 В, +5 В и +3,3 В; однако современные устройства могут работать без напряжения +3,3 В, что даёт возможность использовать пассивный переходник со стандартного разъёма питания IDE на SATA. Ряд SATA-устройств поставляется с двумя разъёмами питания: SATA и Molex.</a:t>
            </a:r>
          </a:p>
        </p:txBody>
      </p:sp>
      <p:sp>
        <p:nvSpPr>
          <p:cNvPr id="4" name="Номер слайда 3"/>
          <p:cNvSpPr>
            <a:spLocks noGrp="1"/>
          </p:cNvSpPr>
          <p:nvPr>
            <p:ph type="sldNum" sz="quarter" idx="12"/>
          </p:nvPr>
        </p:nvSpPr>
        <p:spPr/>
        <p:txBody>
          <a:bodyPr/>
          <a:lstStyle/>
          <a:p>
            <a:pPr>
              <a:defRPr/>
            </a:pPr>
            <a:fld id="{5B23B133-9196-4E31-ABCE-DFFD23D934D1}" type="slidenum">
              <a:rPr lang="ru-RU" smtClean="0"/>
              <a:pPr>
                <a:defRPr/>
              </a:pPr>
              <a:t>23</a:t>
            </a:fld>
            <a:endParaRPr lang="ru-RU"/>
          </a:p>
        </p:txBody>
      </p:sp>
      <p:pic>
        <p:nvPicPr>
          <p:cNvPr id="31748" name="slide_23.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1748"/>
                                        </p:tgtEl>
                                      </p:cBhvr>
                                    </p:cmd>
                                  </p:childTnLst>
                                </p:cTn>
                              </p:par>
                            </p:childTnLst>
                          </p:cTn>
                        </p:par>
                      </p:childTnLst>
                    </p:cTn>
                  </p:par>
                </p:childTnLst>
              </p:cTn>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70" name="Rectangle 3"/>
          <p:cNvSpPr>
            <a:spLocks noGrp="1" noChangeArrowheads="1"/>
          </p:cNvSpPr>
          <p:nvPr>
            <p:ph type="body" idx="1"/>
          </p:nvPr>
        </p:nvSpPr>
        <p:spPr>
          <a:xfrm>
            <a:off x="0" y="0"/>
            <a:ext cx="9036050" cy="6669088"/>
          </a:xfrm>
        </p:spPr>
        <p:txBody>
          <a:bodyPr/>
          <a:lstStyle/>
          <a:p>
            <a:pPr eaLnBrk="1" hangingPunct="1">
              <a:lnSpc>
                <a:spcPct val="80000"/>
              </a:lnSpc>
            </a:pPr>
            <a:r>
              <a:rPr lang="ru-RU" sz="2000" smtClean="0"/>
              <a:t>Спецификация SATA Revision 1.0 была представлена 7 января 2003 года. Первоначально стандарт SATA предусматривал работу шины на частоте 1,5 ГГц, обеспечивающей пропускную способность приблизительно в 1,2 Гбит/с (150 Мбайт/с). (20%-я потеря производительности объясняется использованием системы кодирования 8b/10b, при которой на каждые 8 бит полезной информации приходится 2 служебных бита)</a:t>
            </a:r>
            <a:r>
              <a:rPr lang="en-US" sz="2000" smtClean="0"/>
              <a:t>.</a:t>
            </a:r>
            <a:r>
              <a:rPr lang="ru-RU" sz="2000" smtClean="0"/>
              <a:t> Пропускная способность SATA/150 незначительно выше пропускной способности шины Ultra ATA (UDMA/133). Главным преимуществом SATA перед PATA является использование последовательной шины вместо параллельной. Несмотря на то, что последовательный способ обмена принципиально медленнее параллельного, в данном случае это компенсируется возможностью работы на более высоких частотах за счёт отсутствия необходимости синхронизации каналов и большей помехоустойчивостью кабеля. </a:t>
            </a:r>
            <a:endParaRPr lang="en-US" sz="2000" smtClean="0"/>
          </a:p>
          <a:p>
            <a:pPr eaLnBrk="1" hangingPunct="1">
              <a:lnSpc>
                <a:spcPct val="80000"/>
              </a:lnSpc>
            </a:pPr>
            <a:r>
              <a:rPr lang="ru-RU" sz="2000" smtClean="0">
                <a:solidFill>
                  <a:schemeClr val="hlink"/>
                </a:solidFill>
              </a:rPr>
              <a:t>Низковольтная дифференциальная</a:t>
            </a:r>
            <a:r>
              <a:rPr lang="ru-RU" sz="2000" smtClean="0"/>
              <a:t> передача сигналов (англ. low-voltage differential signaling или LVDS) — способ передачи электрических сигналов, позволяющий передавать информацию на высоких частотах при помощи дешёвых соединений на основе медной витой пары.</a:t>
            </a:r>
            <a:endParaRPr lang="en-US" sz="2000" smtClean="0"/>
          </a:p>
          <a:p>
            <a:pPr eaLnBrk="1" hangingPunct="1">
              <a:lnSpc>
                <a:spcPct val="80000"/>
              </a:lnSpc>
            </a:pPr>
            <a:r>
              <a:rPr lang="ru-RU" sz="2000" smtClean="0"/>
              <a:t>При дифференциальной передаче для передачи одного сигнала используется дифференциальная пара (сигналов); это означает, что передающая сторона подаёт на проводники пары различные уровни напряжения, которые сравниваются на приёмной стороне: для декодирования информации используется разница напряжений на проводниках пары.</a:t>
            </a:r>
          </a:p>
        </p:txBody>
      </p:sp>
      <p:sp>
        <p:nvSpPr>
          <p:cNvPr id="3" name="Номер слайда 2"/>
          <p:cNvSpPr>
            <a:spLocks noGrp="1"/>
          </p:cNvSpPr>
          <p:nvPr>
            <p:ph type="sldNum" sz="quarter" idx="12"/>
          </p:nvPr>
        </p:nvSpPr>
        <p:spPr/>
        <p:txBody>
          <a:bodyPr/>
          <a:lstStyle/>
          <a:p>
            <a:pPr>
              <a:defRPr/>
            </a:pPr>
            <a:fld id="{EAEC346F-F062-4865-AA78-21B699532AE0}" type="slidenum">
              <a:rPr lang="ru-RU" smtClean="0"/>
              <a:pPr>
                <a:defRPr/>
              </a:pPr>
              <a:t>24</a:t>
            </a:fld>
            <a:endParaRPr lang="ru-RU"/>
          </a:p>
        </p:txBody>
      </p:sp>
      <p:pic>
        <p:nvPicPr>
          <p:cNvPr id="32771" name="slide_24.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2771"/>
                                        </p:tgtEl>
                                      </p:cBhvr>
                                    </p:cmd>
                                  </p:childTnLst>
                                </p:cTn>
                              </p:par>
                            </p:childTnLst>
                          </p:cTn>
                        </p:par>
                      </p:childTnLst>
                    </p:cTn>
                  </p:par>
                </p:childTnLst>
              </p:cTn>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Rectangle 3"/>
          <p:cNvSpPr>
            <a:spLocks noGrp="1" noChangeArrowheads="1"/>
          </p:cNvSpPr>
          <p:nvPr>
            <p:ph type="body" sz="half" idx="1"/>
          </p:nvPr>
        </p:nvSpPr>
        <p:spPr>
          <a:xfrm>
            <a:off x="0" y="2420938"/>
            <a:ext cx="6372225" cy="4437062"/>
          </a:xfrm>
        </p:spPr>
        <p:txBody>
          <a:bodyPr/>
          <a:lstStyle/>
          <a:p>
            <a:pPr eaLnBrk="1" hangingPunct="1">
              <a:lnSpc>
                <a:spcPct val="90000"/>
              </a:lnSpc>
            </a:pPr>
            <a:r>
              <a:rPr lang="ru-RU" sz="2000" smtClean="0">
                <a:solidFill>
                  <a:srgbClr val="FF0000"/>
                </a:solidFill>
              </a:rPr>
              <a:t>SATA Express</a:t>
            </a:r>
            <a:r>
              <a:rPr lang="en-US" sz="2000" smtClean="0">
                <a:solidFill>
                  <a:srgbClr val="FF0000"/>
                </a:solidFill>
              </a:rPr>
              <a:t> (3.2)</a:t>
            </a:r>
            <a:r>
              <a:rPr lang="ru-RU" sz="2000" smtClean="0"/>
              <a:t> программно совместим с SATA, но в качестве несущего интерфейса используется PCI Express. Конструктивно представляет собой два рядом расположенных в длину SATA-порта, что позволяет использовать как накопители с интерфейсом SATA, так и непосредственно накопители, изначально поддерживающие SATA Express. Скорость передачи данных при этом достигает 8 Гбит/с в случае использования одного разъёма и 16 Гбит/с, в случае если задействованы оба разъёма SATA Express.</a:t>
            </a:r>
            <a:endParaRPr lang="en-US" sz="2000" smtClean="0"/>
          </a:p>
          <a:p>
            <a:pPr eaLnBrk="1" hangingPunct="1">
              <a:lnSpc>
                <a:spcPct val="90000"/>
              </a:lnSpc>
            </a:pPr>
            <a:r>
              <a:rPr lang="ru-RU" sz="2000" smtClean="0"/>
              <a:t>Предполагается, что на замену SATA Express придет разъём U.2 (SFF-8639), в котором предоставляется 4 линии PCI Express 3.0</a:t>
            </a:r>
          </a:p>
        </p:txBody>
      </p:sp>
      <p:pic>
        <p:nvPicPr>
          <p:cNvPr id="33795" name="Picture 4" descr="SATA_ports"/>
          <p:cNvPicPr>
            <a:picLocks noGrp="1" noChangeAspect="1" noChangeArrowheads="1"/>
          </p:cNvPicPr>
          <p:nvPr>
            <p:ph sz="half" idx="2"/>
          </p:nvPr>
        </p:nvPicPr>
        <p:blipFill>
          <a:blip r:embed="rId2" cstate="print"/>
          <a:srcRect/>
          <a:stretch>
            <a:fillRect/>
          </a:stretch>
        </p:blipFill>
        <p:spPr>
          <a:xfrm>
            <a:off x="6518275" y="2205038"/>
            <a:ext cx="2625725" cy="3589337"/>
          </a:xfrm>
          <a:noFill/>
        </p:spPr>
      </p:pic>
      <p:sp>
        <p:nvSpPr>
          <p:cNvPr id="33796" name="Rectangle 7"/>
          <p:cNvSpPr>
            <a:spLocks noChangeArrowheads="1"/>
          </p:cNvSpPr>
          <p:nvPr/>
        </p:nvSpPr>
        <p:spPr bwMode="auto">
          <a:xfrm>
            <a:off x="323850" y="260350"/>
            <a:ext cx="8496300" cy="2014538"/>
          </a:xfrm>
          <a:prstGeom prst="rect">
            <a:avLst/>
          </a:prstGeom>
          <a:noFill/>
          <a:ln w="9525">
            <a:noFill/>
            <a:miter lim="800000"/>
            <a:headEnd/>
            <a:tailEnd/>
          </a:ln>
        </p:spPr>
        <p:txBody>
          <a:bodyPr>
            <a:spAutoFit/>
          </a:bodyPr>
          <a:lstStyle/>
          <a:p>
            <a:r>
              <a:rPr lang="ru-RU">
                <a:solidFill>
                  <a:srgbClr val="FF0000"/>
                </a:solidFill>
              </a:rPr>
              <a:t>Спецификация SATA Revision 2.0</a:t>
            </a:r>
            <a:r>
              <a:rPr lang="ru-RU"/>
              <a:t> (</a:t>
            </a:r>
            <a:r>
              <a:rPr lang="ru-RU">
                <a:solidFill>
                  <a:schemeClr val="folHlink"/>
                </a:solidFill>
              </a:rPr>
              <a:t>SATA II</a:t>
            </a:r>
            <a:r>
              <a:rPr lang="ru-RU"/>
              <a:t> или SATA 2.0, SATA/300) работает на частоте 3 ГГц, обеспечивает пропускную способность до 3 Гбит/с брутто (300 Мбайт/с нетто для данных с учётом 8b/10b кодирования). Впервые был реализован в контроллере чипсета nForce 4 фирмы «NVIDIA». </a:t>
            </a:r>
            <a:endParaRPr lang="en-US"/>
          </a:p>
          <a:p>
            <a:r>
              <a:rPr lang="ru-RU">
                <a:solidFill>
                  <a:srgbClr val="FF0000"/>
                </a:solidFill>
              </a:rPr>
              <a:t>SATA Revision 3.0</a:t>
            </a:r>
            <a:r>
              <a:rPr lang="ru-RU"/>
              <a:t> (</a:t>
            </a:r>
            <a:r>
              <a:rPr lang="ru-RU">
                <a:solidFill>
                  <a:schemeClr val="folHlink"/>
                </a:solidFill>
              </a:rPr>
              <a:t>SATA III</a:t>
            </a:r>
            <a:r>
              <a:rPr lang="ru-RU"/>
              <a:t> или SATA 3.0) представлена в июле 2008 и предусматривает пропускную способность до 6 Гбит/с брутто (600 Мбайт/с нетто для данных с учётом 8b/10b кодирования).</a:t>
            </a:r>
            <a:endParaRPr lang="en-US"/>
          </a:p>
        </p:txBody>
      </p:sp>
      <p:sp>
        <p:nvSpPr>
          <p:cNvPr id="5" name="Номер слайда 4"/>
          <p:cNvSpPr>
            <a:spLocks noGrp="1"/>
          </p:cNvSpPr>
          <p:nvPr>
            <p:ph type="sldNum" sz="quarter" idx="12"/>
          </p:nvPr>
        </p:nvSpPr>
        <p:spPr/>
        <p:txBody>
          <a:bodyPr/>
          <a:lstStyle/>
          <a:p>
            <a:pPr>
              <a:defRPr/>
            </a:pPr>
            <a:fld id="{D237BF36-D4CF-46F1-AFBC-06A887148B36}" type="slidenum">
              <a:rPr lang="ru-RU" smtClean="0"/>
              <a:pPr>
                <a:defRPr/>
              </a:pPr>
              <a:t>25</a:t>
            </a:fld>
            <a:endParaRPr lang="ru-RU"/>
          </a:p>
        </p:txBody>
      </p:sp>
      <p:pic>
        <p:nvPicPr>
          <p:cNvPr id="33797" name="slide_25.mp3">
            <a:hlinkClick r:id="" action="ppaction://media"/>
          </p:cNvPr>
          <p:cNvPicPr>
            <a:picLocks noChangeAspect="1"/>
          </p:cNvPicPr>
          <p:nvPr>
            <a:audioFile r:link="rId5"/>
            <p:extLst>
              <p:ext uri="{DAA4B4D4-6D71-4841-9C94-3DE7FCFB9230}">
                <p14:media xmlns:p14="http://schemas.microsoft.com/office/powerpoint/2010/main" r:embed="rId4"/>
              </p:ext>
            </p:extLst>
          </p:nvPr>
        </p:nvPicPr>
        <p:blipFill>
          <a:blip r:embed="rId6"/>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3797"/>
                                        </p:tgtEl>
                                      </p:cBhvr>
                                    </p:cmd>
                                  </p:childTnLst>
                                </p:cTn>
                              </p:par>
                            </p:childTnLst>
                          </p:cTn>
                        </p:par>
                      </p:childTnLst>
                    </p:cTn>
                  </p:par>
                </p:childTnLst>
              </p:cTn>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818" name="Rectangle 3"/>
          <p:cNvSpPr>
            <a:spLocks noGrp="1" noChangeArrowheads="1"/>
          </p:cNvSpPr>
          <p:nvPr>
            <p:ph type="body" idx="1"/>
          </p:nvPr>
        </p:nvSpPr>
        <p:spPr>
          <a:xfrm>
            <a:off x="0" y="260350"/>
            <a:ext cx="9144000" cy="5616575"/>
          </a:xfrm>
        </p:spPr>
        <p:txBody>
          <a:bodyPr/>
          <a:lstStyle/>
          <a:p>
            <a:pPr eaLnBrk="1" hangingPunct="1">
              <a:lnSpc>
                <a:spcPct val="80000"/>
              </a:lnSpc>
            </a:pPr>
            <a:r>
              <a:rPr lang="ru-RU" sz="2000" smtClean="0">
                <a:solidFill>
                  <a:srgbClr val="FF0000"/>
                </a:solidFill>
              </a:rPr>
              <a:t>Накопи́тель на жёстких магни́тных ди́сках или НЖМД</a:t>
            </a:r>
            <a:r>
              <a:rPr lang="ru-RU" sz="2000" smtClean="0"/>
              <a:t> (англ. hard (magnetic) disk drive, HDD, HMDD), жёсткий диск, в компьютерном сленге «винче́стер» — запоминающее устройство (устройство хранения информации) произвольного доступа, основанное на принципе магнитной записи. Является основным накопителем данных в большинстве компьютеров.</a:t>
            </a:r>
          </a:p>
          <a:p>
            <a:pPr eaLnBrk="1" hangingPunct="1">
              <a:lnSpc>
                <a:spcPct val="80000"/>
              </a:lnSpc>
            </a:pPr>
            <a:endParaRPr lang="ru-RU" sz="2000" smtClean="0"/>
          </a:p>
          <a:p>
            <a:pPr eaLnBrk="1" hangingPunct="1">
              <a:lnSpc>
                <a:spcPct val="80000"/>
              </a:lnSpc>
            </a:pPr>
            <a:r>
              <a:rPr lang="ru-RU" sz="2000" smtClean="0"/>
              <a:t>В отличие от «гибкого» диска (дискеты), информация в НЖМД записывается на жёсткие (алюминиевые или стеклянные) пластины, покрытые слоем ферромагнитного материала, чаще всего двуокиси хрома — магнитные диски. В НЖМД используется одна или несколько пластин на одной оси. Считывающие головки в рабочем режиме не касаются поверхности пластин благодаря прослойке набегающего потока воздуха, образующейся у поверхности при быстром вращении. Расстояние между головкой и диском составляет несколько нанометров (в современных дисках около </a:t>
            </a:r>
            <a:r>
              <a:rPr lang="ru-RU" sz="2000" smtClean="0">
                <a:solidFill>
                  <a:srgbClr val="FF0000"/>
                </a:solidFill>
              </a:rPr>
              <a:t>10 нм</a:t>
            </a:r>
            <a:r>
              <a:rPr lang="ru-RU" sz="2000" smtClean="0"/>
              <a:t>), а отсутствие механического контакта обеспечивает долгий срок службы устройства. При отсутствии вращения дисков головки находятся у шпинделя или за пределами диска в безопасной («парковочной») зоне, где исключён их нештатный контакт с поверхностью дисков.</a:t>
            </a:r>
          </a:p>
        </p:txBody>
      </p:sp>
      <p:sp>
        <p:nvSpPr>
          <p:cNvPr id="3" name="Номер слайда 2"/>
          <p:cNvSpPr>
            <a:spLocks noGrp="1"/>
          </p:cNvSpPr>
          <p:nvPr>
            <p:ph type="sldNum" sz="quarter" idx="12"/>
          </p:nvPr>
        </p:nvSpPr>
        <p:spPr/>
        <p:txBody>
          <a:bodyPr/>
          <a:lstStyle/>
          <a:p>
            <a:pPr>
              <a:defRPr/>
            </a:pPr>
            <a:fld id="{EAEC346F-F062-4865-AA78-21B699532AE0}" type="slidenum">
              <a:rPr lang="ru-RU" smtClean="0"/>
              <a:pPr>
                <a:defRPr/>
              </a:pPr>
              <a:t>26</a:t>
            </a:fld>
            <a:endParaRPr lang="ru-RU"/>
          </a:p>
        </p:txBody>
      </p:sp>
      <p:pic>
        <p:nvPicPr>
          <p:cNvPr id="34819" name="slide_26.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4819"/>
                                        </p:tgtEl>
                                      </p:cBhvr>
                                    </p:cmd>
                                  </p:childTnLst>
                                </p:cTn>
                              </p:par>
                            </p:childTnLst>
                          </p:cTn>
                        </p:par>
                      </p:childTnLst>
                    </p:cTn>
                  </p:par>
                </p:childTnLst>
              </p:cTn>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5842" name="Picture 4" descr="Laptop-hard-drive-exposed"/>
          <p:cNvPicPr>
            <a:picLocks noChangeAspect="1" noChangeArrowheads="1"/>
          </p:cNvPicPr>
          <p:nvPr/>
        </p:nvPicPr>
        <p:blipFill>
          <a:blip r:embed="rId2" cstate="print"/>
          <a:srcRect/>
          <a:stretch>
            <a:fillRect/>
          </a:stretch>
        </p:blipFill>
        <p:spPr bwMode="auto">
          <a:xfrm>
            <a:off x="1187450" y="620713"/>
            <a:ext cx="6913563" cy="5287962"/>
          </a:xfrm>
          <a:prstGeom prst="rect">
            <a:avLst/>
          </a:prstGeom>
          <a:noFill/>
          <a:ln w="9525">
            <a:noFill/>
            <a:miter lim="800000"/>
            <a:headEnd/>
            <a:tailEnd/>
          </a:ln>
        </p:spPr>
      </p:pic>
      <p:sp>
        <p:nvSpPr>
          <p:cNvPr id="3" name="Номер слайда 2"/>
          <p:cNvSpPr>
            <a:spLocks noGrp="1"/>
          </p:cNvSpPr>
          <p:nvPr>
            <p:ph type="sldNum" sz="quarter" idx="12"/>
          </p:nvPr>
        </p:nvSpPr>
        <p:spPr/>
        <p:txBody>
          <a:bodyPr/>
          <a:lstStyle/>
          <a:p>
            <a:pPr>
              <a:defRPr/>
            </a:pPr>
            <a:fld id="{5B23B133-9196-4E31-ABCE-DFFD23D934D1}" type="slidenum">
              <a:rPr lang="ru-RU" smtClean="0"/>
              <a:pPr>
                <a:defRPr/>
              </a:pPr>
              <a:t>27</a:t>
            </a:fld>
            <a:endParaRPr lang="ru-RU"/>
          </a:p>
        </p:txBody>
      </p:sp>
      <p:pic>
        <p:nvPicPr>
          <p:cNvPr id="35843" name="slide_27.mp3">
            <a:hlinkClick r:id="" action="ppaction://media"/>
          </p:cNvPr>
          <p:cNvPicPr>
            <a:picLocks noChangeAspect="1"/>
          </p:cNvPicPr>
          <p:nvPr>
            <a:audioFile r:link="rId5"/>
            <p:extLst>
              <p:ext uri="{DAA4B4D4-6D71-4841-9C94-3DE7FCFB9230}">
                <p14:media xmlns:p14="http://schemas.microsoft.com/office/powerpoint/2010/main" r:embed="rId4"/>
              </p:ext>
            </p:extLst>
          </p:nvPr>
        </p:nvPicPr>
        <p:blipFill>
          <a:blip r:embed="rId6"/>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5843"/>
                                        </p:tgtEl>
                                      </p:cBhvr>
                                    </p:cmd>
                                  </p:childTnLst>
                                </p:cTn>
                              </p:par>
                            </p:childTnLst>
                          </p:cTn>
                        </p:par>
                      </p:childTnLst>
                    </p:cTn>
                  </p:par>
                </p:childTnLst>
              </p:cTn>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866" name="Rectangle 4"/>
          <p:cNvSpPr>
            <a:spLocks noChangeArrowheads="1"/>
          </p:cNvSpPr>
          <p:nvPr/>
        </p:nvSpPr>
        <p:spPr bwMode="auto">
          <a:xfrm>
            <a:off x="179388" y="260350"/>
            <a:ext cx="8785225" cy="6134100"/>
          </a:xfrm>
          <a:prstGeom prst="rect">
            <a:avLst/>
          </a:prstGeom>
          <a:noFill/>
          <a:ln w="9525">
            <a:noFill/>
            <a:miter lim="800000"/>
            <a:headEnd/>
            <a:tailEnd/>
          </a:ln>
        </p:spPr>
        <p:txBody>
          <a:bodyPr>
            <a:spAutoFit/>
          </a:bodyPr>
          <a:lstStyle/>
          <a:p>
            <a:r>
              <a:rPr lang="ru-RU">
                <a:solidFill>
                  <a:srgbClr val="FF0000"/>
                </a:solidFill>
              </a:rPr>
              <a:t>Метод продольной записи</a:t>
            </a:r>
          </a:p>
          <a:p>
            <a:r>
              <a:rPr lang="ru-RU"/>
              <a:t>Биты информации записываются с помощью маленькой головки, которая, проходя над поверхностью вращающегося диска, намагничивает миллиарды горизонтальных дискретных областей — доменов. При этом вектор намагниченности домена расположен продольно, то есть параллельно поверхности диска. Каждая из этих областей является логическим нулём или единицей, в зависимости от направления намагниченности.</a:t>
            </a:r>
          </a:p>
          <a:p>
            <a:r>
              <a:rPr lang="ru-RU"/>
              <a:t>Максимально достижимая при использовании данного метода плотность записи составляет около 23 Гбит/см². К 2010 году этот метод был практически вытеснен методом перпендикулярной записи.</a:t>
            </a:r>
          </a:p>
          <a:p>
            <a:r>
              <a:rPr lang="ru-RU">
                <a:solidFill>
                  <a:srgbClr val="FF0000"/>
                </a:solidFill>
              </a:rPr>
              <a:t>Метод перпендикулярной записи</a:t>
            </a:r>
          </a:p>
          <a:p>
            <a:r>
              <a:rPr lang="ru-RU"/>
              <a:t>технология, при которой биты информации сохраняются в вертикальных доменах. Это позволяет использовать более сильные магнитные поля и снизить площадь материала, необходимую для записи 1 бита. Предыдущий метод записи, параллельно поверхности магнитной пластины, привел к тому что в определенный момент инженеры упёрлись в «потолок». Плотность записи при этом методе резко подскочила — на свыше 30 % еще на первых образцах (на 2009 год — 400 Гбит/дюйм² / 62 Гбит/см²). А теоретический предел отодвинулся на порядки и составляет 1 Тбит на квадратный дюйм.</a:t>
            </a:r>
          </a:p>
          <a:p>
            <a:r>
              <a:rPr lang="ru-RU"/>
              <a:t>Жёсткие диски с перпендикулярной записью стали доступны на рынке с 2006 года[6]. Благодаря перпендикулярной записи винчестеры продолжают бить рекорды ёмкости, вмещая уже по 8 и даже 10 Терабайт.</a:t>
            </a:r>
          </a:p>
        </p:txBody>
      </p:sp>
      <p:sp>
        <p:nvSpPr>
          <p:cNvPr id="3" name="Номер слайда 2"/>
          <p:cNvSpPr>
            <a:spLocks noGrp="1"/>
          </p:cNvSpPr>
          <p:nvPr>
            <p:ph type="sldNum" sz="quarter" idx="12"/>
          </p:nvPr>
        </p:nvSpPr>
        <p:spPr/>
        <p:txBody>
          <a:bodyPr/>
          <a:lstStyle/>
          <a:p>
            <a:pPr>
              <a:defRPr/>
            </a:pPr>
            <a:fld id="{5B23B133-9196-4E31-ABCE-DFFD23D934D1}" type="slidenum">
              <a:rPr lang="ru-RU" smtClean="0"/>
              <a:pPr>
                <a:defRPr/>
              </a:pPr>
              <a:t>28</a:t>
            </a:fld>
            <a:endParaRPr lang="ru-RU"/>
          </a:p>
        </p:txBody>
      </p:sp>
      <p:pic>
        <p:nvPicPr>
          <p:cNvPr id="36867" name="slide_28.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6867"/>
                                        </p:tgtEl>
                                      </p:cBhvr>
                                    </p:cmd>
                                  </p:childTnLst>
                                </p:cTn>
                              </p:par>
                            </p:childTnLst>
                          </p:cTn>
                        </p:par>
                      </p:childTnLst>
                    </p:cTn>
                  </p:par>
                </p:childTnLst>
              </p:cTn>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Rectangle 3"/>
          <p:cNvSpPr>
            <a:spLocks noGrp="1" noChangeArrowheads="1"/>
          </p:cNvSpPr>
          <p:nvPr>
            <p:ph type="body" idx="1"/>
          </p:nvPr>
        </p:nvSpPr>
        <p:spPr>
          <a:xfrm>
            <a:off x="0" y="0"/>
            <a:ext cx="9144000" cy="6858000"/>
          </a:xfrm>
        </p:spPr>
        <p:txBody>
          <a:bodyPr/>
          <a:lstStyle/>
          <a:p>
            <a:pPr eaLnBrk="1" hangingPunct="1">
              <a:lnSpc>
                <a:spcPct val="80000"/>
              </a:lnSpc>
            </a:pPr>
            <a:r>
              <a:rPr lang="ru-RU" sz="1800" smtClean="0">
                <a:solidFill>
                  <a:srgbClr val="FF0000"/>
                </a:solidFill>
              </a:rPr>
              <a:t>Интерфейс (англ. interface)</a:t>
            </a:r>
            <a:r>
              <a:rPr lang="ru-RU" sz="1800" smtClean="0"/>
              <a:t> —совокупность линий связи, сигналов, посылаемых по этим линиям, контроллеры интерфейсов, протокола обмена. интерфейсы ATA (он же IDE и PATA), SATA, eSATA, SCSI, SAS, FireWire, SDIO и Fibre Channel.</a:t>
            </a:r>
          </a:p>
          <a:p>
            <a:pPr eaLnBrk="1" hangingPunct="1">
              <a:lnSpc>
                <a:spcPct val="80000"/>
              </a:lnSpc>
            </a:pPr>
            <a:r>
              <a:rPr lang="ru-RU" sz="1800" smtClean="0">
                <a:solidFill>
                  <a:srgbClr val="FF0000"/>
                </a:solidFill>
              </a:rPr>
              <a:t>Ёмкость (англ. capacity)</a:t>
            </a:r>
            <a:r>
              <a:rPr lang="ru-RU" sz="1800" smtClean="0"/>
              <a:t> — количество данных, которые могут храниться накопителем. Ёмкость современных жёстких дисков (с форм-фактором 3,5 дюйма) на начало 2015 года достигает 6000 Гб (6 терабайт). </a:t>
            </a:r>
          </a:p>
          <a:p>
            <a:pPr eaLnBrk="1" hangingPunct="1">
              <a:lnSpc>
                <a:spcPct val="80000"/>
              </a:lnSpc>
            </a:pPr>
            <a:r>
              <a:rPr lang="ru-RU" sz="1800" smtClean="0">
                <a:solidFill>
                  <a:srgbClr val="FF0000"/>
                </a:solidFill>
              </a:rPr>
              <a:t>Физический размер</a:t>
            </a:r>
            <a:r>
              <a:rPr lang="ru-RU" sz="1800" smtClean="0"/>
              <a:t> (форм-фактор; англ. dimension) — почти все накопители 2001—2008 годов для пк и серверов имеют ширину либо </a:t>
            </a:r>
            <a:r>
              <a:rPr lang="ru-RU" sz="1800" smtClean="0">
                <a:solidFill>
                  <a:schemeClr val="hlink"/>
                </a:solidFill>
              </a:rPr>
              <a:t>3,5</a:t>
            </a:r>
            <a:r>
              <a:rPr lang="ru-RU" sz="1800" smtClean="0"/>
              <a:t>, либо </a:t>
            </a:r>
            <a:r>
              <a:rPr lang="ru-RU" sz="1800" smtClean="0">
                <a:solidFill>
                  <a:schemeClr val="hlink"/>
                </a:solidFill>
              </a:rPr>
              <a:t>2,5</a:t>
            </a:r>
            <a:r>
              <a:rPr lang="ru-RU" sz="1800" smtClean="0"/>
              <a:t> дюйма</a:t>
            </a:r>
          </a:p>
          <a:p>
            <a:pPr eaLnBrk="1" hangingPunct="1">
              <a:lnSpc>
                <a:spcPct val="80000"/>
              </a:lnSpc>
            </a:pPr>
            <a:r>
              <a:rPr lang="ru-RU" sz="1800" smtClean="0">
                <a:solidFill>
                  <a:srgbClr val="FF0000"/>
                </a:solidFill>
              </a:rPr>
              <a:t>Время произвольного доступа</a:t>
            </a:r>
            <a:r>
              <a:rPr lang="ru-RU" sz="1800" smtClean="0"/>
              <a:t> — среднее время, за которое винчестер выполняет операцию позиционирования головки чтения/записи на произвольный участок магнитного диска. Диапазон этого параметра — от 2,5 до 16 мс. Для сравнения, у SSD-накопителей этот параметр меньше 1 мс.</a:t>
            </a:r>
          </a:p>
          <a:p>
            <a:pPr eaLnBrk="1" hangingPunct="1">
              <a:lnSpc>
                <a:spcPct val="80000"/>
              </a:lnSpc>
            </a:pPr>
            <a:r>
              <a:rPr lang="ru-RU" sz="1800" smtClean="0">
                <a:solidFill>
                  <a:srgbClr val="FF0000"/>
                </a:solidFill>
              </a:rPr>
              <a:t>Скорость вращения шпинделя</a:t>
            </a:r>
            <a:r>
              <a:rPr lang="ru-RU" sz="1800" smtClean="0"/>
              <a:t> (англ. spindle speed) — количество оборотов шпинделя в минуту. В настоящее время выпускаются винчестеры со следующими стандартными скоростями вращения: 4200 - 7200 (ноутбуки); 5400 -10 000 (персональные компьютеры); 10 000 и 15 000 об/мин (серверы). Увеличению скорости вращения шпинделя в винчестерах для ноутбуков препятствует гироскопический эффект.</a:t>
            </a:r>
          </a:p>
          <a:p>
            <a:pPr eaLnBrk="1" hangingPunct="1">
              <a:lnSpc>
                <a:spcPct val="80000"/>
              </a:lnSpc>
            </a:pPr>
            <a:r>
              <a:rPr lang="ru-RU" sz="1800" smtClean="0">
                <a:solidFill>
                  <a:srgbClr val="FF0000"/>
                </a:solidFill>
              </a:rPr>
              <a:t>Надёжность (англ. reliability)</a:t>
            </a:r>
            <a:r>
              <a:rPr lang="ru-RU" sz="1800" smtClean="0"/>
              <a:t> — определяется как среднее время наработки на отказ Количество операций ввода-вывода в секунду (англ. IOPS) — у современных дисков это около 50 оп./с при произвольном доступе к накопителю и около 100 оп./сек при последовательном доступе.</a:t>
            </a:r>
          </a:p>
          <a:p>
            <a:pPr eaLnBrk="1" hangingPunct="1">
              <a:lnSpc>
                <a:spcPct val="80000"/>
              </a:lnSpc>
            </a:pPr>
            <a:r>
              <a:rPr lang="ru-RU" sz="1800" smtClean="0">
                <a:solidFill>
                  <a:srgbClr val="FF0000"/>
                </a:solidFill>
              </a:rPr>
              <a:t>Скорость передачи данных</a:t>
            </a:r>
            <a:r>
              <a:rPr lang="ru-RU" sz="1800" smtClean="0"/>
              <a:t> (англ. Transfer Rate) при последовательном доступе: внутренняя зона диска: от </a:t>
            </a:r>
            <a:r>
              <a:rPr lang="ru-RU" sz="1800" smtClean="0">
                <a:solidFill>
                  <a:schemeClr val="hlink"/>
                </a:solidFill>
              </a:rPr>
              <a:t>44,2 до 74,5 Мб/с</a:t>
            </a:r>
            <a:r>
              <a:rPr lang="ru-RU" sz="1800" smtClean="0"/>
              <a:t>;   внешняя зона диска: от </a:t>
            </a:r>
            <a:r>
              <a:rPr lang="ru-RU" sz="1800" smtClean="0">
                <a:solidFill>
                  <a:schemeClr val="hlink"/>
                </a:solidFill>
              </a:rPr>
              <a:t>60,0 до 111,4</a:t>
            </a:r>
            <a:r>
              <a:rPr lang="ru-RU" sz="1800" smtClean="0"/>
              <a:t> Мб/с.</a:t>
            </a:r>
          </a:p>
          <a:p>
            <a:pPr eaLnBrk="1" hangingPunct="1">
              <a:lnSpc>
                <a:spcPct val="80000"/>
              </a:lnSpc>
            </a:pPr>
            <a:r>
              <a:rPr lang="ru-RU" sz="1800" smtClean="0">
                <a:solidFill>
                  <a:srgbClr val="FF0000"/>
                </a:solidFill>
              </a:rPr>
              <a:t>Объём буфера</a:t>
            </a:r>
            <a:r>
              <a:rPr lang="ru-RU" sz="1800" smtClean="0"/>
              <a:t> — В современных дисках он обычно варьируется от </a:t>
            </a:r>
            <a:r>
              <a:rPr lang="ru-RU" sz="1800" smtClean="0">
                <a:solidFill>
                  <a:schemeClr val="hlink"/>
                </a:solidFill>
              </a:rPr>
              <a:t>8 до 128 Мб.</a:t>
            </a:r>
          </a:p>
        </p:txBody>
      </p:sp>
      <p:sp>
        <p:nvSpPr>
          <p:cNvPr id="3" name="Номер слайда 2"/>
          <p:cNvSpPr>
            <a:spLocks noGrp="1"/>
          </p:cNvSpPr>
          <p:nvPr>
            <p:ph type="sldNum" sz="quarter" idx="12"/>
          </p:nvPr>
        </p:nvSpPr>
        <p:spPr/>
        <p:txBody>
          <a:bodyPr/>
          <a:lstStyle/>
          <a:p>
            <a:pPr>
              <a:defRPr/>
            </a:pPr>
            <a:fld id="{EAEC346F-F062-4865-AA78-21B699532AE0}" type="slidenum">
              <a:rPr lang="ru-RU" smtClean="0"/>
              <a:pPr>
                <a:defRPr/>
              </a:pPr>
              <a:t>29</a:t>
            </a:fld>
            <a:endParaRPr lang="ru-RU"/>
          </a:p>
        </p:txBody>
      </p:sp>
      <p:pic>
        <p:nvPicPr>
          <p:cNvPr id="37891" name="slide_29.mp3">
            <a:hlinkClick r:id="" action="ppaction://media"/>
          </p:cNvPr>
          <p:cNvPicPr>
            <a:picLocks noChangeAspect="1"/>
          </p:cNvPicPr>
          <p:nvPr>
            <a:audioFile r:link="rId4"/>
            <p:extLst>
              <p:ext uri="{DAA4B4D4-6D71-4841-9C94-3DE7FCFB9230}">
                <p14:media xmlns:p14="http://schemas.microsoft.com/office/powerpoint/2010/main" r:embed="rId3"/>
              </p:ext>
            </p:extLst>
          </p:nvPr>
        </p:nvPicPr>
        <p:blipFill>
          <a:blip r:embed="rId5"/>
          <a:stretch>
            <a:fillRect/>
          </a:stretch>
        </p:blipFill>
        <p:spPr>
          <a:xfrm>
            <a:off x="8275320" y="5806440"/>
            <a:ext cx="411480" cy="41148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afterEffect">
                                  <p:stCondLst>
                                    <p:cond delay="0"/>
                                  </p:stCondLst>
                                  <p:childTnLst>
                                    <p:cmd type="call" cmd="playFrom(0.0)">
                                      <p:cBhvr>
                                        <p:cTn id="6" dur="1" fill="hold"/>
                                        <p:tgtEl>
                                          <p:spTgt spid="37891"/>
                                        </p:tgtEl>
                                      </p:cBhvr>
                                    </p:cmd>
                                  </p:childTnLst>
                                </p:cTn>
                              </p:par>
                            </p:childTnLst>
                          </p:cTn>
                        </p:par>
                      </p:childTnLst>
                    </p:cTn>
                  </p:par>
                </p:childTnLst>
              </p:cTn>
            </p:seq>
          </p:childTnLst>
        </p:cTn>
      </p:par>
    </p:tnLst>
  </p:timing>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Стандартная">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Стандартная">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2</TotalTime>
  <Words>3646</Words>
  <Application>Microsoft Office PowerPoint</Application>
  <PresentationFormat>Экран (4:3)</PresentationFormat>
  <Paragraphs>147</Paragraphs>
  <Slides>29</Slides>
  <Notes>0</Notes>
  <HiddenSlides>0</HiddenSlides>
  <MMClips>0</MMClips>
  <ScaleCrop>false</ScaleCrop>
  <HeadingPairs>
    <vt:vector size="4" baseType="variant">
      <vt:variant>
        <vt:lpstr>Тема</vt:lpstr>
      </vt:variant>
      <vt:variant>
        <vt:i4>1</vt:i4>
      </vt:variant>
      <vt:variant>
        <vt:lpstr>Заголовки слайдов</vt:lpstr>
      </vt:variant>
      <vt:variant>
        <vt:i4>29</vt:i4>
      </vt:variant>
    </vt:vector>
  </HeadingPairs>
  <TitlesOfParts>
    <vt:vector size="30" baseType="lpstr">
      <vt:lpstr>Тема Office</vt:lpstr>
      <vt:lpstr>Другие устройства системного блока IBM PC</vt:lpstr>
      <vt:lpstr>Шины</vt:lpstr>
      <vt:lpstr>Слайд 3</vt:lpstr>
      <vt:lpstr>Слайд 4</vt:lpstr>
      <vt:lpstr>Слайд 5</vt:lpstr>
      <vt:lpstr>Слайд 6</vt:lpstr>
      <vt:lpstr>Слайд 7</vt:lpstr>
      <vt:lpstr>Слайд 8</vt:lpstr>
      <vt:lpstr>Слайд 9</vt:lpstr>
      <vt:lpstr>Слайд 10</vt:lpstr>
      <vt:lpstr>Слайд 11</vt:lpstr>
      <vt:lpstr>Слайд 12</vt:lpstr>
      <vt:lpstr>Слайд 13</vt:lpstr>
      <vt:lpstr>Слайд 14</vt:lpstr>
      <vt:lpstr>Слайд 15</vt:lpstr>
      <vt:lpstr>Слайд 16</vt:lpstr>
      <vt:lpstr>Слайд 17</vt:lpstr>
      <vt:lpstr>Слайд 18</vt:lpstr>
      <vt:lpstr>USB 3.0</vt:lpstr>
      <vt:lpstr>Слайд 20</vt:lpstr>
      <vt:lpstr>Слайд 21</vt:lpstr>
      <vt:lpstr>Слайд 22</vt:lpstr>
      <vt:lpstr>Слайд 23</vt:lpstr>
      <vt:lpstr>Слайд 24</vt:lpstr>
      <vt:lpstr>Слайд 25</vt:lpstr>
      <vt:lpstr>Слайд 26</vt:lpstr>
      <vt:lpstr>Слайд 27</vt:lpstr>
      <vt:lpstr>Слайд 28</vt:lpstr>
      <vt:lpstr>Слайд 29</vt:lpstr>
    </vt:vector>
  </TitlesOfParts>
  <Company>Grizli777</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Другие устройства системного блока IBM PC</dc:title>
  <dc:creator>Алекс Алексов</dc:creator>
  <cp:lastModifiedBy>Алекс Алексов</cp:lastModifiedBy>
  <cp:revision>1</cp:revision>
  <dcterms:created xsi:type="dcterms:W3CDTF">2026-10-22T15:16:45Z</dcterms:created>
  <dcterms:modified xsi:type="dcterms:W3CDTF">2026-10-22T15:18:54Z</dcterms:modified>
</cp:coreProperties>
</file>