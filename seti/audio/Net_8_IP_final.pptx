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3.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28.mp3" ContentType="audio/mpeg"/>
  <Override PartName="/ppt/media/media29.mp3" ContentType="audio/mpeg"/>
  <Override PartName="/ppt/media/media3.mp3" ContentType="audio/mpeg"/>
  <Override PartName="/ppt/media/media30.mp3" ContentType="audio/mpeg"/>
  <Override PartName="/ppt/media/media31.mp3" ContentType="audio/mpeg"/>
  <Override PartName="/ppt/media/media32.mp3" ContentType="audio/mpeg"/>
  <Override PartName="/ppt/media/media33.mp3" ContentType="audio/mpeg"/>
  <Override PartName="/ppt/media/media34.mp3" ContentType="audio/mpeg"/>
  <Override PartName="/ppt/media/media35.mp3" ContentType="audio/mpeg"/>
  <Override PartName="/ppt/media/media36.mp3" ContentType="audio/mpeg"/>
  <Override PartName="/ppt/media/media37.mp3" ContentType="audio/mpeg"/>
  <Override PartName="/ppt/media/media38.mp3" ContentType="audio/mpeg"/>
  <Override PartName="/ppt/media/media39.mp3" ContentType="audio/mpeg"/>
  <Override PartName="/ppt/media/media4.mp3" ContentType="audio/mpeg"/>
  <Override PartName="/ppt/media/media40.mp3" ContentType="audio/mpeg"/>
  <Override PartName="/ppt/media/media41.mp3" ContentType="audio/mpeg"/>
  <Override PartName="/ppt/media/media42.mp3" ContentType="audio/mpeg"/>
  <Override PartName="/ppt/media/media43.mp3" ContentType="audio/mpeg"/>
  <Override PartName="/ppt/media/media44.mp3" ContentType="audio/mpeg"/>
  <Override PartName="/ppt/media/media45.mp3" ContentType="audio/mpeg"/>
  <Override PartName="/ppt/media/media46.mp3" ContentType="audio/mpeg"/>
  <Override PartName="/ppt/media/media47.mp3" ContentType="audio/mpeg"/>
  <Override PartName="/ppt/media/media48.mp3" ContentType="audio/mpeg"/>
  <Override PartName="/ppt/media/media49.mp3" ContentType="audio/mpeg"/>
  <Override PartName="/ppt/media/media5.mp3" ContentType="audio/mpeg"/>
  <Override PartName="/ppt/media/media50.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58" r:id="rId3"/>
    <p:sldId id="259" r:id="rId4"/>
    <p:sldId id="260" r:id="rId5"/>
    <p:sldId id="261" r:id="rId6"/>
    <p:sldId id="262" r:id="rId7"/>
    <p:sldId id="263" r:id="rId8"/>
    <p:sldId id="289" r:id="rId9"/>
    <p:sldId id="264" r:id="rId10"/>
    <p:sldId id="298" r:id="rId11"/>
    <p:sldId id="265" r:id="rId12"/>
    <p:sldId id="266" r:id="rId13"/>
    <p:sldId id="267" r:id="rId14"/>
    <p:sldId id="268" r:id="rId15"/>
    <p:sldId id="269" r:id="rId16"/>
    <p:sldId id="270" r:id="rId17"/>
    <p:sldId id="296" r:id="rId18"/>
    <p:sldId id="271" r:id="rId19"/>
    <p:sldId id="290" r:id="rId20"/>
    <p:sldId id="272" r:id="rId21"/>
    <p:sldId id="273" r:id="rId22"/>
    <p:sldId id="274" r:id="rId23"/>
    <p:sldId id="275" r:id="rId24"/>
    <p:sldId id="276" r:id="rId25"/>
    <p:sldId id="297" r:id="rId26"/>
    <p:sldId id="300" r:id="rId27"/>
    <p:sldId id="306" r:id="rId28"/>
    <p:sldId id="307" r:id="rId29"/>
    <p:sldId id="308" r:id="rId30"/>
    <p:sldId id="301" r:id="rId31"/>
    <p:sldId id="302" r:id="rId32"/>
    <p:sldId id="303" r:id="rId33"/>
    <p:sldId id="304" r:id="rId34"/>
    <p:sldId id="305" r:id="rId35"/>
    <p:sldId id="277" r:id="rId36"/>
    <p:sldId id="283" r:id="rId37"/>
    <p:sldId id="284" r:id="rId38"/>
    <p:sldId id="285" r:id="rId39"/>
    <p:sldId id="286" r:id="rId40"/>
    <p:sldId id="287" r:id="rId41"/>
    <p:sldId id="288" r:id="rId42"/>
    <p:sldId id="299" r:id="rId43"/>
    <p:sldId id="291" r:id="rId44"/>
    <p:sldId id="292" r:id="rId45"/>
    <p:sldId id="293" r:id="rId46"/>
    <p:sldId id="294" r:id="rId47"/>
    <p:sldId id="295" r:id="rId48"/>
    <p:sldId id="278" r:id="rId49"/>
    <p:sldId id="279" r:id="rId50"/>
    <p:sldId id="280" r:id="rId51"/>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594" y="-4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ru-RU"/>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ru-RU"/>
          </a:p>
        </p:txBody>
      </p:sp>
      <p:sp>
        <p:nvSpPr>
          <p:cNvPr id="410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ru-RU"/>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B4DBE2D-2787-48DA-AC93-0D92963688F9}" type="slidenum">
              <a:rPr lang="ru-RU"/>
              <a:pPr/>
              <a:t>‹#›</a:t>
            </a:fld>
            <a:endParaRPr lang="ru-RU"/>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595F62-78C2-4F62-89DB-4D609E7E97D4}" type="slidenum">
              <a:rPr lang="ru-RU"/>
              <a:pPr/>
              <a:t>1</a:t>
            </a:fld>
            <a:endParaRPr lang="ru-RU"/>
          </a:p>
        </p:txBody>
      </p:sp>
      <p:sp>
        <p:nvSpPr>
          <p:cNvPr id="5122" name="Rectangle 2"/>
          <p:cNvSpPr>
            <a:spLocks noRot="1" noChangeArrowheads="1" noTextEdit="1"/>
          </p:cNvSpPr>
          <p:nvPr>
            <p:ph type="sldImg"/>
          </p:nvPr>
        </p:nvSpPr>
        <p:spPr>
          <a:ln/>
        </p:spPr>
      </p:sp>
      <p:sp>
        <p:nvSpPr>
          <p:cNvPr id="5123" name="Rectangle 3"/>
          <p:cNvSpPr>
            <a:spLocks noGrp="1" noChangeArrowheads="1"/>
          </p:cNvSpPr>
          <p:nvPr>
            <p:ph type="body" idx="1"/>
          </p:nvPr>
        </p:nvSpPr>
        <p:spPr/>
        <p:txBody>
          <a:bodyPr/>
          <a:lstStyle/>
          <a:p>
            <a:r>
              <a:t>Добро пожаловать на лекцию, посвящённую Ай-Пи-адресации.</a:t>
            </a:r>
          </a:p>
          <a:p/>
          <a:p>
            <a:r>
              <a:t>Сегодня мы разберём очень важную и в то же время очень практическую тему.</a:t>
            </a:r>
          </a:p>
          <a:p>
            <a:r>
              <a:t>Поговорим о том, как устроены адреса в сетях Ти-Си-Пи и Ай-Пи.</a:t>
            </a:r>
          </a:p>
          <a:p>
            <a:r>
              <a:t>Как отличить локальный адрес от глобального.</a:t>
            </a:r>
          </a:p>
          <a:p>
            <a:r>
              <a:t>Как устроена структура Ай-Пи-адреса.</a:t>
            </a:r>
          </a:p>
          <a:p>
            <a:r>
              <a:t>Почему изначально адреса делились на классы, и почему от этого отказались.</a:t>
            </a:r>
          </a:p>
          <a:p>
            <a:r>
              <a:t>Что такое бесклассовая маршрутизация, Си-Ай-Ди-Ар.</a:t>
            </a:r>
          </a:p>
          <a:p>
            <a:r>
              <a:t>Что такое подсети и маски подсетей.</a:t>
            </a:r>
          </a:p>
          <a:p>
            <a:r>
              <a:t>Как работает трансляция адресов, Нат.</a:t>
            </a:r>
          </a:p>
          <a:p>
            <a:r>
              <a:t>И как устроен сам Ай-Пи-пакет.</a:t>
            </a:r>
          </a:p>
          <a:p/>
          <a:p>
            <a:r>
              <a:t>Тема большая. Мы будем идти последовательно, шаг за шагом.</a:t>
            </a:r>
          </a:p>
          <a:p>
            <a:r>
              <a:t>По ходу лекции я буду останавливаться на ключевых моментах</a:t>
            </a:r>
          </a:p>
          <a:p>
            <a:r>
              <a:t>и давать вам время их осмыслить.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DF5B64-80AA-4C35-A204-12D92658FB91}" type="slidenum">
              <a:rPr lang="ru-RU"/>
              <a:pPr/>
              <a:t>17</a:t>
            </a:fld>
            <a:endParaRPr lang="ru-RU"/>
          </a:p>
        </p:txBody>
      </p:sp>
      <p:sp>
        <p:nvSpPr>
          <p:cNvPr id="55298" name="Rectangle 2"/>
          <p:cNvSpPr>
            <a:spLocks noRot="1" noChangeArrowheads="1" noTextEdit="1"/>
          </p:cNvSpPr>
          <p:nvPr>
            <p:ph type="sldImg"/>
          </p:nvPr>
        </p:nvSpPr>
        <p:spPr>
          <a:ln/>
        </p:spPr>
      </p:sp>
      <p:sp>
        <p:nvSpPr>
          <p:cNvPr id="55299" name="Rectangle 3"/>
          <p:cNvSpPr>
            <a:spLocks noGrp="1" noChangeArrowheads="1"/>
          </p:cNvSpPr>
          <p:nvPr>
            <p:ph type="body" idx="1"/>
          </p:nvPr>
        </p:nvSpPr>
        <p:spPr>
          <a:xfrm>
            <a:off x="914400" y="4343400"/>
            <a:ext cx="5029200" cy="4114800"/>
          </a:xfrm>
        </p:spPr>
        <p:txBody>
          <a:bodyPr lIns="88688" tIns="44344" rIns="88688" bIns="44344"/>
          <a:lstStyle/>
          <a:p>
            <a:r>
              <a:t>А теперь ещё одна важная тема — подсети.</a:t>
            </a:r>
          </a:p>
          <a:p/>
          <a:p>
            <a:r>
              <a:t>Что это такое?</a:t>
            </a:r>
          </a:p>
          <a:p/>
          <a:p>
            <a:r>
              <a:t>Сеть, точнее адресное пространство сети, определяемое полем номера сети,</a:t>
            </a:r>
          </a:p>
          <a:p>
            <a:r>
              <a:t>можно разделить на несколько частей. Эти части называются подсетями.</a:t>
            </a:r>
          </a:p>
          <a:p/>
          <a:p>
            <a:r>
              <a:t>Зачем это делать?</a:t>
            </a:r>
          </a:p>
          <a:p>
            <a:r>
              <a:t>Причин несколько.</a:t>
            </a:r>
          </a:p>
          <a:p/>
          <a:p>
            <a:r>
              <a:t>Первая — территориальное распределение адресного пространства.</a:t>
            </a:r>
          </a:p>
          <a:p>
            <a:r>
              <a:t>Например, у компании есть филиалы в разных городах, каждому нужна своя подсеть.</a:t>
            </a:r>
          </a:p>
          <a:p/>
          <a:p>
            <a:r>
              <a:t>Вторая — использование различных физических сред передачи данных в одной сети.</a:t>
            </a:r>
          </a:p>
          <a:p>
            <a:r>
              <a:t>Эзернет, Вай-Фай, оптика — разные технологии, разные подсети.</a:t>
            </a:r>
          </a:p>
          <a:p/>
          <a:p>
            <a:r>
              <a:t>Третья — необходимость логического деления пространства сети.</a:t>
            </a:r>
          </a:p>
          <a:p>
            <a:r>
              <a:t>Например, отдел разработки и отдел продаж должны быть в разных подсетях.</a:t>
            </a:r>
          </a:p>
          <a:p/>
          <a:p>
            <a:r>
              <a:t>Как это делается технически?</a:t>
            </a:r>
          </a:p>
          <a:p>
            <a:r>
              <a:t>С помощью маски подсети.</a:t>
            </a:r>
          </a:p>
          <a:p/>
          <a:p>
            <a:r>
              <a:t>Логическое деление Ай-Пи-адреса выглядит так:</a:t>
            </a:r>
          </a:p>
          <a:p>
            <a:r>
              <a:t>номер сети, номер подсети, номер хоста.</a:t>
            </a:r>
          </a:p>
          <a:p/>
          <a:p>
            <a:r>
              <a:t>Маска подсети выглядит как aaa точка bbb точка ccc точка ddd,</a:t>
            </a:r>
          </a:p>
          <a:p>
            <a:r>
              <a:t>где биты номера сети и номера подсети установлены в единицу,</a:t>
            </a:r>
          </a:p>
          <a:p>
            <a:r>
              <a:t>а биты номера хоста — в ноль.</a:t>
            </a:r>
          </a:p>
          <a:p/>
          <a:p>
            <a:r>
              <a:t>Важно понимать: маска подсети администрируется и используется локально</a:t>
            </a:r>
          </a:p>
          <a:p>
            <a:r>
              <a:t>только в данной сети. Снаружи, в интернете, о ней никто не знает.</a:t>
            </a:r>
          </a:p>
          <a:p>
            <a:r>
              <a:t>Маршрутизаторы оперируют только номером сети.</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A6C41E-C3EE-4486-AB73-92D86BF8AC34}" type="slidenum">
              <a:rPr lang="ru-RU"/>
              <a:pPr/>
              <a:t>19</a:t>
            </a:fld>
            <a:endParaRPr lang="ru-RU"/>
          </a:p>
        </p:txBody>
      </p:sp>
      <p:sp>
        <p:nvSpPr>
          <p:cNvPr id="44034" name="Rectangle 2"/>
          <p:cNvSpPr>
            <a:spLocks noRot="1" noChangeArrowheads="1" noTextEdit="1"/>
          </p:cNvSpPr>
          <p:nvPr>
            <p:ph type="sldImg"/>
          </p:nvPr>
        </p:nvSpPr>
        <p:spPr>
          <a:ln/>
        </p:spPr>
      </p:sp>
      <p:sp>
        <p:nvSpPr>
          <p:cNvPr id="44035" name="Rectangle 3"/>
          <p:cNvSpPr>
            <a:spLocks noGrp="1" noChangeArrowheads="1"/>
          </p:cNvSpPr>
          <p:nvPr>
            <p:ph type="body" idx="1"/>
          </p:nvPr>
        </p:nvSpPr>
        <p:spPr>
          <a:xfrm>
            <a:off x="914400" y="4343400"/>
            <a:ext cx="5029200" cy="4114800"/>
          </a:xfrm>
        </p:spPr>
        <p:txBody>
          <a:bodyPr lIns="88688" tIns="44344" rIns="88688" bIns="44344"/>
          <a:lstStyle/>
          <a:p>
            <a:r>
              <a:t>Давайте разберём более полную классификацию специальных адресов.</a:t>
            </a:r>
          </a:p>
          <a:p/>
          <a:p>
            <a:r>
              <a:t>Первый. Адрес этого хоста. Он же пустышка.</a:t>
            </a:r>
          </a:p>
          <a:p>
            <a:r>
              <a:t>Обычно это адрес ноль точка ноль точка ноль точка ноль.</a:t>
            </a:r>
          </a:p>
          <a:p>
            <a:r>
              <a:t>Может использоваться в инициализационной процедуре, когда рабочая станция не знает</a:t>
            </a:r>
          </a:p>
          <a:p>
            <a:r>
              <a:t>или хочет согласовать свой Ай-Пи-адрес.</a:t>
            </a:r>
          </a:p>
          <a:p>
            <a:r>
              <a:t>Этот адрес может использоваться только как адрес отправителя и никогда как адрес получателя.</a:t>
            </a:r>
          </a:p>
          <a:p/>
          <a:p>
            <a:r>
              <a:t>Второй. Номер сети заполнен нулями, а номер хоста имеет осмысленное значение.</a:t>
            </a:r>
          </a:p>
          <a:p>
            <a:r>
              <a:t>Это адрес конкретного хоста в сети, из которой он получил пакет.</a:t>
            </a:r>
          </a:p>
          <a:p>
            <a:r>
              <a:t>Используется только как адрес получателя и никогда как адрес отправителя.</a:t>
            </a:r>
          </a:p>
          <a:p/>
          <a:p>
            <a:r>
              <a:t>Третий. Номер сети имеет значение, а номер хоста заполнен нулями.</a:t>
            </a:r>
          </a:p>
          <a:p>
            <a:r>
              <a:t>Это адрес сети, но не адрес какого-либо из хостов.</a:t>
            </a:r>
          </a:p>
          <a:p/>
          <a:p>
            <a:r>
              <a:t>Четвёртый. Ограниченный или локальный широковещательный адрес.</a:t>
            </a:r>
          </a:p>
          <a:p>
            <a:r>
              <a:t>Все тридцать два бита равны единице — двести пятьдесят пять точка двести пятьдесят пять</a:t>
            </a:r>
          </a:p>
          <a:p>
            <a:r>
              <a:t>точка двести пятьдесят пять точка двести пятьдесят пять.</a:t>
            </a:r>
          </a:p>
          <a:p>
            <a:r>
              <a:t>Полезен, когда идентификатор сети по каким-то причинам неизвестен.</a:t>
            </a:r>
          </a:p>
          <a:p>
            <a:r>
              <a:t>Но использование этого адреса не рекомендуется.</a:t>
            </a:r>
          </a:p>
          <a:p/>
          <a:p>
            <a:r>
              <a:t>Пятый. Направленный широковещательный адрес.</a:t>
            </a:r>
          </a:p>
          <a:p>
            <a:r>
              <a:t>Широковещательный адрес, обращённый ко всем хостам в данной подсети.</a:t>
            </a:r>
          </a:p>
          <a:p>
            <a:r>
              <a:t>Например, двести тринадцать точка сто восемьдесят точка ноль точка двести пятьдесят пять.</a:t>
            </a:r>
          </a:p>
          <a:p/>
          <a:p>
            <a:r>
              <a:t>Шестой. Тестовый адрес, loopback.</a:t>
            </a:r>
          </a:p>
          <a:p>
            <a:r>
              <a:t>Первый байт имеет значение сто двадцать семь, остальное не специфицировано.</a:t>
            </a:r>
          </a:p>
          <a:p>
            <a:r>
              <a:t>Обычно заполняется единицами.</a:t>
            </a:r>
          </a:p>
          <a:p>
            <a:r>
              <a:t>Используется для отладки и тестирования.</a:t>
            </a:r>
          </a:p>
          <a:p>
            <a:r>
              <a:t>Не является адресом никакой сети, и маршрутизаторы никогда не обрабатывают его.</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2C1AF1-31A3-4FFC-891E-EF9F96D6F55B}" type="slidenum">
              <a:rPr lang="ru-RU"/>
              <a:pPr/>
              <a:t>35</a:t>
            </a:fld>
            <a:endParaRPr lang="ru-RU"/>
          </a:p>
        </p:txBody>
      </p:sp>
      <p:sp>
        <p:nvSpPr>
          <p:cNvPr id="26626" name="Rectangle 2"/>
          <p:cNvSpPr>
            <a:spLocks noRot="1" noChangeArrowheads="1" noTextEdit="1"/>
          </p:cNvSpPr>
          <p:nvPr>
            <p:ph type="sldImg"/>
          </p:nvPr>
        </p:nvSpPr>
        <p:spPr>
          <a:ln/>
        </p:spPr>
      </p:sp>
      <p:sp>
        <p:nvSpPr>
          <p:cNvPr id="26627" name="Rectangle 3"/>
          <p:cNvSpPr>
            <a:spLocks noGrp="1" noChangeArrowheads="1"/>
          </p:cNvSpPr>
          <p:nvPr>
            <p:ph type="body" idx="1"/>
          </p:nvPr>
        </p:nvSpPr>
        <p:spPr/>
        <p:txBody>
          <a:bodyPr/>
          <a:lstStyle/>
          <a:p>
            <a:r>
              <a:t>Итоги первой части лекции.</a:t>
            </a:r>
          </a:p>
          <a:p/>
          <a:p>
            <a:r>
              <a:t>Мы разобрали, что такое глобальные и локальные адреса.</a:t>
            </a:r>
          </a:p>
          <a:p>
            <a:r>
              <a:t>Локальные привязаны к технологии, глобальные — нет.</a:t>
            </a:r>
          </a:p>
          <a:p>
            <a:r>
              <a:t>Ай-Пи — это глобальный адрес.</a:t>
            </a:r>
          </a:p>
          <a:p/>
          <a:p>
            <a:r>
              <a:t>Разобрали структуру Ай-Пи-адреса: четыре байта, две части — номер сети и номер хоста.</a:t>
            </a:r>
          </a:p>
          <a:p/>
          <a:p>
            <a:r>
              <a:t>Разобрали классы Ай-Пи-сетей.</a:t>
            </a:r>
          </a:p>
          <a:p>
            <a:r>
              <a:t>Класс Эй — гигантские сети, класс Би — средние, класс Си — маленькие.</a:t>
            </a:r>
          </a:p>
          <a:p>
            <a:r>
              <a:t>Класс Ди — мультикаст. Класс И — зарезервировано.</a:t>
            </a:r>
          </a:p>
          <a:p/>
          <a:p>
            <a:r>
              <a:t>Разобрали бесклассовую маршрутизацию Си-Ай-Ди-Ар.</a:t>
            </a:r>
          </a:p>
          <a:p>
            <a:r>
              <a:t>Отказ от классов, маски переменной длины, любое количество хостов.</a:t>
            </a:r>
          </a:p>
          <a:p/>
          <a:p>
            <a:r>
              <a:t>Разобрали специальные адреса: адрес сети, широковещательный, loopback, приватные диапазоны.</a:t>
            </a:r>
          </a:p>
          <a:p/>
          <a:p>
            <a:r>
              <a:t>Разобрали подсети и маски подсетей.</a:t>
            </a:r>
          </a:p>
          <a:p/>
          <a:p>
            <a:r>
              <a:t>Разобрали Нат, приватные адреса, Си-Джи-Нат и протокол Эс-Ти-Ю-Эн.</a:t>
            </a:r>
          </a:p>
          <a:p/>
          <a:p>
            <a:r>
              <a:t>Теперь переходим ко второй части — к самому Ай-Пи-пакету.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CBB22E-1CBC-4175-9165-D2BCEB879A95}" type="slidenum">
              <a:rPr lang="ru-RU"/>
              <a:pPr/>
              <a:t>43</a:t>
            </a:fld>
            <a:endParaRPr lang="ru-RU"/>
          </a:p>
        </p:txBody>
      </p:sp>
      <p:sp>
        <p:nvSpPr>
          <p:cNvPr id="46082" name="Rectangle 2"/>
          <p:cNvSpPr>
            <a:spLocks noRot="1" noChangeArrowheads="1" noTextEdit="1"/>
          </p:cNvSpPr>
          <p:nvPr>
            <p:ph type="sldImg"/>
          </p:nvPr>
        </p:nvSpPr>
        <p:spPr>
          <a:ln/>
        </p:spPr>
      </p:sp>
      <p:sp>
        <p:nvSpPr>
          <p:cNvPr id="46083" name="Rectangle 3"/>
          <p:cNvSpPr>
            <a:spLocks noGrp="1" noChangeArrowheads="1"/>
          </p:cNvSpPr>
          <p:nvPr>
            <p:ph type="body" idx="1"/>
          </p:nvPr>
        </p:nvSpPr>
        <p:spPr>
          <a:xfrm>
            <a:off x="914400" y="4343400"/>
            <a:ext cx="5029200" cy="4114800"/>
          </a:xfrm>
        </p:spPr>
        <p:txBody>
          <a:bodyPr lIns="88688" tIns="44344" rIns="88688" bIns="44344"/>
          <a:lstStyle/>
          <a:p>
            <a:r>
              <a:t>Возвращаемся к версии четыре. Тема — привязка и конфигурирование адресов.</a:t>
            </a:r>
          </a:p>
          <a:p/>
          <a:p>
            <a:r>
              <a:t>Ай-Пи является независимым от природы и внутренней адресации физических подсетей.</a:t>
            </a:r>
          </a:p>
          <a:p/>
          <a:p>
            <a:r>
              <a:t>Возникает задача сопоставления адресов физических подсетей, то есть канального уровня,</a:t>
            </a:r>
          </a:p>
          <a:p>
            <a:r>
              <a:t>и Ай-Пи-адресов, то есть сетевого уровня.</a:t>
            </a:r>
          </a:p>
          <a:p/>
          <a:p>
            <a:r>
              <a:t>Эту задачу решают протоколы АРП и РАРП.</a:t>
            </a:r>
          </a:p>
          <a:p>
            <a:r>
              <a:t>АРП — прямое сопоставление, Ай-Пи в МАК.</a:t>
            </a:r>
          </a:p>
          <a:p>
            <a:r>
              <a:t>РАРП — обратное, МАК в Ай-Пи.</a:t>
            </a:r>
          </a:p>
          <a:p/>
          <a:p>
            <a:r>
              <a:t>В отдельных случаях требуется присвоить хосту Ай-Пи-адрес.</a:t>
            </a:r>
          </a:p>
          <a:p>
            <a:r>
              <a:t>Такое конфигурирование выполняют протоколы Бут-Пи и Ди-Эйч-Си-Пи.</a:t>
            </a:r>
          </a:p>
          <a:p/>
          <a:p>
            <a:r>
              <a:t>На схеме показана гетерогенная сеть: Эзернет, Вай-Фай, Гигабит Эзернет,</a:t>
            </a:r>
          </a:p>
          <a:p>
            <a:r>
              <a:t>Эф-Ди-Ди-Ай, Пи-Пи-Ти-Пи, Эл-Ту-Ти-Пи.</a:t>
            </a:r>
          </a:p>
          <a:p>
            <a:r>
              <a:t>И Ай-Пи должен работать поверх всех этих технологий.</a:t>
            </a:r>
          </a:p>
          <a:p/>
          <a:p>
            <a:r>
              <a:t>Именно поэтому нужны механизмы сопоставления адресов.</a:t>
            </a:r>
          </a:p>
          <a:p>
            <a:r>
              <a:t>Потому что каждая технология имеет свою систему адресации.</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327219-3C1B-4AA8-90AE-6C98DCEEE5AA}" type="slidenum">
              <a:rPr lang="ru-RU"/>
              <a:pPr/>
              <a:t>44</a:t>
            </a:fld>
            <a:endParaRPr lang="ru-RU"/>
          </a:p>
        </p:txBody>
      </p:sp>
      <p:sp>
        <p:nvSpPr>
          <p:cNvPr id="48130" name="Rectangle 2"/>
          <p:cNvSpPr>
            <a:spLocks noRot="1" noChangeArrowheads="1" noTextEdit="1"/>
          </p:cNvSpPr>
          <p:nvPr>
            <p:ph type="sldImg"/>
          </p:nvPr>
        </p:nvSpPr>
        <p:spPr>
          <a:ln/>
        </p:spPr>
      </p:sp>
      <p:sp>
        <p:nvSpPr>
          <p:cNvPr id="48131" name="Rectangle 3"/>
          <p:cNvSpPr>
            <a:spLocks noGrp="1" noChangeArrowheads="1"/>
          </p:cNvSpPr>
          <p:nvPr>
            <p:ph type="body" idx="1"/>
          </p:nvPr>
        </p:nvSpPr>
        <p:spPr>
          <a:xfrm>
            <a:off x="914400" y="4343400"/>
            <a:ext cx="5029200" cy="4114800"/>
          </a:xfrm>
        </p:spPr>
        <p:txBody>
          <a:bodyPr lIns="88688" tIns="44344" rIns="88688" bIns="44344"/>
          <a:lstStyle/>
          <a:p>
            <a:r>
              <a:t>Теперь протокол АРП.</a:t>
            </a:r>
          </a:p>
          <a:p/>
          <a:p>
            <a:r>
              <a:t>АРП — это Address Resolution Protocol, протокол определения адресов.</a:t>
            </a:r>
          </a:p>
          <a:p/>
          <a:p>
            <a:r>
              <a:t>Сопоставляет тридцатидвухразрядные Ай-Пи-адреса физическим адресам подсети,</a:t>
            </a:r>
          </a:p>
          <a:p>
            <a:r>
              <a:t>например сорокавосьмиразрядным МАК-адресам Эзернет.</a:t>
            </a:r>
          </a:p>
          <a:p/>
          <a:p>
            <a:r>
              <a:t>Как работает протокол?</a:t>
            </a:r>
          </a:p>
          <a:p/>
          <a:p>
            <a:r>
              <a:t>Представим ситуацию. Узлу А нужно связаться с узлом Б.</a:t>
            </a:r>
          </a:p>
          <a:p>
            <a:r>
              <a:t>Узел А знает Ай-Пи-адрес узла Б, но не знает его физического адреса.</a:t>
            </a:r>
          </a:p>
          <a:p/>
          <a:p>
            <a:r>
              <a:t>Что делает узел А?</a:t>
            </a:r>
          </a:p>
          <a:p/>
          <a:p>
            <a:r>
              <a:t>Первое. Он шлёт широковещательное сообщение, в котором запрашивает</a:t>
            </a:r>
          </a:p>
          <a:p>
            <a:r>
              <a:t>физический адрес узла Б.</a:t>
            </a:r>
          </a:p>
          <a:p/>
          <a:p>
            <a:r>
              <a:t>Второе. Все узлы в сети принимают это сообщение.</a:t>
            </a:r>
          </a:p>
          <a:p>
            <a:r>
              <a:t>Однако только узел Б отвечает на него.</a:t>
            </a:r>
          </a:p>
          <a:p>
            <a:r>
              <a:t>Он высылает в ответ свой физический адрес узлу А.</a:t>
            </a:r>
          </a:p>
          <a:p/>
          <a:p>
            <a:r>
              <a:t>Третье. Узел А, получив физический адрес Б, кэширует его.</a:t>
            </a:r>
          </a:p>
          <a:p>
            <a:r>
              <a:t>С тем, чтобы не запрашивать повторно при следующих обращениях к узлу Б.</a:t>
            </a:r>
          </a:p>
          <a:p/>
          <a:p>
            <a:r>
              <a:t>Кэш АРП имеет ограниченное время жизни.</a:t>
            </a:r>
          </a:p>
          <a:p>
            <a:r>
              <a:t>Обычно несколько минут.</a:t>
            </a:r>
          </a:p>
          <a:p>
            <a:r>
              <a:t>Это нужно, чтобы при смене оборудования в сети информация обновилась.</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EFC56E-E541-4D61-BF55-7730640ACC05}" type="slidenum">
              <a:rPr lang="ru-RU"/>
              <a:pPr/>
              <a:t>45</a:t>
            </a:fld>
            <a:endParaRPr lang="ru-RU"/>
          </a:p>
        </p:txBody>
      </p:sp>
      <p:sp>
        <p:nvSpPr>
          <p:cNvPr id="50178" name="Rectangle 2"/>
          <p:cNvSpPr>
            <a:spLocks noRot="1" noChangeArrowheads="1" noTextEdit="1"/>
          </p:cNvSpPr>
          <p:nvPr>
            <p:ph type="sldImg"/>
          </p:nvPr>
        </p:nvSpPr>
        <p:spPr>
          <a:ln/>
        </p:spPr>
      </p:sp>
      <p:sp>
        <p:nvSpPr>
          <p:cNvPr id="50179" name="Rectangle 3"/>
          <p:cNvSpPr>
            <a:spLocks noGrp="1" noChangeArrowheads="1"/>
          </p:cNvSpPr>
          <p:nvPr>
            <p:ph type="body" idx="1"/>
          </p:nvPr>
        </p:nvSpPr>
        <p:spPr>
          <a:xfrm>
            <a:off x="914400" y="4343400"/>
            <a:ext cx="5029200" cy="4114800"/>
          </a:xfrm>
        </p:spPr>
        <p:txBody>
          <a:bodyPr lIns="88688" tIns="44344" rIns="88688" bIns="44344"/>
          <a:lstStyle/>
          <a:p>
            <a:r>
              <a:t>Протокол РАРП — обратный протокол.</a:t>
            </a:r>
          </a:p>
          <a:p/>
          <a:p>
            <a:r>
              <a:t>РАРП — Reverse Address Resolution Protocol, протокол обратного определения адресов.</a:t>
            </a:r>
          </a:p>
          <a:p/>
          <a:p>
            <a:r>
              <a:t>Сопоставляет Ай-Пи-адрес физическому.</a:t>
            </a:r>
          </a:p>
          <a:p/>
          <a:p>
            <a:r>
              <a:t>Применяется, если узел А не знает собственного Ай-Пи-адреса.</a:t>
            </a:r>
          </a:p>
          <a:p/>
          <a:p>
            <a:r>
              <a:t>Типичный случай — бездисковая рабочая станция.</a:t>
            </a:r>
          </a:p>
          <a:p>
            <a:r>
              <a:t>При включении она не знает своего Ай-Пи, но знает свой МАК.</a:t>
            </a:r>
          </a:p>
          <a:p/>
          <a:p>
            <a:r>
              <a:t>Как работает РАРП?</a:t>
            </a:r>
          </a:p>
          <a:p/>
          <a:p>
            <a:r>
              <a:t>Первое. Узел А широковещательно вызывает РАРП-сервер,</a:t>
            </a:r>
          </a:p>
          <a:p>
            <a:r>
              <a:t>закладывая в запрос свой физический адрес.</a:t>
            </a:r>
          </a:p>
          <a:p/>
          <a:p>
            <a:r>
              <a:t>Второе. РАРП-сервер распознаёт запрос узла А, выбирает из некоторого списка</a:t>
            </a:r>
          </a:p>
          <a:p>
            <a:r>
              <a:t>свободный Ай-Пи-адрес и шлёт узлу А сообщение.</a:t>
            </a:r>
          </a:p>
          <a:p/>
          <a:p>
            <a:r>
              <a:t>Третье. В сообщении содержится динамически выделенный узлу А Ай-Пи-адрес,</a:t>
            </a:r>
          </a:p>
          <a:p>
            <a:r>
              <a:t>физический адрес и Ай-Пи-адрес РАРП-сервера.</a:t>
            </a:r>
          </a:p>
          <a:p/>
          <a:p>
            <a:r>
              <a:t>Отказ РАРП-сервера становится очень критичен, поэтому применяется резервирование</a:t>
            </a:r>
          </a:p>
          <a:p>
            <a:r>
              <a:t>РАРП-серверов.</a:t>
            </a:r>
          </a:p>
          <a:p/>
          <a:p>
            <a:r>
              <a:t>Сегодня РАРП практически не используется.</a:t>
            </a:r>
          </a:p>
          <a:p>
            <a:r>
              <a:t>Его функции взял на себя Ди-Эйч-Си-Пи, который делает то же самое, но с большими возможностями.</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53441C-F028-4C85-8DF2-C8400F46B374}" type="slidenum">
              <a:rPr lang="ru-RU"/>
              <a:pPr/>
              <a:t>46</a:t>
            </a:fld>
            <a:endParaRPr lang="ru-RU"/>
          </a:p>
        </p:txBody>
      </p:sp>
      <p:sp>
        <p:nvSpPr>
          <p:cNvPr id="52226" name="Rectangle 2"/>
          <p:cNvSpPr>
            <a:spLocks noRot="1" noChangeArrowheads="1" noTextEdit="1"/>
          </p:cNvSpPr>
          <p:nvPr>
            <p:ph type="sldImg"/>
          </p:nvPr>
        </p:nvSpPr>
        <p:spPr>
          <a:ln/>
        </p:spPr>
      </p:sp>
      <p:sp>
        <p:nvSpPr>
          <p:cNvPr id="52227" name="Rectangle 3"/>
          <p:cNvSpPr>
            <a:spLocks noGrp="1" noChangeArrowheads="1"/>
          </p:cNvSpPr>
          <p:nvPr>
            <p:ph type="body" idx="1"/>
          </p:nvPr>
        </p:nvSpPr>
        <p:spPr>
          <a:xfrm>
            <a:off x="914400" y="4343400"/>
            <a:ext cx="5029200" cy="4114800"/>
          </a:xfrm>
        </p:spPr>
        <p:txBody>
          <a:bodyPr lIns="88688" tIns="44344" rIns="88688" bIns="44344"/>
          <a:lstStyle/>
          <a:p>
            <a:r>
              <a:t>Протоколы Бут-Пи и Ди-Эйч-Си-Пи.</a:t>
            </a:r>
          </a:p>
          <a:p/>
          <a:p>
            <a:r>
              <a:t>Результатом работы этих протоколов является конфигурирование Ай-Пи-адресов.</a:t>
            </a:r>
          </a:p>
          <a:p>
            <a:r>
              <a:t>Но применение шире, и они не являются строго говоря протоколами сетевого уровня.</a:t>
            </a:r>
          </a:p>
          <a:p/>
          <a:p>
            <a:r>
              <a:t>Бут-Пи обеспечивает начальную загрузку бездисковых рабочих станций,</a:t>
            </a:r>
          </a:p>
          <a:p>
            <a:r>
              <a:t>сетевых принтеров и тому подобного.</a:t>
            </a:r>
          </a:p>
          <a:p/>
          <a:p>
            <a:r>
              <a:t>Ди-Эйч-Си-Пи базируется на Бут-Пи, но расширяет его возможности в двух отношениях.</a:t>
            </a:r>
          </a:p>
          <a:p/>
          <a:p>
            <a:r>
              <a:t>Первое. Ди-Эйч-Си-Пи может выдавать Ай-Пи-адрес во временное пользование,</a:t>
            </a:r>
          </a:p>
          <a:p>
            <a:r>
              <a:t>на ограниченное время.</a:t>
            </a:r>
          </a:p>
          <a:p>
            <a:r>
              <a:t>Эта функция важна для эффективного использования адресного пространства,</a:t>
            </a:r>
          </a:p>
          <a:p>
            <a:r>
              <a:t>когда в сети появляются и исчезают некоторые хосты.</a:t>
            </a:r>
          </a:p>
          <a:p>
            <a:r>
              <a:t>Например, ноутбуки, которые подключаются утром и отключаются вечером.</a:t>
            </a:r>
          </a:p>
          <a:p/>
          <a:p>
            <a:r>
              <a:t>Второе. Ди-Эйч-Си-Пи снабжает конфигурируемый хост не только Ай-Пи-адресом,</a:t>
            </a:r>
          </a:p>
          <a:p>
            <a:r>
              <a:t>но и полным набором параметров стека.</a:t>
            </a:r>
          </a:p>
          <a:p>
            <a:r>
              <a:t>Включая наборы параметров канального, сетевого и транспортного уровня.</a:t>
            </a:r>
          </a:p>
          <a:p/>
          <a:p>
            <a:r>
              <a:t>Это значит, что клиент получает не только свой адрес, но и адрес шлюза по умолчанию,</a:t>
            </a:r>
          </a:p>
          <a:p>
            <a:r>
              <a:t>адреса Ди-Эн-Эс-серверов, маску подсети и многое другое.</a:t>
            </a:r>
          </a:p>
          <a:p>
            <a:r>
              <a:t>Одним запросом — полная конфигурация сети.</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базового разделения адресов на два типа.</a:t>
            </a:r>
          </a:p>
          <a:p/>
          <a:p>
            <a:r>
              <a:t>Есть адреса локальные.</a:t>
            </a:r>
          </a:p>
          <a:p>
            <a:r>
              <a:t>И есть адреса глобальные.</a:t>
            </a:r>
          </a:p>
          <a:p/>
          <a:p>
            <a:r>
              <a:t>Что такое локальный адрес?</a:t>
            </a:r>
          </a:p>
          <a:p>
            <a:r>
              <a:t>Это адрес, который используется в рамках одной конкретной технологии.</a:t>
            </a:r>
          </a:p>
          <a:p>
            <a:r>
              <a:t>Например, МАК-адрес в сети Эзернет.</a:t>
            </a:r>
          </a:p>
          <a:p>
            <a:r>
              <a:t>Или Имэй в мобильных сетях третьего поколения.</a:t>
            </a:r>
          </a:p>
          <a:p/>
          <a:p>
            <a:r>
              <a:t>У локальных адресов есть важное свойство.</a:t>
            </a:r>
          </a:p>
          <a:p>
            <a:r>
              <a:t>Они привязаны к конкретной технологии.</a:t>
            </a:r>
          </a:p>
          <a:p>
            <a:r>
              <a:t>То есть МАК-адрес имеет смысл только внутри Эзернета.</a:t>
            </a:r>
          </a:p>
          <a:p>
            <a:r>
              <a:t>В сети другого типа он бесполезен.</a:t>
            </a:r>
          </a:p>
          <a:p/>
          <a:p>
            <a:r>
              <a:t>Именно поэтому локальные адреса не могут использоваться</a:t>
            </a:r>
          </a:p>
          <a:p>
            <a:r>
              <a:t>в гетерогенных сетях, то есть в сетях, объединяющих разные технологии.</a:t>
            </a:r>
          </a:p>
          <a:p/>
          <a:p>
            <a:r>
              <a:t>А теперь глобальные адреса.</a:t>
            </a:r>
          </a:p>
          <a:p>
            <a:r>
              <a:t>Это адреса сетевого уровня. Пример — Ай-Пи-адреса.</a:t>
            </a:r>
          </a:p>
          <a:p>
            <a:r>
              <a:t>Их ключевое отличие — они не привязаны к технологии.</a:t>
            </a:r>
          </a:p>
          <a:p>
            <a:r>
              <a:t>Ай-Пи-адрес одинаково работает поверх Эзернета, поверх Вай-Фай, поверх сотовой связи.</a:t>
            </a:r>
          </a:p>
          <a:p/>
          <a:p>
            <a:r>
              <a:t>Именно это свойство и позволяет объединять разные сети в единое целое.</a:t>
            </a:r>
          </a:p>
          <a:p>
            <a:r>
              <a:t>Глобальные адреса — это то, что делает возможным существование интернета.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подробнее про Ай-Пи-адреса.</a:t>
            </a:r>
          </a:p>
          <a:p/>
          <a:p>
            <a:r>
              <a:t>Ай-Пи-адрес — это глобальный адрес, который используется в стеке протоколов</a:t>
            </a:r>
          </a:p>
          <a:p>
            <a:r>
              <a:t>Ти-Си-Пи и Ай-Пи.</a:t>
            </a:r>
          </a:p>
          <a:p/>
          <a:p>
            <a:r>
              <a:t>Для чего он нужен?</a:t>
            </a:r>
          </a:p>
          <a:p>
            <a:r>
              <a:t>Для уникальной идентификации компьютеров в составной сети.</a:t>
            </a:r>
          </a:p>
          <a:p>
            <a:r>
              <a:t>Когда у нас много сетей, объединённых вместе, именно Ай-Пи-адрес позволяет понять,</a:t>
            </a:r>
          </a:p>
          <a:p>
            <a:r>
              <a:t>к какому именно компьютеру нужно доставить данные.</a:t>
            </a:r>
          </a:p>
          <a:p/>
          <a:p>
            <a:r>
              <a:t>Широко используется в интернете.</a:t>
            </a:r>
          </a:p>
          <a:p>
            <a:r>
              <a:t>Собственно, интернет и построен на Ай-Пи-адресах.</a:t>
            </a:r>
          </a:p>
          <a:p/>
          <a:p>
            <a:r>
              <a:t>Есть две версии протокола Ай-Пи.</a:t>
            </a:r>
          </a:p>
          <a:p/>
          <a:p>
            <a:r>
              <a:t>Первая — Ай-Пи-ви-четЫре.</a:t>
            </a:r>
          </a:p>
          <a:p>
            <a:r>
              <a:t>Адрес в ней занимает четыре байта.</a:t>
            </a:r>
          </a:p>
          <a:p>
            <a:r>
              <a:t>Именно эту версию мы и будем изучать на лекции.</a:t>
            </a:r>
          </a:p>
          <a:p/>
          <a:p>
            <a:r>
              <a:t>Вторая — Ай-Пи-ви-шЕсть.</a:t>
            </a:r>
          </a:p>
          <a:p>
            <a:r>
              <a:t>Адрес в ней занимает шестнадцать байт.</a:t>
            </a:r>
          </a:p>
          <a:p>
            <a:r>
              <a:t>Её мы в этой лекции подробно разбирать не будем,</a:t>
            </a:r>
          </a:p>
          <a:p>
            <a:r>
              <a:t>но я коротко упомяну её позже, когда будем говорить о нехватке адресов.</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давайте разберём структуру Ай-Пи-адреса версии четыре.</a:t>
            </a:r>
          </a:p>
          <a:p/>
          <a:p>
            <a:r>
              <a:t>Длина адреса — четыре байта. Или тридцать два бита.</a:t>
            </a:r>
          </a:p>
          <a:p/>
          <a:p>
            <a:r>
              <a:t>Форма представления.</a:t>
            </a:r>
          </a:p>
          <a:p>
            <a:r>
              <a:t>Четыре десятичных числа, разделённых точками.</a:t>
            </a:r>
          </a:p>
          <a:p>
            <a:r>
              <a:t>Каждое число — от нуля до двухсот пятидесяти пяти.</a:t>
            </a:r>
          </a:p>
          <a:p/>
          <a:p>
            <a:r>
              <a:t>Пример: двести тринадцать точка сто восемьдесят точка сто девяносто три точка три.</a:t>
            </a:r>
          </a:p>
          <a:p/>
          <a:p>
            <a:r>
              <a:t>Теперь самое главное — структура.</a:t>
            </a:r>
          </a:p>
          <a:p/>
          <a:p>
            <a:r>
              <a:t>Ай-Пи-адрес состоит из двух частей.</a:t>
            </a:r>
          </a:p>
          <a:p/>
          <a:p>
            <a:r>
              <a:t>Первая — номер сети.</a:t>
            </a:r>
          </a:p>
          <a:p>
            <a:r>
              <a:t>Вторая — номер компьютера в этой сети, его называют номером хоста.</a:t>
            </a:r>
          </a:p>
          <a:p/>
          <a:p>
            <a:r>
              <a:t>Когда мы говорим об Ай-Пи-адресе, важно понимать:</a:t>
            </a:r>
          </a:p>
          <a:p>
            <a:r>
              <a:t>это не просто число, а комбинация двух вложенных идентификаторов.</a:t>
            </a:r>
          </a:p>
          <a:p>
            <a:r>
              <a:t>Первый говорит — в какой сети находится устройство.</a:t>
            </a:r>
          </a:p>
          <a:p>
            <a:r>
              <a:t>Второй говорит — какое именно устройство внутри этой сети.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Давайте рассмотрим конкретный пример.</a:t>
            </a:r>
          </a:p>
          <a:p/>
          <a:p>
            <a:r>
              <a:t>Ай-Пи-адрес: двести тринадцать точка сто восемьдесят точка сто девяносто три точка три.</a:t>
            </a:r>
          </a:p>
          <a:p/>
          <a:p>
            <a:r>
              <a:t>В этом адресе можно выделить две части.</a:t>
            </a:r>
          </a:p>
          <a:p/>
          <a:p>
            <a:r>
              <a:t>Номер сети: двести тринадцать точка сто восемьдесят точка сто девяносто три точка ноль.</a:t>
            </a:r>
          </a:p>
          <a:p/>
          <a:p>
            <a:r>
              <a:t>Номер хоста: три. Если записать полностью — ноль точка ноль точка ноль точка три.</a:t>
            </a:r>
          </a:p>
          <a:p/>
          <a:p>
            <a:r>
              <a:t>Обратите внимание — номер хоста три, а сеть заканчивается нулём.</a:t>
            </a:r>
          </a:p>
          <a:p>
            <a:r>
              <a:t>Почему так? Потому что в номере сети последние биты, отведённые под хост,</a:t>
            </a:r>
          </a:p>
          <a:p>
            <a:r>
              <a:t>устанавливаются в ноль.</a:t>
            </a:r>
          </a:p>
          <a:p/>
          <a:p>
            <a:r>
              <a:t>И тут возникает ключевой вопрос.</a:t>
            </a:r>
          </a:p>
          <a:p/>
          <a:p>
            <a:r>
              <a:t>Как определить, где в Ай-Пи-адресе заканчивается номер сети</a:t>
            </a:r>
          </a:p>
          <a:p>
            <a:r>
              <a:t>и начинается номер хоста?</a:t>
            </a:r>
          </a:p>
          <a:p/>
          <a:p>
            <a:r>
              <a:t>Ведь глядя на число двести тринадцать точка сто восемьдесят точка сто девяносто три точка три,</a:t>
            </a:r>
          </a:p>
          <a:p>
            <a:r>
              <a:t>непонятно, где проходит граница.</a:t>
            </a:r>
          </a:p>
          <a:p/>
          <a:p>
            <a:r>
              <a:t>Именно этой задаче и посвящены следующие слайды.</a:t>
            </a:r>
          </a:p>
          <a:p>
            <a:r>
              <a:t>Именно для этого придумали классы адресов, а потом — маски подсетей.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Первоначальный подход к решению этой задачи — разделение Ай-Пи-адресов на классы.</a:t>
            </a:r>
          </a:p>
          <a:p/>
          <a:p>
            <a:r>
              <a:t>Что это значит?</a:t>
            </a:r>
          </a:p>
          <a:p/>
          <a:p>
            <a:r>
              <a:t>Все адреса были разделены на несколько классов.</a:t>
            </a:r>
          </a:p>
          <a:p>
            <a:r>
              <a:t>В каждом классе жёстко определено количество бит для номера сети и для номера хоста.</a:t>
            </a:r>
          </a:p>
          <a:p/>
          <a:p>
            <a:r>
              <a:t>Например, в классе Эй под номер сети отводилось восемь бит,</a:t>
            </a:r>
          </a:p>
          <a:p>
            <a:r>
              <a:t>а под номер хоста — двадцать четыре.</a:t>
            </a:r>
          </a:p>
          <a:p>
            <a:r>
              <a:t>В классе Би — шестнадцать и шестнадцать.</a:t>
            </a:r>
          </a:p>
          <a:p>
            <a:r>
              <a:t>В классе Си — двадцать четыре и восемь.</a:t>
            </a:r>
          </a:p>
          <a:p/>
          <a:p>
            <a:r>
              <a:t>Этот подход был определён в стандарте Эр-Эф-Си семьсот девяносто один.</a:t>
            </a:r>
          </a:p>
          <a:p>
            <a:r>
              <a:t>И использовался до тысяча девятьсот девяносто третьего года.</a:t>
            </a:r>
          </a:p>
          <a:p/>
          <a:p>
            <a:r>
              <a:t>Что это давало?</a:t>
            </a:r>
          </a:p>
          <a:p>
            <a:r>
              <a:t>Зная Ай-Пи-адрес, можно было точно определить его класс по первым битам,</a:t>
            </a:r>
          </a:p>
          <a:p>
            <a:r>
              <a:t>и значит, понять, где граница между сетью и хостом.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посмотрим на конкретные классы и их характеристики.</a:t>
            </a:r>
          </a:p>
          <a:p/>
          <a:p>
            <a:r>
              <a:t>Класс Эй. Первые биты — ноль.</a:t>
            </a:r>
          </a:p>
          <a:p>
            <a:r>
              <a:t>Под номер сети отводится восемь бит. Под хост — двадцать четыре.</a:t>
            </a:r>
          </a:p>
          <a:p>
            <a:r>
              <a:t>Диапазон сетей: от один точка ноль точка ноль точка ноль до сто двадцать шесть точка ноль точка ноль точка ноль.</a:t>
            </a:r>
          </a:p>
          <a:p>
            <a:r>
              <a:t>Максимальное число сетей — сто двадцать шесть.</a:t>
            </a:r>
          </a:p>
          <a:p>
            <a:r>
              <a:t>Максимальное число хостов в сети — шестнадцать миллионов семьсот семьдесят семь тысяч двести четырнадцать.</a:t>
            </a:r>
          </a:p>
          <a:p/>
          <a:p>
            <a:r>
              <a:t>Класс Би. Первые биты — один ноль.</a:t>
            </a:r>
          </a:p>
          <a:p>
            <a:r>
              <a:t>Шестнадцать бит на сеть, шестнадцать на хост.</a:t>
            </a:r>
          </a:p>
          <a:p>
            <a:r>
              <a:t>Диапазон: от сто двадцать восемь до сто девяносто один.</a:t>
            </a:r>
          </a:p>
          <a:p>
            <a:r>
              <a:t>Число сетей — шестнадцать тысяч триста восемьдесят два.</a:t>
            </a:r>
          </a:p>
          <a:p>
            <a:r>
              <a:t>Число хостов в каждой — шестьдесят пять тысяч пятьсот тридцать четыре.</a:t>
            </a:r>
          </a:p>
          <a:p/>
          <a:p>
            <a:r>
              <a:t>Класс Си. Первые биты — один один ноль.</a:t>
            </a:r>
          </a:p>
          <a:p>
            <a:r>
              <a:t>Двадцать четыре бита на сеть, восемь на хост.</a:t>
            </a:r>
          </a:p>
          <a:p>
            <a:r>
              <a:t>Диапазон: от сто девяносто два до двести двадцать три.</a:t>
            </a:r>
          </a:p>
          <a:p>
            <a:r>
              <a:t>Число сетей — более двух миллионов.</a:t>
            </a:r>
          </a:p>
          <a:p>
            <a:r>
              <a:t>Число хостов — двести пятьдесят четыре.</a:t>
            </a:r>
          </a:p>
          <a:p/>
          <a:p>
            <a:r>
              <a:t>Класс Ди. Первые биты — один один один ноль.</a:t>
            </a:r>
          </a:p>
          <a:p>
            <a:r>
              <a:t>Это групповые адреса, мультикаст.</a:t>
            </a:r>
          </a:p>
          <a:p>
            <a:r>
              <a:t>Класс И. Первые биты — один один один один ноль.</a:t>
            </a:r>
          </a:p>
          <a:p>
            <a:r>
              <a:t>Зарезервировано на будущее.</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этой схеме показано, как выглядят разные классы на битовом уровне.</a:t>
            </a:r>
          </a:p>
          <a:p/>
          <a:p>
            <a:r>
              <a:t>Класс Эй. Первый бит — ноль. Затем семь бит идентификатора сети. Затем двадцать четыре бита хоста.</a:t>
            </a:r>
          </a:p>
          <a:p/>
          <a:p>
            <a:r>
              <a:t>Класс Би. Первые два бита — один ноль. Затем четырнадцать бит сети. Затем шестнадцать бит хоста.</a:t>
            </a:r>
          </a:p>
          <a:p/>
          <a:p>
            <a:r>
              <a:t>Класс Си. Первые три бита — один один ноль. Затем двадцать один бит сети. Затем восемь бит хоста.</a:t>
            </a:r>
          </a:p>
          <a:p/>
          <a:p>
            <a:r>
              <a:t>Класс Ди. Первые четыре бита — один один один ноль. Всё остальное — идентификатор группы.</a:t>
            </a:r>
          </a:p>
          <a:p/>
          <a:p>
            <a:r>
              <a:t>Класс И. Первые пять бит — один один один один ноль. Всё остальное — зарезервировано.</a:t>
            </a:r>
          </a:p>
          <a:p/>
          <a:p>
            <a:r>
              <a:t>Обратите внимание на закономерность.</a:t>
            </a:r>
          </a:p>
          <a:p>
            <a:r>
              <a:t>Чем больше первых единиц — тем ниже класс.</a:t>
            </a:r>
          </a:p>
          <a:p>
            <a:r>
              <a:t>И тем меньше хостов в каждой сети, но больше самих сетей.</a:t>
            </a:r>
          </a:p>
          <a:p/>
          <a:p>
            <a:r>
              <a:t>Класс Эй — гигантские сети, но их очень мало.</a:t>
            </a:r>
          </a:p>
          <a:p>
            <a:r>
              <a:t>Класс Си — крошечные сети по двести пятьдесят четыре хоста, зато их миллионы.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давайте честно оценим достоинства и недостатки классового подхода.</a:t>
            </a:r>
          </a:p>
          <a:p/>
          <a:p>
            <a:r>
              <a:t>Достоинство очевидное.</a:t>
            </a:r>
          </a:p>
          <a:p>
            <a:r>
              <a:t>По Ай-Пи-адресу можно точно узнать, где номер сети, а где номер хоста.</a:t>
            </a:r>
          </a:p>
          <a:p>
            <a:r>
              <a:t>Достаточно посмотреть на первые биты.</a:t>
            </a:r>
          </a:p>
          <a:p>
            <a:r>
              <a:t>Это просто и быстро.</a:t>
            </a:r>
          </a:p>
          <a:p/>
          <a:p>
            <a:r>
              <a:t>Но есть и серьёзные недостатки.</a:t>
            </a:r>
          </a:p>
          <a:p/>
          <a:p>
            <a:r>
              <a:t>Первый — фиксированное количество хостов в сети.</a:t>
            </a:r>
          </a:p>
          <a:p>
            <a:r>
              <a:t>В классе Эй — шестнадцать миллионов хостов.</a:t>
            </a:r>
          </a:p>
          <a:p>
            <a:r>
              <a:t>В классе Би — шестьдесят пять тысяч.</a:t>
            </a:r>
          </a:p>
          <a:p>
            <a:r>
              <a:t>В классе Си — двести пятьдесят четыре.</a:t>
            </a:r>
          </a:p>
          <a:p/>
          <a:p>
            <a:r>
              <a:t>Что делать, если компании нужно триста хостов?</a:t>
            </a:r>
          </a:p>
          <a:p>
            <a:r>
              <a:t>Она не может взять класс Си — там только двести пятьдесят четыре.</a:t>
            </a:r>
          </a:p>
          <a:p>
            <a:r>
              <a:t>Приходится брать класс Би — на шестьдесят пять тысяч хостов.</a:t>
            </a:r>
          </a:p>
          <a:p>
            <a:r>
              <a:t>А это шестьдесят пять тысяч минус триста — более шестидесяти четырёх тысяч адресов уходят впустую.</a:t>
            </a:r>
          </a:p>
          <a:p/>
          <a:p>
            <a:r>
              <a:t>Второй недостаток — неэффективное распределение Ай-Пи-адресов.</a:t>
            </a:r>
          </a:p>
          <a:p>
            <a:r>
              <a:t>Из-за фиксированных размеров адресное пространство расходуется крайне расточительно.</a:t>
            </a:r>
          </a:p>
          <a:p/>
          <a:p>
            <a:r>
              <a:t>Именно эта неэффективность и привела к тому, что в тысяча девятьсот девяносто третьем году</a:t>
            </a:r>
          </a:p>
          <a:p>
            <a:r>
              <a:t>от классового подхода отказались.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перейти к тому, что пришло на смену классам, давайте коротко поговорим</a:t>
            </a:r>
          </a:p>
          <a:p>
            <a:r>
              <a:t>о версии шесть, Ай-Пи-ви-шЕсть.</a:t>
            </a:r>
          </a:p>
          <a:p/>
          <a:p>
            <a:r>
              <a:t>Зачем она появилась?</a:t>
            </a:r>
          </a:p>
          <a:p>
            <a:r>
              <a:t>Из-за нехватки адресов в версии четыре. Об этом подробнее на следующем слайде.</a:t>
            </a:r>
          </a:p>
          <a:p/>
          <a:p>
            <a:r>
              <a:t>Как устроен адрес в шестой версии?</a:t>
            </a:r>
          </a:p>
          <a:p>
            <a:r>
              <a:t>Он записывается в виде восьми групп по четыре шестнадцатеричные цифры,</a:t>
            </a:r>
          </a:p>
          <a:p>
            <a:r>
              <a:t>разделённых двоеточиями.</a:t>
            </a:r>
          </a:p>
          <a:p/>
          <a:p>
            <a:r>
              <a:t>Пример: две тысячи один двоеточие ноль дэ бэ восемь двоеточие восемьдесят пять а три</a:t>
            </a:r>
          </a:p>
          <a:p>
            <a:r>
              <a:t>двоеточие ноль ноль ноль ноль двоеточие ноль ноль ноль ноль двоеточие восемь а два е</a:t>
            </a:r>
          </a:p>
          <a:p>
            <a:r>
              <a:t>двоеточие ноль три семь ноль двоеточие семь три три четыре.</a:t>
            </a:r>
          </a:p>
          <a:p/>
          <a:p>
            <a:r>
              <a:t>Обычно адрес делится ровно пополам, по шестьдесят четыре бита.</a:t>
            </a:r>
          </a:p>
          <a:p/>
          <a:p>
            <a:r>
              <a:t>Первые сорок восемь-шестьдесят четыре бита — это префикс маршрутизации.</a:t>
            </a:r>
          </a:p>
          <a:p>
            <a:r>
              <a:t>Они определяют глобальную сеть провайдера и подсеть организации.</a:t>
            </a:r>
          </a:p>
          <a:p/>
          <a:p>
            <a:r>
              <a:t>Последние шестьдесят четыре бита — идентификатор интерфейса.</a:t>
            </a:r>
          </a:p>
          <a:p>
            <a:r>
              <a:t>Это уникальный адрес конкретного устройства.</a:t>
            </a:r>
          </a:p>
          <a:p>
            <a:r>
              <a:t>Часто он генерируется на основе МАК-адреса.</a:t>
            </a:r>
          </a:p>
          <a:p/>
          <a:p>
            <a:r>
              <a:t>Такая структура даёт огромное количество адресов — триста сорок ундециллионов.</a:t>
            </a:r>
          </a:p>
          <a:p>
            <a:r>
              <a:t>Это примерно в сто раз больше, чем атомов на поверхности Земли.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 теперь важная тема — нехватка Ай-Пи-адресов.</a:t>
            </a:r>
          </a:p>
          <a:p/>
          <a:p>
            <a:r>
              <a:t>Давайте посчитаем.</a:t>
            </a:r>
          </a:p>
          <a:p>
            <a:r>
              <a:t>Длина адреса — тридцать два бита.</a:t>
            </a:r>
          </a:p>
          <a:p>
            <a:r>
              <a:t>Максимум адресов — четыре миллиарда двести девяносто четыре миллиона</a:t>
            </a:r>
          </a:p>
          <a:p>
            <a:r>
              <a:t>девятьсот шестьдесят семь тысяч двести девяносто шесть.</a:t>
            </a:r>
          </a:p>
          <a:p>
            <a:r>
              <a:t>Примерно четыре с половиной миллиарда.</a:t>
            </a:r>
          </a:p>
          <a:p/>
          <a:p>
            <a:r>
              <a:t>Это число кажется огромным. Но есть несколько проблем.</a:t>
            </a:r>
          </a:p>
          <a:p/>
          <a:p>
            <a:r>
              <a:t>Первая — адреса в сети используются не все.</a:t>
            </a:r>
          </a:p>
          <a:p>
            <a:r>
              <a:t>Например, в каждой сети есть адрес сети и широковещательный адрес, которые нельзя</a:t>
            </a:r>
          </a:p>
          <a:p>
            <a:r>
              <a:t>назначить хостам.</a:t>
            </a:r>
          </a:p>
          <a:p>
            <a:r>
              <a:t>В сети класса Си с двумястами пятьдесят четырьмя адресами реально доступно двести пятьдесят четыре.</a:t>
            </a:r>
          </a:p>
          <a:p/>
          <a:p>
            <a:r>
              <a:t>Вторая — при классовом подходе адреса распределялись очень неэффективно.</a:t>
            </a:r>
          </a:p>
          <a:p/>
          <a:p>
            <a:r>
              <a:t>Третья — количество устройств в мире растёт экспоненциально.</a:t>
            </a:r>
          </a:p>
          <a:p>
            <a:r>
              <a:t>В девяностые годы никто не мог предположить, что у каждого человека будет смартфон, ноутбук,</a:t>
            </a:r>
          </a:p>
          <a:p>
            <a:r>
              <a:t>планшет, умная колонка, а ещё умный холодильник и чайник.</a:t>
            </a:r>
          </a:p>
          <a:p/>
          <a:p>
            <a:r>
              <a:t>На схеме показан пример вырожденной сети.</a:t>
            </a:r>
          </a:p>
          <a:p>
            <a:r>
              <a:t>Между двумя маршрутизаторами сеть с адресами сто девяносто два точка сто шестьдесят восемь точка один точка ноль.</a:t>
            </a:r>
          </a:p>
          <a:p>
            <a:r>
              <a:t>Но на самом деле нужны только два адреса — для каждого маршрутизатора.</a:t>
            </a:r>
          </a:p>
          <a:p>
            <a:r>
              <a:t>Остальные двести пятьдесят четыре адреса wasted.</a:t>
            </a:r>
          </a:p>
          <a:p/>
          <a:p>
            <a:r>
              <a:t>Именно поэтому появилось несколько решений.</a:t>
            </a:r>
          </a:p>
          <a:p>
            <a:r>
              <a:t>Первое — отказ от классов.</a:t>
            </a:r>
          </a:p>
          <a:p>
            <a:r>
              <a:t>Второе — трансляция адресов, Нат.</a:t>
            </a:r>
          </a:p>
          <a:p>
            <a:r>
              <a:t>Третье — переход на версию шесть.</a:t>
            </a:r>
          </a:p>
          <a:p>
            <a:r>
              <a:t>Про каждое поговорим отдельно.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решение — бесклассовая междоменная маршрутизация.</a:t>
            </a:r>
          </a:p>
          <a:p>
            <a:r>
              <a:t>По-английски — Си-Ай-Ди-Ар.</a:t>
            </a:r>
          </a:p>
          <a:p/>
          <a:p>
            <a:r>
              <a:t>Что это такое? Это отказ от классов Ай-Пи-адресов.</a:t>
            </a:r>
          </a:p>
          <a:p/>
          <a:p>
            <a:r>
              <a:t>Появилась в тысяча девятьсот девяносто третьем году.</a:t>
            </a:r>
          </a:p>
          <a:p>
            <a:r>
              <a:t>Стандартизована в Эр-Эф-Си с тысяча пятьсот семнадцатого по тысяча пятьсот двадцатый.</a:t>
            </a:r>
          </a:p>
          <a:p>
            <a:r>
              <a:t>И используется до сих пор.</a:t>
            </a:r>
          </a:p>
          <a:p/>
          <a:p>
            <a:r>
              <a:t>Что она даёт?</a:t>
            </a:r>
          </a:p>
          <a:p/>
          <a:p>
            <a:r>
              <a:t>Первое. Для определения номера сети применяются маски переменной длины.</a:t>
            </a:r>
          </a:p>
          <a:p>
            <a:r>
              <a:t>Больше нет жёстко заданных классов.</a:t>
            </a:r>
          </a:p>
          <a:p>
            <a:r>
              <a:t>Размер сети можно выбрать любым.</a:t>
            </a:r>
          </a:p>
          <a:p/>
          <a:p>
            <a:r>
              <a:t>Второе. Любое количество хостов в сети.</a:t>
            </a:r>
          </a:p>
          <a:p>
            <a:r>
              <a:t>Можно создать сеть на два, десять, сто, тысячу хостов.</a:t>
            </a:r>
          </a:p>
          <a:p>
            <a:r>
              <a:t>И не тратить лишние адреса.</a:t>
            </a:r>
          </a:p>
          <a:p/>
          <a:p>
            <a:r>
              <a:t>Это было революционное изменение.</a:t>
            </a:r>
          </a:p>
          <a:p>
            <a:r>
              <a:t>Оно позволило значительно более эффективно использовать адресное пространство</a:t>
            </a:r>
          </a:p>
          <a:p>
            <a:r>
              <a:t>и продлило жизнь версии четыре на десятилетия.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Ключевой инструмент Си-Ай-Ди-Ар — маска подсети.</a:t>
            </a:r>
          </a:p>
          <a:p/>
          <a:p>
            <a:r>
              <a:t>Что показывает маска подсети?</a:t>
            </a:r>
          </a:p>
          <a:p>
            <a:r>
              <a:t>Она показывает, где в Ай-Пи-адресе номер сети, а где номер хоста.</a:t>
            </a:r>
          </a:p>
          <a:p/>
          <a:p>
            <a:r>
              <a:t>Как устроена маска?</a:t>
            </a:r>
          </a:p>
          <a:p>
            <a:r>
              <a:t>Очень просто.</a:t>
            </a:r>
          </a:p>
          <a:p/>
          <a:p>
            <a:r>
              <a:t>Единицы в тех позициях, которые задают номер сети.</a:t>
            </a:r>
          </a:p>
          <a:p>
            <a:r>
              <a:t>Нули в тех позициях, которые задают номер хоста.</a:t>
            </a:r>
          </a:p>
          <a:p/>
          <a:p>
            <a:r>
              <a:t>Маска — это тоже тридцать два бита, как и Ай-Пи-адрес.</a:t>
            </a:r>
          </a:p>
          <a:p>
            <a:r>
              <a:t>Но с определённой структурой.</a:t>
            </a:r>
          </a:p>
          <a:p/>
          <a:p>
            <a:r>
              <a:t>Как получить номер сети по Ай-Пи-адресу и маске?</a:t>
            </a:r>
          </a:p>
          <a:p/>
          <a:p>
            <a:r>
              <a:t>Очень просто. Побитовое И маски и Ай-Пи-адреса.</a:t>
            </a:r>
          </a:p>
          <a:p/>
          <a:p>
            <a:r>
              <a:t>Что такое побитовое И?</a:t>
            </a:r>
          </a:p>
          <a:p>
            <a:r>
              <a:t>Это операция, при которой для каждого бита результат равен единице только если</a:t>
            </a:r>
          </a:p>
          <a:p>
            <a:r>
              <a:t>оба бита равны единице.</a:t>
            </a:r>
          </a:p>
          <a:p>
            <a:r>
              <a:t>Иначе — ноль.</a:t>
            </a:r>
          </a:p>
          <a:p/>
          <a:p>
            <a:r>
              <a:t>Если применить маску к Ай-Пи-адресу, то все биты номера хоста обнулятся,</a:t>
            </a:r>
          </a:p>
          <a:p>
            <a:r>
              <a:t>потому что в маске там нули.</a:t>
            </a:r>
          </a:p>
          <a:p>
            <a:r>
              <a:t>А биты номера сети сохранятся как были, потому что в маске там единицы.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Давайте разберём конкретный пример.</a:t>
            </a:r>
          </a:p>
          <a:p/>
          <a:p>
            <a:r>
              <a:t>Ай-Пи-адрес: двести тринадцать точка сто восемьдесят точка сто девяносто три точка три.</a:t>
            </a:r>
          </a:p>
          <a:p/>
          <a:p>
            <a:r>
              <a:t>Маска: двести пятьдесят пять точка двести пятьдесят пять точка ноль точка ноль.</a:t>
            </a:r>
          </a:p>
          <a:p/>
          <a:p>
            <a:r>
              <a:t>Переводим всё в двоичное представление.</a:t>
            </a:r>
          </a:p>
          <a:p/>
          <a:p>
            <a:r>
              <a:t>Ай-Пи: один один ноль один ноль один ноль один, точка один ноль один один ноль сто,</a:t>
            </a:r>
          </a:p>
          <a:p>
            <a:r>
              <a:t>точка один один ноль ноль ноль ноль ноль один, точка ноль ноль ноль ноль ноль ноль один один.</a:t>
            </a:r>
          </a:p>
          <a:p/>
          <a:p>
            <a:r>
              <a:t>Маска: двадцать четыре единицы, потом восемь нулей.</a:t>
            </a:r>
          </a:p>
          <a:p/>
          <a:p>
            <a:r>
              <a:t>Применяем операцию И побитово.</a:t>
            </a:r>
          </a:p>
          <a:p/>
          <a:p>
            <a:r>
              <a:t>Первые два байта адреса и маски совпадают — остаются как есть.</a:t>
            </a:r>
          </a:p>
          <a:p>
            <a:r>
              <a:t>Третий и четвёртый байты обнуляются, потому что в маске там нули.</a:t>
            </a:r>
          </a:p>
          <a:p/>
          <a:p>
            <a:r>
              <a:t>Результат: сто девяносто три, точнее двести тринадцать точка сто восемьдесят точка ноль точка ноль.</a:t>
            </a:r>
          </a:p>
          <a:p/>
          <a:p>
            <a:r>
              <a:t>Это и есть адрес сети.</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Есть два способа записи маски подсети.</a:t>
            </a:r>
          </a:p>
          <a:p/>
          <a:p>
            <a:r>
              <a:t>Первый — десятичный, как мы уже видели.</a:t>
            </a:r>
          </a:p>
          <a:p/>
          <a:p>
            <a:r>
              <a:t>Ай-Пи-адрес: двести тринадцать точка сто восемьдесят точка сто девяносто три точка три.</a:t>
            </a:r>
          </a:p>
          <a:p>
            <a:r>
              <a:t>Маска подсети: двести пятьдесят пять точка двести пятьдесят пять точка двести пятьдесят пять точка ноль.</a:t>
            </a:r>
          </a:p>
          <a:p>
            <a:r>
              <a:t>Адрес сети: двести тринадцать точка сто восемьдесят точка сто девяносто три точка ноль.</a:t>
            </a:r>
          </a:p>
          <a:p/>
          <a:p>
            <a:r>
              <a:t>Второй способ — через префикс.</a:t>
            </a:r>
          </a:p>
          <a:p/>
          <a:p>
            <a:r>
              <a:t>Записывается как Ай-Пи-адрес с косой чертой и числом, обозначающим количество единиц в маске.</a:t>
            </a:r>
          </a:p>
          <a:p/>
          <a:p>
            <a:r>
              <a:t>Двести тринадцать точка сто восемьдесят точка сто девяносто три точка три дробь двадцать четыре.</a:t>
            </a:r>
          </a:p>
          <a:p>
            <a:r>
              <a:t>Адрес сети: двести тринадцать точка сто восемьдесят точка сто девяносто три точка ноль.</a:t>
            </a:r>
          </a:p>
          <a:p/>
          <a:p>
            <a:r>
              <a:t>Оба представления эквивалентны.</a:t>
            </a:r>
          </a:p>
          <a:p>
            <a:r>
              <a:t>Дробь двадцать четыре означает, что первые двадцать четыре бита — это номер сети.</a:t>
            </a:r>
          </a:p>
          <a:p>
            <a:r>
              <a:t>Остальные восемь бит — номер хоста.</a:t>
            </a:r>
          </a:p>
          <a:p/>
          <a:p>
            <a:r>
              <a:t>На практике чаще используют именно префиксную запись, потому что она короче и нагляднее.</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Небольшая проверка на понимание. Может ли маска подсети быть такой?</a:t>
            </a:r>
          </a:p>
          <a:p/>
          <a:p>
            <a:r>
              <a:t>Двести пятьдесят пять точка двести пятьдесят пять точка двести пятьдесят пять точка сто двадцать восемь.</a:t>
            </a:r>
          </a:p>
          <a:p>
            <a:r>
              <a:t>В двоичном виде: двадцать четыре единицы, потом один ноль.</a:t>
            </a:r>
          </a:p>
          <a:p/>
          <a:p>
            <a:r>
              <a:t>Ответ: да, может.</a:t>
            </a:r>
          </a:p>
          <a:p>
            <a:r>
              <a:t>Это маска дробь двадцать пять.</a:t>
            </a:r>
          </a:p>
          <a:p>
            <a:r>
              <a:t>Двадцать пять бит номера сети, семь бит номера хоста.</a:t>
            </a:r>
          </a:p>
          <a:p/>
          <a:p>
            <a:r>
              <a:t>А может ли маска быть такой?</a:t>
            </a:r>
          </a:p>
          <a:p>
            <a:r>
              <a:t>Двести пятьдесят пять точка двести пятьдесят пять точка сто шестьдесят точка ноль.</a:t>
            </a:r>
          </a:p>
          <a:p>
            <a:r>
              <a:t>В двоичном виде: сто шестьдесят — это один ноль один ноль ноль ноль ноль ноль ноль.</a:t>
            </a:r>
          </a:p>
          <a:p/>
          <a:p>
            <a:r>
              <a:t>Ответ: нет, не может.</a:t>
            </a:r>
          </a:p>
          <a:p>
            <a:r>
              <a:t>Потому что в маске единицы должны идти строго подряд, слева направо.</a:t>
            </a:r>
          </a:p>
          <a:p>
            <a:r>
              <a:t>Нельзя, чтобы после нуля снова появилась единица.</a:t>
            </a:r>
          </a:p>
          <a:p>
            <a:r>
              <a:t>Маска — это непрерывная последовательность единиц, за которой идут нули.</a:t>
            </a:r>
          </a:p>
          <a:p/>
          <a:p>
            <a:r>
              <a:t>Это важное правило. Запомните его.</a:t>
            </a:r>
          </a:p>
          <a:p>
            <a:r>
              <a:t>Иначе можно легко ошибиться при настройке сети.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поговорим о специальных Ай-Пи-адресах внутри сети.</a:t>
            </a:r>
          </a:p>
          <a:p/>
          <a:p>
            <a:r>
              <a:t>В номере хоста нельзя использовать только битовые нули или только битовые единицы.</a:t>
            </a:r>
          </a:p>
          <a:p/>
          <a:p>
            <a:r>
              <a:t>Если все биты номера хоста равны нулю — это адрес сети.</a:t>
            </a:r>
          </a:p>
          <a:p>
            <a:r>
              <a:t>Например, двести тринадцать точка сто восемьдесят точка ноль точка ноль.</a:t>
            </a:r>
          </a:p>
          <a:p>
            <a:r>
              <a:t>Это не адрес какого-то конкретного хоста, а адрес самой сети.</a:t>
            </a:r>
          </a:p>
          <a:p/>
          <a:p>
            <a:r>
              <a:t>Если все биты номера хоста равны единице — это широковещательный адрес.</a:t>
            </a:r>
          </a:p>
          <a:p>
            <a:r>
              <a:t>Например, двести тринадцать точка сто восемьдесят точка двести пятьдесят пять точка двести пятьдесят пять.</a:t>
            </a:r>
          </a:p>
          <a:p>
            <a:r>
              <a:t>Пакет, отправленный на этот адрес, получат все хосты в сети.</a:t>
            </a:r>
          </a:p>
          <a:p/>
          <a:p>
            <a:r>
              <a:t>Обратите внимание: в старых стандартах было принято считать первый адрес сети</a:t>
            </a:r>
          </a:p>
          <a:p>
            <a:r>
              <a:t>адресом шлюза по умолчанию.</a:t>
            </a:r>
          </a:p>
          <a:p>
            <a:r>
              <a:t>То есть адрес с номером хоста единица, например двести тринадцать точка сто восемьдесят точка ноль точка один.</a:t>
            </a:r>
          </a:p>
          <a:p>
            <a:r>
              <a:t>Это не обязательное правило, а договорённость.</a:t>
            </a:r>
          </a:p>
          <a:p>
            <a:r>
              <a:t>Современные маршрутизаторы могут использовать любой адрес.</a:t>
            </a:r>
          </a:p>
          <a:p/>
          <a:p>
            <a:r>
              <a:t>Таким образом, в сети класса Си из двухсот пятидесяти шести адресов</a:t>
            </a:r>
          </a:p>
          <a:p>
            <a:r>
              <a:t>реально доступны для хостов только двести пятьдесят четыре.</a:t>
            </a:r>
          </a:p>
          <a:p>
            <a:r>
              <a:t>Два адреса заняты под сеть и широковещание.</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важная тема — кто распределяет Ай-Пи-адреса.</a:t>
            </a:r>
          </a:p>
          <a:p/>
          <a:p>
            <a:r>
              <a:t>Ай-Пи-адреса должны быть уникальны во всём мире.</a:t>
            </a:r>
          </a:p>
          <a:p>
            <a:r>
              <a:t>Иначе два устройства в разных концах планеты не смогут нормально работать.</a:t>
            </a:r>
          </a:p>
          <a:p/>
          <a:p>
            <a:r>
              <a:t>Кто следит за этой уникальностью?</a:t>
            </a:r>
          </a:p>
          <a:p/>
          <a:p>
            <a:r>
              <a:t>Специальная организация — Ай-Кэнн.</a:t>
            </a:r>
          </a:p>
          <a:p>
            <a:r>
              <a:t>Полное название: Интернет корпорейшн фор эссайнд нэймс энд намберс.</a:t>
            </a:r>
          </a:p>
          <a:p>
            <a:r>
              <a:t>То есть корпорация по управлению доменными именами и Ай-Пи-адресами.</a:t>
            </a:r>
          </a:p>
          <a:p/>
          <a:p>
            <a:r>
              <a:t>Организации получают блоки Ай-Пи-адресов от Ай-Кэнн</a:t>
            </a:r>
          </a:p>
          <a:p>
            <a:r>
              <a:t>и могут использовать их по своему усмотрению.</a:t>
            </a:r>
          </a:p>
          <a:p>
            <a:r>
              <a:t>Внутри своего блока они могут создавать подсети, назначать адреса устройствам,</a:t>
            </a:r>
          </a:p>
          <a:p>
            <a:r>
              <a:t>передавать часть адресов другим организациям.</a:t>
            </a:r>
          </a:p>
          <a:p/>
          <a:p>
            <a:r>
              <a:t>Распределение происходит не напрямую.</a:t>
            </a:r>
          </a:p>
          <a:p>
            <a:r>
              <a:t>Ай-Кэнн передаёт блоки региональным регистраторам, Рир,</a:t>
            </a:r>
          </a:p>
          <a:p>
            <a:r>
              <a:t>которые уже распределяют их между интернет-провайдерами и организациями.</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 теперь ещё одно решение проблемы нехватки Ай-Пи-адресов — приватные адреса.</a:t>
            </a:r>
          </a:p>
          <a:p/>
          <a:p>
            <a:r>
              <a:t>Что это такое? Это зарезервированные диапазоны адресов,</a:t>
            </a:r>
          </a:p>
          <a:p>
            <a:r>
              <a:t>которые не используются в интернете.</a:t>
            </a:r>
          </a:p>
          <a:p/>
          <a:p>
            <a:r>
              <a:t>Стандартом определены три диапазона.</a:t>
            </a:r>
          </a:p>
          <a:p/>
          <a:p>
            <a:r>
              <a:t>Первый — от десяти точка ноль точка ноль точка ноль до десяти точка двести пятьдесят пять</a:t>
            </a:r>
          </a:p>
          <a:p>
            <a:r>
              <a:t>точка двести пятьдесят пять точка двести пятьдесят пять с маской дробь восемь.</a:t>
            </a:r>
          </a:p>
          <a:p>
            <a:r>
              <a:t>Это огромный диапазон, шестнадцать миллионов адресов.</a:t>
            </a:r>
          </a:p>
          <a:p/>
          <a:p>
            <a:r>
              <a:t>Второй — от ста семидесяти двух точка шестнадцать до ста семидесяти двух точка тридцать один</a:t>
            </a:r>
          </a:p>
          <a:p>
            <a:r>
              <a:t>с маской дробь двенадцать.</a:t>
            </a:r>
          </a:p>
          <a:p>
            <a:r>
              <a:t>Около миллиона адресов.</a:t>
            </a:r>
          </a:p>
          <a:p/>
          <a:p>
            <a:r>
              <a:t>Третий — от ста девяноста двух точка сто шестьдесят восемь до ста девяноста двух точка</a:t>
            </a:r>
          </a:p>
          <a:p>
            <a:r>
              <a:t>сто шестьдесят восемь с маской дробь шестнадцать.</a:t>
            </a:r>
          </a:p>
          <a:p>
            <a:r>
              <a:t>Шестьдесят пять тысяч адресов.</a:t>
            </a:r>
          </a:p>
          <a:p/>
          <a:p>
            <a:r>
              <a:t>Что значит не маршрутизируются в интернет?</a:t>
            </a:r>
          </a:p>
          <a:p>
            <a:r>
              <a:t>Это значит, что маршрутизаторы в интернете никогда не передают пакеты с такими адресами.</a:t>
            </a:r>
          </a:p>
          <a:p>
            <a:r>
              <a:t>Они зарезервированы для использования внутри организаций.</a:t>
            </a:r>
          </a:p>
          <a:p/>
          <a:p>
            <a:r>
              <a:t>Что это даёт?</a:t>
            </a:r>
          </a:p>
          <a:p/>
          <a:p>
            <a:r>
              <a:t>Первое. Можно использовать внутри организации без обращения в Ай-Кэнн.</a:t>
            </a:r>
          </a:p>
          <a:p>
            <a:r>
              <a:t>Не нужно получать блок адресов — просто берёшь из приватного диапазона.</a:t>
            </a:r>
          </a:p>
          <a:p/>
          <a:p>
            <a:r>
              <a:t>Второе. Эти адреса могут повторяться в разных организациях.</a:t>
            </a:r>
          </a:p>
          <a:p>
            <a:r>
              <a:t>В тысяче компаний может использоваться адрес сто девяносто два точка сто шестьдесят восемь</a:t>
            </a:r>
          </a:p>
          <a:p>
            <a:r>
              <a:t>точка один точка один, и они не будут конфликтовать, потому что сидят в разных сетях.</a:t>
            </a:r>
          </a:p>
          <a:p/>
          <a:p>
            <a:r>
              <a:t>Подключение к интернету с использованием таких адресов</a:t>
            </a:r>
          </a:p>
          <a:p>
            <a:r>
              <a:t>требует специальной технологии — трансляции сетевых адресов, Нат.</a:t>
            </a:r>
          </a:p>
          <a:p>
            <a:r>
              <a:t>О ней подробно на следующих слайдах.</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Ещё несколько специальных Ай-Пи-адресов.</a:t>
            </a:r>
          </a:p>
          <a:p/>
          <a:p>
            <a:r>
              <a:t>Ноль точка ноль точка ноль точка ноль — это текущий хост или текущая сеть.</a:t>
            </a:r>
          </a:p>
          <a:p/>
          <a:p>
            <a:r>
              <a:t>Двести пятьдесят пять точка двести пятьдесят пять точка двести пятьдесят пять точка</a:t>
            </a:r>
          </a:p>
          <a:p>
            <a:r>
              <a:t>двести пятьдесят пять — все хосты в текущей сети.</a:t>
            </a:r>
          </a:p>
          <a:p>
            <a:r>
              <a:t>Это широковещательный адрес, о котором мы говорили.</a:t>
            </a:r>
          </a:p>
          <a:p/>
          <a:p>
            <a:r>
              <a:t>Сто двадцать семь точка ноль точка ноль — обратная петля, loopback.</a:t>
            </a:r>
          </a:p>
          <a:p/>
          <a:p>
            <a:r>
              <a:t>Что это значит?</a:t>
            </a:r>
          </a:p>
          <a:p>
            <a:r>
              <a:t>Это специальная сеть для тестирования.</a:t>
            </a:r>
          </a:p>
          <a:p>
            <a:r>
              <a:t>Данные не передаются в сеть, а приходят обратно на тот же самый компьютер.</a:t>
            </a:r>
          </a:p>
          <a:p/>
          <a:p>
            <a:r>
              <a:t>Сто двадцать семь точка ноль точка ноль точка один — самый известный адрес из этого диапазона.</a:t>
            </a:r>
          </a:p>
          <a:p>
            <a:r>
              <a:t>Он называется localhost, то есть текущий компьютер.</a:t>
            </a:r>
          </a:p>
          <a:p/>
          <a:p>
            <a:r>
              <a:t>Если вы запускаете на своём компьютере веб-сервер и хотите проверить, работает ли он,</a:t>
            </a:r>
          </a:p>
          <a:p>
            <a:r>
              <a:t>вы открываете в браузере адрес сто двадцать семь точка ноль точка ноль точка один.</a:t>
            </a:r>
          </a:p>
          <a:p>
            <a:r>
              <a:t>Это обращение к вашему же компьютеру.</a:t>
            </a:r>
          </a:p>
          <a:p/>
          <a:p>
            <a:r>
              <a:t>Кстати, весь диапазон от сто двадцать семь точка ноль точка ноль точка ноль до</a:t>
            </a:r>
          </a:p>
          <a:p>
            <a:r>
              <a:t>сто двадцать семь точка двести пятьдесят пять точка двести пятьдесят пять точка двести</a:t>
            </a:r>
          </a:p>
          <a:p>
            <a:r>
              <a:t>пятьдесят пять зарезервирован за loopback.</a:t>
            </a:r>
          </a:p>
          <a:p>
            <a:r>
              <a:t>Можно использовать любой адрес из этого диапазона, обычно это не имеет значения.</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Возвращаемся к подсетям. Зачем они нужны организациям?</a:t>
            </a:r>
          </a:p>
          <a:p/>
          <a:p>
            <a:r>
              <a:t>Организация получает блок адресов от Ай-Кэнн.</a:t>
            </a:r>
          </a:p>
          <a:p>
            <a:r>
              <a:t>И может разбить его на части.</a:t>
            </a:r>
          </a:p>
          <a:p/>
          <a:p>
            <a:r>
              <a:t>Пример первый. Интернет-провайдер.</a:t>
            </a:r>
          </a:p>
          <a:p>
            <a:r>
              <a:t>Он получает большой блок адресов и выделяет сети для клиентов.</a:t>
            </a:r>
          </a:p>
          <a:p>
            <a:r>
              <a:t>Каждому клиенту — своя подсеть.</a:t>
            </a:r>
          </a:p>
          <a:p/>
          <a:p>
            <a:r>
              <a:t>Пример второй. Предприятие.</a:t>
            </a:r>
          </a:p>
          <a:p>
            <a:r>
              <a:t>Оно получает блок адресов и создаёт сети для разных отделов.</a:t>
            </a:r>
          </a:p>
          <a:p>
            <a:r>
              <a:t>Отдел разработки, отдел продаж, бухгалтерия — у каждого своя подсеть.</a:t>
            </a:r>
          </a:p>
          <a:p/>
          <a:p>
            <a:r>
              <a:t>Зачем это делать?</a:t>
            </a:r>
          </a:p>
          <a:p>
            <a:r>
              <a:t>Причин несколько.</a:t>
            </a:r>
          </a:p>
          <a:p>
            <a:r>
              <a:t>Безопасность — трафик между подсетями можно контролировать.</a:t>
            </a:r>
          </a:p>
          <a:p>
            <a:r>
              <a:t>Управляемость — проще администрировать.</a:t>
            </a:r>
          </a:p>
          <a:p>
            <a:r>
              <a:t>Производительность — широковещательный трафик не выходит за пределы подсети.</a:t>
            </a:r>
          </a:p>
          <a:p/>
          <a:p>
            <a:r>
              <a:t>Разбиение осуществляется с использованием масок подсетей.</a:t>
            </a:r>
          </a:p>
          <a:p>
            <a:r>
              <a:t>На следующем слайде — конкретный пример.</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схеме показан пример иерархии подсетей в университете.</a:t>
            </a:r>
          </a:p>
          <a:p/>
          <a:p>
            <a:r>
              <a:t>Университет получил блок адресов сто двадцать восемь точка один точка ноль точка ноль с маской</a:t>
            </a:r>
          </a:p>
          <a:p>
            <a:r>
              <a:t>дробь шестнадцать. Это шестьдесят пять тысяч пятьсот тридцать шесть адресов.</a:t>
            </a:r>
          </a:p>
          <a:p/>
          <a:p>
            <a:r>
              <a:t>Внутри университета два кампуса.</a:t>
            </a:r>
          </a:p>
          <a:p>
            <a:r>
              <a:t>Каждому выделяется своя подсеть.</a:t>
            </a:r>
          </a:p>
          <a:p/>
          <a:p>
            <a:r>
              <a:t>Первый кампус: сто двадцать восемь точка один точка ноль точка ноль дробь семнадцать.</a:t>
            </a:r>
          </a:p>
          <a:p>
            <a:r>
              <a:t>Второй кампус: сто двадцать восемь точка один точка сто двадцать восемь точка ноль дробь семнадцать.</a:t>
            </a:r>
          </a:p>
          <a:p/>
          <a:p>
            <a:r>
              <a:t>Обратите внимание: маска стала двадцать три — увеличилось количество бит номера сети</a:t>
            </a:r>
          </a:p>
          <a:p>
            <a:r>
              <a:t>и уменьшилось количество бит номера хоста.</a:t>
            </a:r>
          </a:p>
          <a:p>
            <a:r>
              <a:t>Теперь в каждом кампусе по тридцать две тысячи адресов.</a:t>
            </a:r>
          </a:p>
          <a:p/>
          <a:p>
            <a:r>
              <a:t>Внутри каждого кампуса — факультеты.</a:t>
            </a:r>
          </a:p>
          <a:p>
            <a:r>
              <a:t>Каждому факультету — своя подсеть с маской дробь восемнадцать.</a:t>
            </a:r>
          </a:p>
          <a:p/>
          <a:p>
            <a:r>
              <a:t>Такая иерархия позволяет гибко управлять адресным пространством.</a:t>
            </a:r>
          </a:p>
          <a:p>
            <a:r>
              <a:t>Ректор университета выделяет блоки кампусам.</a:t>
            </a:r>
          </a:p>
          <a:p>
            <a:r>
              <a:t>Деканы кампусов выделяют блоки факультетам.</a:t>
            </a:r>
          </a:p>
          <a:p>
            <a:r>
              <a:t>Заведующие кафедрами выделяют блоки отделам.</a:t>
            </a:r>
          </a:p>
          <a:p/>
          <a:p>
            <a:r>
              <a:t>И каждый уровень знает только о своём блоке, не вдаваясь в детали.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Есть два подхода к разбиению на подсети.</a:t>
            </a:r>
          </a:p>
          <a:p/>
          <a:p>
            <a:r>
              <a:t>Первый — Эф-Эл-Эс-Эм, фиксед ленгс сабнет маск, маска подсети фиксированной длины.</a:t>
            </a:r>
          </a:p>
          <a:p/>
          <a:p>
            <a:r>
              <a:t>Все подсети имеют одинаковый размер и одну и ту же маску.</a:t>
            </a:r>
          </a:p>
          <a:p>
            <a:r>
              <a:t>Это просто в настройке, но неэффективно расходует Ай-Пи-адреса.</a:t>
            </a:r>
          </a:p>
          <a:p/>
          <a:p>
            <a:r>
              <a:t>Пример. Сеть сто девяносто два точка сто шестьдесят восемь точка один точка ноль дробь двадцать шесть.</a:t>
            </a:r>
          </a:p>
          <a:p>
            <a:r>
              <a:t>Разбита на четыре равные части по шестьдесят два хоста в каждой.</a:t>
            </a:r>
          </a:p>
          <a:p>
            <a:r>
              <a:t>Двести пятьдесят шесть адресов поделены на четыре равные части.</a:t>
            </a:r>
          </a:p>
          <a:p/>
          <a:p>
            <a:r>
              <a:t>Проблема очевидна. Если в одном сегменте нужно сто хостов, а в другом только пять,</a:t>
            </a:r>
          </a:p>
          <a:p>
            <a:r>
              <a:t>при фиксированной маске обоим придётся выделить одинаковый блок, например по шестьдесят два.</a:t>
            </a:r>
          </a:p>
          <a:p>
            <a:r>
              <a:t>В первом не хватит, во втором — уйма лишнего.</a:t>
            </a:r>
          </a:p>
          <a:p/>
          <a:p>
            <a:r>
              <a:t>Второй подход — Ви-Эл-Эс-Эм, вариабл ленгс сабнет маск, маска подсети переменной длины.</a:t>
            </a:r>
          </a:p>
          <a:p/>
          <a:p>
            <a:r>
              <a:t>Подсети имеют разную длину маски в зависимости от реальной потребности каждого сегмента.</a:t>
            </a:r>
          </a:p>
          <a:p>
            <a:r>
              <a:t>Это экономит адресное пространство.</a:t>
            </a:r>
          </a:p>
          <a:p/>
          <a:p>
            <a:r>
              <a:t>Пример. Сеть сто девяносто два точка сто шестьдесят восемь точка один точка ноль дробь двадцать четыре.</a:t>
            </a:r>
          </a:p>
          <a:p>
            <a:r>
              <a:t>Для большой сети — двести пятьдесят четыре хоста.</a:t>
            </a:r>
          </a:p>
          <a:p>
            <a:r>
              <a:t>Сеть сто девяносто два точка сто шестьдесят восемь точка два точка ноль дробь двадцать шесть.</a:t>
            </a:r>
          </a:p>
          <a:p>
            <a:r>
              <a:t>Для среднего офиса — шестьдесят два хоста.</a:t>
            </a:r>
          </a:p>
          <a:p>
            <a:r>
              <a:t>Сеть десять точка ноль точка ноль точка ноль дробь тридцать.</a:t>
            </a:r>
          </a:p>
          <a:p>
            <a:r>
              <a:t>Для каналов связи между маршрутизаторами — всего два хоста.</a:t>
            </a:r>
          </a:p>
          <a:p/>
          <a:p>
            <a:r>
              <a:t>Ви-Эл-Эс-Эм сейчас стандарт де-факто в современных сетях.</a:t>
            </a:r>
          </a:p>
          <a:p>
            <a:r>
              <a:t>Эф-Эл-Эс-Эм используется только в простых случаях или в учебных целях.</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подробно про Нат — трансляцию сетевых адресов.</a:t>
            </a:r>
          </a:p>
          <a:p/>
          <a:p>
            <a:r>
              <a:t>Что это такое?</a:t>
            </a:r>
          </a:p>
          <a:p>
            <a:r>
              <a:t>Это технология, которая позволяет преобразовывать Ай-Пи-адреса в заголовках пакетов</a:t>
            </a:r>
          </a:p>
          <a:p>
            <a:r>
              <a:t>при их прохождении через маршрутизатор.</a:t>
            </a:r>
          </a:p>
          <a:p/>
          <a:p>
            <a:r>
              <a:t>Обычно Нат используется для пересылки трафика между частными сетями</a:t>
            </a:r>
          </a:p>
          <a:p>
            <a:r>
              <a:t>и глобальной сетью интернет.</a:t>
            </a:r>
          </a:p>
          <a:p/>
          <a:p>
            <a:r>
              <a:t>Какую роль Нат играет в расширении адресного пространства?</a:t>
            </a:r>
          </a:p>
          <a:p/>
          <a:p>
            <a:r>
              <a:t>Хотя Нат физически не создаёт новые Ай-Пи-адреса,</a:t>
            </a:r>
          </a:p>
          <a:p>
            <a:r>
              <a:t>он стал главным инструментом искусственного расширения ёмкости версии четыре.</a:t>
            </a:r>
          </a:p>
          <a:p>
            <a:r>
              <a:t>Решил проблему острого дефицита адресов за счёт нескольких механизмов.</a:t>
            </a:r>
          </a:p>
          <a:p/>
          <a:p>
            <a:r>
              <a:t>Первое. Разделение на приватные и публичные адреса.</a:t>
            </a:r>
          </a:p>
          <a:p>
            <a:r>
              <a:t>Благодаря Эр-Эф-Си тысяча девятьсот восемнадцать были выделены диапазоны серых адресов.</a:t>
            </a:r>
          </a:p>
          <a:p>
            <a:r>
              <a:t>Миллионы локальных сетей по всему миру используют одни и те же адреса внутри себя,</a:t>
            </a:r>
          </a:p>
          <a:p>
            <a:r>
              <a:t>не конфликтуя в интернете.</a:t>
            </a:r>
          </a:p>
          <a:p/>
          <a:p>
            <a:r>
              <a:t>Второе. Экономия один ко многим.</a:t>
            </a:r>
          </a:p>
          <a:p>
            <a:r>
              <a:t>Технология позволяет тысячам устройств из локальной сети выходить в интернет,</a:t>
            </a:r>
          </a:p>
          <a:p>
            <a:r>
              <a:t>используя всего один общий публичный Ай-Пи-адрес.</a:t>
            </a:r>
          </a:p>
          <a:p>
            <a:r>
              <a:t>Разделение потоков данных происходит на уровне портов транспортного протокола,</a:t>
            </a:r>
          </a:p>
          <a:p>
            <a:r>
              <a:t>Ти-Си-Пи или Ю-Ди-Пи.</a:t>
            </a:r>
          </a:p>
          <a:p>
            <a:r>
              <a:t>Эта технология называется Пат, port address translation, или Нат оверлоад.</a:t>
            </a:r>
          </a:p>
          <a:p/>
          <a:p>
            <a:r>
              <a:t>Третье. Продление жизни версии четыре.</a:t>
            </a:r>
          </a:p>
          <a:p>
            <a:r>
              <a:t>Нат позволил глобальной сети продолжать расти и масштабироваться в условиях,</a:t>
            </a:r>
          </a:p>
          <a:p>
            <a:r>
              <a:t>когда свободные блоки адресов у региональных регистраторов полностью закончились.</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разберём конкретные диапазоны адресов для Нат.</a:t>
            </a:r>
          </a:p>
          <a:p/>
          <a:p>
            <a:r>
              <a:t>Стандартные диапазоны для локальных сетей определены в Эр-Эф-Си тысяча девятьсот восемнадцать.</a:t>
            </a:r>
          </a:p>
          <a:p/>
          <a:p>
            <a:r>
              <a:t>Первый — десять точка ноль точка ноль точка ноль до десять точка двести пятьдесят пять</a:t>
            </a:r>
          </a:p>
          <a:p>
            <a:r>
              <a:t>точка двести пятьдесят пять точка двести пятьдесят пять с маской дробь восемь.</a:t>
            </a:r>
          </a:p>
          <a:p>
            <a:r>
              <a:t>Используется в крупных корпоративных сетях.</a:t>
            </a:r>
          </a:p>
          <a:p>
            <a:r>
              <a:t>Шестнадцать миллионов адресов.</a:t>
            </a:r>
          </a:p>
          <a:p/>
          <a:p>
            <a:r>
              <a:t>Второй — сто семьдесят два точка шестнадцать до сто семьдесят два точка тридцать один</a:t>
            </a:r>
          </a:p>
          <a:p>
            <a:r>
              <a:t>с маской дробь двенадцать.</a:t>
            </a:r>
          </a:p>
          <a:p>
            <a:r>
              <a:t>Используется в средних сетях и учебных лабораториях.</a:t>
            </a:r>
          </a:p>
          <a:p>
            <a:r>
              <a:t>Около миллиона адресов.</a:t>
            </a:r>
          </a:p>
          <a:p/>
          <a:p>
            <a:r>
              <a:t>Третий — сто девяносто два точка сто шестьдесят восемь до сто девяносто два точка</a:t>
            </a:r>
          </a:p>
          <a:p>
            <a:r>
              <a:t>сто шестьдесят восемь с маской дробь шестнадцать.</a:t>
            </a:r>
          </a:p>
          <a:p>
            <a:r>
              <a:t>Самый распространённый диапазон для домашних роутеров и малых офисов.</a:t>
            </a:r>
          </a:p>
          <a:p>
            <a:r>
              <a:t>Шестьдесят пять тысяч адресов.</a:t>
            </a:r>
          </a:p>
          <a:p/>
          <a:p>
            <a:r>
              <a:t>Есть также специальный диапазон для провайдерского Нат крупного масштаба.</a:t>
            </a:r>
          </a:p>
          <a:p>
            <a:r>
              <a:t>Он определён в Эр-Эф-Си шесть тысяч пятьсот девяносто восемь.</a:t>
            </a:r>
          </a:p>
          <a:p>
            <a:r>
              <a:t>Сто точка шестьдесят четыре точка ноль точка ноль до сто точка сто двадцать семь</a:t>
            </a:r>
          </a:p>
          <a:p>
            <a:r>
              <a:t>точка двести пятьдесят пять точка двести пятьдесят пять с маской дробь десять.</a:t>
            </a:r>
          </a:p>
          <a:p>
            <a:r>
              <a:t>Это так называемое Shared Address Space, общее адресное пространство.</a:t>
            </a:r>
          </a:p>
          <a:p>
            <a:r>
              <a:t>Оно не пересекается с обычными домашними сетями.</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такое Си-Джи-Нат и зачем он нужен?</a:t>
            </a:r>
          </a:p>
          <a:p/>
          <a:p>
            <a:r>
              <a:t>Си-Джи-Нат, или карриер-грейд Нат, или лардж-скейл Нат —</a:t>
            </a:r>
          </a:p>
          <a:p>
            <a:r>
              <a:t>это технология Нат операторского класса.</a:t>
            </a:r>
          </a:p>
          <a:p/>
          <a:p>
            <a:r>
              <a:t>Применяется интернет-провайдерами и мобильными операторами</a:t>
            </a:r>
          </a:p>
          <a:p>
            <a:r>
              <a:t>для экономии дефицитных публичных Ай-Пи-адресов на уровне всей сети связи.</a:t>
            </a:r>
          </a:p>
          <a:p/>
          <a:p>
            <a:r>
              <a:t>Основные задачи и функции.</a:t>
            </a:r>
          </a:p>
          <a:p/>
          <a:p>
            <a:r>
              <a:t>Первое. Двойное каскадирование, Нат за Нат.</a:t>
            </a:r>
          </a:p>
          <a:p>
            <a:r>
              <a:t>Когда у вас дома стоит роутер с адресом сто девяносто два точка сто шестьдесят восемь точка</a:t>
            </a:r>
          </a:p>
          <a:p>
            <a:r>
              <a:t>один точка один, его внешним интерфейсом становится не публичный Ай-Пи,</a:t>
            </a:r>
          </a:p>
          <a:p>
            <a:r>
              <a:t>а провайдерский серый адрес из пула сто точка шестьдесят четыре точка ноль точка ноль</a:t>
            </a:r>
          </a:p>
          <a:p>
            <a:r>
              <a:t>дробь десять.</a:t>
            </a:r>
          </a:p>
          <a:p>
            <a:r>
              <a:t>Затем оборудование провайдера транслирует этот адрес ещё раз — уже в реальный белый Ай-Пи</a:t>
            </a:r>
          </a:p>
          <a:p>
            <a:r>
              <a:t>для выхода в глобальную сеть.</a:t>
            </a:r>
          </a:p>
          <a:p/>
          <a:p>
            <a:r>
              <a:t>Второе. Изоляция трафика.</a:t>
            </a:r>
          </a:p>
          <a:p>
            <a:r>
              <a:t>Разделение пула сто точка шестьдесят четыре точка ноль точка ноль дробь десять</a:t>
            </a:r>
          </a:p>
          <a:p>
            <a:r>
              <a:t>исключает конфликты адресации.</a:t>
            </a:r>
          </a:p>
          <a:p>
            <a:r>
              <a:t>Если бы провайдер выдавал клиентам стандартные адреса сто девяносто два точка сто шестьдесят</a:t>
            </a:r>
          </a:p>
          <a:p>
            <a:r>
              <a:t>восемь точка икс или десять точка икс, у пользователей перестали бы открываться</a:t>
            </a:r>
          </a:p>
          <a:p>
            <a:r>
              <a:t>их собственные домашние сетевые устройства.</a:t>
            </a:r>
          </a:p>
          <a:p/>
          <a:p>
            <a:r>
              <a:t>Третье. Масштабирование мобильных сетей.</a:t>
            </a:r>
          </a:p>
          <a:p>
            <a:r>
              <a:t>Без Си-Джи-Нат было бы физически невозможно подключить к интернету миллиарды смартфонов.</a:t>
            </a:r>
          </a:p>
          <a:p>
            <a:r>
              <a:t>Ёмкости версии четыре для этого не существует.</a:t>
            </a:r>
          </a:p>
          <a:p>
            <a:r>
              <a:t>Один публичный Ай-Пи-адрес оператора связи через Си-Джи-Нат</a:t>
            </a:r>
          </a:p>
          <a:p>
            <a:r>
              <a:t>могут одновременно делить тысячи абонентов.</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схеме показан пример работы Си-Джи-Нат.</a:t>
            </a:r>
          </a:p>
          <a:p/>
          <a:p>
            <a:r>
              <a:t>Три клиента, каждый со своей домашней сетью.</a:t>
            </a:r>
          </a:p>
          <a:p/>
          <a:p>
            <a:r>
              <a:t>Клиент первый: сто девяносто два точка сто шестьдесят восемь точка ноль точка один.</a:t>
            </a:r>
          </a:p>
          <a:p>
            <a:r>
              <a:t>Клиент второй: сто девяносто два точка сто шестьдесят восемь точка ноль точка два.</a:t>
            </a:r>
          </a:p>
          <a:p>
            <a:r>
              <a:t>Клиент третий: сто девяносто два точка сто шестьдесят восемь точка ноль точка три.</a:t>
            </a:r>
          </a:p>
          <a:p/>
          <a:p>
            <a:r>
              <a:t>Каждый из них за своим домашним маршрутизатором, Си-Пи-И.</a:t>
            </a:r>
          </a:p>
          <a:p/>
          <a:p>
            <a:r>
              <a:t>Домашний маршрутизатор клиента первого имеет внешний адрес сто точка шестьдесят четыре</a:t>
            </a:r>
          </a:p>
          <a:p>
            <a:r>
              <a:t>точка ноль точка один.</a:t>
            </a:r>
          </a:p>
          <a:p>
            <a:r>
              <a:t>Клиент второй: сто точка шестьдесят четыре точка ноль точка два.</a:t>
            </a:r>
          </a:p>
          <a:p>
            <a:r>
              <a:t>Клиент третий: сто точка шестьдесят четыре точка ноль точка три.</a:t>
            </a:r>
          </a:p>
          <a:p/>
          <a:p>
            <a:r>
              <a:t>Все три адреса из диапазона Си-Джи-Нат.</a:t>
            </a:r>
          </a:p>
          <a:p/>
          <a:p>
            <a:r>
              <a:t>Дальше стоит маршрутизатор провайдера, выполняющий Си-Джи-Нат.</a:t>
            </a:r>
          </a:p>
          <a:p>
            <a:r>
              <a:t>Он транслирует все три адреса в один публичный Ай-Пи — двести три точка сто тринадцать</a:t>
            </a:r>
          </a:p>
          <a:p>
            <a:r>
              <a:t>точка сто десять.</a:t>
            </a:r>
          </a:p>
          <a:p/>
          <a:p>
            <a:r>
              <a:t>И уже этот адрес выходит в интернет.</a:t>
            </a:r>
          </a:p>
          <a:p/>
          <a:p>
            <a:r>
              <a:t>Таким образом, три клиента одновременно используют один публичный адрес.</a:t>
            </a:r>
          </a:p>
          <a:p>
            <a:r>
              <a:t>Разделение происходит по портам Ти-Си-Пи и Ю-Ди-Пи.</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поговорим о классификации Нат.</a:t>
            </a:r>
          </a:p>
          <a:p>
            <a:r>
              <a:t>Есть четыре основных типа.</a:t>
            </a:r>
          </a:p>
          <a:p/>
          <a:p>
            <a:r>
              <a:t>Первый — симметричный Нат, symmetric Нат.</a:t>
            </a:r>
          </a:p>
          <a:p>
            <a:r>
              <a:t>Трансляция, при которой каждое соединение, инициируемое парой внутренний адрес и внутренний</a:t>
            </a:r>
          </a:p>
          <a:p>
            <a:r>
              <a:t>порт, преобразуется в свободную уникальную случайно выбранную пару публичный адрес</a:t>
            </a:r>
          </a:p>
          <a:p>
            <a:r>
              <a:t>и публичный порт.</a:t>
            </a:r>
          </a:p>
          <a:p>
            <a:r>
              <a:t>При этом инициация соединения из публичной сети невозможна.</a:t>
            </a:r>
          </a:p>
          <a:p>
            <a:r>
              <a:t>Не пропускает несовпадающие по адресам и портам отправителя.</a:t>
            </a:r>
          </a:p>
          <a:p>
            <a:r>
              <a:t>Ориентируется только на адрес и порт получателя.</a:t>
            </a:r>
          </a:p>
          <a:p/>
          <a:p>
            <a:r>
              <a:t>Второй — фулл коун Нат.</a:t>
            </a:r>
          </a:p>
          <a:p>
            <a:r>
              <a:t>Однозначная взаимная трансляция между парами внутренний адрес и публичный адрес.</a:t>
            </a:r>
          </a:p>
          <a:p>
            <a:r>
              <a:t>Любой внешний хост может инициировать соединение с внутренним хостом,</a:t>
            </a:r>
          </a:p>
          <a:p>
            <a:r>
              <a:t>если это разрешено в правилах межсетевого экрана.</a:t>
            </a:r>
          </a:p>
          <a:p>
            <a:r>
              <a:t>Например, любой внешний адрес и порт отправителя пройдёт во внутреннюю сеть,</a:t>
            </a:r>
          </a:p>
          <a:p>
            <a:r>
              <a:t>если адрес назначения совпал с хранимой в таблице Нат информацией.</a:t>
            </a:r>
          </a:p>
          <a:p/>
          <a:p>
            <a:r>
              <a:t>Третий — аддресс-рестриктед коун Нат.</a:t>
            </a:r>
          </a:p>
          <a:p>
            <a:r>
              <a:t>Постоянная трансляция между парой внутренний адрес и публичный адрес.</a:t>
            </a:r>
          </a:p>
          <a:p>
            <a:r>
              <a:t>Любое соединение, инициированное с внутреннего адреса, позволяет в дальнейшем</a:t>
            </a:r>
          </a:p>
          <a:p>
            <a:r>
              <a:t>получать ему пакеты с любого порта того публичного хоста, к которому он отправлял пакеты ранее.</a:t>
            </a:r>
          </a:p>
          <a:p/>
          <a:p>
            <a:r>
              <a:t>Четвёртый — порт-рестриктед коун Нат.</a:t>
            </a:r>
          </a:p>
          <a:p>
            <a:r>
              <a:t>Трансляция, при которой входящие пакеты проходят на внутренний хост только с одного порта</a:t>
            </a:r>
          </a:p>
          <a:p>
            <a:r>
              <a:t>публичного хоста — того, на который внутренний хост уже посылал пакет.</a:t>
            </a:r>
          </a:p>
          <a:p/>
          <a:p>
            <a:r>
              <a:t>Разница между ними станет понятна на примере работы протокола Эс-Ти-Ю-Эн.</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Давайте посмотрим на конкретный пример работы Нат.</a:t>
            </a:r>
          </a:p>
          <a:p/>
          <a:p>
            <a:r>
              <a:t>Компьютер с адресом сто девяносто два точка сто шестьдесят восемь точка ноль точка</a:t>
            </a:r>
          </a:p>
          <a:p>
            <a:r>
              <a:t>сто сорок один отправляет Ди-Эн-Эс-запрос на внешний хост один точка два точка три точка</a:t>
            </a:r>
          </a:p>
          <a:p>
            <a:r>
              <a:t>четыре, порт пятьдесят три, протокол Ю-Ди-Пи.</a:t>
            </a:r>
          </a:p>
          <a:p/>
          <a:p>
            <a:r>
              <a:t>Из конфигурации видно, что внешний адрес нашего маршрутизатора — одиннадцать точка двадцать</a:t>
            </a:r>
          </a:p>
          <a:p>
            <a:r>
              <a:t>два точка тридцать три точка сорок четыре.</a:t>
            </a:r>
          </a:p>
          <a:p/>
          <a:p>
            <a:r>
              <a:t>В результате этого в таблице Нат появится примерно такая запись.</a:t>
            </a:r>
          </a:p>
          <a:p/>
          <a:p>
            <a:r>
              <a:t>Протокол: Ю-Ди-Пи.</a:t>
            </a:r>
          </a:p>
          <a:p>
            <a:r>
              <a:t>Внутренний глобальный: одиннадцать точка двадцать два точка тридцать три точка сорок четыре</a:t>
            </a:r>
          </a:p>
          <a:p>
            <a:r>
              <a:t>двоеточие тысяча пятьдесят три.</a:t>
            </a:r>
          </a:p>
          <a:p>
            <a:r>
              <a:t>Внутренний локальный: сто девяносто два точка сто шестьдесят восемь точка ноль точка</a:t>
            </a:r>
          </a:p>
          <a:p>
            <a:r>
              <a:t>сто сорок один двоеточие тысяча пятьдесят три.</a:t>
            </a:r>
          </a:p>
          <a:p>
            <a:r>
              <a:t>Внешний локальный: один точка два точка три точка четыре двоеточие пятьдесят три.</a:t>
            </a:r>
          </a:p>
          <a:p>
            <a:r>
              <a:t>Внешний глобальный: один точка два точка три точка четыре двоеточие пятьдесят три.</a:t>
            </a:r>
          </a:p>
          <a:p/>
          <a:p>
            <a:r>
              <a:t>Что это значит?</a:t>
            </a:r>
          </a:p>
          <a:p>
            <a:r>
              <a:t>Маршрутизатор заменил внутренний адрес на свой внешний, сохранив порт.</a:t>
            </a:r>
          </a:p>
          <a:p>
            <a:r>
              <a:t>И запомнил, что ответ нужно вернуть на сто девяносто два точка сто шестьдесят восемь</a:t>
            </a:r>
          </a:p>
          <a:p>
            <a:r>
              <a:t>точка ноль точка сто сорок один.</a:t>
            </a:r>
          </a:p>
          <a:p/>
          <a:p>
            <a:r>
              <a:t>Когда придёт ответ от сервера, маршрутизатор посмотрит в таблицу и вернёт его</a:t>
            </a:r>
          </a:p>
          <a:p>
            <a:r>
              <a:t>на внутренний адрес.</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протокол Эс-Ти-Ю-Эн.</a:t>
            </a:r>
          </a:p>
          <a:p/>
          <a:p>
            <a:r>
              <a:t>Эс-Ти-Ю-Эн — это Session Traversal Utilities for Нат, утилиты прохождения сессий</a:t>
            </a:r>
          </a:p>
          <a:p>
            <a:r>
              <a:t>для Нат.</a:t>
            </a:r>
          </a:p>
          <a:p/>
          <a:p>
            <a:r>
              <a:t>Ранее расшифровывалось как Simple Traversal of Ю-Ди-Пи through Нат,</a:t>
            </a:r>
          </a:p>
          <a:p>
            <a:r>
              <a:t>простое прохождение Ю-Ди-Пи через серверы Нат.</a:t>
            </a:r>
          </a:p>
          <a:p/>
          <a:p>
            <a:r>
              <a:t>Зачем он нужен?</a:t>
            </a:r>
          </a:p>
          <a:p/>
          <a:p>
            <a:r>
              <a:t>Эс-Ти-Ю-Эн-сервер позволяет клиентам находить свой адрес общего доступа,</a:t>
            </a:r>
          </a:p>
          <a:p>
            <a:r>
              <a:t>тип Нат, за которым они находятся, и порт интернета,</a:t>
            </a:r>
          </a:p>
          <a:p>
            <a:r>
              <a:t>связываемый Нат с конкретным локальным портом.</a:t>
            </a:r>
          </a:p>
          <a:p/>
          <a:p>
            <a:r>
              <a:t>Эта информация используется для настройки связи Ю-Ди-Пи между клиентом и провайдером</a:t>
            </a:r>
          </a:p>
          <a:p>
            <a:r>
              <a:t>Войп и организации сеанса.</a:t>
            </a:r>
          </a:p>
          <a:p/>
          <a:p>
            <a:r>
              <a:t>Протокол Эс-Ти-Ю-Эн определяется стандартом Эр-Эф-Си три тысячи четыреста восемьдесят девять.</a:t>
            </a:r>
          </a:p>
          <a:p/>
          <a:p>
            <a:r>
              <a:t>Соединение с сервером Эс-Ти-Ю-Эн устанавливается через Ю-Ди-Пи-порт три тысячи четыреста</a:t>
            </a:r>
          </a:p>
          <a:p>
            <a:r>
              <a:t>семьдесят восемь.</a:t>
            </a:r>
          </a:p>
          <a:p>
            <a:r>
              <a:t>Однако сервер предлагает клиентам выполнить проверку также и альтернативного Ай-Пи</a:t>
            </a:r>
          </a:p>
          <a:p>
            <a:r>
              <a:t>и номера порта. У серверов Эс-Ти-Ю-Эн есть два Ай-Пи-адреса.</a:t>
            </a:r>
          </a:p>
          <a:p>
            <a:r>
              <a:t>В Эр-Эф-Си говорится, что выбор порта и Ай-Пи является произвольным.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Эс-Ти-Ю-Эн — это клиент-серверный протокол.</a:t>
            </a:r>
          </a:p>
          <a:p/>
          <a:p>
            <a:r>
              <a:t>Войп-клиент может включать в себя реализацию клиента Эс-Ти-Ю-Эн,</a:t>
            </a:r>
          </a:p>
          <a:p>
            <a:r>
              <a:t>который отправляет запрос серверу Эс-Ти-Ю-Эн.</a:t>
            </a:r>
          </a:p>
          <a:p/>
          <a:p>
            <a:r>
              <a:t>Затем сервер Эс-Ти-Ю-Эн отправляет клиенту обратно информацию о том,</a:t>
            </a:r>
          </a:p>
          <a:p>
            <a:r>
              <a:t>каков внешний адрес маршрутизатора Нат</a:t>
            </a:r>
          </a:p>
          <a:p>
            <a:r>
              <a:t>и какой порт открыт на Нат для приёма входящих запросов обратно во внутреннюю сеть.</a:t>
            </a:r>
          </a:p>
          <a:p/>
          <a:p>
            <a:r>
              <a:t>На схеме показан пример.</a:t>
            </a:r>
          </a:p>
          <a:p/>
          <a:p>
            <a:r>
              <a:t>Компьютер А с адресом сто девяносто два точка сто шестьдесят восемь точка один</a:t>
            </a:r>
          </a:p>
          <a:p>
            <a:r>
              <a:t>точка три. Он за шлюзом с адресом двести двенадцать точка сто двадцать восемь точка</a:t>
            </a:r>
          </a:p>
          <a:p>
            <a:r>
              <a:t>пятьдесят шесть точка сто двадцать пять.</a:t>
            </a:r>
          </a:p>
          <a:p/>
          <a:p>
            <a:r>
              <a:t>Шаг первый. Компьютер А отправляет запрос через шлюз.</a:t>
            </a:r>
          </a:p>
          <a:p/>
          <a:p>
            <a:r>
              <a:t>Шаг второй. Шлюз с адресом Нат пересылает запрос на сервер Эс-Ти-Ю-Эн</a:t>
            </a:r>
          </a:p>
          <a:p>
            <a:r>
              <a:t>с адресом шестьдесят четыре точка двадцать пять точка пятьдесят восемь точка шестьдесят</a:t>
            </a:r>
          </a:p>
          <a:p>
            <a:r>
              <a:t>пять.</a:t>
            </a:r>
          </a:p>
          <a:p/>
          <a:p>
            <a:r>
              <a:t>Шаг третий. Сервер отвечает, сообщая клиенту, какой внешний адрес он видит.</a:t>
            </a:r>
          </a:p>
          <a:p/>
          <a:p>
            <a:r>
              <a:t>Компьютер А теперь знает, что в интернете он выглядит как адрес шлюза</a:t>
            </a:r>
          </a:p>
          <a:p>
            <a:r>
              <a:t>двести двенадцать точка сто двадцать восемь точка пятьдесят шесть точка сто двадцать</a:t>
            </a:r>
          </a:p>
          <a:p>
            <a:r>
              <a:t>пять.</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Ответ сервера Эс-Ти-Ю-Эн позволяет клиенту определить, какой тип трансляции адреса</a:t>
            </a:r>
          </a:p>
          <a:p>
            <a:r>
              <a:t>используется.</a:t>
            </a:r>
          </a:p>
          <a:p>
            <a:r>
              <a:t>Разные типы маршрутизаторов Нат обрабатывают входящие Ю-Ди-Пи-пакеты по-разному.</a:t>
            </a:r>
          </a:p>
          <a:p/>
          <a:p>
            <a:r>
              <a:t>Эс-Ти-Ю-Эн работает с тремя из четырёх основных типов.</a:t>
            </a:r>
          </a:p>
          <a:p/>
          <a:p>
            <a:r>
              <a:t>Фулл коун Нат.</a:t>
            </a:r>
          </a:p>
          <a:p>
            <a:r>
              <a:t>Аддресс рестриктед Нат.</a:t>
            </a:r>
          </a:p>
          <a:p>
            <a:r>
              <a:t>Порт рестриктед Нат.</a:t>
            </a:r>
          </a:p>
          <a:p/>
          <a:p>
            <a:r>
              <a:t>И не работает с симметричным Нат.</a:t>
            </a:r>
          </a:p>
          <a:p/>
          <a:p>
            <a:r>
              <a:t>В случае ограничивающего Нат клиент должен отправить пакет на удалённый узел,</a:t>
            </a:r>
          </a:p>
          <a:p>
            <a:r>
              <a:t>прежде чем Нат начнёт пропускать пакеты от удалённого узла к клиенту.</a:t>
            </a:r>
          </a:p>
          <a:p/>
          <a:p>
            <a:r>
              <a:t>Эс-Ти-Ю-Эн не будет работать с симметричным Нат,</a:t>
            </a:r>
          </a:p>
          <a:p>
            <a:r>
              <a:t>который часто встречается в сетях больших компаний.</a:t>
            </a:r>
          </a:p>
          <a:p/>
          <a:p>
            <a:r>
              <a:t>При симметричном Нат Ай-Пи-адрес сервера Эс-Ти-Ю-Эн отличается от конечного адреса,</a:t>
            </a:r>
          </a:p>
          <a:p>
            <a:r>
              <a:t>и из-за этого адрес Нат, который видит сервер Эс-Ти-Ю-Эн,</a:t>
            </a:r>
          </a:p>
          <a:p>
            <a:r>
              <a:t>отличается от конечного адреса, который будет использоваться для отправки пакетов клиенту.</a:t>
            </a:r>
          </a:p>
          <a:p/>
          <a:p>
            <a:r>
              <a:t>Как только клиент обнаружил свой внешний адрес, он может передать его узлу,</a:t>
            </a:r>
          </a:p>
          <a:p>
            <a:r>
              <a:t>с которым проходит соединение.</a:t>
            </a:r>
          </a:p>
          <a:p/>
          <a:p>
            <a:r>
              <a:t>Если на пути встречаются трансляторы типа полный конус,</a:t>
            </a:r>
          </a:p>
          <a:p>
            <a:r>
              <a:t>любая из двух сторон может начать общение.</a:t>
            </a:r>
          </a:p>
          <a:p/>
          <a:p>
            <a:r>
              <a:t>Если же выполняется трансляция типа ограниченный конус или порт ограниченного конуса,</a:t>
            </a:r>
          </a:p>
          <a:p>
            <a:r>
              <a:t>обе стороны должны начать передачу данных совместно.</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разберём структуру Ай-Пи-пакета.</a:t>
            </a:r>
          </a:p>
          <a:p>
            <a:r>
              <a:t>Это то, что реально передаётся по сети.</a:t>
            </a:r>
          </a:p>
          <a:p/>
          <a:p>
            <a:r>
              <a:t>Заголовок Ай-Пи-пакета состоит из нескольких полей.</a:t>
            </a:r>
          </a:p>
          <a:p/>
          <a:p>
            <a:r>
              <a:t>ВЕРС, версия Ай-Пи. Четыре или шесть. В нашем случае — четыре, двоичное ноль ноль</a:t>
            </a:r>
          </a:p>
          <a:p>
            <a:r>
              <a:t>один ноль.</a:t>
            </a:r>
          </a:p>
          <a:p/>
          <a:p>
            <a:r>
              <a:t>Эйч-Эл-Эн-Джи, длина заголовка. Сколько слов по тридцать два бита занимает заголовок.</a:t>
            </a:r>
          </a:p>
          <a:p/>
          <a:p>
            <a:r>
              <a:t>ТОТАЛ ЛЕНГС, полная длина пакета. Заголовок плюс данные.</a:t>
            </a:r>
          </a:p>
          <a:p/>
          <a:p>
            <a:r>
              <a:t>Ай-Ди, идентификатор фрагмента. Нужен для сборки фрагментированных пакетов.</a:t>
            </a:r>
          </a:p>
          <a:p/>
          <a:p>
            <a:r>
              <a:t>Эф-Эл-Джи, флаги. Управляют фрагментацией.</a:t>
            </a:r>
          </a:p>
          <a:p/>
          <a:p>
            <a:r>
              <a:t>ФРАГМЕНТЕЙШН ОФФСЕТ, начало фрагмента. Показывает, какая часть исходного пакета</a:t>
            </a:r>
          </a:p>
          <a:p>
            <a:r>
              <a:t>находится в этом фрагменте.</a:t>
            </a:r>
          </a:p>
          <a:p/>
          <a:p>
            <a:r>
              <a:t>Ти-Ти-Эл, время жизни. Сколько маршрутизаторов может пройти пакет, прежде чем будет</a:t>
            </a:r>
          </a:p>
          <a:p>
            <a:r>
              <a:t>отброшен.</a:t>
            </a:r>
          </a:p>
          <a:p/>
          <a:p>
            <a:r>
              <a:t>НЕКСТ ПРОТОКОЛ, следующий протокол. Какой протокол внутри: Ти-Си-Пи, Ю-Ди-Пи,</a:t>
            </a:r>
          </a:p>
          <a:p>
            <a:r>
              <a:t>Ай-Си-Эм-Пи и так далее.</a:t>
            </a:r>
          </a:p>
          <a:p/>
          <a:p>
            <a:r>
              <a:t>Эйч-Э-Ди-Эр ЧЕКСАМ, контрольная сумма заголовка. Для проверки целостности заголовка.</a:t>
            </a:r>
          </a:p>
          <a:p/>
          <a:p>
            <a:r>
              <a:t>СОРС Ай-Пи АДДРЕСС, адрес отправителя.</a:t>
            </a:r>
          </a:p>
          <a:p/>
          <a:p>
            <a:r>
              <a:t>ДЕСТИНЕЙШН Ай-Пи АДРЕСС, адрес получателя.</a:t>
            </a:r>
          </a:p>
          <a:p/>
          <a:p>
            <a:r>
              <a:t>Ай-Пи ОПШНС, опции. Дополнительные параметры.</a:t>
            </a:r>
          </a:p>
          <a:p/>
          <a:p>
            <a:r>
              <a:t>ПАДДИНГ, заполнение. Выравнивание до границы тридцати двух бит.</a:t>
            </a:r>
          </a:p>
          <a:p/>
          <a:p>
            <a:r>
              <a:t>Двадцать байт — минимальный размер заголовка.</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подробнее поле Тип сервиса, SERVICE TYPE.</a:t>
            </a:r>
          </a:p>
          <a:p/>
          <a:p>
            <a:r>
              <a:t>Это поле используется для управления приоритетом, качеством сервиса.</a:t>
            </a:r>
          </a:p>
          <a:p/>
          <a:p>
            <a:r>
              <a:t>Состоит из трёх частей.</a:t>
            </a:r>
          </a:p>
          <a:p/>
          <a:p>
            <a:r>
              <a:t>ПРЭД, предшественник, приоритет.</a:t>
            </a:r>
          </a:p>
          <a:p>
            <a:r>
              <a:t>Три бита. Восемь значений:</a:t>
            </a:r>
          </a:p>
          <a:p>
            <a:r>
              <a:t>ноль ноль ноль — рутина,</a:t>
            </a:r>
          </a:p>
          <a:p>
            <a:r>
              <a:t>ноль ноль один — приоритет,</a:t>
            </a:r>
          </a:p>
          <a:p>
            <a:r>
              <a:t>ноль один ноль — срочно,</a:t>
            </a:r>
          </a:p>
          <a:p>
            <a:r>
              <a:t>ноль один один — вспышка,</a:t>
            </a:r>
          </a:p>
          <a:p>
            <a:r>
              <a:t>один ноль ноль — вспышка поверх,</a:t>
            </a:r>
          </a:p>
          <a:p>
            <a:r>
              <a:t>один ноль один — критично,</a:t>
            </a:r>
          </a:p>
          <a:p>
            <a:r>
              <a:t>один один ноль — управление межсетевого взаимодействия,</a:t>
            </a:r>
          </a:p>
          <a:p>
            <a:r>
              <a:t>один один один — управление сетью.</a:t>
            </a:r>
          </a:p>
          <a:p/>
          <a:p>
            <a:r>
              <a:t>ТОС, тип сервиса.</a:t>
            </a:r>
          </a:p>
          <a:p>
            <a:r>
              <a:t>Четыре бита.</a:t>
            </a:r>
          </a:p>
          <a:p>
            <a:r>
              <a:t>На обработке этих битов строятся современные механизмы управления качеством сервиса,</a:t>
            </a:r>
          </a:p>
          <a:p>
            <a:r>
              <a:t>Кью-О-Эс, для передачи голосового и видеотрафика.</a:t>
            </a:r>
          </a:p>
          <a:p/>
          <a:p>
            <a:r>
              <a:t>Возможные значения:</a:t>
            </a:r>
          </a:p>
          <a:p>
            <a:r>
              <a:t>один ноль ноль ноль — минимизировать задержку,</a:t>
            </a:r>
          </a:p>
          <a:p>
            <a:r>
              <a:t>ноль один ноль ноль — максимизировать пропускную способность,</a:t>
            </a:r>
          </a:p>
          <a:p>
            <a:r>
              <a:t>ноль ноль один ноль — максимизировать надёжность,</a:t>
            </a:r>
          </a:p>
          <a:p>
            <a:r>
              <a:t>ноль ноль ноль один — минимизировать денежные затраты,</a:t>
            </a:r>
          </a:p>
          <a:p>
            <a:r>
              <a:t>ноль ноль ноль ноль — обычный сервис.</a:t>
            </a:r>
          </a:p>
          <a:p/>
          <a:p>
            <a:r>
              <a:t>Эм-Би-Зет, зарезервировано для последующего использования. Один бит.</a:t>
            </a:r>
          </a:p>
          <a:p/>
          <a:p>
            <a:r>
              <a:t>На практике поле Тип сервиса используется не так часто, как задумывалось изначально.</a:t>
            </a:r>
          </a:p>
          <a:p>
            <a:r>
              <a:t>Современные сети работают по принципу best effort — лучшее из возможного,</a:t>
            </a:r>
          </a:p>
          <a:p>
            <a:r>
              <a:t>и приоритизация делается на других уровнях.</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важная тема — фрагментация.</a:t>
            </a:r>
          </a:p>
          <a:p/>
          <a:p>
            <a:r>
              <a:t>Что это такое?</a:t>
            </a:r>
          </a:p>
          <a:p/>
          <a:p>
            <a:r>
              <a:t>Физические сети могут иметь различные размеры кадров.</a:t>
            </a:r>
          </a:p>
          <a:p>
            <a:r>
              <a:t>Этот размер называется минимал трансфер юнит, Эм-Ти-Ю.</a:t>
            </a:r>
          </a:p>
          <a:p>
            <a:r>
              <a:t>Например, Эзернет — полторы тысячи байт.</a:t>
            </a:r>
          </a:p>
          <a:p>
            <a:r>
              <a:t>Другие технологии — другие размеры.</a:t>
            </a:r>
          </a:p>
          <a:p/>
          <a:p>
            <a:r>
              <a:t>Если на пути пакета встречается сеть с Эм-Ти-Ю меньше его размера — пакет фрагментируется.</a:t>
            </a:r>
          </a:p>
          <a:p/>
          <a:p>
            <a:r>
              <a:t>Фрагменты собирает в исходный пакет получатель, а не промежуточные маршрутизаторы.</a:t>
            </a:r>
          </a:p>
          <a:p/>
          <a:p>
            <a:r>
              <a:t>Управляют фрагментацией три поля.</a:t>
            </a:r>
          </a:p>
          <a:p/>
          <a:p>
            <a:r>
              <a:t>Первое. Ай-Ди, идентификатор.</a:t>
            </a:r>
          </a:p>
          <a:p>
            <a:r>
              <a:t>Уникальный идентификатор, единый для всех фрагментов серии.</a:t>
            </a:r>
          </a:p>
          <a:p>
            <a:r>
              <a:t>Все фрагменты одного пакета имеют одинаковый Ай-Ди.</a:t>
            </a:r>
          </a:p>
          <a:p/>
          <a:p>
            <a:r>
              <a:t>Второе. Эф-Эл-Джи, флаги.</a:t>
            </a:r>
          </a:p>
          <a:p>
            <a:r>
              <a:t>Три бита.</a:t>
            </a:r>
          </a:p>
          <a:p>
            <a:r>
              <a:t>Первый бит — резерв, всегда ноль.</a:t>
            </a:r>
          </a:p>
          <a:p>
            <a:r>
              <a:t>Второй бит — Ди-Эф, Do not Fragment, запрещает фрагментацию.</a:t>
            </a:r>
          </a:p>
          <a:p>
            <a:r>
              <a:t>Если этот бит установлен, а пакет слишком велик — пакет будет отброшен,</a:t>
            </a:r>
          </a:p>
          <a:p>
            <a:r>
              <a:t>а отправителю вернётся сообщение об ошибке.</a:t>
            </a:r>
          </a:p>
          <a:p>
            <a:r>
              <a:t>Третий бит — Эм-Эф, More Fragments.</a:t>
            </a:r>
          </a:p>
          <a:p>
            <a:r>
              <a:t>Ноль для нефрагментированного пакета или последнего фрагмента в серии.</a:t>
            </a:r>
          </a:p>
          <a:p>
            <a:r>
              <a:t>Единица в противном случае.</a:t>
            </a:r>
          </a:p>
          <a:p/>
          <a:p>
            <a:r>
              <a:t>Третье. Фрагментация оффсет.</a:t>
            </a:r>
          </a:p>
          <a:p>
            <a:r>
              <a:t>Показывает, по какому смещению в исходном пакете находится этот фрагмент.</a:t>
            </a:r>
          </a:p>
          <a:p/>
          <a:p>
            <a:r>
              <a:t>На схеме показан пример.</a:t>
            </a:r>
          </a:p>
          <a:p>
            <a:r>
              <a:t>Компьютер с Эм-Ти-Ю сто пятьдесят отправляет пакет.</a:t>
            </a:r>
          </a:p>
          <a:p>
            <a:r>
              <a:t>По пути встречается сеть с Эм-Ти-Ю пятьдесят один.</a:t>
            </a:r>
          </a:p>
          <a:p>
            <a:r>
              <a:t>Пакет фрагментируется.</a:t>
            </a:r>
          </a:p>
          <a:p>
            <a:r>
              <a:t>Дальше снова Эм-Ти-Ю сто пятьдесят, но фрагменты уже не собираются в исходный пакет.</a:t>
            </a:r>
          </a:p>
          <a:p>
            <a:r>
              <a:t>Они идут дальше, пока не дойдут до получателя, который их соберёт.</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Ещё одно важное поле — время жизни пакета, Ти-Ти-Эл.</a:t>
            </a:r>
          </a:p>
          <a:p/>
          <a:p>
            <a:r>
              <a:t>Зачем оно нужно?</a:t>
            </a:r>
          </a:p>
          <a:p/>
          <a:p>
            <a:r>
              <a:t>В силу ошибок маршрутизации или по другим причинам</a:t>
            </a:r>
          </a:p>
          <a:p>
            <a:r>
              <a:t>пакет может бесконечно циркулировать по некоторому пути в сети.</a:t>
            </a:r>
          </a:p>
          <a:p/>
          <a:p>
            <a:r>
              <a:t>Поскольку маршрутизатор обрабатывает Ай-Пи в дейтаграммном режиме,</a:t>
            </a:r>
          </a:p>
          <a:p>
            <a:r>
              <a:t>то есть забывает о всех переданных пакетах и не хранит предысторию,</a:t>
            </a:r>
          </a:p>
          <a:p>
            <a:r>
              <a:t>такие пакеты могут бродить по сети вечно.</a:t>
            </a:r>
          </a:p>
          <a:p/>
          <a:p>
            <a:r>
              <a:t>Представьте: два маршрутизатора ошибочно настроены так, что отправляют пакет друг другу.</a:t>
            </a:r>
          </a:p>
          <a:p>
            <a:r>
              <a:t>Пакет будет бесконечно скакать между ними, забивая канал.</a:t>
            </a:r>
          </a:p>
          <a:p/>
          <a:p>
            <a:r>
              <a:t>Чтобы устранить перегрузку сети такими пакетами, и введено поле Ти-Ти-Эл.</a:t>
            </a:r>
          </a:p>
          <a:p/>
          <a:p>
            <a:r>
              <a:t>Как это работает?</a:t>
            </a:r>
          </a:p>
          <a:p/>
          <a:p>
            <a:r>
              <a:t>Хост-отправитель устанавливает Ти-Ти-Эл в некоторое значение, отличное от нуля.</a:t>
            </a:r>
          </a:p>
          <a:p>
            <a:r>
              <a:t>Обычно шестьдесят четыре или сто двадцать восемь.</a:t>
            </a:r>
          </a:p>
          <a:p>
            <a:r>
              <a:t>Иногда двести пятьдесят пять.</a:t>
            </a:r>
          </a:p>
          <a:p/>
          <a:p>
            <a:r>
              <a:t>При каждой переретрансляции промежуточные маршрутизаторы уменьшают значение Ти-Ти-Эл</a:t>
            </a:r>
          </a:p>
          <a:p>
            <a:r>
              <a:t>на единицу.</a:t>
            </a:r>
          </a:p>
          <a:p/>
          <a:p>
            <a:r>
              <a:t>Когда поле Ти-Ти-Эл принимает значение ноль — пакет изымается из сети.</a:t>
            </a:r>
          </a:p>
          <a:p>
            <a:r>
              <a:t>Маршрутизатор отбрасывает его и отправляет отправителю сообщение об ошибке</a:t>
            </a:r>
          </a:p>
          <a:p>
            <a:r>
              <a:t>через Ай-Си-Эм-Пи.</a:t>
            </a:r>
          </a:p>
          <a:p/>
          <a:p>
            <a:r>
              <a:t>Таким образом, даже при ошибке маршрутизации пакет не будет циркулировать вечно.</a:t>
            </a:r>
          </a:p>
          <a:p>
            <a:r>
              <a:t>Он пройдёт не больше маршрутизаторов, чем было в Ти-Ти-Эл.</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 механизм Ай-Пи-инкапсуляции.</a:t>
            </a:r>
          </a:p>
          <a:p/>
          <a:p>
            <a:r>
              <a:t>Обратите внимание на множественность механизмов туннелирования трафика,</a:t>
            </a:r>
          </a:p>
          <a:p>
            <a:r>
              <a:t>заложенных в Ай-Пи.</a:t>
            </a:r>
          </a:p>
          <a:p/>
          <a:p>
            <a:r>
              <a:t>Ай-Пи может нести не только транспортные протоколы, Ти-Си-Пи и Ю-Ди-Пи,</a:t>
            </a:r>
          </a:p>
          <a:p>
            <a:r>
              <a:t>не только служебные, Ай-Си-Эм-Пи, Ай-Джи-Эм-Пи, Джи-Джи-Пи, И-Джи-Пи, О-Эс-Пи-Эф,</a:t>
            </a:r>
          </a:p>
          <a:p>
            <a:r>
              <a:t>не только протоколы сетевой защиты, Эй-Эйч и И-Эс-Пи.</a:t>
            </a:r>
          </a:p>
          <a:p>
            <a:r>
              <a:t>Ай-Пи может нести даже сам себя — Ай-Пи-Ай-Пи инкапсуляция.</a:t>
            </a:r>
          </a:p>
          <a:p>
            <a:r>
              <a:t>И может нести Ай-Пи-ви-шЕсть.</a:t>
            </a:r>
          </a:p>
          <a:p/>
          <a:p>
            <a:r>
              <a:t>Как это работает?</a:t>
            </a:r>
          </a:p>
          <a:p>
            <a:r>
              <a:t>В поле НЕКСТ ПРОТОКОЛ указывается номер вложенного протокола.</a:t>
            </a:r>
          </a:p>
          <a:p/>
          <a:p>
            <a:r>
              <a:t>Некоторые важные номера.</a:t>
            </a:r>
          </a:p>
          <a:p/>
          <a:p>
            <a:r>
              <a:t>Ноль — зарезервировано.</a:t>
            </a:r>
          </a:p>
          <a:p>
            <a:r>
              <a:t>Один — Ай-Си-Эм-Пи, протокол управляющих сообщений интернета.</a:t>
            </a:r>
          </a:p>
          <a:p>
            <a:r>
              <a:t>Два — Ай-Джи-Эм-Пи, протокол управления группами.</a:t>
            </a:r>
          </a:p>
          <a:p>
            <a:r>
              <a:t>Три — Джи-Джи-Пи, шлюзовой протокол.</a:t>
            </a:r>
          </a:p>
          <a:p>
            <a:r>
              <a:t>Четыре — Ай-Пи, инкапсуляция Ай-Пи в Ай-Пи.</a:t>
            </a:r>
          </a:p>
          <a:p>
            <a:r>
              <a:t>Пять — Стрим.</a:t>
            </a:r>
          </a:p>
          <a:p>
            <a:r>
              <a:t>Шесть — Ти-Си-Пи.</a:t>
            </a:r>
          </a:p>
          <a:p>
            <a:r>
              <a:t>Восемь — И-Джи-Пи, протокол внешнего шлюза.</a:t>
            </a:r>
          </a:p>
          <a:p>
            <a:r>
              <a:t>Девять — приватный протокол внутренней маршрутизации.</a:t>
            </a:r>
          </a:p>
          <a:p>
            <a:r>
              <a:t>Семнадцать — Ю-Ди-Пи.</a:t>
            </a:r>
          </a:p>
          <a:p>
            <a:r>
              <a:t>Сорок один — Ай-Пи версии шесть.</a:t>
            </a:r>
          </a:p>
          <a:p>
            <a:r>
              <a:t>Пятьдесят — И-Эс-Пи, инкапсулированный защищённый полезный груз.</a:t>
            </a:r>
          </a:p>
          <a:p>
            <a:r>
              <a:t>Пятьдесят один — Эй-Эйч, заголовок аутентификации.</a:t>
            </a:r>
          </a:p>
          <a:p>
            <a:r>
              <a:t>Восемьдесят девять — О-Эс-Пи-Эф, открытый протокол поиска кратчайшего пути.</a:t>
            </a:r>
          </a:p>
          <a:p/>
          <a:p>
            <a:r>
              <a:t>Именно эта гибкость позволяет строить туннели, ВПН,</a:t>
            </a:r>
          </a:p>
          <a:p>
            <a:r>
              <a:t>передавать трафик поверх любой инфраструктуры.</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 целостность Ай-Пи-пакетов.</a:t>
            </a:r>
          </a:p>
          <a:p/>
          <a:p>
            <a:r>
              <a:t>Важный и неожиданный факт.</a:t>
            </a:r>
          </a:p>
          <a:p/>
          <a:p>
            <a:r>
              <a:t>Ай-Пи, если не применяются специальные протоколы защиты информации Эй-Эйч и И-Эс-Пи,</a:t>
            </a:r>
          </a:p>
          <a:p>
            <a:r>
              <a:t>вообще не следит за целостностью Ай-Пи-пакетов.</a:t>
            </a:r>
          </a:p>
          <a:p/>
          <a:p>
            <a:r>
              <a:t>В этом есть резон.</a:t>
            </a:r>
          </a:p>
          <a:p/>
          <a:p>
            <a:r>
              <a:t>За целостностью данных следят протоколы канального и транспортного уровня.</a:t>
            </a:r>
          </a:p>
          <a:p>
            <a:r>
              <a:t>Ай-Пи ни к чему дублировать их функциональность.</a:t>
            </a:r>
          </a:p>
          <a:p>
            <a:r>
              <a:t>Более того, дублирование только замедляет работу.</a:t>
            </a:r>
          </a:p>
          <a:p/>
          <a:p>
            <a:r>
              <a:t>Единственная проверка, которую обеспечивает Ай-Пи —</a:t>
            </a:r>
          </a:p>
          <a:p>
            <a:r>
              <a:t>проверка целостности собственной служебной информации.</a:t>
            </a:r>
          </a:p>
          <a:p>
            <a:r>
              <a:t>Это контрольная сумма заголовка пакета, хедер чексам.</a:t>
            </a:r>
          </a:p>
          <a:p/>
          <a:p>
            <a:r>
              <a:t>Она проверяет, что сам заголовок не повреждён при передаче.</a:t>
            </a:r>
          </a:p>
          <a:p>
            <a:r>
              <a:t>Например, что Ай-Пи-адрес получателя не искажён.</a:t>
            </a:r>
          </a:p>
          <a:p>
            <a:r>
              <a:t>Если контрольная сумма не сходится, пакет отбрасывается.</a:t>
            </a:r>
          </a:p>
          <a:p/>
          <a:p>
            <a:r>
              <a:t>С данными внутри пакета Ай-Пи не работает.</a:t>
            </a:r>
          </a:p>
          <a:p>
            <a:r>
              <a:t>Это задача Ти-Си-Пи, который проверяет контрольную сумму всего сегмента.</a:t>
            </a:r>
          </a:p>
          <a:p>
            <a:r>
              <a:t>Или задача протоколов прикладного уровня, например проверка хешей в Эс-Эс-Эл.</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про отличия версии шесть от версии четыре.</a:t>
            </a:r>
          </a:p>
          <a:p>
            <a:r>
              <a:t>Это важно понимать, потому что версия шесть — это будущее, которое уже наступило.</a:t>
            </a:r>
          </a:p>
          <a:p/>
          <a:p>
            <a:r>
              <a:t>Первое. Устраняет дефицит адресов и необходимость использования Нат.</a:t>
            </a:r>
          </a:p>
          <a:p>
            <a:r>
              <a:t>В версии шесть адресов настолько много, что каждый атом на Земле может получить свой Ай-Пи.</a:t>
            </a:r>
          </a:p>
          <a:p>
            <a:r>
              <a:t>Нат становится не нужен, потому что всем хватает настоящих адресов.</a:t>
            </a:r>
          </a:p>
          <a:p/>
          <a:p>
            <a:r>
              <a:t>Второе. Количество полей заголовка сокращено вдвое и фиксировано.</a:t>
            </a:r>
          </a:p>
          <a:p>
            <a:r>
              <a:t>В версии четыре заголовок двадцать байт плюс переменная часть.</a:t>
            </a:r>
          </a:p>
          <a:p>
            <a:r>
              <a:t>В версии шесть заголовок фиксированный, сорок байт.</a:t>
            </a:r>
          </a:p>
          <a:p>
            <a:r>
              <a:t>Это ускоряет обработку.</a:t>
            </a:r>
          </a:p>
          <a:p/>
          <a:p>
            <a:r>
              <a:t>Третье. Полный отказ от широковещания, броадкаст.</a:t>
            </a:r>
          </a:p>
          <a:p>
            <a:r>
              <a:t>Управление трафиком реализовано через мультикаст и эникаст.</a:t>
            </a:r>
          </a:p>
          <a:p>
            <a:r>
              <a:t>Броадкаст засорял сети, особенно большие.</a:t>
            </a:r>
          </a:p>
          <a:p/>
          <a:p>
            <a:r>
              <a:t>Четвёртое. Поддержка Слак, автономное назначение адреса хостом.</a:t>
            </a:r>
          </a:p>
          <a:p>
            <a:r>
              <a:t>В дополнение к Ди-Эйч-Си-Пи версии шесть.</a:t>
            </a:r>
          </a:p>
          <a:p>
            <a:r>
              <a:t>Устройство может само сгенерировать себе адрес и проверить его уникальность.</a:t>
            </a:r>
          </a:p>
          <a:p/>
          <a:p>
            <a:r>
              <a:t>Пятое. Исключение фрагментации на транзитных узлах.</a:t>
            </a:r>
          </a:p>
          <a:p>
            <a:r>
              <a:t>Промежуточные маршрутизаторы никогда не фрагментируют пакеты.</a:t>
            </a:r>
          </a:p>
          <a:p>
            <a:r>
              <a:t>Определение допустимого размера Эм-Ти-Ю выполняется отправителем через Пи-Эм-Ти-Ю-Ди.</a:t>
            </a:r>
          </a:p>
          <a:p>
            <a:r>
              <a:t>Фрагментация происходит исключительно на источнике.</a:t>
            </a:r>
          </a:p>
          <a:p/>
          <a:p>
            <a:r>
              <a:t>Шестое. Удаление контрольной суммы, чексам.</a:t>
            </a:r>
          </a:p>
          <a:p>
            <a:r>
              <a:t>Верификация целостности перенесена на канальный и транспортный уровни.</a:t>
            </a:r>
          </a:p>
          <a:p>
            <a:r>
              <a:t>Исключён ресурсоёмкий пересчёт контрольной суммы при уменьшении поля Ти-Ти-Эл</a:t>
            </a:r>
          </a:p>
          <a:p>
            <a:r>
              <a:t>на каждом маршрутизаторе.</a:t>
            </a:r>
          </a:p>
          <a:p/>
          <a:p>
            <a:r>
              <a:t>Седьмое. Метка потока, flow label.</a:t>
            </a:r>
          </a:p>
          <a:p>
            <a:r>
              <a:t>Двадцать бит для идентификации пакетов одной сессии.</a:t>
            </a:r>
          </a:p>
          <a:p>
            <a:r>
              <a:t>Позволяет сохранять порядок доставки и приоритизировать трафик без глубокого анализа,</a:t>
            </a:r>
          </a:p>
          <a:p>
            <a:r>
              <a:t>Ди-Пи-Ай.</a:t>
            </a:r>
          </a:p>
          <a:p/>
          <a:p>
            <a:r>
              <a:t>Восьмое. Джамбограммы.</a:t>
            </a:r>
          </a:p>
          <a:p>
            <a:r>
              <a:t>Расширение заголовка для передачи пакетов размером до четырёх гигабайт</a:t>
            </a:r>
          </a:p>
          <a:p>
            <a:r>
              <a:t>в высокоскоростных магистральных сетях.</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Справка. Какие именно параметры может передать Ди-Эйч-Си-Пи.</a:t>
            </a:r>
          </a:p>
          <a:p/>
          <a:p>
            <a:r>
              <a:t>На уровне хоста:</a:t>
            </a:r>
          </a:p>
          <a:p>
            <a:r>
              <a:t>быть маршрутизатором — вкл или выкл,</a:t>
            </a:r>
          </a:p>
          <a:p>
            <a:r>
              <a:t>маршрутизация от нелокальных источников — вкл или выкл,</a:t>
            </a:r>
          </a:p>
          <a:p>
            <a:r>
              <a:t>фильтры политики для маршрутизации от нелокальных источников,</a:t>
            </a:r>
          </a:p>
          <a:p>
            <a:r>
              <a:t>максимальный размер сборки,</a:t>
            </a:r>
          </a:p>
          <a:p>
            <a:r>
              <a:t>Ти-Ти-Эл по умолчанию,</a:t>
            </a:r>
          </a:p>
          <a:p>
            <a:r>
              <a:t>таймаут старения Пи-Эм-Ти-Ю,</a:t>
            </a:r>
          </a:p>
          <a:p>
            <a:r>
              <a:t>таблица Плэто Эм-Ти-Ю.</a:t>
            </a:r>
          </a:p>
          <a:p/>
          <a:p>
            <a:r>
              <a:t>На уровне интерфейса:</a:t>
            </a:r>
          </a:p>
          <a:p>
            <a:r>
              <a:t>Ай-Пи-адрес,</a:t>
            </a:r>
          </a:p>
          <a:p>
            <a:r>
              <a:t>маска подсети,</a:t>
            </a:r>
          </a:p>
          <a:p>
            <a:r>
              <a:t>Эм-Ти-Ю,</a:t>
            </a:r>
          </a:p>
          <a:p>
            <a:r>
              <a:t>все подсети — Эм-Ти-Ю вкл или выкл,</a:t>
            </a:r>
          </a:p>
          <a:p>
            <a:r>
              <a:t>тип широковещательного адреса,</a:t>
            </a:r>
          </a:p>
          <a:p>
            <a:r>
              <a:t>обнаружение маски вкл или выкл,</a:t>
            </a:r>
          </a:p>
          <a:p>
            <a:r>
              <a:t>поставщик маски вкл или выкл,</a:t>
            </a:r>
          </a:p>
          <a:p>
            <a:r>
              <a:t>обнаружение маршрутизатора вкл или выкл,</a:t>
            </a:r>
          </a:p>
          <a:p>
            <a:r>
              <a:t>адрес запроса маршрутизатора,</a:t>
            </a:r>
          </a:p>
          <a:p>
            <a:r>
              <a:t>список маршрутизаторов по умолчанию с уровнем предпочтения,</a:t>
            </a:r>
          </a:p>
          <a:p>
            <a:r>
              <a:t>статические маршруты с указанием назначения, маски, типа сервиса, первого шага,</a:t>
            </a:r>
          </a:p>
          <a:p>
            <a:r>
              <a:t>игнорирования редиректов, Пи-Эм-Ти-Ю, обнаружения Пи-Эм-Ти-Ю.</a:t>
            </a:r>
          </a:p>
          <a:p/>
          <a:p>
            <a:r>
              <a:t>Параметры канального уровня:</a:t>
            </a:r>
          </a:p>
          <a:p>
            <a:r>
              <a:t>трейлеры вкл или выкл,</a:t>
            </a:r>
          </a:p>
          <a:p>
            <a:r>
              <a:t>таймаут кэша АРП,</a:t>
            </a:r>
          </a:p>
          <a:p>
            <a:r>
              <a:t>инкапсуляция Эзернет.</a:t>
            </a:r>
          </a:p>
          <a:p/>
          <a:p>
            <a:r>
              <a:t>Параметры протокола Ти-Си-Пи:</a:t>
            </a:r>
          </a:p>
          <a:p>
            <a:r>
              <a:t>Ти-Ти-Эл,</a:t>
            </a:r>
          </a:p>
          <a:p>
            <a:r>
              <a:t>интервал keep-alive,</a:t>
            </a:r>
          </a:p>
          <a:p>
            <a:r>
              <a:t>размер данных keep-alive.</a:t>
            </a:r>
          </a:p>
          <a:p/>
          <a:p>
            <a:r>
              <a:t>Видите, как много параметров. Именно поэтому Ди-Эйч-Си-Пи стал стандартом.</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Групповые адреса. Мультикастинг.</a:t>
            </a:r>
          </a:p>
          <a:p/>
          <a:p>
            <a:r>
              <a:t>Мультикастинг — это рассылка дейтаграмм группе получателей.</a:t>
            </a:r>
          </a:p>
          <a:p/>
          <a:p>
            <a:r>
              <a:t>Для идентификации групп используются специальные адреса получателя.</a:t>
            </a:r>
          </a:p>
          <a:p>
            <a:r>
              <a:t>Эти адреса назначаются из класса Ди в диапазоне от двести двадцать четыре точка ноль</a:t>
            </a:r>
          </a:p>
          <a:p>
            <a:r>
              <a:t>точка ноль точка ноль до двести тридцать девять точка двести пятьдесят пять точка</a:t>
            </a:r>
          </a:p>
          <a:p>
            <a:r>
              <a:t>двести пятьдесят пять точка двести пятьдесят пять.</a:t>
            </a:r>
          </a:p>
          <a:p/>
          <a:p>
            <a:r>
              <a:t>Некоторые важные групповые адреса.</a:t>
            </a:r>
          </a:p>
          <a:p/>
          <a:p>
            <a:r>
              <a:t>Двести двадцать четыре точка ноль точка ноль точка один — все узлы в данной сети.</a:t>
            </a:r>
          </a:p>
          <a:p>
            <a:r>
              <a:t>Это аналог широковещания, но для мультикаста.</a:t>
            </a:r>
          </a:p>
          <a:p/>
          <a:p>
            <a:r>
              <a:t>Двести двадцать четыре точка ноль точка ноль точка два — все маршрутизаторы в данной сети.</a:t>
            </a:r>
          </a:p>
          <a:p/>
          <a:p>
            <a:r>
              <a:t>Двести двадцать четыре точка ноль точка ноль точка пять — все О-Эс-Пи-Эф-маршрутизаторы.</a:t>
            </a:r>
          </a:p>
          <a:p/>
          <a:p>
            <a:r>
              <a:t>Двести двадцать четыре точка ноль точка ноль точка шесть — выделенные О-Эс-Пи-Эф-маршрутизаторы.</a:t>
            </a:r>
          </a:p>
          <a:p/>
          <a:p>
            <a:r>
              <a:t>Двести двадцать четыре точка ноль точка ноль точка девять — маршрутизаторы Рип версии два.</a:t>
            </a:r>
          </a:p>
          <a:p/>
          <a:p>
            <a:r>
              <a:t>Двести двадцать четыре точка ноль точка ноль точка десять — Ай-Джи-Ар-Пи-маршрутизаторы.</a:t>
            </a:r>
          </a:p>
          <a:p/>
          <a:p>
            <a:r>
              <a:t>Двести двадцать четыре точка ноль точка один точка один — получатели информации</a:t>
            </a:r>
          </a:p>
          <a:p>
            <a:r>
              <a:t>по протоколу точного времени Эн-Ти-Пи.</a:t>
            </a:r>
          </a:p>
          <a:p/>
          <a:p>
            <a:r>
              <a:t>Адреса вида двести тридцать девять точка икс точка икс точка икс зарезервированы</a:t>
            </a:r>
          </a:p>
          <a:p>
            <a:r>
              <a:t>для внутреннего использования в частных сетях.</a:t>
            </a:r>
          </a:p>
          <a:p/>
          <a:p>
            <a:r>
              <a:t>Это важно: мультикаст работает только внутри организации,</a:t>
            </a:r>
          </a:p>
          <a:p>
            <a:r>
              <a:t>если не настроены специальные протоколы для его передачи через интернет.</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нужно для организации Ай-Пи-сети с поддержкой мультикастинга.</a:t>
            </a:r>
          </a:p>
          <a:p>
            <a:r>
              <a:t>Определено в Эр-Эф-Си тысяча сто двенадцать.</a:t>
            </a:r>
          </a:p>
          <a:p/>
          <a:p>
            <a:r>
              <a:t>Первое. Поддержка мультикастинга в стеке Ти-Си-Пи и Ай-Пи расположенных в сети хостов.</a:t>
            </a:r>
          </a:p>
          <a:p>
            <a:r>
              <a:t>Это значит, что операционная система должна уметь работать с групповыми адресами.</a:t>
            </a:r>
          </a:p>
          <a:p/>
          <a:p>
            <a:r>
              <a:t>Второе. Поддержка групповой или широковещательной рассылки на уровне доступа к сети.</a:t>
            </a:r>
          </a:p>
          <a:p>
            <a:r>
              <a:t>Сетевое оборудование, коммутаторы и маршрутизаторы, должны уметь обрабатывать</a:t>
            </a:r>
          </a:p>
          <a:p>
            <a:r>
              <a:t>мультикаст-пакеты.</a:t>
            </a:r>
          </a:p>
          <a:p/>
          <a:p>
            <a:r>
              <a:t>Без этих двух условий мультикастинг работать не будет.</a:t>
            </a:r>
          </a:p>
          <a:p/>
          <a:p>
            <a:r>
              <a:t>Зачем нужен мультикастинг?</a:t>
            </a:r>
          </a:p>
          <a:p/>
          <a:p>
            <a:r>
              <a:t>Основные применения.</a:t>
            </a:r>
          </a:p>
          <a:p/>
          <a:p>
            <a:r>
              <a:t>Первое. Видеоконференции. Один поток — много получателей.</a:t>
            </a:r>
          </a:p>
          <a:p>
            <a:r>
              <a:t>Без мультикаста пришлось бы отправлять по копии каждому участнику.</a:t>
            </a:r>
          </a:p>
          <a:p/>
          <a:p>
            <a:r>
              <a:t>Второе. Потоковое видео. Интернет-телевидение, прямые трансляции.</a:t>
            </a:r>
          </a:p>
          <a:p/>
          <a:p>
            <a:r>
              <a:t>Третье. Обновление программного обеспечения.</a:t>
            </a:r>
          </a:p>
          <a:p>
            <a:r>
              <a:t>Один сервер рассылает обновление тысяче клиентов.</a:t>
            </a:r>
          </a:p>
          <a:p/>
          <a:p>
            <a:r>
              <a:t>Четвёртое. Служебные протоколы. Например, О-Эс-Пи-Эф использует мультикаст</a:t>
            </a:r>
          </a:p>
          <a:p>
            <a:r>
              <a:t>для обмена маршрутной информацией.</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групповые Ай-Пи-адреса отображаются на групповые МАК-адреса Эзернет.</a:t>
            </a:r>
          </a:p>
          <a:p/>
          <a:p>
            <a:r>
              <a:t>Это интересная тема, потому что здесь есть одна тонкость.</a:t>
            </a:r>
          </a:p>
          <a:p/>
          <a:p>
            <a:r>
              <a:t>Есть блок МАК-адресов, закреплённых за Ай-Эй-Эн-Эй.</a:t>
            </a:r>
          </a:p>
          <a:p>
            <a:r>
              <a:t>Он начинается с ноль ноль двоеточие ноль ноль двоеточие пять е.</a:t>
            </a:r>
          </a:p>
          <a:p>
            <a:r>
              <a:t>От ноль ноль двоеточие ноль ноль двоеточие пять е двоеточие ноль ноль двоеточие</a:t>
            </a:r>
          </a:p>
          <a:p>
            <a:r>
              <a:t>ноль ноль двоеточие ноль ноль до ноль ноль двоеточие ноль ноль двоеточие пять е</a:t>
            </a:r>
          </a:p>
          <a:p>
            <a:r>
              <a:t>двоеточие эф эф двоеточие эф эф двоеточие эф эф.</a:t>
            </a:r>
          </a:p>
          <a:p/>
          <a:p>
            <a:r>
              <a:t>Поскольку первый байт ноль один — признак группового МАК-адреса,</a:t>
            </a:r>
          </a:p>
          <a:p>
            <a:r>
              <a:t>имеем следующий диапазон для отображения групповых Ай-Пи-адресов:</a:t>
            </a:r>
          </a:p>
          <a:p>
            <a:r>
              <a:t>от ноль один двоеточие ноль ноль двоеточие пять е двоеточие ноль ноль двоеточие</a:t>
            </a:r>
          </a:p>
          <a:p>
            <a:r>
              <a:t>ноль ноль двоеточие ноль ноль до ноль один двоеточие ноль ноль двоеточие пять е</a:t>
            </a:r>
          </a:p>
          <a:p>
            <a:r>
              <a:t>двоеточие семь эф двоеточие эф эф двоеточие эф эф.</a:t>
            </a:r>
          </a:p>
          <a:p/>
          <a:p>
            <a:r>
              <a:t>Например, групповому Ай-Пи-адресу двести двадцать четыре точка двести пятьдесят пять</a:t>
            </a:r>
          </a:p>
          <a:p>
            <a:r>
              <a:t>точка ноль точка один на уровне Эзернет будет соответствовать МАК-адрес</a:t>
            </a:r>
          </a:p>
          <a:p>
            <a:r>
              <a:t>ноль один двоеточие ноль ноль двоеточие пять е двоеточие семь эф двоеточие ноль</a:t>
            </a:r>
          </a:p>
          <a:p>
            <a:r>
              <a:t>ноль двоеточие ноль один.</a:t>
            </a:r>
          </a:p>
          <a:p/>
          <a:p>
            <a:r>
              <a:t>Необходимо отметить, что это соответствие не является однозначным.</a:t>
            </a:r>
          </a:p>
          <a:p>
            <a:r>
              <a:t>В тот же МАК-адрес будут преобразованы Ай-Пи-адреса:</a:t>
            </a:r>
          </a:p>
          <a:p>
            <a:r>
              <a:t>двести двадцать пять точка двести пятьдесят пять точка ноль точка один</a:t>
            </a:r>
          </a:p>
          <a:p>
            <a:r>
              <a:t>и двести тридцать девять точка двести пятьдесят пять точка ноль точка один,</a:t>
            </a:r>
          </a:p>
          <a:p>
            <a:r>
              <a:t>двести двадцать пять точка сто двадцать семь точка ноль точка один</a:t>
            </a:r>
          </a:p>
          <a:p>
            <a:r>
              <a:t>и двести тридцать девять точка сто двадцать семь точка ноль точка один.</a:t>
            </a:r>
          </a:p>
          <a:p/>
          <a:p>
            <a:r>
              <a:t>Это значит, что двадцать восемь бит Ай-Пи-адреса отображаются в двадцать три бита</a:t>
            </a:r>
          </a:p>
          <a:p>
            <a:r>
              <a:t>МАК. Пять бит теряются.</a:t>
            </a:r>
          </a:p>
          <a:p/>
          <a:p>
            <a:r>
              <a:t>Например, двести двадцать четыре точка сто двадцать восемь точка шестьдесят четыре</a:t>
            </a:r>
          </a:p>
          <a:p>
            <a:r>
              <a:t>точка тридцать два и двести двадцать четыре точка ноль точка шестьдесят четыре</a:t>
            </a:r>
          </a:p>
          <a:p>
            <a:r>
              <a:t>точка тридцать два отображаются на один и тот же МАК-адрес</a:t>
            </a:r>
          </a:p>
          <a:p>
            <a:r>
              <a:t>ноль один двоеточие ноль ноль двоеточие пять е двоеточие ноль ноль двоеточие</a:t>
            </a:r>
          </a:p>
          <a:p>
            <a:r>
              <a:t>сорок двоеточие тридцать два.</a:t>
            </a:r>
          </a:p>
          <a:p/>
          <a:p>
            <a:r>
              <a:t>Из-за этой потери битов мультикаст работает только на локальном уровне.</a:t>
            </a:r>
          </a:p>
          <a:p>
            <a:r>
              <a:t>Маршрутизаторы должны знать, какие группы активны на каждом интерфейсе,</a:t>
            </a:r>
          </a:p>
          <a:p>
            <a:r>
              <a:t>и передавать трафик только туда, где есть получатели.</a:t>
            </a:r>
          </a:p>
          <a:p>
            <a:r>
              <a:t>Иначе мультикаст-трафик залил бы всю сеть.</a:t>
            </a:r>
          </a:p>
          <a:p/>
          <a:p>
            <a:r>
              <a:t>На этом мы заканчиваем лекцию про Ай-Пи-адресацию.</a:t>
            </a:r>
          </a:p>
          <a:p/>
          <a:p>
            <a:r>
              <a:t>Мы разобрали много тем. Структуру адресов. Классы. Си-Ай-Ди-Ар. Подсети.</a:t>
            </a:r>
          </a:p>
          <a:p>
            <a:r>
              <a:t>Нат и приватные адреса. Эс-Ти-Ю-Эн. Ай-Пи-пакет, фрагментацию, Ти-Ти-Эл.</a:t>
            </a:r>
          </a:p>
          <a:p>
            <a:r>
              <a:t>Протоколы АРП, РАРП, Бут-Пи, Ди-Эйч-Си-Пи. Мультикастинг.</a:t>
            </a:r>
          </a:p>
          <a:p/>
          <a:p>
            <a:r>
              <a:t>Эти знания — фундамент для понимания того, как работает интернет.</a:t>
            </a:r>
          </a:p>
          <a:p>
            <a:r>
              <a:t>В следующей лекции мы перейдём к маршрутизации, и вы увидите,</a:t>
            </a:r>
          </a:p>
          <a:p>
            <a:r>
              <a:t>как эти адреса используются для передачи пакетов между сетями.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A02ACE7A-138A-480B-967C-833B48D49C03}" type="slidenum">
              <a:rPr lang="ru-RU"/>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18E9A923-BEB2-4208-9109-4435B52E65AA}" type="slidenum">
              <a:rPr lang="ru-RU"/>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0EACDB93-3939-4CDF-95F1-3D199F220811}" type="slidenum">
              <a:rPr lang="ru-RU"/>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CC350A23-0D41-4CA4-8A0B-F2ECAC84F23E}" type="slidenum">
              <a:rPr lang="ru-RU"/>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lvl1pPr>
              <a:defRPr/>
            </a:lvl1pPr>
          </a:lstStyle>
          <a:p>
            <a:endParaRPr lang="ru-RU"/>
          </a:p>
        </p:txBody>
      </p:sp>
      <p:sp>
        <p:nvSpPr>
          <p:cNvPr id="8" name="Нижний колонтитул 7"/>
          <p:cNvSpPr>
            <a:spLocks noGrp="1"/>
          </p:cNvSpPr>
          <p:nvPr>
            <p:ph type="ftr" sz="quarter" idx="11"/>
          </p:nvPr>
        </p:nvSpPr>
        <p:spPr/>
        <p:txBody>
          <a:bodyPr/>
          <a:lstStyle>
            <a:lvl1pPr>
              <a:defRPr/>
            </a:lvl1pPr>
          </a:lstStyle>
          <a:p>
            <a:endParaRPr lang="ru-RU"/>
          </a:p>
        </p:txBody>
      </p:sp>
      <p:sp>
        <p:nvSpPr>
          <p:cNvPr id="9" name="Номер слайда 8"/>
          <p:cNvSpPr>
            <a:spLocks noGrp="1"/>
          </p:cNvSpPr>
          <p:nvPr>
            <p:ph type="sldNum" sz="quarter" idx="12"/>
          </p:nvPr>
        </p:nvSpPr>
        <p:spPr/>
        <p:txBody>
          <a:bodyPr/>
          <a:lstStyle>
            <a:lvl1pPr>
              <a:defRPr/>
            </a:lvl1pPr>
          </a:lstStyle>
          <a:p>
            <a:fld id="{F5C774E5-1373-4F0A-8F76-7ED85FDC2655}" type="slidenum">
              <a:rPr lang="ru-RU"/>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lvl1pPr>
              <a:defRPr/>
            </a:lvl1pPr>
          </a:lstStyle>
          <a:p>
            <a:endParaRPr lang="ru-RU"/>
          </a:p>
        </p:txBody>
      </p:sp>
      <p:sp>
        <p:nvSpPr>
          <p:cNvPr id="4" name="Нижний колонтитул 3"/>
          <p:cNvSpPr>
            <a:spLocks noGrp="1"/>
          </p:cNvSpPr>
          <p:nvPr>
            <p:ph type="ftr" sz="quarter" idx="11"/>
          </p:nvPr>
        </p:nvSpPr>
        <p:spPr/>
        <p:txBody>
          <a:bodyPr/>
          <a:lstStyle>
            <a:lvl1pPr>
              <a:defRPr/>
            </a:lvl1pPr>
          </a:lstStyle>
          <a:p>
            <a:endParaRPr lang="ru-RU"/>
          </a:p>
        </p:txBody>
      </p:sp>
      <p:sp>
        <p:nvSpPr>
          <p:cNvPr id="5" name="Номер слайда 4"/>
          <p:cNvSpPr>
            <a:spLocks noGrp="1"/>
          </p:cNvSpPr>
          <p:nvPr>
            <p:ph type="sldNum" sz="quarter" idx="12"/>
          </p:nvPr>
        </p:nvSpPr>
        <p:spPr/>
        <p:txBody>
          <a:bodyPr/>
          <a:lstStyle>
            <a:lvl1pPr>
              <a:defRPr/>
            </a:lvl1pPr>
          </a:lstStyle>
          <a:p>
            <a:fld id="{4F765A24-5041-4DCA-BB18-8B3048C485A8}" type="slidenum">
              <a:rPr lang="ru-RU"/>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lvl1pPr>
              <a:defRPr/>
            </a:lvl1pPr>
          </a:lstStyle>
          <a:p>
            <a:endParaRPr lang="ru-RU"/>
          </a:p>
        </p:txBody>
      </p:sp>
      <p:sp>
        <p:nvSpPr>
          <p:cNvPr id="3" name="Нижний колонтитул 2"/>
          <p:cNvSpPr>
            <a:spLocks noGrp="1"/>
          </p:cNvSpPr>
          <p:nvPr>
            <p:ph type="ftr" sz="quarter" idx="11"/>
          </p:nvPr>
        </p:nvSpPr>
        <p:spPr/>
        <p:txBody>
          <a:bodyPr/>
          <a:lstStyle>
            <a:lvl1pPr>
              <a:defRPr/>
            </a:lvl1pPr>
          </a:lstStyle>
          <a:p>
            <a:endParaRPr lang="ru-RU"/>
          </a:p>
        </p:txBody>
      </p:sp>
      <p:sp>
        <p:nvSpPr>
          <p:cNvPr id="4" name="Номер слайда 3"/>
          <p:cNvSpPr>
            <a:spLocks noGrp="1"/>
          </p:cNvSpPr>
          <p:nvPr>
            <p:ph type="sldNum" sz="quarter" idx="12"/>
          </p:nvPr>
        </p:nvSpPr>
        <p:spPr/>
        <p:txBody>
          <a:bodyPr/>
          <a:lstStyle>
            <a:lvl1pPr>
              <a:defRPr/>
            </a:lvl1pPr>
          </a:lstStyle>
          <a:p>
            <a:fld id="{1779E0AD-724E-48CE-81E6-20C965CCA9BB}" type="slidenum">
              <a:rPr lang="ru-RU"/>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EEFC4FD6-7D82-45CE-98E8-D2BB3F361F13}" type="slidenum">
              <a:rPr lang="ru-RU"/>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B3EFAF77-6BF6-4275-8E26-A5D2573E6D15}" type="slidenum">
              <a:rPr lang="ru-RU"/>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01A6CE40-3293-4164-B493-9EDE8B89C5BE}" type="slidenum">
              <a:rPr lang="ru-RU"/>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450454F6-0A72-467B-9EA8-FF56DAF3BFFD}" type="slidenum">
              <a:rPr lang="ru-RU"/>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919C2B2A-52A5-4E03-A126-9DC652150B4B}" type="slidenum">
              <a:rPr lang="ru-RU"/>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5.xml"/><Relationship Id="rId4" Type="http://schemas.microsoft.com/office/2007/relationships/media" Target="../media/media8.mp3"/><Relationship Id="rId5" Type="http://schemas.openxmlformats.org/officeDocument/2006/relationships/video" Target="../media/media8.mp3"/><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microsoft.com/office/2007/relationships/media" Target="../media/media22.mp3"/><Relationship Id="rId4" Type="http://schemas.openxmlformats.org/officeDocument/2006/relationships/video" Target="../media/media22.mp3"/><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microsoft.com/office/2007/relationships/media" Target="../media/media23.mp3"/><Relationship Id="rId4" Type="http://schemas.openxmlformats.org/officeDocument/2006/relationships/video" Target="../media/media23.mp3"/><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microsoft.com/office/2007/relationships/media" Target="../media/media24.mp3"/><Relationship Id="rId4" Type="http://schemas.openxmlformats.org/officeDocument/2006/relationships/video" Target="../media/media24.mp3"/><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microsoft.com/office/2007/relationships/media" Target="../media/media25.mp3"/><Relationship Id="rId4" Type="http://schemas.openxmlformats.org/officeDocument/2006/relationships/video" Target="../media/media25.mp3"/><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microsoft.com/office/2007/relationships/media" Target="../media/media26.mp3"/><Relationship Id="rId4" Type="http://schemas.openxmlformats.org/officeDocument/2006/relationships/video" Target="../media/media26.mp3"/><Relationship Id="rId5"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microsoft.com/office/2007/relationships/media" Target="../media/media27.mp3"/><Relationship Id="rId4" Type="http://schemas.openxmlformats.org/officeDocument/2006/relationships/video" Target="../media/media27.mp3"/><Relationship Id="rId5"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microsoft.com/office/2007/relationships/media" Target="../media/media28.mp3"/><Relationship Id="rId4" Type="http://schemas.openxmlformats.org/officeDocument/2006/relationships/video" Target="../media/media28.mp3"/><Relationship Id="rId5"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 Id="rId4" Type="http://schemas.microsoft.com/office/2007/relationships/media" Target="../media/media29.mp3"/><Relationship Id="rId5" Type="http://schemas.openxmlformats.org/officeDocument/2006/relationships/video" Target="../media/media29.mp3"/><Relationship Id="rId6"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microsoft.com/office/2007/relationships/media" Target="../media/media30.mp3"/><Relationship Id="rId4" Type="http://schemas.openxmlformats.org/officeDocument/2006/relationships/video" Target="../media/media30.mp3"/><Relationship Id="rId5"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6.xml"/><Relationship Id="rId4" Type="http://schemas.microsoft.com/office/2007/relationships/media" Target="../media/media31.mp3"/><Relationship Id="rId5" Type="http://schemas.openxmlformats.org/officeDocument/2006/relationships/video" Target="../media/media31.mp3"/><Relationship Id="rId6"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microsoft.com/office/2007/relationships/media" Target="../media/media32.mp3"/><Relationship Id="rId4" Type="http://schemas.openxmlformats.org/officeDocument/2006/relationships/video" Target="../media/media32.mp3"/><Relationship Id="rId5"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38.xml"/><Relationship Id="rId4" Type="http://schemas.microsoft.com/office/2007/relationships/media" Target="../media/media33.mp3"/><Relationship Id="rId5" Type="http://schemas.openxmlformats.org/officeDocument/2006/relationships/video" Target="../media/media33.mp3"/><Relationship Id="rId6"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microsoft.com/office/2007/relationships/media" Target="../media/media34.mp3"/><Relationship Id="rId4" Type="http://schemas.openxmlformats.org/officeDocument/2006/relationships/video" Target="../media/media34.mp3"/><Relationship Id="rId5"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07/relationships/media" Target="../media/media35.mp3"/><Relationship Id="rId4" Type="http://schemas.openxmlformats.org/officeDocument/2006/relationships/video" Target="../media/media35.mp3"/><Relationship Id="rId5"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oleObject1.bin"/><Relationship Id="rId4" Type="http://schemas.openxmlformats.org/officeDocument/2006/relationships/notesSlide" Target="../notesSlides/notesSlide40.xml"/><Relationship Id="rId5" Type="http://schemas.microsoft.com/office/2007/relationships/media" Target="../media/media36.mp3"/><Relationship Id="rId6" Type="http://schemas.openxmlformats.org/officeDocument/2006/relationships/video" Target="../media/media36.mp3"/><Relationship Id="rId7"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2.xml"/><Relationship Id="rId3" Type="http://schemas.openxmlformats.org/officeDocument/2006/relationships/oleObject" Target="../embeddings/oleObject2.bin"/><Relationship Id="rId4" Type="http://schemas.openxmlformats.org/officeDocument/2006/relationships/oleObject" Target="../embeddings/oleObject3.bin"/><Relationship Id="rId5" Type="http://schemas.openxmlformats.org/officeDocument/2006/relationships/image" Target="../media/image8.png"/><Relationship Id="rId6" Type="http://schemas.openxmlformats.org/officeDocument/2006/relationships/notesSlide" Target="../notesSlides/notesSlide41.xml"/><Relationship Id="rId7" Type="http://schemas.microsoft.com/office/2007/relationships/media" Target="../media/media37.mp3"/><Relationship Id="rId8" Type="http://schemas.openxmlformats.org/officeDocument/2006/relationships/video" Target="../media/media37.mp3"/><Relationship Id="rId9"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oleObject" Target="../embeddings/oleObject4.bin"/><Relationship Id="rId4" Type="http://schemas.openxmlformats.org/officeDocument/2006/relationships/oleObject" Target="../embeddings/oleObject5.bin"/><Relationship Id="rId5" Type="http://schemas.openxmlformats.org/officeDocument/2006/relationships/notesSlide" Target="../notesSlides/notesSlide42.xml"/><Relationship Id="rId6" Type="http://schemas.microsoft.com/office/2007/relationships/media" Target="../media/media38.mp3"/><Relationship Id="rId7" Type="http://schemas.openxmlformats.org/officeDocument/2006/relationships/video" Target="../media/media38.mp3"/><Relationship Id="rId8"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oleObject" Target="../embeddings/oleObject6.bin"/><Relationship Id="rId4" Type="http://schemas.openxmlformats.org/officeDocument/2006/relationships/notesSlide" Target="../notesSlides/notesSlide43.xml"/><Relationship Id="rId5" Type="http://schemas.microsoft.com/office/2007/relationships/media" Target="../media/media39.mp3"/><Relationship Id="rId6" Type="http://schemas.openxmlformats.org/officeDocument/2006/relationships/video" Target="../media/media39.mp3"/><Relationship Id="rId7"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oleObject7.bin"/><Relationship Id="rId4" Type="http://schemas.openxmlformats.org/officeDocument/2006/relationships/image" Target="../media/image8.png"/><Relationship Id="rId5" Type="http://schemas.openxmlformats.org/officeDocument/2006/relationships/notesSlide" Target="../notesSlides/notesSlide44.xml"/><Relationship Id="rId6" Type="http://schemas.microsoft.com/office/2007/relationships/media" Target="../media/media40.mp3"/><Relationship Id="rId7" Type="http://schemas.openxmlformats.org/officeDocument/2006/relationships/video" Target="../media/media40.mp3"/><Relationship Id="rId8"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vmlDrawing" Target="../drawings/vmlDrawing6.vml"/><Relationship Id="rId2" Type="http://schemas.openxmlformats.org/officeDocument/2006/relationships/slideLayout" Target="../slideLayouts/slideLayout2.xml"/><Relationship Id="rId3" Type="http://schemas.openxmlformats.org/officeDocument/2006/relationships/oleObject" Target="../embeddings/oleObject8.bin"/><Relationship Id="rId4" Type="http://schemas.openxmlformats.org/officeDocument/2006/relationships/notesSlide" Target="../notesSlides/notesSlide45.xml"/><Relationship Id="rId5" Type="http://schemas.microsoft.com/office/2007/relationships/media" Target="../media/media41.mp3"/><Relationship Id="rId6" Type="http://schemas.openxmlformats.org/officeDocument/2006/relationships/video" Target="../media/media41.mp3"/><Relationship Id="rId7"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microsoft.com/office/2007/relationships/media" Target="../media/media42.mp3"/><Relationship Id="rId4" Type="http://schemas.openxmlformats.org/officeDocument/2006/relationships/video" Target="../media/media42.mp3"/><Relationship Id="rId5"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vmlDrawing" Target="../drawings/vmlDrawing7.v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oleObject" Target="../embeddings/oleObject9.bin"/><Relationship Id="rId5" Type="http://schemas.microsoft.com/office/2007/relationships/media" Target="../media/media43.mp3"/><Relationship Id="rId6" Type="http://schemas.openxmlformats.org/officeDocument/2006/relationships/video" Target="../media/media43.mp3"/><Relationship Id="rId7"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07/relationships/media" Target="../media/media44.mp3"/><Relationship Id="rId4" Type="http://schemas.openxmlformats.org/officeDocument/2006/relationships/video" Target="../media/media44.mp3"/><Relationship Id="rId5"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microsoft.com/office/2007/relationships/media" Target="../media/media45.mp3"/><Relationship Id="rId4" Type="http://schemas.openxmlformats.org/officeDocument/2006/relationships/video" Target="../media/media45.mp3"/><Relationship Id="rId5"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microsoft.com/office/2007/relationships/media" Target="../media/media46.mp3"/><Relationship Id="rId4" Type="http://schemas.openxmlformats.org/officeDocument/2006/relationships/video" Target="../media/media46.mp3"/><Relationship Id="rId5"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microsoft.com/office/2007/relationships/media" Target="../media/media47.mp3"/><Relationship Id="rId4" Type="http://schemas.openxmlformats.org/officeDocument/2006/relationships/video" Target="../media/media47.mp3"/><Relationship Id="rId5"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microsoft.com/office/2007/relationships/media" Target="../media/media48.mp3"/><Relationship Id="rId4" Type="http://schemas.openxmlformats.org/officeDocument/2006/relationships/video" Target="../media/media48.mp3"/><Relationship Id="rId5"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microsoft.com/office/2007/relationships/media" Target="../media/media49.mp3"/><Relationship Id="rId4" Type="http://schemas.openxmlformats.org/officeDocument/2006/relationships/video" Target="../media/media49.mp3"/><Relationship Id="rId5"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microsoft.com/office/2007/relationships/media" Target="../media/media50.mp3"/><Relationship Id="rId4" Type="http://schemas.openxmlformats.org/officeDocument/2006/relationships/video" Target="../media/media50.mp3"/><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ru-RU"/>
              <a:t>План</a:t>
            </a:r>
          </a:p>
        </p:txBody>
      </p:sp>
      <p:sp>
        <p:nvSpPr>
          <p:cNvPr id="3075" name="Rectangle 3"/>
          <p:cNvSpPr>
            <a:spLocks noGrp="1" noChangeArrowheads="1"/>
          </p:cNvSpPr>
          <p:nvPr>
            <p:ph type="body" idx="1"/>
          </p:nvPr>
        </p:nvSpPr>
        <p:spPr/>
        <p:txBody>
          <a:bodyPr/>
          <a:lstStyle/>
          <a:p>
            <a:pPr>
              <a:lnSpc>
                <a:spcPct val="90000"/>
              </a:lnSpc>
            </a:pPr>
            <a:r>
              <a:rPr lang="ru-RU"/>
              <a:t>Глобальные и локальные адреса</a:t>
            </a:r>
          </a:p>
          <a:p>
            <a:pPr>
              <a:lnSpc>
                <a:spcPct val="90000"/>
              </a:lnSpc>
            </a:pPr>
            <a:r>
              <a:rPr lang="ru-RU"/>
              <a:t>Структура </a:t>
            </a:r>
            <a:r>
              <a:rPr lang="en-US"/>
              <a:t>IP</a:t>
            </a:r>
            <a:r>
              <a:rPr lang="ru-RU"/>
              <a:t>-адреса</a:t>
            </a:r>
          </a:p>
          <a:p>
            <a:pPr>
              <a:lnSpc>
                <a:spcPct val="90000"/>
              </a:lnSpc>
            </a:pPr>
            <a:r>
              <a:rPr lang="ru-RU"/>
              <a:t>Классы </a:t>
            </a:r>
            <a:r>
              <a:rPr lang="en-US"/>
              <a:t>IP</a:t>
            </a:r>
            <a:r>
              <a:rPr lang="ru-RU"/>
              <a:t>-сетей</a:t>
            </a:r>
          </a:p>
          <a:p>
            <a:pPr>
              <a:lnSpc>
                <a:spcPct val="90000"/>
              </a:lnSpc>
            </a:pPr>
            <a:r>
              <a:rPr lang="ru-RU"/>
              <a:t>Бесклассовая маршрутизация (Classless Inter-Domain Routing, </a:t>
            </a:r>
            <a:r>
              <a:rPr lang="en-US"/>
              <a:t>CIDR</a:t>
            </a:r>
            <a:r>
              <a:rPr lang="ru-RU"/>
              <a:t>) </a:t>
            </a:r>
          </a:p>
          <a:p>
            <a:pPr>
              <a:lnSpc>
                <a:spcPct val="90000"/>
              </a:lnSpc>
            </a:pPr>
            <a:r>
              <a:rPr lang="ru-RU"/>
              <a:t>Специальные типы сетей</a:t>
            </a:r>
            <a:endParaRPr lang="en-US"/>
          </a:p>
          <a:p>
            <a:pPr>
              <a:lnSpc>
                <a:spcPct val="90000"/>
              </a:lnSpc>
            </a:pPr>
            <a:r>
              <a:rPr lang="ru-RU"/>
              <a:t>Подсети</a:t>
            </a:r>
          </a:p>
        </p:txBody>
      </p:sp>
      <p:pic>
        <p:nvPicPr>
          <p:cNvPr id="3076" name="slide_0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6"/>
                                        </p:tgtEl>
                                      </p:cBhvr>
                                    </p:cmd>
                                  </p:childTnLst>
                                </p:cTn>
                              </p:par>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ru-RU"/>
              <a:t>Типы адресов</a:t>
            </a:r>
          </a:p>
        </p:txBody>
      </p:sp>
      <p:sp>
        <p:nvSpPr>
          <p:cNvPr id="6147" name="Rectangle 3"/>
          <p:cNvSpPr>
            <a:spLocks noGrp="1" noChangeArrowheads="1"/>
          </p:cNvSpPr>
          <p:nvPr>
            <p:ph type="body" idx="1"/>
          </p:nvPr>
        </p:nvSpPr>
        <p:spPr/>
        <p:txBody>
          <a:bodyPr/>
          <a:lstStyle/>
          <a:p>
            <a:pPr>
              <a:lnSpc>
                <a:spcPct val="80000"/>
              </a:lnSpc>
            </a:pPr>
            <a:r>
              <a:rPr lang="ru-RU" sz="2800"/>
              <a:t>Локальные адреса:</a:t>
            </a:r>
          </a:p>
          <a:p>
            <a:pPr lvl="1">
              <a:lnSpc>
                <a:spcPct val="80000"/>
              </a:lnSpc>
            </a:pPr>
            <a:r>
              <a:rPr lang="ru-RU" sz="2400"/>
              <a:t>Адреса в технологии сетевого уровня</a:t>
            </a:r>
          </a:p>
          <a:p>
            <a:pPr lvl="1">
              <a:lnSpc>
                <a:spcPct val="80000"/>
              </a:lnSpc>
            </a:pPr>
            <a:r>
              <a:rPr lang="ru-RU" sz="2400"/>
              <a:t>Пример: </a:t>
            </a:r>
            <a:r>
              <a:rPr lang="en-US" sz="2400"/>
              <a:t>MAC </a:t>
            </a:r>
            <a:r>
              <a:rPr lang="ru-RU" sz="2400"/>
              <a:t>адрес в </a:t>
            </a:r>
            <a:r>
              <a:rPr lang="en-US" sz="2400"/>
              <a:t>Ethernet, IMEI </a:t>
            </a:r>
            <a:r>
              <a:rPr lang="ru-RU" sz="2400"/>
              <a:t>в </a:t>
            </a:r>
            <a:r>
              <a:rPr lang="en-US" sz="2400"/>
              <a:t>3G</a:t>
            </a:r>
          </a:p>
          <a:p>
            <a:pPr lvl="1">
              <a:lnSpc>
                <a:spcPct val="80000"/>
              </a:lnSpc>
            </a:pPr>
            <a:r>
              <a:rPr lang="ru-RU" sz="2400"/>
              <a:t>Привязаны к конкретной технологии</a:t>
            </a:r>
          </a:p>
          <a:p>
            <a:pPr lvl="1">
              <a:lnSpc>
                <a:spcPct val="80000"/>
              </a:lnSpc>
            </a:pPr>
            <a:r>
              <a:rPr lang="ru-RU" sz="2400"/>
              <a:t>Не могут быть использованы в гетерогенных сетях</a:t>
            </a:r>
          </a:p>
          <a:p>
            <a:pPr>
              <a:lnSpc>
                <a:spcPct val="80000"/>
              </a:lnSpc>
            </a:pPr>
            <a:r>
              <a:rPr lang="ru-RU" sz="2800"/>
              <a:t>Глобальные адреса:</a:t>
            </a:r>
          </a:p>
          <a:p>
            <a:pPr lvl="1">
              <a:lnSpc>
                <a:spcPct val="80000"/>
              </a:lnSpc>
            </a:pPr>
            <a:r>
              <a:rPr lang="ru-RU" sz="2400"/>
              <a:t>Адреса сетевого уровня</a:t>
            </a:r>
          </a:p>
          <a:p>
            <a:pPr lvl="1">
              <a:lnSpc>
                <a:spcPct val="80000"/>
              </a:lnSpc>
            </a:pPr>
            <a:r>
              <a:rPr lang="ru-RU" sz="2400"/>
              <a:t>Пример – </a:t>
            </a:r>
            <a:r>
              <a:rPr lang="en-US" sz="2400"/>
              <a:t>IP</a:t>
            </a:r>
            <a:r>
              <a:rPr lang="ru-RU" sz="2400"/>
              <a:t>-адреса</a:t>
            </a:r>
          </a:p>
          <a:p>
            <a:pPr lvl="1">
              <a:lnSpc>
                <a:spcPct val="80000"/>
              </a:lnSpc>
            </a:pPr>
            <a:r>
              <a:rPr lang="ru-RU" sz="2400"/>
              <a:t>Не привязаны к технологии</a:t>
            </a:r>
          </a:p>
          <a:p>
            <a:pPr lvl="1">
              <a:lnSpc>
                <a:spcPct val="80000"/>
              </a:lnSpc>
            </a:pPr>
            <a:r>
              <a:rPr lang="ru-RU" sz="2400"/>
              <a:t>Применяются при объединении сетей</a:t>
            </a:r>
          </a:p>
        </p:txBody>
      </p:sp>
      <p:pic>
        <p:nvPicPr>
          <p:cNvPr id="6148" name="slide_0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148"/>
                                        </p:tgtEl>
                                      </p:cBhvr>
                                    </p:cmd>
                                  </p:childTnLst>
                                </p:cTn>
                              </p:par>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IP</a:t>
            </a:r>
            <a:r>
              <a:rPr lang="ru-RU"/>
              <a:t>-адреса</a:t>
            </a:r>
          </a:p>
        </p:txBody>
      </p:sp>
      <p:sp>
        <p:nvSpPr>
          <p:cNvPr id="7171" name="Rectangle 3"/>
          <p:cNvSpPr>
            <a:spLocks noGrp="1" noChangeArrowheads="1"/>
          </p:cNvSpPr>
          <p:nvPr>
            <p:ph type="body" idx="1"/>
          </p:nvPr>
        </p:nvSpPr>
        <p:spPr/>
        <p:txBody>
          <a:bodyPr/>
          <a:lstStyle/>
          <a:p>
            <a:pPr>
              <a:lnSpc>
                <a:spcPct val="90000"/>
              </a:lnSpc>
            </a:pPr>
            <a:r>
              <a:rPr lang="ru-RU" sz="2800"/>
              <a:t>Глобальные адреса, используемые в стеке протоколов </a:t>
            </a:r>
            <a:r>
              <a:rPr lang="en-US" sz="2800"/>
              <a:t>TCP/IP</a:t>
            </a:r>
            <a:endParaRPr lang="ru-RU" sz="2800"/>
          </a:p>
          <a:p>
            <a:pPr>
              <a:lnSpc>
                <a:spcPct val="90000"/>
              </a:lnSpc>
            </a:pPr>
            <a:r>
              <a:rPr lang="ru-RU" sz="2800"/>
              <a:t>Используются для уникальной идентификации компьютеров в составной сети</a:t>
            </a:r>
          </a:p>
          <a:p>
            <a:pPr>
              <a:lnSpc>
                <a:spcPct val="90000"/>
              </a:lnSpc>
            </a:pPr>
            <a:r>
              <a:rPr lang="ru-RU" sz="2800"/>
              <a:t>Широко используются в Интернет</a:t>
            </a:r>
          </a:p>
          <a:p>
            <a:pPr>
              <a:lnSpc>
                <a:spcPct val="90000"/>
              </a:lnSpc>
            </a:pPr>
            <a:r>
              <a:rPr lang="ru-RU" sz="2800"/>
              <a:t>Две версии протокола </a:t>
            </a:r>
            <a:r>
              <a:rPr lang="en-US" sz="2800"/>
              <a:t>IP</a:t>
            </a:r>
            <a:r>
              <a:rPr lang="ru-RU" sz="2800"/>
              <a:t>:</a:t>
            </a:r>
          </a:p>
          <a:p>
            <a:pPr lvl="1">
              <a:lnSpc>
                <a:spcPct val="90000"/>
              </a:lnSpc>
            </a:pPr>
            <a:r>
              <a:rPr lang="en-US" sz="2400"/>
              <a:t>IPv4: </a:t>
            </a:r>
            <a:r>
              <a:rPr lang="ru-RU" sz="2400"/>
              <a:t>адрес 4 байта (будем изучать)</a:t>
            </a:r>
          </a:p>
          <a:p>
            <a:pPr lvl="1">
              <a:lnSpc>
                <a:spcPct val="90000"/>
              </a:lnSpc>
            </a:pPr>
            <a:r>
              <a:rPr lang="en-US" sz="2400"/>
              <a:t>IPv6: </a:t>
            </a:r>
            <a:r>
              <a:rPr lang="ru-RU" sz="2400"/>
              <a:t>адрес 16 байт (не будем изучать)</a:t>
            </a:r>
          </a:p>
        </p:txBody>
      </p:sp>
      <p:pic>
        <p:nvPicPr>
          <p:cNvPr id="7172" name="slide_0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172"/>
                                        </p:tgtEl>
                                      </p:cBhvr>
                                    </p:cmd>
                                  </p:childTnLst>
                                </p:cTn>
                              </p:par>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ru-RU"/>
              <a:t>Структура </a:t>
            </a:r>
            <a:r>
              <a:rPr lang="en-US"/>
              <a:t>IP</a:t>
            </a:r>
            <a:r>
              <a:rPr lang="ru-RU"/>
              <a:t>-адреса (</a:t>
            </a:r>
            <a:r>
              <a:rPr lang="en-US"/>
              <a:t>IPv4</a:t>
            </a:r>
            <a:r>
              <a:rPr lang="ru-RU"/>
              <a:t>)</a:t>
            </a:r>
          </a:p>
        </p:txBody>
      </p:sp>
      <p:sp>
        <p:nvSpPr>
          <p:cNvPr id="8195" name="Rectangle 3"/>
          <p:cNvSpPr>
            <a:spLocks noGrp="1" noChangeArrowheads="1"/>
          </p:cNvSpPr>
          <p:nvPr>
            <p:ph type="body" idx="1"/>
          </p:nvPr>
        </p:nvSpPr>
        <p:spPr/>
        <p:txBody>
          <a:bodyPr/>
          <a:lstStyle/>
          <a:p>
            <a:pPr>
              <a:lnSpc>
                <a:spcPct val="90000"/>
              </a:lnSpc>
            </a:pPr>
            <a:r>
              <a:rPr lang="ru-RU"/>
              <a:t>Длина – 4 байта, 32 бита</a:t>
            </a:r>
          </a:p>
          <a:p>
            <a:pPr>
              <a:lnSpc>
                <a:spcPct val="90000"/>
              </a:lnSpc>
            </a:pPr>
            <a:r>
              <a:rPr lang="ru-RU"/>
              <a:t>Форма представления: </a:t>
            </a:r>
          </a:p>
          <a:p>
            <a:pPr lvl="1">
              <a:lnSpc>
                <a:spcPct val="90000"/>
              </a:lnSpc>
            </a:pPr>
            <a:r>
              <a:rPr lang="ru-RU"/>
              <a:t>4 десятичных числа 0-255, разделенных точками</a:t>
            </a:r>
          </a:p>
          <a:p>
            <a:pPr lvl="1">
              <a:lnSpc>
                <a:spcPct val="90000"/>
              </a:lnSpc>
            </a:pPr>
            <a:r>
              <a:rPr lang="ru-RU"/>
              <a:t>Пример: 213.180.193.3</a:t>
            </a:r>
          </a:p>
          <a:p>
            <a:pPr>
              <a:lnSpc>
                <a:spcPct val="90000"/>
              </a:lnSpc>
            </a:pPr>
            <a:r>
              <a:rPr lang="ru-RU"/>
              <a:t>Структура </a:t>
            </a:r>
            <a:r>
              <a:rPr lang="en-US"/>
              <a:t>IP</a:t>
            </a:r>
            <a:r>
              <a:rPr lang="ru-RU"/>
              <a:t>-адреса:</a:t>
            </a:r>
          </a:p>
          <a:p>
            <a:pPr lvl="1">
              <a:lnSpc>
                <a:spcPct val="90000"/>
              </a:lnSpc>
            </a:pPr>
            <a:r>
              <a:rPr lang="ru-RU"/>
              <a:t>Номер сети</a:t>
            </a:r>
          </a:p>
          <a:p>
            <a:pPr lvl="1">
              <a:lnSpc>
                <a:spcPct val="90000"/>
              </a:lnSpc>
            </a:pPr>
            <a:r>
              <a:rPr lang="ru-RU"/>
              <a:t>Номер компьютера в сети (хоста)</a:t>
            </a:r>
          </a:p>
        </p:txBody>
      </p:sp>
      <p:pic>
        <p:nvPicPr>
          <p:cNvPr id="8196" name="slide_0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196"/>
                                        </p:tgtEl>
                                      </p:cBhvr>
                                    </p:cmd>
                                  </p:childTnLst>
                                </p:cTn>
                              </p:par>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ru-RU"/>
              <a:t>Структура </a:t>
            </a:r>
            <a:r>
              <a:rPr lang="en-US"/>
              <a:t>IP</a:t>
            </a:r>
            <a:r>
              <a:rPr lang="ru-RU"/>
              <a:t>-адреса</a:t>
            </a:r>
          </a:p>
        </p:txBody>
      </p:sp>
      <p:sp>
        <p:nvSpPr>
          <p:cNvPr id="9219" name="Rectangle 3"/>
          <p:cNvSpPr>
            <a:spLocks noGrp="1" noChangeArrowheads="1"/>
          </p:cNvSpPr>
          <p:nvPr>
            <p:ph type="body" idx="1"/>
          </p:nvPr>
        </p:nvSpPr>
        <p:spPr/>
        <p:txBody>
          <a:bodyPr/>
          <a:lstStyle/>
          <a:p>
            <a:r>
              <a:rPr lang="ru-RU"/>
              <a:t>Пример структуры:</a:t>
            </a:r>
          </a:p>
          <a:p>
            <a:pPr lvl="1"/>
            <a:r>
              <a:rPr lang="en-US"/>
              <a:t>IP-</a:t>
            </a:r>
            <a:r>
              <a:rPr lang="ru-RU"/>
              <a:t>адрес: 213.180.193.3</a:t>
            </a:r>
          </a:p>
          <a:p>
            <a:pPr lvl="1"/>
            <a:r>
              <a:rPr lang="ru-RU"/>
              <a:t>Номер сети: 213.180.193.0</a:t>
            </a:r>
          </a:p>
          <a:p>
            <a:pPr lvl="1"/>
            <a:r>
              <a:rPr lang="ru-RU"/>
              <a:t>Номер хоста: 3 (0.0.0.3)</a:t>
            </a:r>
          </a:p>
          <a:p>
            <a:r>
              <a:rPr lang="ru-RU"/>
              <a:t>Как определить, где адрес сети, а где хоста?</a:t>
            </a:r>
          </a:p>
        </p:txBody>
      </p:sp>
      <p:pic>
        <p:nvPicPr>
          <p:cNvPr id="9220" name="slide_0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220"/>
                                        </p:tgtEl>
                                      </p:cBhvr>
                                    </p:cmd>
                                  </p:childTnLst>
                                </p:cTn>
                              </p:par>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ru-RU"/>
              <a:t>Классы </a:t>
            </a:r>
            <a:r>
              <a:rPr lang="en-US"/>
              <a:t>IP-</a:t>
            </a:r>
            <a:r>
              <a:rPr lang="ru-RU"/>
              <a:t>адресов</a:t>
            </a:r>
          </a:p>
        </p:txBody>
      </p:sp>
      <p:sp>
        <p:nvSpPr>
          <p:cNvPr id="10243" name="Rectangle 3"/>
          <p:cNvSpPr>
            <a:spLocks noGrp="1" noChangeArrowheads="1"/>
          </p:cNvSpPr>
          <p:nvPr>
            <p:ph type="body" idx="1"/>
          </p:nvPr>
        </p:nvSpPr>
        <p:spPr/>
        <p:txBody>
          <a:bodyPr/>
          <a:lstStyle/>
          <a:p>
            <a:r>
              <a:rPr lang="ru-RU"/>
              <a:t>Первоначальный подход – разделение </a:t>
            </a:r>
            <a:r>
              <a:rPr lang="en-US"/>
              <a:t>IP-</a:t>
            </a:r>
            <a:r>
              <a:rPr lang="ru-RU"/>
              <a:t>адресов на классы</a:t>
            </a:r>
          </a:p>
          <a:p>
            <a:r>
              <a:rPr lang="ru-RU"/>
              <a:t>В каждом классе жестко определено количество бит для номера сети и хоста</a:t>
            </a:r>
          </a:p>
          <a:p>
            <a:r>
              <a:rPr lang="ru-RU"/>
              <a:t>Определены в стандарте </a:t>
            </a:r>
            <a:r>
              <a:rPr lang="en-US"/>
              <a:t>RFC 791</a:t>
            </a:r>
            <a:endParaRPr lang="ru-RU"/>
          </a:p>
          <a:p>
            <a:r>
              <a:rPr lang="ru-RU"/>
              <a:t>Использовался до 1993 г.</a:t>
            </a:r>
          </a:p>
          <a:p>
            <a:endParaRPr lang="ru-RU"/>
          </a:p>
        </p:txBody>
      </p:sp>
      <p:pic>
        <p:nvPicPr>
          <p:cNvPr id="10244" name="slide_0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244"/>
                                        </p:tgtEl>
                                      </p:cBhvr>
                                    </p:cmd>
                                  </p:childTnLst>
                                </p:cTn>
                              </p:par>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ru-RU"/>
              <a:t>Классы </a:t>
            </a:r>
            <a:r>
              <a:rPr lang="en-US"/>
              <a:t>IP</a:t>
            </a:r>
            <a:r>
              <a:rPr lang="ru-RU"/>
              <a:t>-адресов</a:t>
            </a:r>
          </a:p>
        </p:txBody>
      </p:sp>
      <p:graphicFrame>
        <p:nvGraphicFramePr>
          <p:cNvPr id="11267" name="Group 3"/>
          <p:cNvGraphicFramePr>
            <a:graphicFrameLocks noGrp="1"/>
          </p:cNvGraphicFramePr>
          <p:nvPr/>
        </p:nvGraphicFramePr>
        <p:xfrm>
          <a:off x="304800" y="2057400"/>
          <a:ext cx="8686800" cy="4300539"/>
        </p:xfrm>
        <a:graphic>
          <a:graphicData uri="http://schemas.openxmlformats.org/drawingml/2006/table">
            <a:tbl>
              <a:tblPr/>
              <a:tblGrid>
                <a:gridCol w="930275"/>
                <a:gridCol w="1008063"/>
                <a:gridCol w="1009650"/>
                <a:gridCol w="1938337"/>
                <a:gridCol w="1938338"/>
                <a:gridCol w="1862137"/>
              </a:tblGrid>
              <a:tr h="677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Класс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Пер-вые биты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Номер сети, бит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Диапазон сетей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Максимальное число сетей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1" i="0" u="none" strike="noStrike" cap="none" normalizeH="0" baseline="0" smtClean="0">
                          <a:ln>
                            <a:noFill/>
                          </a:ln>
                          <a:solidFill>
                            <a:schemeClr val="tx1"/>
                          </a:solidFill>
                          <a:effectLst/>
                          <a:latin typeface="Arial" charset="0"/>
                        </a:rPr>
                        <a:t>Максималь-ное число хостов в сети</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A</a:t>
                      </a:r>
                      <a:endParaRPr kumimoji="0" lang="ru-RU" sz="1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1.0.0.0 – 126.0.0.0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16 777 214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B</a:t>
                      </a:r>
                      <a:endParaRPr kumimoji="0" lang="ru-RU" sz="1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128.0.0.0 – 191.255.0.0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16 382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65 534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C</a:t>
                      </a:r>
                      <a:endParaRPr kumimoji="0" lang="ru-RU" sz="1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192.0.0.0 – 223.255.255.0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2 097 150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254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D</a:t>
                      </a:r>
                      <a:endParaRPr kumimoji="0" lang="ru-RU" sz="1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224.0.0.0 – 239.255.255.255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Групповые адреса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ru-RU"/>
                    </a:p>
                  </a:txBody>
                  <a:tcPr/>
                </a:tc>
              </a:tr>
              <a:tr h="677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E</a:t>
                      </a:r>
                      <a:endParaRPr kumimoji="0" lang="ru-RU" sz="1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11110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240.0.0.0-255.255.255.255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rPr>
                        <a:t>Зарезервировано</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ru-RU"/>
                    </a:p>
                  </a:txBody>
                  <a:tcPr/>
                </a:tc>
              </a:tr>
            </a:tbl>
          </a:graphicData>
        </a:graphic>
      </p:graphicFrame>
      <p:pic>
        <p:nvPicPr>
          <p:cNvPr id="11268" name="slide_0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268"/>
                                        </p:tgtEl>
                                      </p:cBhvr>
                                    </p:cmd>
                                  </p:childTnLst>
                                </p:cTn>
                              </p:par>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Grp="1" noChangeArrowheads="1"/>
          </p:cNvSpPr>
          <p:nvPr>
            <p:ph type="title"/>
          </p:nvPr>
        </p:nvSpPr>
        <p:spPr/>
        <p:txBody>
          <a:bodyPr/>
          <a:lstStyle/>
          <a:p>
            <a:endParaRPr lang="ru-RU"/>
          </a:p>
        </p:txBody>
      </p:sp>
      <p:pic>
        <p:nvPicPr>
          <p:cNvPr id="40964" name="Picture 4" descr="IP addresses"/>
          <p:cNvPicPr>
            <a:picLocks noChangeAspect="1" noChangeArrowheads="1"/>
          </p:cNvPicPr>
          <p:nvPr>
            <p:ph idx="1"/>
          </p:nvPr>
        </p:nvPicPr>
        <p:blipFill>
          <a:blip r:embed="rId2" cstate="print"/>
          <a:srcRect/>
          <a:stretch>
            <a:fillRect/>
          </a:stretch>
        </p:blipFill>
        <p:spPr>
          <a:xfrm>
            <a:off x="1042988" y="1628775"/>
            <a:ext cx="6800850" cy="4448175"/>
          </a:xfrm>
          <a:noFill/>
          <a:ln/>
        </p:spPr>
      </p:pic>
      <p:pic>
        <p:nvPicPr>
          <p:cNvPr id="40966" name="slide_08.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0966"/>
                                        </p:tgtEl>
                                      </p:cBhvr>
                                    </p:cmd>
                                  </p:childTnLst>
                                </p:cTn>
                              </p:par>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ru-RU"/>
              <a:t>Классы </a:t>
            </a:r>
            <a:r>
              <a:rPr lang="en-US"/>
              <a:t>IP</a:t>
            </a:r>
            <a:r>
              <a:rPr lang="ru-RU"/>
              <a:t>-адресов</a:t>
            </a:r>
          </a:p>
        </p:txBody>
      </p:sp>
      <p:sp>
        <p:nvSpPr>
          <p:cNvPr id="12291" name="Rectangle 3"/>
          <p:cNvSpPr>
            <a:spLocks noGrp="1" noChangeArrowheads="1"/>
          </p:cNvSpPr>
          <p:nvPr>
            <p:ph type="body" idx="1"/>
          </p:nvPr>
        </p:nvSpPr>
        <p:spPr/>
        <p:txBody>
          <a:bodyPr/>
          <a:lstStyle/>
          <a:p>
            <a:pPr>
              <a:lnSpc>
                <a:spcPct val="90000"/>
              </a:lnSpc>
            </a:pPr>
            <a:r>
              <a:rPr lang="ru-RU"/>
              <a:t>Достоинства:</a:t>
            </a:r>
          </a:p>
          <a:p>
            <a:pPr lvl="1">
              <a:lnSpc>
                <a:spcPct val="90000"/>
              </a:lnSpc>
            </a:pPr>
            <a:r>
              <a:rPr lang="ru-RU"/>
              <a:t>По </a:t>
            </a:r>
            <a:r>
              <a:rPr lang="en-US"/>
              <a:t>IP</a:t>
            </a:r>
            <a:r>
              <a:rPr lang="ru-RU"/>
              <a:t>-адресу можно точно узнать, где номер сети, а где – хоста</a:t>
            </a:r>
          </a:p>
          <a:p>
            <a:pPr>
              <a:lnSpc>
                <a:spcPct val="90000"/>
              </a:lnSpc>
            </a:pPr>
            <a:r>
              <a:rPr lang="ru-RU"/>
              <a:t>Недостатки:</a:t>
            </a:r>
          </a:p>
          <a:p>
            <a:pPr lvl="1">
              <a:lnSpc>
                <a:spcPct val="90000"/>
              </a:lnSpc>
            </a:pPr>
            <a:r>
              <a:rPr lang="ru-RU"/>
              <a:t>Фиксированное количество хостов в сети (254 – 65 тыс. – 16 млн.)</a:t>
            </a:r>
          </a:p>
          <a:p>
            <a:pPr lvl="1">
              <a:lnSpc>
                <a:spcPct val="90000"/>
              </a:lnSpc>
            </a:pPr>
            <a:r>
              <a:rPr lang="ru-RU"/>
              <a:t>Неэффективное распределение </a:t>
            </a:r>
            <a:r>
              <a:rPr lang="en-US"/>
              <a:t>IP</a:t>
            </a:r>
            <a:r>
              <a:rPr lang="ru-RU"/>
              <a:t>-адресов</a:t>
            </a:r>
          </a:p>
        </p:txBody>
      </p:sp>
      <p:pic>
        <p:nvPicPr>
          <p:cNvPr id="12292" name="slide_0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292"/>
                                        </p:tgtEl>
                                      </p:cBhvr>
                                    </p:cmd>
                                  </p:childTnLst>
                                </p:cTn>
                              </p:par>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IPv6</a:t>
            </a:r>
            <a:endParaRPr lang="ru-RU" dirty="0"/>
          </a:p>
        </p:txBody>
      </p:sp>
      <p:sp>
        <p:nvSpPr>
          <p:cNvPr id="3" name="Содержимое 2"/>
          <p:cNvSpPr>
            <a:spLocks noGrp="1"/>
          </p:cNvSpPr>
          <p:nvPr>
            <p:ph idx="1"/>
          </p:nvPr>
        </p:nvSpPr>
        <p:spPr/>
        <p:txBody>
          <a:bodyPr/>
          <a:lstStyle/>
          <a:p>
            <a:r>
              <a:rPr lang="ru-RU" sz="2000" dirty="0">
                <a:solidFill>
                  <a:schemeClr val="tx1"/>
                </a:solidFill>
                <a:latin typeface="+mn-lt"/>
                <a:ea typeface="+mn-ea"/>
                <a:cs typeface="+mn-cs"/>
              </a:rPr>
              <a:t>Адрес записывается в виде </a:t>
            </a:r>
            <a:r>
              <a:rPr lang="ru-RU" sz="2000" b="1" dirty="0">
                <a:solidFill>
                  <a:schemeClr val="tx1"/>
                </a:solidFill>
                <a:latin typeface="+mn-lt"/>
                <a:ea typeface="+mn-ea"/>
                <a:cs typeface="+mn-cs"/>
              </a:rPr>
              <a:t>8 групп по 4 шестнадцатеричные цифры</a:t>
            </a:r>
            <a:r>
              <a:rPr lang="ru-RU" sz="2000" dirty="0">
                <a:solidFill>
                  <a:schemeClr val="tx1"/>
                </a:solidFill>
                <a:latin typeface="+mn-lt"/>
                <a:ea typeface="+mn-ea"/>
                <a:cs typeface="+mn-cs"/>
              </a:rPr>
              <a:t>, разделенных двоеточиями.</a:t>
            </a:r>
          </a:p>
          <a:p>
            <a:r>
              <a:rPr lang="ru-RU" sz="2000" b="1" dirty="0">
                <a:solidFill>
                  <a:schemeClr val="tx1"/>
                </a:solidFill>
                <a:latin typeface="+mn-lt"/>
                <a:ea typeface="+mn-ea"/>
                <a:cs typeface="+mn-cs"/>
              </a:rPr>
              <a:t>Пример:</a:t>
            </a:r>
            <a:r>
              <a:rPr lang="ru-RU" sz="2000" dirty="0">
                <a:solidFill>
                  <a:schemeClr val="tx1"/>
                </a:solidFill>
                <a:latin typeface="+mn-lt"/>
                <a:ea typeface="+mn-ea"/>
                <a:cs typeface="+mn-cs"/>
              </a:rPr>
              <a:t> 2001:0db8:85a3:0000:0000:8a2e:0370:7334</a:t>
            </a:r>
          </a:p>
          <a:p>
            <a:r>
              <a:rPr lang="ru-RU" sz="2000" dirty="0">
                <a:solidFill>
                  <a:schemeClr val="tx1"/>
                </a:solidFill>
                <a:latin typeface="+mn-lt"/>
                <a:ea typeface="+mn-ea"/>
                <a:cs typeface="+mn-cs"/>
              </a:rPr>
              <a:t>Обычно адрес делится ровно пополам (по 64 бита):</a:t>
            </a:r>
          </a:p>
          <a:p>
            <a:r>
              <a:rPr lang="ru-RU" sz="2000" b="1" dirty="0">
                <a:solidFill>
                  <a:schemeClr val="tx1"/>
                </a:solidFill>
                <a:latin typeface="+mn-lt"/>
                <a:ea typeface="+mn-ea"/>
                <a:cs typeface="+mn-cs"/>
              </a:rPr>
              <a:t>Префикс маршрутизации (</a:t>
            </a:r>
            <a:r>
              <a:rPr lang="ru-RU" sz="2000" b="1" dirty="0" err="1">
                <a:solidFill>
                  <a:schemeClr val="tx1"/>
                </a:solidFill>
                <a:latin typeface="+mn-lt"/>
                <a:ea typeface="+mn-ea"/>
                <a:cs typeface="+mn-cs"/>
              </a:rPr>
              <a:t>Global</a:t>
            </a:r>
            <a:r>
              <a:rPr lang="ru-RU" sz="2000" b="1" dirty="0">
                <a:solidFill>
                  <a:schemeClr val="tx1"/>
                </a:solidFill>
                <a:latin typeface="+mn-lt"/>
                <a:ea typeface="+mn-ea"/>
                <a:cs typeface="+mn-cs"/>
              </a:rPr>
              <a:t> </a:t>
            </a:r>
            <a:r>
              <a:rPr lang="ru-RU" sz="2000" b="1" dirty="0" err="1">
                <a:solidFill>
                  <a:schemeClr val="tx1"/>
                </a:solidFill>
                <a:latin typeface="+mn-lt"/>
                <a:ea typeface="+mn-ea"/>
                <a:cs typeface="+mn-cs"/>
              </a:rPr>
              <a:t>Routing</a:t>
            </a:r>
            <a:r>
              <a:rPr lang="ru-RU" sz="2000" b="1" dirty="0">
                <a:solidFill>
                  <a:schemeClr val="tx1"/>
                </a:solidFill>
                <a:latin typeface="+mn-lt"/>
                <a:ea typeface="+mn-ea"/>
                <a:cs typeface="+mn-cs"/>
              </a:rPr>
              <a:t> </a:t>
            </a:r>
            <a:r>
              <a:rPr lang="ru-RU" sz="2000" b="1" dirty="0" err="1">
                <a:solidFill>
                  <a:schemeClr val="tx1"/>
                </a:solidFill>
                <a:latin typeface="+mn-lt"/>
                <a:ea typeface="+mn-ea"/>
                <a:cs typeface="+mn-cs"/>
              </a:rPr>
              <a:t>Prefix</a:t>
            </a:r>
            <a:r>
              <a:rPr lang="ru-RU" sz="2000" b="1" dirty="0">
                <a:solidFill>
                  <a:schemeClr val="tx1"/>
                </a:solidFill>
                <a:latin typeface="+mn-lt"/>
                <a:ea typeface="+mn-ea"/>
                <a:cs typeface="+mn-cs"/>
              </a:rPr>
              <a:t>):</a:t>
            </a:r>
            <a:r>
              <a:rPr lang="ru-RU" sz="2000" dirty="0">
                <a:solidFill>
                  <a:schemeClr val="tx1"/>
                </a:solidFill>
                <a:latin typeface="+mn-lt"/>
                <a:ea typeface="+mn-ea"/>
                <a:cs typeface="+mn-cs"/>
              </a:rPr>
              <a:t> Первые 48–64 бит. Определяют глобальную сеть провайдера и подсеть организации.</a:t>
            </a:r>
          </a:p>
          <a:p>
            <a:r>
              <a:rPr lang="ru-RU" sz="2000" b="1" dirty="0">
                <a:solidFill>
                  <a:schemeClr val="tx1"/>
                </a:solidFill>
                <a:latin typeface="+mn-lt"/>
                <a:ea typeface="+mn-ea"/>
                <a:cs typeface="+mn-cs"/>
              </a:rPr>
              <a:t>Идентификатор интерфейса (</a:t>
            </a:r>
            <a:r>
              <a:rPr lang="ru-RU" sz="2000" b="1" dirty="0" err="1">
                <a:solidFill>
                  <a:schemeClr val="tx1"/>
                </a:solidFill>
                <a:latin typeface="+mn-lt"/>
                <a:ea typeface="+mn-ea"/>
                <a:cs typeface="+mn-cs"/>
              </a:rPr>
              <a:t>Interface</a:t>
            </a:r>
            <a:r>
              <a:rPr lang="ru-RU" sz="2000" b="1" dirty="0">
                <a:solidFill>
                  <a:schemeClr val="tx1"/>
                </a:solidFill>
                <a:latin typeface="+mn-lt"/>
                <a:ea typeface="+mn-ea"/>
                <a:cs typeface="+mn-cs"/>
              </a:rPr>
              <a:t> ID):</a:t>
            </a:r>
            <a:r>
              <a:rPr lang="ru-RU" sz="2000" dirty="0">
                <a:solidFill>
                  <a:schemeClr val="tx1"/>
                </a:solidFill>
                <a:latin typeface="+mn-lt"/>
                <a:ea typeface="+mn-ea"/>
                <a:cs typeface="+mn-cs"/>
              </a:rPr>
              <a:t> Последние 64 бита. Уникальный адрес конкретного устройства (часто генерируется на основе MAC-адреса).</a:t>
            </a:r>
          </a:p>
          <a:p>
            <a:endParaRPr lang="ru-RU" dirty="0"/>
          </a:p>
        </p:txBody>
      </p:sp>
      <p:pic>
        <p:nvPicPr>
          <p:cNvPr id="4" name="slide_1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ru-RU"/>
              <a:t>Нехватка </a:t>
            </a:r>
            <a:r>
              <a:rPr lang="en-US"/>
              <a:t>IP</a:t>
            </a:r>
            <a:r>
              <a:rPr lang="ru-RU"/>
              <a:t>-адресов</a:t>
            </a:r>
          </a:p>
        </p:txBody>
      </p:sp>
      <p:sp>
        <p:nvSpPr>
          <p:cNvPr id="13315" name="Rectangle 3"/>
          <p:cNvSpPr>
            <a:spLocks noGrp="1" noChangeArrowheads="1"/>
          </p:cNvSpPr>
          <p:nvPr>
            <p:ph type="body" idx="1"/>
          </p:nvPr>
        </p:nvSpPr>
        <p:spPr/>
        <p:txBody>
          <a:bodyPr/>
          <a:lstStyle/>
          <a:p>
            <a:r>
              <a:rPr lang="ru-RU"/>
              <a:t>Длина </a:t>
            </a:r>
            <a:r>
              <a:rPr lang="en-US"/>
              <a:t>IP</a:t>
            </a:r>
            <a:r>
              <a:rPr lang="ru-RU"/>
              <a:t>-адреса 32 бита</a:t>
            </a:r>
          </a:p>
          <a:p>
            <a:pPr lvl="1"/>
            <a:r>
              <a:rPr lang="ru-RU"/>
              <a:t>Максимум </a:t>
            </a:r>
            <a:r>
              <a:rPr lang="ru-RU" b="1"/>
              <a:t>4 294 967 296</a:t>
            </a:r>
            <a:r>
              <a:rPr lang="ru-RU"/>
              <a:t> </a:t>
            </a:r>
            <a:r>
              <a:rPr lang="en-US"/>
              <a:t>IP</a:t>
            </a:r>
            <a:r>
              <a:rPr lang="ru-RU"/>
              <a:t>-адресов</a:t>
            </a:r>
          </a:p>
          <a:p>
            <a:r>
              <a:rPr lang="ru-RU"/>
              <a:t>Используются не все адреса в сети</a:t>
            </a:r>
          </a:p>
        </p:txBody>
      </p:sp>
      <p:sp>
        <p:nvSpPr>
          <p:cNvPr id="13316" name="Rectangle 4"/>
          <p:cNvSpPr>
            <a:spLocks noChangeArrowheads="1"/>
          </p:cNvSpPr>
          <p:nvPr/>
        </p:nvSpPr>
        <p:spPr bwMode="auto">
          <a:xfrm>
            <a:off x="2438400" y="4343400"/>
            <a:ext cx="609600" cy="457200"/>
          </a:xfrm>
          <a:prstGeom prst="rect">
            <a:avLst/>
          </a:prstGeom>
          <a:noFill/>
          <a:ln w="9525">
            <a:solidFill>
              <a:schemeClr val="tx1"/>
            </a:solidFill>
            <a:miter lim="800000"/>
            <a:headEnd/>
            <a:tailEnd/>
          </a:ln>
          <a:effectLst/>
        </p:spPr>
        <p:txBody>
          <a:bodyPr wrap="none" anchor="ctr"/>
          <a:lstStyle/>
          <a:p>
            <a:endParaRPr lang="ru-RU"/>
          </a:p>
        </p:txBody>
      </p:sp>
      <p:sp>
        <p:nvSpPr>
          <p:cNvPr id="13317" name="AutoShape 5"/>
          <p:cNvSpPr>
            <a:spLocks noChangeArrowheads="1"/>
          </p:cNvSpPr>
          <p:nvPr/>
        </p:nvSpPr>
        <p:spPr bwMode="auto">
          <a:xfrm>
            <a:off x="457200" y="4114800"/>
            <a:ext cx="1676400" cy="990600"/>
          </a:xfrm>
          <a:prstGeom prst="cloudCallout">
            <a:avLst>
              <a:gd name="adj1" fmla="val -218843"/>
              <a:gd name="adj2" fmla="val 166829"/>
            </a:avLst>
          </a:prstGeom>
          <a:noFill/>
          <a:ln w="9525">
            <a:solidFill>
              <a:schemeClr val="tx1"/>
            </a:solidFill>
            <a:round/>
            <a:headEnd/>
            <a:tailEnd/>
          </a:ln>
          <a:effectLst/>
        </p:spPr>
        <p:txBody>
          <a:bodyPr/>
          <a:lstStyle/>
          <a:p>
            <a:pPr algn="ctr"/>
            <a:r>
              <a:rPr lang="ru-RU">
                <a:cs typeface="Arial" charset="0"/>
              </a:rPr>
              <a:t>Сеть</a:t>
            </a:r>
          </a:p>
          <a:p>
            <a:pPr algn="ctr"/>
            <a:r>
              <a:rPr lang="ru-RU">
                <a:cs typeface="Arial" charset="0"/>
              </a:rPr>
              <a:t>192.1.1.0</a:t>
            </a:r>
          </a:p>
        </p:txBody>
      </p:sp>
      <p:sp>
        <p:nvSpPr>
          <p:cNvPr id="13318" name="Line 6"/>
          <p:cNvSpPr>
            <a:spLocks noChangeShapeType="1"/>
          </p:cNvSpPr>
          <p:nvPr/>
        </p:nvSpPr>
        <p:spPr bwMode="auto">
          <a:xfrm>
            <a:off x="2133600" y="4572000"/>
            <a:ext cx="304800" cy="0"/>
          </a:xfrm>
          <a:prstGeom prst="line">
            <a:avLst/>
          </a:prstGeom>
          <a:noFill/>
          <a:ln w="9525">
            <a:solidFill>
              <a:schemeClr val="tx1"/>
            </a:solidFill>
            <a:round/>
            <a:headEnd/>
            <a:tailEnd/>
          </a:ln>
          <a:effectLst/>
        </p:spPr>
        <p:txBody>
          <a:bodyPr/>
          <a:lstStyle/>
          <a:p>
            <a:endParaRPr lang="ru-RU"/>
          </a:p>
        </p:txBody>
      </p:sp>
      <p:sp>
        <p:nvSpPr>
          <p:cNvPr id="13319" name="Rectangle 7"/>
          <p:cNvSpPr>
            <a:spLocks noChangeArrowheads="1"/>
          </p:cNvSpPr>
          <p:nvPr/>
        </p:nvSpPr>
        <p:spPr bwMode="auto">
          <a:xfrm>
            <a:off x="5715000" y="4343400"/>
            <a:ext cx="609600" cy="457200"/>
          </a:xfrm>
          <a:prstGeom prst="rect">
            <a:avLst/>
          </a:prstGeom>
          <a:noFill/>
          <a:ln w="9525">
            <a:solidFill>
              <a:schemeClr val="tx1"/>
            </a:solidFill>
            <a:miter lim="800000"/>
            <a:headEnd/>
            <a:tailEnd/>
          </a:ln>
          <a:effectLst/>
        </p:spPr>
        <p:txBody>
          <a:bodyPr wrap="none" anchor="ctr"/>
          <a:lstStyle/>
          <a:p>
            <a:endParaRPr lang="ru-RU"/>
          </a:p>
        </p:txBody>
      </p:sp>
      <p:sp>
        <p:nvSpPr>
          <p:cNvPr id="13320" name="AutoShape 8"/>
          <p:cNvSpPr>
            <a:spLocks noChangeArrowheads="1"/>
          </p:cNvSpPr>
          <p:nvPr/>
        </p:nvSpPr>
        <p:spPr bwMode="auto">
          <a:xfrm>
            <a:off x="6934200" y="4038600"/>
            <a:ext cx="1676400" cy="990600"/>
          </a:xfrm>
          <a:prstGeom prst="cloudCallout">
            <a:avLst>
              <a:gd name="adj1" fmla="val 357292"/>
              <a:gd name="adj2" fmla="val 181088"/>
            </a:avLst>
          </a:prstGeom>
          <a:noFill/>
          <a:ln w="9525">
            <a:solidFill>
              <a:schemeClr val="tx1"/>
            </a:solidFill>
            <a:round/>
            <a:headEnd/>
            <a:tailEnd/>
          </a:ln>
          <a:effectLst/>
        </p:spPr>
        <p:txBody>
          <a:bodyPr/>
          <a:lstStyle/>
          <a:p>
            <a:pPr algn="ctr"/>
            <a:r>
              <a:rPr lang="ru-RU">
                <a:cs typeface="Arial" charset="0"/>
              </a:rPr>
              <a:t>Сеть</a:t>
            </a:r>
          </a:p>
          <a:p>
            <a:pPr algn="ctr"/>
            <a:r>
              <a:rPr lang="ru-RU">
                <a:cs typeface="Arial" charset="0"/>
              </a:rPr>
              <a:t>192.1.2.0</a:t>
            </a:r>
          </a:p>
        </p:txBody>
      </p:sp>
      <p:sp>
        <p:nvSpPr>
          <p:cNvPr id="13321" name="Line 9"/>
          <p:cNvSpPr>
            <a:spLocks noChangeShapeType="1"/>
          </p:cNvSpPr>
          <p:nvPr/>
        </p:nvSpPr>
        <p:spPr bwMode="auto">
          <a:xfrm>
            <a:off x="6324600" y="4572000"/>
            <a:ext cx="609600" cy="0"/>
          </a:xfrm>
          <a:prstGeom prst="line">
            <a:avLst/>
          </a:prstGeom>
          <a:noFill/>
          <a:ln w="9525">
            <a:solidFill>
              <a:schemeClr val="tx1"/>
            </a:solidFill>
            <a:round/>
            <a:headEnd/>
            <a:tailEnd/>
          </a:ln>
          <a:effectLst/>
        </p:spPr>
        <p:txBody>
          <a:bodyPr/>
          <a:lstStyle/>
          <a:p>
            <a:endParaRPr lang="ru-RU"/>
          </a:p>
        </p:txBody>
      </p:sp>
      <p:sp>
        <p:nvSpPr>
          <p:cNvPr id="13322" name="Text Box 10"/>
          <p:cNvSpPr txBox="1">
            <a:spLocks noChangeArrowheads="1"/>
          </p:cNvSpPr>
          <p:nvPr/>
        </p:nvSpPr>
        <p:spPr bwMode="auto">
          <a:xfrm>
            <a:off x="1857375" y="3810000"/>
            <a:ext cx="1876425" cy="366713"/>
          </a:xfrm>
          <a:prstGeom prst="rect">
            <a:avLst/>
          </a:prstGeom>
          <a:noFill/>
          <a:ln w="9525">
            <a:noFill/>
            <a:miter lim="800000"/>
            <a:headEnd/>
            <a:tailEnd/>
          </a:ln>
          <a:effectLst/>
        </p:spPr>
        <p:txBody>
          <a:bodyPr wrap="none">
            <a:spAutoFit/>
          </a:bodyPr>
          <a:lstStyle/>
          <a:p>
            <a:r>
              <a:rPr lang="ru-RU">
                <a:cs typeface="Arial" charset="0"/>
              </a:rPr>
              <a:t>Маршрутизатор</a:t>
            </a:r>
          </a:p>
        </p:txBody>
      </p:sp>
      <p:sp>
        <p:nvSpPr>
          <p:cNvPr id="13323" name="Text Box 11"/>
          <p:cNvSpPr txBox="1">
            <a:spLocks noChangeArrowheads="1"/>
          </p:cNvSpPr>
          <p:nvPr/>
        </p:nvSpPr>
        <p:spPr bwMode="auto">
          <a:xfrm>
            <a:off x="5057775" y="3810000"/>
            <a:ext cx="1876425" cy="366713"/>
          </a:xfrm>
          <a:prstGeom prst="rect">
            <a:avLst/>
          </a:prstGeom>
          <a:noFill/>
          <a:ln w="9525">
            <a:noFill/>
            <a:miter lim="800000"/>
            <a:headEnd/>
            <a:tailEnd/>
          </a:ln>
          <a:effectLst/>
        </p:spPr>
        <p:txBody>
          <a:bodyPr wrap="none">
            <a:spAutoFit/>
          </a:bodyPr>
          <a:lstStyle/>
          <a:p>
            <a:r>
              <a:rPr lang="ru-RU">
                <a:cs typeface="Arial" charset="0"/>
              </a:rPr>
              <a:t>Маршрутизатор</a:t>
            </a:r>
          </a:p>
        </p:txBody>
      </p:sp>
      <p:sp>
        <p:nvSpPr>
          <p:cNvPr id="13324" name="Line 12"/>
          <p:cNvSpPr>
            <a:spLocks noChangeShapeType="1"/>
          </p:cNvSpPr>
          <p:nvPr/>
        </p:nvSpPr>
        <p:spPr bwMode="auto">
          <a:xfrm>
            <a:off x="3048000" y="4572000"/>
            <a:ext cx="2667000" cy="0"/>
          </a:xfrm>
          <a:prstGeom prst="line">
            <a:avLst/>
          </a:prstGeom>
          <a:noFill/>
          <a:ln w="9525">
            <a:solidFill>
              <a:schemeClr val="tx1"/>
            </a:solidFill>
            <a:round/>
            <a:headEnd/>
            <a:tailEnd/>
          </a:ln>
          <a:effectLst/>
        </p:spPr>
        <p:txBody>
          <a:bodyPr/>
          <a:lstStyle/>
          <a:p>
            <a:endParaRPr lang="ru-RU"/>
          </a:p>
        </p:txBody>
      </p:sp>
      <p:sp>
        <p:nvSpPr>
          <p:cNvPr id="13325" name="Text Box 13"/>
          <p:cNvSpPr txBox="1">
            <a:spLocks noChangeArrowheads="1"/>
          </p:cNvSpPr>
          <p:nvPr/>
        </p:nvSpPr>
        <p:spPr bwMode="auto">
          <a:xfrm>
            <a:off x="2971800" y="4552950"/>
            <a:ext cx="1136650" cy="366713"/>
          </a:xfrm>
          <a:prstGeom prst="rect">
            <a:avLst/>
          </a:prstGeom>
          <a:noFill/>
          <a:ln w="9525">
            <a:noFill/>
            <a:miter lim="800000"/>
            <a:headEnd/>
            <a:tailEnd/>
          </a:ln>
          <a:effectLst/>
        </p:spPr>
        <p:txBody>
          <a:bodyPr wrap="none">
            <a:spAutoFit/>
          </a:bodyPr>
          <a:lstStyle/>
          <a:p>
            <a:r>
              <a:rPr lang="ru-RU">
                <a:cs typeface="Arial" charset="0"/>
              </a:rPr>
              <a:t>192.1.3.1</a:t>
            </a:r>
          </a:p>
        </p:txBody>
      </p:sp>
      <p:sp>
        <p:nvSpPr>
          <p:cNvPr id="13326" name="Text Box 14"/>
          <p:cNvSpPr txBox="1">
            <a:spLocks noChangeArrowheads="1"/>
          </p:cNvSpPr>
          <p:nvPr/>
        </p:nvSpPr>
        <p:spPr bwMode="auto">
          <a:xfrm>
            <a:off x="4605338" y="4552950"/>
            <a:ext cx="1136650" cy="366713"/>
          </a:xfrm>
          <a:prstGeom prst="rect">
            <a:avLst/>
          </a:prstGeom>
          <a:noFill/>
          <a:ln w="9525">
            <a:noFill/>
            <a:miter lim="800000"/>
            <a:headEnd/>
            <a:tailEnd/>
          </a:ln>
          <a:effectLst/>
        </p:spPr>
        <p:txBody>
          <a:bodyPr wrap="none">
            <a:spAutoFit/>
          </a:bodyPr>
          <a:lstStyle/>
          <a:p>
            <a:r>
              <a:rPr lang="ru-RU">
                <a:cs typeface="Arial" charset="0"/>
              </a:rPr>
              <a:t>192.1.3.2</a:t>
            </a:r>
          </a:p>
        </p:txBody>
      </p:sp>
      <p:sp>
        <p:nvSpPr>
          <p:cNvPr id="13327" name="Text Box 15"/>
          <p:cNvSpPr txBox="1">
            <a:spLocks noChangeArrowheads="1"/>
          </p:cNvSpPr>
          <p:nvPr/>
        </p:nvSpPr>
        <p:spPr bwMode="auto">
          <a:xfrm>
            <a:off x="3048000" y="4997450"/>
            <a:ext cx="2667000" cy="641350"/>
          </a:xfrm>
          <a:prstGeom prst="rect">
            <a:avLst/>
          </a:prstGeom>
          <a:noFill/>
          <a:ln w="9525">
            <a:noFill/>
            <a:miter lim="800000"/>
            <a:headEnd/>
            <a:tailEnd/>
          </a:ln>
          <a:effectLst/>
        </p:spPr>
        <p:txBody>
          <a:bodyPr>
            <a:spAutoFit/>
          </a:bodyPr>
          <a:lstStyle/>
          <a:p>
            <a:pPr algn="ctr"/>
            <a:r>
              <a:rPr lang="ru-RU" b="1">
                <a:cs typeface="Arial" charset="0"/>
              </a:rPr>
              <a:t>Вырожденная сеть</a:t>
            </a:r>
          </a:p>
          <a:p>
            <a:pPr algn="ctr"/>
            <a:r>
              <a:rPr lang="ru-RU" b="1">
                <a:cs typeface="Arial" charset="0"/>
              </a:rPr>
              <a:t>192.1.3.0</a:t>
            </a:r>
          </a:p>
        </p:txBody>
      </p:sp>
      <p:sp>
        <p:nvSpPr>
          <p:cNvPr id="13328" name="Line 16"/>
          <p:cNvSpPr>
            <a:spLocks noChangeShapeType="1"/>
          </p:cNvSpPr>
          <p:nvPr/>
        </p:nvSpPr>
        <p:spPr bwMode="auto">
          <a:xfrm>
            <a:off x="3048000" y="4724400"/>
            <a:ext cx="0" cy="1219200"/>
          </a:xfrm>
          <a:prstGeom prst="line">
            <a:avLst/>
          </a:prstGeom>
          <a:noFill/>
          <a:ln w="9525">
            <a:solidFill>
              <a:schemeClr val="tx1"/>
            </a:solidFill>
            <a:prstDash val="dash"/>
            <a:round/>
            <a:headEnd/>
            <a:tailEnd/>
          </a:ln>
          <a:effectLst/>
        </p:spPr>
        <p:txBody>
          <a:bodyPr/>
          <a:lstStyle/>
          <a:p>
            <a:endParaRPr lang="ru-RU"/>
          </a:p>
        </p:txBody>
      </p:sp>
      <p:sp>
        <p:nvSpPr>
          <p:cNvPr id="13329" name="Line 17"/>
          <p:cNvSpPr>
            <a:spLocks noChangeShapeType="1"/>
          </p:cNvSpPr>
          <p:nvPr/>
        </p:nvSpPr>
        <p:spPr bwMode="auto">
          <a:xfrm>
            <a:off x="5715000" y="4724400"/>
            <a:ext cx="0" cy="1219200"/>
          </a:xfrm>
          <a:prstGeom prst="line">
            <a:avLst/>
          </a:prstGeom>
          <a:noFill/>
          <a:ln w="9525">
            <a:solidFill>
              <a:schemeClr val="tx1"/>
            </a:solidFill>
            <a:prstDash val="dash"/>
            <a:round/>
            <a:headEnd/>
            <a:tailEnd/>
          </a:ln>
          <a:effectLst/>
        </p:spPr>
        <p:txBody>
          <a:bodyPr/>
          <a:lstStyle/>
          <a:p>
            <a:endParaRPr lang="ru-RU"/>
          </a:p>
        </p:txBody>
      </p:sp>
      <p:pic>
        <p:nvPicPr>
          <p:cNvPr id="13330" name="slide_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330"/>
                                        </p:tgtEl>
                                      </p:cBhvr>
                                    </p:cmd>
                                  </p:childTnLst>
                                </p:cTn>
                              </p:par>
                            </p:childTnLst>
                          </p:cTn>
                        </p:par>
                      </p:childTnLst>
                    </p:cTn>
                  </p:par>
                </p:childTnLst>
              </p:cTn>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CIDR</a:t>
            </a:r>
            <a:endParaRPr lang="ru-RU"/>
          </a:p>
        </p:txBody>
      </p:sp>
      <p:sp>
        <p:nvSpPr>
          <p:cNvPr id="14339" name="Rectangle 3"/>
          <p:cNvSpPr>
            <a:spLocks noGrp="1" noChangeArrowheads="1"/>
          </p:cNvSpPr>
          <p:nvPr>
            <p:ph type="body" idx="1"/>
          </p:nvPr>
        </p:nvSpPr>
        <p:spPr/>
        <p:txBody>
          <a:bodyPr/>
          <a:lstStyle/>
          <a:p>
            <a:pPr>
              <a:lnSpc>
                <a:spcPct val="90000"/>
              </a:lnSpc>
            </a:pPr>
            <a:r>
              <a:rPr lang="ru-RU" sz="2800"/>
              <a:t>Бесклассовая междоменная маршрутизация (</a:t>
            </a:r>
            <a:r>
              <a:rPr lang="en-US" sz="2800"/>
              <a:t>Classless Inter Domain Routing, CIDR</a:t>
            </a:r>
            <a:r>
              <a:rPr lang="ru-RU" sz="2800"/>
              <a:t>) – отказ от классов </a:t>
            </a:r>
            <a:r>
              <a:rPr lang="en-US" sz="2800"/>
              <a:t>IP</a:t>
            </a:r>
            <a:r>
              <a:rPr lang="ru-RU" sz="2800"/>
              <a:t>-адресов</a:t>
            </a:r>
          </a:p>
          <a:p>
            <a:pPr>
              <a:lnSpc>
                <a:spcPct val="90000"/>
              </a:lnSpc>
            </a:pPr>
            <a:r>
              <a:rPr lang="ru-RU" sz="2800"/>
              <a:t>Появилась в 1993 г.</a:t>
            </a:r>
          </a:p>
          <a:p>
            <a:pPr lvl="1">
              <a:lnSpc>
                <a:spcPct val="90000"/>
              </a:lnSpc>
            </a:pPr>
            <a:r>
              <a:rPr lang="en-US" sz="2400"/>
              <a:t>RFC 1517-1520</a:t>
            </a:r>
          </a:p>
          <a:p>
            <a:pPr lvl="1">
              <a:lnSpc>
                <a:spcPct val="90000"/>
              </a:lnSpc>
            </a:pPr>
            <a:r>
              <a:rPr lang="ru-RU" sz="2400"/>
              <a:t>Используется сейчас</a:t>
            </a:r>
          </a:p>
          <a:p>
            <a:pPr>
              <a:lnSpc>
                <a:spcPct val="90000"/>
              </a:lnSpc>
            </a:pPr>
            <a:r>
              <a:rPr lang="ru-RU" sz="2800"/>
              <a:t>Для определения номера сети применяются маски переменной длинны</a:t>
            </a:r>
          </a:p>
          <a:p>
            <a:pPr>
              <a:lnSpc>
                <a:spcPct val="90000"/>
              </a:lnSpc>
            </a:pPr>
            <a:r>
              <a:rPr lang="ru-RU" sz="2800"/>
              <a:t>Любое количество хостов в сети</a:t>
            </a:r>
          </a:p>
        </p:txBody>
      </p:sp>
      <p:pic>
        <p:nvPicPr>
          <p:cNvPr id="14340" name="slide_1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340"/>
                                        </p:tgtEl>
                                      </p:cBhvr>
                                    </p:cmd>
                                  </p:childTnLst>
                                </p:cTn>
                              </p:par>
                            </p:childTnLst>
                          </p:cTn>
                        </p:par>
                      </p:childTnLst>
                    </p:cTn>
                  </p:par>
                </p:childTnLst>
              </p:cTn>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ru-RU"/>
              <a:t>Маска подсети</a:t>
            </a:r>
          </a:p>
        </p:txBody>
      </p:sp>
      <p:sp>
        <p:nvSpPr>
          <p:cNvPr id="15363" name="Rectangle 3"/>
          <p:cNvSpPr>
            <a:spLocks noGrp="1" noChangeArrowheads="1"/>
          </p:cNvSpPr>
          <p:nvPr>
            <p:ph type="body" idx="1"/>
          </p:nvPr>
        </p:nvSpPr>
        <p:spPr/>
        <p:txBody>
          <a:bodyPr/>
          <a:lstStyle/>
          <a:p>
            <a:r>
              <a:rPr lang="ru-RU"/>
              <a:t>Маска подсети показывает, где в </a:t>
            </a:r>
            <a:r>
              <a:rPr lang="en-US"/>
              <a:t>IP</a:t>
            </a:r>
            <a:r>
              <a:rPr lang="ru-RU"/>
              <a:t>-адресе номер сети, а где хоста</a:t>
            </a:r>
          </a:p>
          <a:p>
            <a:r>
              <a:rPr lang="ru-RU"/>
              <a:t>Структура маски:</a:t>
            </a:r>
          </a:p>
          <a:p>
            <a:pPr lvl="1"/>
            <a:r>
              <a:rPr lang="ru-RU"/>
              <a:t>Единицы в позициях, задающих номер сети</a:t>
            </a:r>
          </a:p>
          <a:p>
            <a:pPr lvl="1"/>
            <a:r>
              <a:rPr lang="ru-RU"/>
              <a:t>Нули в позициях, задающих номер хоста</a:t>
            </a:r>
          </a:p>
          <a:p>
            <a:r>
              <a:rPr lang="ru-RU"/>
              <a:t>Способ получения номера сети:</a:t>
            </a:r>
          </a:p>
          <a:p>
            <a:pPr lvl="1"/>
            <a:r>
              <a:rPr lang="ru-RU"/>
              <a:t>Побитовое И маски и </a:t>
            </a:r>
            <a:r>
              <a:rPr lang="en-US"/>
              <a:t>IP</a:t>
            </a:r>
            <a:r>
              <a:rPr lang="ru-RU"/>
              <a:t>-адреса</a:t>
            </a:r>
          </a:p>
        </p:txBody>
      </p:sp>
      <p:pic>
        <p:nvPicPr>
          <p:cNvPr id="15364" name="slide_1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364"/>
                                        </p:tgtEl>
                                      </p:cBhvr>
                                    </p:cmd>
                                  </p:childTnLst>
                                </p:cTn>
                              </p:par>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ru-RU"/>
              <a:t>Маска подсети</a:t>
            </a:r>
          </a:p>
        </p:txBody>
      </p:sp>
      <p:sp>
        <p:nvSpPr>
          <p:cNvPr id="16387" name="Rectangle 3"/>
          <p:cNvSpPr>
            <a:spLocks noGrp="1" noChangeArrowheads="1"/>
          </p:cNvSpPr>
          <p:nvPr>
            <p:ph type="body" idx="1"/>
          </p:nvPr>
        </p:nvSpPr>
        <p:spPr/>
        <p:txBody>
          <a:bodyPr/>
          <a:lstStyle/>
          <a:p>
            <a:r>
              <a:rPr lang="ru-RU"/>
              <a:t>Пример вычисления адреса сети</a:t>
            </a:r>
          </a:p>
          <a:p>
            <a:r>
              <a:rPr lang="en-US"/>
              <a:t>IP</a:t>
            </a:r>
            <a:r>
              <a:rPr lang="ru-RU"/>
              <a:t>-адрес: 213.180.193.3</a:t>
            </a:r>
            <a:endParaRPr lang="en-US"/>
          </a:p>
          <a:p>
            <a:r>
              <a:rPr lang="ru-RU"/>
              <a:t>Расчет в двоичном представлении</a:t>
            </a:r>
          </a:p>
          <a:p>
            <a:endParaRPr lang="ru-RU"/>
          </a:p>
          <a:p>
            <a:endParaRPr lang="ru-RU"/>
          </a:p>
          <a:p>
            <a:r>
              <a:rPr lang="ru-RU"/>
              <a:t>Результат: 213.180.0.0</a:t>
            </a:r>
          </a:p>
        </p:txBody>
      </p:sp>
      <p:sp>
        <p:nvSpPr>
          <p:cNvPr id="16388" name="Text Box 4"/>
          <p:cNvSpPr txBox="1">
            <a:spLocks noChangeArrowheads="1"/>
          </p:cNvSpPr>
          <p:nvPr/>
        </p:nvSpPr>
        <p:spPr bwMode="auto">
          <a:xfrm>
            <a:off x="900113" y="3284538"/>
            <a:ext cx="7696200" cy="1465262"/>
          </a:xfrm>
          <a:prstGeom prst="rect">
            <a:avLst/>
          </a:prstGeom>
          <a:noFill/>
          <a:ln w="9525">
            <a:noFill/>
            <a:miter lim="800000"/>
            <a:headEnd/>
            <a:tailEnd/>
          </a:ln>
          <a:effectLst/>
        </p:spPr>
        <p:txBody>
          <a:bodyPr>
            <a:spAutoFit/>
          </a:bodyPr>
          <a:lstStyle/>
          <a:p>
            <a:r>
              <a:rPr lang="en-US">
                <a:latin typeface="Consolas" pitchFamily="49" charset="0"/>
                <a:cs typeface="Arial" charset="0"/>
              </a:rPr>
              <a:t>IP</a:t>
            </a:r>
            <a:r>
              <a:rPr lang="ru-RU">
                <a:latin typeface="Consolas" pitchFamily="49" charset="0"/>
                <a:cs typeface="Arial" charset="0"/>
              </a:rPr>
              <a:t>:   11010101.10110100.11000001.00000011</a:t>
            </a:r>
          </a:p>
          <a:p>
            <a:r>
              <a:rPr lang="ru-RU">
                <a:latin typeface="Consolas" pitchFamily="49" charset="0"/>
                <a:cs typeface="Arial" charset="0"/>
              </a:rPr>
              <a:t> </a:t>
            </a:r>
            <a:r>
              <a:rPr lang="en-US">
                <a:latin typeface="Consolas" pitchFamily="49" charset="0"/>
                <a:cs typeface="Arial" charset="0"/>
              </a:rPr>
              <a:t>AND   </a:t>
            </a:r>
            <a:endParaRPr lang="ru-RU">
              <a:latin typeface="Consolas" pitchFamily="49" charset="0"/>
              <a:cs typeface="Arial" charset="0"/>
            </a:endParaRPr>
          </a:p>
          <a:p>
            <a:r>
              <a:rPr lang="en-US">
                <a:latin typeface="Consolas" pitchFamily="49" charset="0"/>
                <a:cs typeface="Arial" charset="0"/>
              </a:rPr>
              <a:t>Mask</a:t>
            </a:r>
            <a:r>
              <a:rPr lang="ru-RU">
                <a:latin typeface="Consolas" pitchFamily="49" charset="0"/>
                <a:cs typeface="Arial" charset="0"/>
              </a:rPr>
              <a:t>: 11</a:t>
            </a:r>
            <a:r>
              <a:rPr lang="en-US">
                <a:latin typeface="Consolas" pitchFamily="49" charset="0"/>
                <a:cs typeface="Arial" charset="0"/>
              </a:rPr>
              <a:t>1</a:t>
            </a:r>
            <a:r>
              <a:rPr lang="ru-RU">
                <a:latin typeface="Consolas" pitchFamily="49" charset="0"/>
                <a:cs typeface="Arial" charset="0"/>
              </a:rPr>
              <a:t>1</a:t>
            </a:r>
            <a:r>
              <a:rPr lang="en-US">
                <a:latin typeface="Consolas" pitchFamily="49" charset="0"/>
                <a:cs typeface="Arial" charset="0"/>
              </a:rPr>
              <a:t>1</a:t>
            </a:r>
            <a:r>
              <a:rPr lang="ru-RU">
                <a:latin typeface="Consolas" pitchFamily="49" charset="0"/>
                <a:cs typeface="Arial" charset="0"/>
              </a:rPr>
              <a:t>1</a:t>
            </a:r>
            <a:r>
              <a:rPr lang="en-US">
                <a:latin typeface="Consolas" pitchFamily="49" charset="0"/>
                <a:cs typeface="Arial" charset="0"/>
              </a:rPr>
              <a:t>1</a:t>
            </a:r>
            <a:r>
              <a:rPr lang="ru-RU">
                <a:latin typeface="Consolas" pitchFamily="49" charset="0"/>
                <a:cs typeface="Arial" charset="0"/>
              </a:rPr>
              <a:t>1.1</a:t>
            </a:r>
            <a:r>
              <a:rPr lang="en-US">
                <a:latin typeface="Consolas" pitchFamily="49" charset="0"/>
                <a:cs typeface="Arial" charset="0"/>
              </a:rPr>
              <a:t>1</a:t>
            </a:r>
            <a:r>
              <a:rPr lang="ru-RU">
                <a:latin typeface="Consolas" pitchFamily="49" charset="0"/>
                <a:cs typeface="Arial" charset="0"/>
              </a:rPr>
              <a:t>11</a:t>
            </a:r>
            <a:r>
              <a:rPr lang="en-US">
                <a:latin typeface="Consolas" pitchFamily="49" charset="0"/>
                <a:cs typeface="Arial" charset="0"/>
              </a:rPr>
              <a:t>1</a:t>
            </a:r>
            <a:r>
              <a:rPr lang="ru-RU">
                <a:latin typeface="Consolas" pitchFamily="49" charset="0"/>
                <a:cs typeface="Arial" charset="0"/>
              </a:rPr>
              <a:t>1</a:t>
            </a:r>
            <a:r>
              <a:rPr lang="en-US">
                <a:latin typeface="Consolas" pitchFamily="49" charset="0"/>
                <a:cs typeface="Arial" charset="0"/>
              </a:rPr>
              <a:t>11</a:t>
            </a:r>
            <a:r>
              <a:rPr lang="ru-RU">
                <a:latin typeface="Consolas" pitchFamily="49" charset="0"/>
                <a:cs typeface="Arial" charset="0"/>
              </a:rPr>
              <a:t>.</a:t>
            </a:r>
            <a:r>
              <a:rPr lang="en-US">
                <a:latin typeface="Consolas" pitchFamily="49" charset="0"/>
                <a:cs typeface="Arial" charset="0"/>
              </a:rPr>
              <a:t>00</a:t>
            </a:r>
            <a:r>
              <a:rPr lang="ru-RU">
                <a:latin typeface="Consolas" pitchFamily="49" charset="0"/>
                <a:cs typeface="Arial" charset="0"/>
              </a:rPr>
              <a:t>00000</a:t>
            </a:r>
            <a:r>
              <a:rPr lang="en-US">
                <a:latin typeface="Consolas" pitchFamily="49" charset="0"/>
                <a:cs typeface="Arial" charset="0"/>
              </a:rPr>
              <a:t>0</a:t>
            </a:r>
            <a:r>
              <a:rPr lang="ru-RU">
                <a:latin typeface="Consolas" pitchFamily="49" charset="0"/>
                <a:cs typeface="Arial" charset="0"/>
              </a:rPr>
              <a:t>.000000</a:t>
            </a:r>
            <a:r>
              <a:rPr lang="en-US">
                <a:latin typeface="Consolas" pitchFamily="49" charset="0"/>
                <a:cs typeface="Arial" charset="0"/>
              </a:rPr>
              <a:t>00</a:t>
            </a:r>
          </a:p>
          <a:p>
            <a:r>
              <a:rPr lang="en-US">
                <a:latin typeface="Consolas" pitchFamily="49" charset="0"/>
                <a:cs typeface="Arial" charset="0"/>
              </a:rPr>
              <a:t>Net:  </a:t>
            </a:r>
            <a:r>
              <a:rPr lang="ru-RU">
                <a:latin typeface="Consolas" pitchFamily="49" charset="0"/>
                <a:cs typeface="Arial" charset="0"/>
              </a:rPr>
              <a:t>11010101.10110100.</a:t>
            </a:r>
            <a:r>
              <a:rPr lang="en-US">
                <a:latin typeface="Consolas" pitchFamily="49" charset="0"/>
                <a:cs typeface="Arial" charset="0"/>
              </a:rPr>
              <a:t>00</a:t>
            </a:r>
            <a:r>
              <a:rPr lang="ru-RU">
                <a:latin typeface="Consolas" pitchFamily="49" charset="0"/>
                <a:cs typeface="Arial" charset="0"/>
              </a:rPr>
              <a:t>00000</a:t>
            </a:r>
            <a:r>
              <a:rPr lang="en-US">
                <a:latin typeface="Consolas" pitchFamily="49" charset="0"/>
                <a:cs typeface="Arial" charset="0"/>
              </a:rPr>
              <a:t>0</a:t>
            </a:r>
            <a:r>
              <a:rPr lang="ru-RU">
                <a:latin typeface="Consolas" pitchFamily="49" charset="0"/>
                <a:cs typeface="Arial" charset="0"/>
              </a:rPr>
              <a:t>.000000</a:t>
            </a:r>
            <a:r>
              <a:rPr lang="en-US">
                <a:latin typeface="Consolas" pitchFamily="49" charset="0"/>
                <a:cs typeface="Arial" charset="0"/>
              </a:rPr>
              <a:t>00</a:t>
            </a:r>
          </a:p>
          <a:p>
            <a:endParaRPr lang="ru-RU">
              <a:latin typeface="Consolas" pitchFamily="49" charset="0"/>
              <a:cs typeface="Arial" charset="0"/>
            </a:endParaRPr>
          </a:p>
        </p:txBody>
      </p:sp>
      <p:pic>
        <p:nvPicPr>
          <p:cNvPr id="16389" name="slide_1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389"/>
                                        </p:tgtEl>
                                      </p:cBhvr>
                                    </p:cmd>
                                  </p:childTnLst>
                                </p:cTn>
                              </p:par>
                            </p:childTnLst>
                          </p:cTn>
                        </p:par>
                      </p:childTnLst>
                    </p:cTn>
                  </p:par>
                </p:childTnLst>
              </p:cTn>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ru-RU"/>
              <a:t>Представление маски подсети </a:t>
            </a:r>
          </a:p>
        </p:txBody>
      </p:sp>
      <p:sp>
        <p:nvSpPr>
          <p:cNvPr id="17411" name="Rectangle 3"/>
          <p:cNvSpPr>
            <a:spLocks noGrp="1" noChangeArrowheads="1"/>
          </p:cNvSpPr>
          <p:nvPr>
            <p:ph type="body" idx="1"/>
          </p:nvPr>
        </p:nvSpPr>
        <p:spPr/>
        <p:txBody>
          <a:bodyPr/>
          <a:lstStyle/>
          <a:p>
            <a:r>
              <a:rPr lang="ru-RU" sz="2800"/>
              <a:t>Десятичное представление:</a:t>
            </a:r>
          </a:p>
          <a:p>
            <a:pPr lvl="1"/>
            <a:r>
              <a:rPr lang="en-US" sz="2400"/>
              <a:t>IP-</a:t>
            </a:r>
            <a:r>
              <a:rPr lang="ru-RU" sz="2400"/>
              <a:t>адрес: 213.180.193.3</a:t>
            </a:r>
            <a:endParaRPr lang="en-US" sz="2400"/>
          </a:p>
          <a:p>
            <a:pPr lvl="1"/>
            <a:r>
              <a:rPr lang="ru-RU" sz="2400"/>
              <a:t>Маска подсети: </a:t>
            </a:r>
            <a:r>
              <a:rPr lang="en-US" sz="2400"/>
              <a:t>255.255.255.0</a:t>
            </a:r>
          </a:p>
          <a:p>
            <a:pPr lvl="1"/>
            <a:r>
              <a:rPr lang="ru-RU" sz="2400"/>
              <a:t>Адрес сети: 213.180.193.0</a:t>
            </a:r>
          </a:p>
          <a:p>
            <a:r>
              <a:rPr lang="ru-RU" sz="2800"/>
              <a:t>В виде префикса:</a:t>
            </a:r>
          </a:p>
          <a:p>
            <a:pPr lvl="1"/>
            <a:r>
              <a:rPr lang="ru-RU" sz="2400"/>
              <a:t>213.180.193.3 / 24</a:t>
            </a:r>
          </a:p>
          <a:p>
            <a:pPr lvl="1"/>
            <a:r>
              <a:rPr lang="ru-RU" sz="2400"/>
              <a:t>Адрес сети: 213.180.193.0</a:t>
            </a:r>
          </a:p>
          <a:p>
            <a:r>
              <a:rPr lang="ru-RU" sz="2800"/>
              <a:t>Оба представления эквивалентны</a:t>
            </a:r>
          </a:p>
        </p:txBody>
      </p:sp>
      <p:pic>
        <p:nvPicPr>
          <p:cNvPr id="17412" name="slide_1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412"/>
                                        </p:tgtEl>
                                      </p:cBhvr>
                                    </p:cmd>
                                  </p:childTnLst>
                                </p:cTn>
                              </p:par>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ru-RU"/>
              <a:t>Маска подсети</a:t>
            </a:r>
          </a:p>
        </p:txBody>
      </p:sp>
      <p:sp>
        <p:nvSpPr>
          <p:cNvPr id="18435" name="Rectangle 3"/>
          <p:cNvSpPr>
            <a:spLocks noGrp="1" noChangeArrowheads="1"/>
          </p:cNvSpPr>
          <p:nvPr>
            <p:ph type="body" idx="1"/>
          </p:nvPr>
        </p:nvSpPr>
        <p:spPr/>
        <p:txBody>
          <a:bodyPr/>
          <a:lstStyle/>
          <a:p>
            <a:r>
              <a:rPr lang="ru-RU"/>
              <a:t>Может ли маска подсети быть такой:</a:t>
            </a:r>
          </a:p>
          <a:p>
            <a:pPr lvl="1"/>
            <a:r>
              <a:rPr lang="ru-RU"/>
              <a:t>255.255.255.128</a:t>
            </a:r>
          </a:p>
          <a:p>
            <a:pPr lvl="1"/>
            <a:r>
              <a:rPr lang="ru-RU"/>
              <a:t>11111111.11111111.11111111.10000000</a:t>
            </a:r>
          </a:p>
          <a:p>
            <a:r>
              <a:rPr lang="ru-RU"/>
              <a:t>Может ли маска подсети быть такой:</a:t>
            </a:r>
          </a:p>
          <a:p>
            <a:pPr lvl="1"/>
            <a:r>
              <a:rPr lang="ru-RU"/>
              <a:t>255.255.160.0</a:t>
            </a:r>
          </a:p>
          <a:p>
            <a:pPr lvl="1"/>
            <a:r>
              <a:rPr lang="ru-RU"/>
              <a:t>11111111.11111111.10100000.00000000</a:t>
            </a:r>
          </a:p>
        </p:txBody>
      </p:sp>
      <p:pic>
        <p:nvPicPr>
          <p:cNvPr id="18436" name="slide_1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436"/>
                                        </p:tgtEl>
                                      </p:cBhvr>
                                    </p:cmd>
                                  </p:childTnLst>
                                </p:cTn>
                              </p:par>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95288" y="0"/>
            <a:ext cx="8229600" cy="1143000"/>
          </a:xfrm>
        </p:spPr>
        <p:txBody>
          <a:bodyPr/>
          <a:lstStyle/>
          <a:p>
            <a:r>
              <a:rPr lang="ru-RU"/>
              <a:t>Маска подсети</a:t>
            </a:r>
          </a:p>
        </p:txBody>
      </p:sp>
      <p:sp>
        <p:nvSpPr>
          <p:cNvPr id="54275" name="Rectangle 3"/>
          <p:cNvSpPr>
            <a:spLocks noGrp="1" noChangeArrowheads="1"/>
          </p:cNvSpPr>
          <p:nvPr>
            <p:ph type="body" idx="1"/>
          </p:nvPr>
        </p:nvSpPr>
        <p:spPr>
          <a:xfrm>
            <a:off x="395288" y="981075"/>
            <a:ext cx="8229600" cy="5327650"/>
          </a:xfrm>
        </p:spPr>
        <p:txBody>
          <a:bodyPr/>
          <a:lstStyle/>
          <a:p>
            <a:pPr>
              <a:lnSpc>
                <a:spcPct val="90000"/>
              </a:lnSpc>
            </a:pPr>
            <a:r>
              <a:rPr lang="ru-RU" sz="2000"/>
              <a:t>Сеть (вернее, адресное пространство сети, определяемое полем </a:t>
            </a:r>
            <a:r>
              <a:rPr lang="en-US" sz="2000"/>
              <a:t>netID</a:t>
            </a:r>
            <a:r>
              <a:rPr lang="ru-RU" sz="2000"/>
              <a:t>) можно разделить на несколько частей (подсетей)</a:t>
            </a:r>
          </a:p>
          <a:p>
            <a:pPr lvl="1">
              <a:lnSpc>
                <a:spcPct val="90000"/>
              </a:lnSpc>
            </a:pPr>
            <a:r>
              <a:rPr lang="ru-RU" sz="2000"/>
              <a:t>возможные причины для такого деления:</a:t>
            </a:r>
          </a:p>
          <a:p>
            <a:pPr lvl="2">
              <a:lnSpc>
                <a:spcPct val="90000"/>
              </a:lnSpc>
            </a:pPr>
            <a:r>
              <a:rPr lang="ru-RU" sz="2000"/>
              <a:t>территориальное распределение адресного пространства</a:t>
            </a:r>
          </a:p>
          <a:p>
            <a:pPr lvl="2">
              <a:lnSpc>
                <a:spcPct val="90000"/>
              </a:lnSpc>
            </a:pPr>
            <a:r>
              <a:rPr lang="ru-RU" sz="2000"/>
              <a:t>использование различных физических сред распространения данных в одной сети</a:t>
            </a:r>
          </a:p>
          <a:p>
            <a:pPr lvl="2">
              <a:lnSpc>
                <a:spcPct val="90000"/>
              </a:lnSpc>
            </a:pPr>
            <a:r>
              <a:rPr lang="ru-RU" sz="2000"/>
              <a:t>необходимость логического деления пространства сети</a:t>
            </a:r>
          </a:p>
          <a:p>
            <a:pPr lvl="1">
              <a:lnSpc>
                <a:spcPct val="90000"/>
              </a:lnSpc>
            </a:pPr>
            <a:r>
              <a:rPr lang="ru-RU" sz="2000"/>
              <a:t>инструмент деления: маска подсети</a:t>
            </a:r>
          </a:p>
          <a:p>
            <a:pPr lvl="2">
              <a:lnSpc>
                <a:spcPct val="90000"/>
              </a:lnSpc>
            </a:pPr>
            <a:r>
              <a:rPr lang="ru-RU" sz="2000"/>
              <a:t>логические деление </a:t>
            </a:r>
            <a:r>
              <a:rPr lang="en-US" sz="2000"/>
              <a:t>IP-</a:t>
            </a:r>
            <a:r>
              <a:rPr lang="ru-RU" sz="2000"/>
              <a:t>адреса:</a:t>
            </a:r>
            <a:br>
              <a:rPr lang="ru-RU" sz="2000"/>
            </a:br>
            <a:r>
              <a:rPr lang="en-US" sz="2000"/>
              <a:t>[netID] [subnetID] [HostAddressSpace]</a:t>
            </a:r>
          </a:p>
          <a:p>
            <a:pPr lvl="2">
              <a:lnSpc>
                <a:spcPct val="90000"/>
              </a:lnSpc>
            </a:pPr>
            <a:r>
              <a:rPr lang="ru-RU" sz="2000"/>
              <a:t>маска подсети: </a:t>
            </a:r>
            <a:r>
              <a:rPr lang="en-US" sz="2000"/>
              <a:t>aaa.bbb.ccc.ddd, </a:t>
            </a:r>
            <a:r>
              <a:rPr lang="ru-RU" sz="2000"/>
              <a:t>где битовое пространство </a:t>
            </a:r>
            <a:r>
              <a:rPr lang="en-US" sz="2000"/>
              <a:t>[netID]</a:t>
            </a:r>
            <a:r>
              <a:rPr lang="ru-RU" sz="2000"/>
              <a:t> и</a:t>
            </a:r>
            <a:r>
              <a:rPr lang="en-US" sz="2000"/>
              <a:t> [subnetID]</a:t>
            </a:r>
            <a:r>
              <a:rPr lang="ru-RU" sz="2000"/>
              <a:t> устанавливается в 1, а </a:t>
            </a:r>
            <a:r>
              <a:rPr lang="en-US" sz="2000"/>
              <a:t>[HostAddressSpace]</a:t>
            </a:r>
            <a:r>
              <a:rPr lang="ru-RU" sz="2000"/>
              <a:t> – в 0</a:t>
            </a:r>
          </a:p>
          <a:p>
            <a:pPr lvl="1">
              <a:lnSpc>
                <a:spcPct val="90000"/>
              </a:lnSpc>
            </a:pPr>
            <a:r>
              <a:rPr lang="ru-RU" sz="2000"/>
              <a:t>маска подсети администрируется и используется локально в только в данной подсети</a:t>
            </a:r>
          </a:p>
        </p:txBody>
      </p:sp>
      <p:pic>
        <p:nvPicPr>
          <p:cNvPr id="54276" name="slide_1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4276"/>
                                        </p:tgtEl>
                                      </p:cBhvr>
                                    </p:cmd>
                                  </p:childTnLst>
                                </p:cTn>
                              </p:par>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ru-RU"/>
              <a:t>Специальные </a:t>
            </a:r>
            <a:r>
              <a:rPr lang="en-US"/>
              <a:t>IP</a:t>
            </a:r>
            <a:r>
              <a:rPr lang="ru-RU"/>
              <a:t>-адреса</a:t>
            </a:r>
          </a:p>
        </p:txBody>
      </p:sp>
      <p:sp>
        <p:nvSpPr>
          <p:cNvPr id="19459" name="Rectangle 3"/>
          <p:cNvSpPr>
            <a:spLocks noGrp="1" noChangeArrowheads="1"/>
          </p:cNvSpPr>
          <p:nvPr>
            <p:ph type="body" idx="1"/>
          </p:nvPr>
        </p:nvSpPr>
        <p:spPr/>
        <p:txBody>
          <a:bodyPr/>
          <a:lstStyle/>
          <a:p>
            <a:pPr>
              <a:lnSpc>
                <a:spcPct val="90000"/>
              </a:lnSpc>
            </a:pPr>
            <a:r>
              <a:rPr lang="ru-RU" sz="2800"/>
              <a:t>В номере хоста нельзя использовать только битовые 0 или 1</a:t>
            </a:r>
          </a:p>
          <a:p>
            <a:pPr>
              <a:lnSpc>
                <a:spcPct val="90000"/>
              </a:lnSpc>
            </a:pPr>
            <a:r>
              <a:rPr lang="ru-RU" sz="2800"/>
              <a:t>Битовые 0 в номере хоста:</a:t>
            </a:r>
          </a:p>
          <a:p>
            <a:pPr lvl="1">
              <a:lnSpc>
                <a:spcPct val="90000"/>
              </a:lnSpc>
            </a:pPr>
            <a:r>
              <a:rPr lang="ru-RU" sz="2400"/>
              <a:t>Адрес сети: 213.180.0.0</a:t>
            </a:r>
          </a:p>
          <a:p>
            <a:pPr>
              <a:lnSpc>
                <a:spcPct val="90000"/>
              </a:lnSpc>
            </a:pPr>
            <a:r>
              <a:rPr lang="ru-RU" sz="2800"/>
              <a:t>Битовые 1 в номере хоста:</a:t>
            </a:r>
          </a:p>
          <a:p>
            <a:pPr lvl="1">
              <a:lnSpc>
                <a:spcPct val="90000"/>
              </a:lnSpc>
            </a:pPr>
            <a:r>
              <a:rPr lang="ru-RU" sz="2400"/>
              <a:t>Широковещательный адрес: 213.180.255.255</a:t>
            </a:r>
          </a:p>
          <a:p>
            <a:pPr>
              <a:lnSpc>
                <a:spcPct val="90000"/>
              </a:lnSpc>
            </a:pPr>
            <a:r>
              <a:rPr lang="ru-RU" sz="2800"/>
              <a:t>Договоренность (не обязательная):</a:t>
            </a:r>
          </a:p>
          <a:p>
            <a:pPr lvl="1">
              <a:lnSpc>
                <a:spcPct val="90000"/>
              </a:lnSpc>
            </a:pPr>
            <a:r>
              <a:rPr lang="ru-RU" sz="2400"/>
              <a:t>Хост с номером 1 – маршрутизатор по умолчанию (шлюз): 213.180.0.1 </a:t>
            </a:r>
          </a:p>
        </p:txBody>
      </p:sp>
      <p:pic>
        <p:nvPicPr>
          <p:cNvPr id="19460" name="slide_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460"/>
                                        </p:tgtEl>
                                      </p:cBhvr>
                                    </p:cmd>
                                  </p:childTnLst>
                                </p:cTn>
                              </p:par>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68313" y="0"/>
            <a:ext cx="8218487" cy="561975"/>
          </a:xfrm>
        </p:spPr>
        <p:txBody>
          <a:bodyPr/>
          <a:lstStyle/>
          <a:p>
            <a:r>
              <a:rPr lang="ru-RU" sz="2400"/>
              <a:t>Специальные адресные пространства</a:t>
            </a:r>
          </a:p>
        </p:txBody>
      </p:sp>
      <p:sp>
        <p:nvSpPr>
          <p:cNvPr id="43011" name="Rectangle 3"/>
          <p:cNvSpPr>
            <a:spLocks noGrp="1" noChangeArrowheads="1"/>
          </p:cNvSpPr>
          <p:nvPr>
            <p:ph type="body" idx="1"/>
          </p:nvPr>
        </p:nvSpPr>
        <p:spPr>
          <a:xfrm>
            <a:off x="1763713" y="404813"/>
            <a:ext cx="7597775" cy="6048375"/>
          </a:xfrm>
        </p:spPr>
        <p:txBody>
          <a:bodyPr/>
          <a:lstStyle/>
          <a:p>
            <a:pPr marL="457200" indent="-457200">
              <a:lnSpc>
                <a:spcPct val="90000"/>
              </a:lnSpc>
              <a:buFont typeface="Wingdings" pitchFamily="2" charset="2"/>
              <a:buAutoNum type="arabicPeriod"/>
            </a:pPr>
            <a:r>
              <a:rPr lang="ru-RU" sz="1800"/>
              <a:t>Адрес «этот хост», «пустышка»</a:t>
            </a:r>
          </a:p>
          <a:p>
            <a:pPr marL="838200" lvl="1" indent="-381000">
              <a:lnSpc>
                <a:spcPct val="90000"/>
              </a:lnSpc>
            </a:pPr>
            <a:r>
              <a:rPr lang="ru-RU" sz="1600"/>
              <a:t>может использоваться в инициализационной процедуре, когда рабочая станция не знает (или хочет согласовать) свой IP-адрес</a:t>
            </a:r>
          </a:p>
          <a:p>
            <a:pPr marL="838200" lvl="1" indent="-381000">
              <a:lnSpc>
                <a:spcPct val="90000"/>
              </a:lnSpc>
            </a:pPr>
            <a:r>
              <a:rPr lang="ru-RU" sz="1600"/>
              <a:t>этот адрес может использоваться только как адрес отправителя и никогда как адрес получателя пакета</a:t>
            </a:r>
          </a:p>
          <a:p>
            <a:pPr marL="457200" indent="-457200">
              <a:lnSpc>
                <a:spcPct val="90000"/>
              </a:lnSpc>
              <a:buFont typeface="Wingdings" pitchFamily="2" charset="2"/>
              <a:buAutoNum type="arabicPeriod"/>
            </a:pPr>
            <a:r>
              <a:rPr lang="en-US" sz="1800"/>
              <a:t>N</a:t>
            </a:r>
            <a:r>
              <a:rPr lang="ru-RU" sz="1800"/>
              <a:t>etID заполнен нулями, а hostID имеет осмысленное значение – есть адрес конкретного хоста в сети, из которой он получил пакет</a:t>
            </a:r>
          </a:p>
          <a:p>
            <a:pPr marL="838200" lvl="1" indent="-381000">
              <a:lnSpc>
                <a:spcPct val="90000"/>
              </a:lnSpc>
            </a:pPr>
            <a:r>
              <a:rPr lang="ru-RU" sz="1600"/>
              <a:t>это адрес используется только как адрес получателя и никогда как адрес отправителя</a:t>
            </a:r>
          </a:p>
          <a:p>
            <a:pPr marL="457200" indent="-457200">
              <a:lnSpc>
                <a:spcPct val="90000"/>
              </a:lnSpc>
              <a:buFont typeface="Wingdings" pitchFamily="2" charset="2"/>
              <a:buAutoNum type="arabicPeriod"/>
            </a:pPr>
            <a:r>
              <a:rPr lang="en-US" sz="1800"/>
              <a:t>N</a:t>
            </a:r>
            <a:r>
              <a:rPr lang="ru-RU" sz="1800"/>
              <a:t>etID имеет некоторое значение, а hostID заполнен нулями</a:t>
            </a:r>
            <a:r>
              <a:rPr lang="en-US" sz="1800"/>
              <a:t> –</a:t>
            </a:r>
            <a:r>
              <a:rPr lang="ru-RU" sz="1800"/>
              <a:t> адрес некоторой сети (но ни одного из хостов данной сети)</a:t>
            </a:r>
          </a:p>
          <a:p>
            <a:pPr marL="457200" indent="-457200">
              <a:lnSpc>
                <a:spcPct val="90000"/>
              </a:lnSpc>
              <a:buFont typeface="Wingdings" pitchFamily="2" charset="2"/>
              <a:buAutoNum type="arabicPeriod"/>
            </a:pPr>
            <a:r>
              <a:rPr lang="en-US" sz="1800"/>
              <a:t>L</a:t>
            </a:r>
            <a:r>
              <a:rPr lang="ru-RU" sz="1800"/>
              <a:t>imited или local broadcast address</a:t>
            </a:r>
            <a:r>
              <a:rPr lang="en-US" sz="1800"/>
              <a:t> –</a:t>
            </a:r>
            <a:r>
              <a:rPr lang="ru-RU" sz="1800"/>
              <a:t> полезный</a:t>
            </a:r>
            <a:r>
              <a:rPr lang="en-US" sz="1800"/>
              <a:t>,</a:t>
            </a:r>
            <a:r>
              <a:rPr lang="ru-RU" sz="1800"/>
              <a:t> предположительно, когда идентификатор сети по каким-либо причинам неизвестен</a:t>
            </a:r>
          </a:p>
          <a:p>
            <a:pPr marL="838200" lvl="1" indent="-381000">
              <a:lnSpc>
                <a:spcPct val="90000"/>
              </a:lnSpc>
            </a:pPr>
            <a:r>
              <a:rPr lang="ru-RU" sz="1600"/>
              <a:t>использование этого адреса не рекомендуется</a:t>
            </a:r>
          </a:p>
          <a:p>
            <a:pPr marL="457200" indent="-457200">
              <a:lnSpc>
                <a:spcPct val="90000"/>
              </a:lnSpc>
              <a:buFont typeface="Wingdings" pitchFamily="2" charset="2"/>
              <a:buAutoNum type="arabicPeriod"/>
            </a:pPr>
            <a:r>
              <a:rPr lang="en-US" sz="1800"/>
              <a:t>D</a:t>
            </a:r>
            <a:r>
              <a:rPr lang="ru-RU" sz="1800"/>
              <a:t>irect broadcast address</a:t>
            </a:r>
            <a:r>
              <a:rPr lang="en-US" sz="1800"/>
              <a:t>,</a:t>
            </a:r>
            <a:r>
              <a:rPr lang="ru-RU" sz="1800"/>
              <a:t> широковещательный адрес, обращенный ко всем хостам в данной подсети</a:t>
            </a:r>
          </a:p>
          <a:p>
            <a:pPr marL="457200" indent="-457200">
              <a:lnSpc>
                <a:spcPct val="90000"/>
              </a:lnSpc>
              <a:buFont typeface="Wingdings" pitchFamily="2" charset="2"/>
              <a:buAutoNum type="arabicPeriod"/>
            </a:pPr>
            <a:r>
              <a:rPr lang="ru-RU" sz="1800"/>
              <a:t>Тестовый адрес (loopback address), в котором первый байт имеет значение 127, а прочее поле не специфицировано (обычно заполняетсяединицами)</a:t>
            </a:r>
          </a:p>
          <a:p>
            <a:pPr marL="838200" lvl="1" indent="-381000">
              <a:lnSpc>
                <a:spcPct val="90000"/>
              </a:lnSpc>
            </a:pPr>
            <a:r>
              <a:rPr lang="ru-RU" sz="1600"/>
              <a:t>используется для задач отладки и тестирования</a:t>
            </a:r>
          </a:p>
          <a:p>
            <a:pPr marL="838200" lvl="1" indent="-381000">
              <a:lnSpc>
                <a:spcPct val="90000"/>
              </a:lnSpc>
            </a:pPr>
            <a:r>
              <a:rPr lang="ru-RU" sz="1600"/>
              <a:t>не является адресом никакой сети и роутеры никогда не обрабатывают его</a:t>
            </a:r>
          </a:p>
        </p:txBody>
      </p:sp>
      <p:sp>
        <p:nvSpPr>
          <p:cNvPr id="43012" name="Rectangle 4"/>
          <p:cNvSpPr>
            <a:spLocks noChangeArrowheads="1"/>
          </p:cNvSpPr>
          <p:nvPr/>
        </p:nvSpPr>
        <p:spPr bwMode="auto">
          <a:xfrm>
            <a:off x="76200" y="1143000"/>
            <a:ext cx="838200" cy="304800"/>
          </a:xfrm>
          <a:prstGeom prst="rect">
            <a:avLst/>
          </a:prstGeom>
          <a:solidFill>
            <a:srgbClr val="CC99FF"/>
          </a:solidFill>
          <a:ln w="9525">
            <a:solidFill>
              <a:schemeClr val="tx1"/>
            </a:solidFill>
            <a:miter lim="800000"/>
            <a:headEnd/>
            <a:tailEnd/>
          </a:ln>
          <a:effectLst/>
        </p:spPr>
        <p:txBody>
          <a:bodyPr wrap="none" anchor="ctr"/>
          <a:lstStyle/>
          <a:p>
            <a:pPr algn="ctr"/>
            <a:r>
              <a:rPr lang="en-US" sz="1200">
                <a:latin typeface="Times New Roman" pitchFamily="18" charset="0"/>
              </a:rPr>
              <a:t>0000000000</a:t>
            </a:r>
            <a:endParaRPr lang="ru-RU" sz="1200">
              <a:latin typeface="Times New Roman" pitchFamily="18" charset="0"/>
            </a:endParaRPr>
          </a:p>
        </p:txBody>
      </p:sp>
      <p:sp>
        <p:nvSpPr>
          <p:cNvPr id="43013" name="Rectangle 5"/>
          <p:cNvSpPr>
            <a:spLocks noChangeArrowheads="1"/>
          </p:cNvSpPr>
          <p:nvPr/>
        </p:nvSpPr>
        <p:spPr bwMode="auto">
          <a:xfrm>
            <a:off x="914400" y="1143000"/>
            <a:ext cx="8382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0000000000</a:t>
            </a:r>
            <a:endParaRPr lang="ru-RU" sz="1200">
              <a:latin typeface="Times New Roman" pitchFamily="18" charset="0"/>
            </a:endParaRPr>
          </a:p>
        </p:txBody>
      </p:sp>
      <p:sp>
        <p:nvSpPr>
          <p:cNvPr id="43014" name="Rectangle 6"/>
          <p:cNvSpPr>
            <a:spLocks noChangeArrowheads="1"/>
          </p:cNvSpPr>
          <p:nvPr/>
        </p:nvSpPr>
        <p:spPr bwMode="auto">
          <a:xfrm>
            <a:off x="76200" y="1981200"/>
            <a:ext cx="838200" cy="304800"/>
          </a:xfrm>
          <a:prstGeom prst="rect">
            <a:avLst/>
          </a:prstGeom>
          <a:solidFill>
            <a:srgbClr val="CC99FF"/>
          </a:solidFill>
          <a:ln w="9525">
            <a:solidFill>
              <a:schemeClr val="tx1"/>
            </a:solidFill>
            <a:miter lim="800000"/>
            <a:headEnd/>
            <a:tailEnd/>
          </a:ln>
          <a:effectLst/>
        </p:spPr>
        <p:txBody>
          <a:bodyPr wrap="none" anchor="ctr"/>
          <a:lstStyle/>
          <a:p>
            <a:pPr algn="ctr"/>
            <a:r>
              <a:rPr lang="en-US" sz="1200">
                <a:latin typeface="Times New Roman" pitchFamily="18" charset="0"/>
              </a:rPr>
              <a:t>0000000000</a:t>
            </a:r>
            <a:endParaRPr lang="ru-RU" sz="1200">
              <a:latin typeface="Times New Roman" pitchFamily="18" charset="0"/>
            </a:endParaRPr>
          </a:p>
        </p:txBody>
      </p:sp>
      <p:sp>
        <p:nvSpPr>
          <p:cNvPr id="43015" name="Rectangle 7"/>
          <p:cNvSpPr>
            <a:spLocks noChangeArrowheads="1"/>
          </p:cNvSpPr>
          <p:nvPr/>
        </p:nvSpPr>
        <p:spPr bwMode="auto">
          <a:xfrm>
            <a:off x="914400" y="1981200"/>
            <a:ext cx="8382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xxxxxxxxxx</a:t>
            </a:r>
            <a:endParaRPr lang="ru-RU" sz="1200">
              <a:latin typeface="Times New Roman" pitchFamily="18" charset="0"/>
            </a:endParaRPr>
          </a:p>
        </p:txBody>
      </p:sp>
      <p:sp>
        <p:nvSpPr>
          <p:cNvPr id="43016" name="Rectangle 8"/>
          <p:cNvSpPr>
            <a:spLocks noChangeArrowheads="1"/>
          </p:cNvSpPr>
          <p:nvPr/>
        </p:nvSpPr>
        <p:spPr bwMode="auto">
          <a:xfrm>
            <a:off x="76200" y="3048000"/>
            <a:ext cx="838200" cy="304800"/>
          </a:xfrm>
          <a:prstGeom prst="rect">
            <a:avLst/>
          </a:prstGeom>
          <a:solidFill>
            <a:srgbClr val="CC99FF"/>
          </a:solidFill>
          <a:ln w="9525">
            <a:solidFill>
              <a:schemeClr val="tx1"/>
            </a:solidFill>
            <a:miter lim="800000"/>
            <a:headEnd/>
            <a:tailEnd/>
          </a:ln>
          <a:effectLst/>
        </p:spPr>
        <p:txBody>
          <a:bodyPr wrap="none" anchor="ctr"/>
          <a:lstStyle/>
          <a:p>
            <a:pPr algn="ctr"/>
            <a:r>
              <a:rPr lang="en-US" sz="1200">
                <a:latin typeface="Times New Roman" pitchFamily="18" charset="0"/>
              </a:rPr>
              <a:t>xxxxxxsxxx</a:t>
            </a:r>
            <a:endParaRPr lang="ru-RU" sz="1200">
              <a:latin typeface="Times New Roman" pitchFamily="18" charset="0"/>
            </a:endParaRPr>
          </a:p>
        </p:txBody>
      </p:sp>
      <p:sp>
        <p:nvSpPr>
          <p:cNvPr id="43017" name="Rectangle 9"/>
          <p:cNvSpPr>
            <a:spLocks noChangeArrowheads="1"/>
          </p:cNvSpPr>
          <p:nvPr/>
        </p:nvSpPr>
        <p:spPr bwMode="auto">
          <a:xfrm>
            <a:off x="914400" y="3048000"/>
            <a:ext cx="8382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0000000000</a:t>
            </a:r>
            <a:endParaRPr lang="ru-RU" sz="1200">
              <a:latin typeface="Times New Roman" pitchFamily="18" charset="0"/>
            </a:endParaRPr>
          </a:p>
        </p:txBody>
      </p:sp>
      <p:sp>
        <p:nvSpPr>
          <p:cNvPr id="43018" name="Rectangle 10"/>
          <p:cNvSpPr>
            <a:spLocks noChangeArrowheads="1"/>
          </p:cNvSpPr>
          <p:nvPr/>
        </p:nvSpPr>
        <p:spPr bwMode="auto">
          <a:xfrm>
            <a:off x="76200" y="3581400"/>
            <a:ext cx="838200" cy="304800"/>
          </a:xfrm>
          <a:prstGeom prst="rect">
            <a:avLst/>
          </a:prstGeom>
          <a:solidFill>
            <a:srgbClr val="CC99FF"/>
          </a:solidFill>
          <a:ln w="9525">
            <a:solidFill>
              <a:schemeClr val="tx1"/>
            </a:solidFill>
            <a:miter lim="800000"/>
            <a:headEnd/>
            <a:tailEnd/>
          </a:ln>
          <a:effectLst/>
        </p:spPr>
        <p:txBody>
          <a:bodyPr wrap="none" anchor="ctr"/>
          <a:lstStyle/>
          <a:p>
            <a:pPr algn="ctr"/>
            <a:r>
              <a:rPr lang="en-US" sz="1200">
                <a:latin typeface="Times New Roman" pitchFamily="18" charset="0"/>
              </a:rPr>
              <a:t>1111111111</a:t>
            </a:r>
            <a:endParaRPr lang="ru-RU" sz="1200">
              <a:latin typeface="Times New Roman" pitchFamily="18" charset="0"/>
            </a:endParaRPr>
          </a:p>
        </p:txBody>
      </p:sp>
      <p:sp>
        <p:nvSpPr>
          <p:cNvPr id="43019" name="Rectangle 11"/>
          <p:cNvSpPr>
            <a:spLocks noChangeArrowheads="1"/>
          </p:cNvSpPr>
          <p:nvPr/>
        </p:nvSpPr>
        <p:spPr bwMode="auto">
          <a:xfrm>
            <a:off x="914400" y="3581400"/>
            <a:ext cx="8382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1111111111</a:t>
            </a:r>
            <a:endParaRPr lang="ru-RU" sz="1200">
              <a:latin typeface="Times New Roman" pitchFamily="18" charset="0"/>
            </a:endParaRPr>
          </a:p>
        </p:txBody>
      </p:sp>
      <p:sp>
        <p:nvSpPr>
          <p:cNvPr id="43020" name="Rectangle 12"/>
          <p:cNvSpPr>
            <a:spLocks noChangeArrowheads="1"/>
          </p:cNvSpPr>
          <p:nvPr/>
        </p:nvSpPr>
        <p:spPr bwMode="auto">
          <a:xfrm>
            <a:off x="76200" y="4419600"/>
            <a:ext cx="838200" cy="304800"/>
          </a:xfrm>
          <a:prstGeom prst="rect">
            <a:avLst/>
          </a:prstGeom>
          <a:solidFill>
            <a:srgbClr val="CC99FF"/>
          </a:solidFill>
          <a:ln w="9525">
            <a:solidFill>
              <a:schemeClr val="tx1"/>
            </a:solidFill>
            <a:miter lim="800000"/>
            <a:headEnd/>
            <a:tailEnd/>
          </a:ln>
          <a:effectLst/>
        </p:spPr>
        <p:txBody>
          <a:bodyPr wrap="none" anchor="ctr"/>
          <a:lstStyle/>
          <a:p>
            <a:pPr algn="ctr"/>
            <a:r>
              <a:rPr lang="en-US" sz="1200">
                <a:latin typeface="Times New Roman" pitchFamily="18" charset="0"/>
              </a:rPr>
              <a:t>xxxxxxxxxx</a:t>
            </a:r>
            <a:endParaRPr lang="ru-RU" sz="1200">
              <a:latin typeface="Times New Roman" pitchFamily="18" charset="0"/>
            </a:endParaRPr>
          </a:p>
        </p:txBody>
      </p:sp>
      <p:sp>
        <p:nvSpPr>
          <p:cNvPr id="43021" name="Rectangle 13"/>
          <p:cNvSpPr>
            <a:spLocks noChangeArrowheads="1"/>
          </p:cNvSpPr>
          <p:nvPr/>
        </p:nvSpPr>
        <p:spPr bwMode="auto">
          <a:xfrm>
            <a:off x="914400" y="4419600"/>
            <a:ext cx="8382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1111111111</a:t>
            </a:r>
            <a:endParaRPr lang="ru-RU" sz="1200">
              <a:latin typeface="Times New Roman" pitchFamily="18" charset="0"/>
            </a:endParaRPr>
          </a:p>
        </p:txBody>
      </p:sp>
      <p:sp>
        <p:nvSpPr>
          <p:cNvPr id="43022" name="Rectangle 14"/>
          <p:cNvSpPr>
            <a:spLocks noChangeArrowheads="1"/>
          </p:cNvSpPr>
          <p:nvPr/>
        </p:nvSpPr>
        <p:spPr bwMode="auto">
          <a:xfrm>
            <a:off x="76200" y="5257800"/>
            <a:ext cx="609600" cy="304800"/>
          </a:xfrm>
          <a:prstGeom prst="rect">
            <a:avLst/>
          </a:prstGeom>
          <a:solidFill>
            <a:srgbClr val="CC99FF"/>
          </a:solidFill>
          <a:ln w="9525">
            <a:solidFill>
              <a:schemeClr val="tx1"/>
            </a:solidFill>
            <a:miter lim="800000"/>
            <a:headEnd/>
            <a:tailEnd/>
          </a:ln>
          <a:effectLst/>
        </p:spPr>
        <p:txBody>
          <a:bodyPr wrap="none" anchor="ctr"/>
          <a:lstStyle/>
          <a:p>
            <a:pPr algn="ctr"/>
            <a:r>
              <a:rPr lang="ru-RU" sz="1200">
                <a:latin typeface="Times New Roman" pitchFamily="18" charset="0"/>
              </a:rPr>
              <a:t>1111110</a:t>
            </a:r>
          </a:p>
        </p:txBody>
      </p:sp>
      <p:sp>
        <p:nvSpPr>
          <p:cNvPr id="43023" name="Rectangle 15"/>
          <p:cNvSpPr>
            <a:spLocks noChangeArrowheads="1"/>
          </p:cNvSpPr>
          <p:nvPr/>
        </p:nvSpPr>
        <p:spPr bwMode="auto">
          <a:xfrm>
            <a:off x="685800" y="5257800"/>
            <a:ext cx="1066800" cy="304800"/>
          </a:xfrm>
          <a:prstGeom prst="rect">
            <a:avLst/>
          </a:prstGeom>
          <a:solidFill>
            <a:srgbClr val="FF9933"/>
          </a:solidFill>
          <a:ln w="9525">
            <a:solidFill>
              <a:schemeClr val="tx1"/>
            </a:solidFill>
            <a:miter lim="800000"/>
            <a:headEnd/>
            <a:tailEnd/>
          </a:ln>
          <a:effectLst/>
        </p:spPr>
        <p:txBody>
          <a:bodyPr wrap="none" anchor="ctr"/>
          <a:lstStyle/>
          <a:p>
            <a:pPr algn="ctr"/>
            <a:r>
              <a:rPr lang="en-US" sz="1200">
                <a:latin typeface="Times New Roman" pitchFamily="18" charset="0"/>
              </a:rPr>
              <a:t>xxxxxxxxxxxxx</a:t>
            </a:r>
            <a:endParaRPr lang="ru-RU" sz="1200">
              <a:latin typeface="Times New Roman" pitchFamily="18" charset="0"/>
            </a:endParaRPr>
          </a:p>
        </p:txBody>
      </p:sp>
      <p:pic>
        <p:nvPicPr>
          <p:cNvPr id="43024" name="slide_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3024"/>
                                        </p:tgtEl>
                                      </p:cBhvr>
                                    </p:cmd>
                                  </p:childTnLst>
                                </p:cTn>
                              </p:par>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ru-RU"/>
              <a:t>Распределение </a:t>
            </a:r>
            <a:r>
              <a:rPr lang="en-US"/>
              <a:t>IP</a:t>
            </a:r>
            <a:r>
              <a:rPr lang="ru-RU"/>
              <a:t>-адресов</a:t>
            </a:r>
          </a:p>
        </p:txBody>
      </p:sp>
      <p:sp>
        <p:nvSpPr>
          <p:cNvPr id="20483" name="Rectangle 3"/>
          <p:cNvSpPr>
            <a:spLocks noGrp="1" noChangeArrowheads="1"/>
          </p:cNvSpPr>
          <p:nvPr>
            <p:ph type="body" idx="1"/>
          </p:nvPr>
        </p:nvSpPr>
        <p:spPr/>
        <p:txBody>
          <a:bodyPr/>
          <a:lstStyle/>
          <a:p>
            <a:r>
              <a:rPr lang="en-US" sz="2800"/>
              <a:t>IP </a:t>
            </a:r>
            <a:r>
              <a:rPr lang="ru-RU" sz="2800"/>
              <a:t>– адреса должны быть уникальны во всем мире</a:t>
            </a:r>
          </a:p>
          <a:p>
            <a:r>
              <a:rPr lang="ru-RU" sz="2800"/>
              <a:t>Адреса распределяются специальной организацией – </a:t>
            </a:r>
            <a:r>
              <a:rPr lang="en-US" sz="2800"/>
              <a:t>ICANN (Internet Corporation for Assigned Names and Numbers)</a:t>
            </a:r>
          </a:p>
          <a:p>
            <a:r>
              <a:rPr lang="ru-RU" sz="2800"/>
              <a:t>Организации получают блоки </a:t>
            </a:r>
            <a:r>
              <a:rPr lang="en-US" sz="2800"/>
              <a:t>IP</a:t>
            </a:r>
            <a:r>
              <a:rPr lang="ru-RU" sz="2800"/>
              <a:t>-адресов и могут использовать по своему усмотрению</a:t>
            </a:r>
          </a:p>
        </p:txBody>
      </p:sp>
      <p:pic>
        <p:nvPicPr>
          <p:cNvPr id="20484" name="slide_2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484"/>
                                        </p:tgtEl>
                                      </p:cBhvr>
                                    </p:cmd>
                                  </p:childTnLst>
                                </p:cTn>
                              </p:par>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ru-RU"/>
              <a:t>Приватные адреса</a:t>
            </a:r>
          </a:p>
        </p:txBody>
      </p:sp>
      <p:sp>
        <p:nvSpPr>
          <p:cNvPr id="21507" name="Rectangle 3"/>
          <p:cNvSpPr>
            <a:spLocks noGrp="1" noChangeArrowheads="1"/>
          </p:cNvSpPr>
          <p:nvPr>
            <p:ph type="body" idx="1"/>
          </p:nvPr>
        </p:nvSpPr>
        <p:spPr/>
        <p:txBody>
          <a:bodyPr/>
          <a:lstStyle/>
          <a:p>
            <a:pPr>
              <a:lnSpc>
                <a:spcPct val="90000"/>
              </a:lnSpc>
            </a:pPr>
            <a:r>
              <a:rPr lang="ru-RU" sz="2800"/>
              <a:t>Зарезервированные диапазоны адресов:</a:t>
            </a:r>
          </a:p>
          <a:p>
            <a:pPr lvl="1">
              <a:lnSpc>
                <a:spcPct val="90000"/>
              </a:lnSpc>
            </a:pPr>
            <a:r>
              <a:rPr lang="ru-RU" sz="2400"/>
              <a:t>10.0.0.0 – 10.255.255.255 / 8</a:t>
            </a:r>
          </a:p>
          <a:p>
            <a:pPr lvl="1">
              <a:lnSpc>
                <a:spcPct val="90000"/>
              </a:lnSpc>
            </a:pPr>
            <a:r>
              <a:rPr lang="ru-RU" sz="2400"/>
              <a:t>172.16.0.0 – 172.31.255.255 / 12</a:t>
            </a:r>
          </a:p>
          <a:p>
            <a:pPr lvl="1">
              <a:lnSpc>
                <a:spcPct val="90000"/>
              </a:lnSpc>
            </a:pPr>
            <a:r>
              <a:rPr lang="ru-RU" sz="2400"/>
              <a:t>192.168.0.0 – 192.168.255.255 / 16</a:t>
            </a:r>
          </a:p>
          <a:p>
            <a:pPr>
              <a:lnSpc>
                <a:spcPct val="90000"/>
              </a:lnSpc>
            </a:pPr>
            <a:r>
              <a:rPr lang="ru-RU" sz="2800"/>
              <a:t>Не маршрутизируются в Интернет</a:t>
            </a:r>
          </a:p>
          <a:p>
            <a:pPr>
              <a:lnSpc>
                <a:spcPct val="90000"/>
              </a:lnSpc>
            </a:pPr>
            <a:r>
              <a:rPr lang="ru-RU" sz="2800"/>
              <a:t>Могут использоваться внутри организации без обращения в </a:t>
            </a:r>
            <a:r>
              <a:rPr lang="en-US" sz="2800"/>
              <a:t>ICANN</a:t>
            </a:r>
          </a:p>
          <a:p>
            <a:pPr>
              <a:lnSpc>
                <a:spcPct val="90000"/>
              </a:lnSpc>
            </a:pPr>
            <a:r>
              <a:rPr lang="ru-RU" sz="2800"/>
              <a:t>Подключение к </a:t>
            </a:r>
            <a:r>
              <a:rPr lang="en-US" sz="2800"/>
              <a:t>Internet </a:t>
            </a:r>
            <a:r>
              <a:rPr lang="ru-RU" sz="2800"/>
              <a:t>с использованием технологии </a:t>
            </a:r>
            <a:r>
              <a:rPr lang="en-US" sz="2800"/>
              <a:t>NAT (Network Address Translation)</a:t>
            </a:r>
            <a:endParaRPr lang="ru-RU" sz="2800"/>
          </a:p>
        </p:txBody>
      </p:sp>
      <p:pic>
        <p:nvPicPr>
          <p:cNvPr id="21508" name="slide_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508"/>
                                        </p:tgtEl>
                                      </p:cBhvr>
                                    </p:cmd>
                                  </p:childTnLst>
                                </p:cTn>
                              </p:par>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ru-RU"/>
              <a:t>Специальные </a:t>
            </a:r>
            <a:r>
              <a:rPr lang="en-US"/>
              <a:t>IP</a:t>
            </a:r>
            <a:r>
              <a:rPr lang="ru-RU"/>
              <a:t>-адреса</a:t>
            </a:r>
          </a:p>
        </p:txBody>
      </p:sp>
      <p:sp>
        <p:nvSpPr>
          <p:cNvPr id="22531" name="Rectangle 3"/>
          <p:cNvSpPr>
            <a:spLocks noGrp="1" noChangeArrowheads="1"/>
          </p:cNvSpPr>
          <p:nvPr>
            <p:ph type="body" idx="1"/>
          </p:nvPr>
        </p:nvSpPr>
        <p:spPr/>
        <p:txBody>
          <a:bodyPr/>
          <a:lstStyle/>
          <a:p>
            <a:pPr>
              <a:lnSpc>
                <a:spcPct val="90000"/>
              </a:lnSpc>
            </a:pPr>
            <a:r>
              <a:rPr lang="ru-RU"/>
              <a:t>0.0.0.0 – текущий хост (сеть)</a:t>
            </a:r>
          </a:p>
          <a:p>
            <a:pPr>
              <a:lnSpc>
                <a:spcPct val="90000"/>
              </a:lnSpc>
            </a:pPr>
            <a:r>
              <a:rPr lang="ru-RU"/>
              <a:t>255.255.255.255 – все хосты в текущей сети</a:t>
            </a:r>
          </a:p>
          <a:p>
            <a:pPr>
              <a:lnSpc>
                <a:spcPct val="90000"/>
              </a:lnSpc>
            </a:pPr>
            <a:r>
              <a:rPr lang="ru-RU"/>
              <a:t>127.0.0.0 – обратная петля (</a:t>
            </a:r>
            <a:r>
              <a:rPr lang="en-US"/>
              <a:t>loopback</a:t>
            </a:r>
            <a:r>
              <a:rPr lang="ru-RU"/>
              <a:t>)</a:t>
            </a:r>
            <a:endParaRPr lang="en-US"/>
          </a:p>
          <a:p>
            <a:pPr lvl="1">
              <a:lnSpc>
                <a:spcPct val="90000"/>
              </a:lnSpc>
            </a:pPr>
            <a:r>
              <a:rPr lang="ru-RU"/>
              <a:t>Сеть для тестирования</a:t>
            </a:r>
          </a:p>
          <a:p>
            <a:pPr lvl="1">
              <a:lnSpc>
                <a:spcPct val="90000"/>
              </a:lnSpc>
            </a:pPr>
            <a:r>
              <a:rPr lang="ru-RU"/>
              <a:t>Данные не передаются в сеть, а приходят обратно</a:t>
            </a:r>
          </a:p>
          <a:p>
            <a:pPr lvl="1">
              <a:lnSpc>
                <a:spcPct val="90000"/>
              </a:lnSpc>
            </a:pPr>
            <a:r>
              <a:rPr lang="ru-RU"/>
              <a:t>127.0.0.1 – </a:t>
            </a:r>
            <a:r>
              <a:rPr lang="en-US"/>
              <a:t>localhost (</a:t>
            </a:r>
            <a:r>
              <a:rPr lang="ru-RU"/>
              <a:t>текущий компьютер</a:t>
            </a:r>
            <a:r>
              <a:rPr lang="en-US"/>
              <a:t>)</a:t>
            </a:r>
            <a:endParaRPr lang="ru-RU"/>
          </a:p>
        </p:txBody>
      </p:sp>
      <p:pic>
        <p:nvPicPr>
          <p:cNvPr id="22532" name="slide_2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532"/>
                                        </p:tgtEl>
                                      </p:cBhvr>
                                    </p:cmd>
                                  </p:childTnLst>
                                </p:cTn>
                              </p:par>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ru-RU"/>
              <a:t>Подсети</a:t>
            </a:r>
          </a:p>
        </p:txBody>
      </p:sp>
      <p:sp>
        <p:nvSpPr>
          <p:cNvPr id="23555" name="Rectangle 3"/>
          <p:cNvSpPr>
            <a:spLocks noGrp="1" noChangeArrowheads="1"/>
          </p:cNvSpPr>
          <p:nvPr>
            <p:ph type="body" idx="1"/>
          </p:nvPr>
        </p:nvSpPr>
        <p:spPr/>
        <p:txBody>
          <a:bodyPr/>
          <a:lstStyle/>
          <a:p>
            <a:r>
              <a:rPr lang="ru-RU"/>
              <a:t>Организация, получив блок адресов в </a:t>
            </a:r>
            <a:r>
              <a:rPr lang="en-US"/>
              <a:t>ICANN</a:t>
            </a:r>
            <a:r>
              <a:rPr lang="ru-RU"/>
              <a:t>, может разбить его на части:</a:t>
            </a:r>
          </a:p>
          <a:p>
            <a:pPr lvl="1"/>
            <a:r>
              <a:rPr lang="ru-RU"/>
              <a:t>Интернет провайдер – выделение сетей для клиентов</a:t>
            </a:r>
          </a:p>
          <a:p>
            <a:pPr lvl="1"/>
            <a:r>
              <a:rPr lang="ru-RU"/>
              <a:t>Предприятие – сети отделов</a:t>
            </a:r>
          </a:p>
          <a:p>
            <a:r>
              <a:rPr lang="ru-RU"/>
              <a:t>Разбиение осуществляется с использованием масок подсетей</a:t>
            </a:r>
          </a:p>
        </p:txBody>
      </p:sp>
      <p:pic>
        <p:nvPicPr>
          <p:cNvPr id="23556" name="slide_2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556"/>
                                        </p:tgtEl>
                                      </p:cBhvr>
                                    </p:cmd>
                                  </p:childTnLst>
                                </p:cTn>
                              </p:par>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ru-RU"/>
              <a:t>Подсети</a:t>
            </a:r>
          </a:p>
        </p:txBody>
      </p:sp>
      <p:sp>
        <p:nvSpPr>
          <p:cNvPr id="24579" name="Rectangle 3"/>
          <p:cNvSpPr>
            <a:spLocks noChangeArrowheads="1"/>
          </p:cNvSpPr>
          <p:nvPr/>
        </p:nvSpPr>
        <p:spPr bwMode="auto">
          <a:xfrm>
            <a:off x="2895600" y="2438400"/>
            <a:ext cx="28956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Университет</a:t>
            </a:r>
          </a:p>
        </p:txBody>
      </p:sp>
      <p:sp>
        <p:nvSpPr>
          <p:cNvPr id="24580" name="Rectangle 4"/>
          <p:cNvSpPr>
            <a:spLocks noChangeArrowheads="1"/>
          </p:cNvSpPr>
          <p:nvPr/>
        </p:nvSpPr>
        <p:spPr bwMode="auto">
          <a:xfrm>
            <a:off x="4343400" y="2057400"/>
            <a:ext cx="1581150" cy="366713"/>
          </a:xfrm>
          <a:prstGeom prst="rect">
            <a:avLst/>
          </a:prstGeom>
          <a:noFill/>
          <a:ln w="9525">
            <a:noFill/>
            <a:miter lim="800000"/>
            <a:headEnd/>
            <a:tailEnd/>
          </a:ln>
          <a:effectLst/>
        </p:spPr>
        <p:txBody>
          <a:bodyPr wrap="none" anchor="ctr">
            <a:spAutoFit/>
          </a:bodyPr>
          <a:lstStyle/>
          <a:p>
            <a:r>
              <a:rPr lang="en-US">
                <a:cs typeface="Arial" charset="0"/>
              </a:rPr>
              <a:t>128.1.0.0 / 16</a:t>
            </a:r>
          </a:p>
        </p:txBody>
      </p:sp>
      <p:sp>
        <p:nvSpPr>
          <p:cNvPr id="24581" name="Line 5"/>
          <p:cNvSpPr>
            <a:spLocks noChangeShapeType="1"/>
          </p:cNvSpPr>
          <p:nvPr/>
        </p:nvSpPr>
        <p:spPr bwMode="auto">
          <a:xfrm>
            <a:off x="4419600" y="1524000"/>
            <a:ext cx="0" cy="914400"/>
          </a:xfrm>
          <a:prstGeom prst="line">
            <a:avLst/>
          </a:prstGeom>
          <a:noFill/>
          <a:ln w="9525">
            <a:solidFill>
              <a:schemeClr val="tx1"/>
            </a:solidFill>
            <a:round/>
            <a:headEnd type="stealth" w="lg" len="lg"/>
            <a:tailEnd/>
          </a:ln>
          <a:effectLst/>
        </p:spPr>
        <p:txBody>
          <a:bodyPr/>
          <a:lstStyle/>
          <a:p>
            <a:endParaRPr lang="ru-RU"/>
          </a:p>
        </p:txBody>
      </p:sp>
      <p:sp>
        <p:nvSpPr>
          <p:cNvPr id="24582" name="Text Box 6"/>
          <p:cNvSpPr txBox="1">
            <a:spLocks noChangeArrowheads="1"/>
          </p:cNvSpPr>
          <p:nvPr/>
        </p:nvSpPr>
        <p:spPr bwMode="auto">
          <a:xfrm>
            <a:off x="4495800" y="1600200"/>
            <a:ext cx="1409700" cy="366713"/>
          </a:xfrm>
          <a:prstGeom prst="rect">
            <a:avLst/>
          </a:prstGeom>
          <a:noFill/>
          <a:ln w="9525">
            <a:noFill/>
            <a:miter lim="800000"/>
            <a:headEnd/>
            <a:tailEnd/>
          </a:ln>
          <a:effectLst/>
        </p:spPr>
        <p:txBody>
          <a:bodyPr wrap="none">
            <a:spAutoFit/>
          </a:bodyPr>
          <a:lstStyle/>
          <a:p>
            <a:r>
              <a:rPr lang="ru-RU">
                <a:cs typeface="Arial" charset="0"/>
              </a:rPr>
              <a:t>В Интернет</a:t>
            </a:r>
          </a:p>
        </p:txBody>
      </p:sp>
      <p:sp>
        <p:nvSpPr>
          <p:cNvPr id="24583" name="Rectangle 7"/>
          <p:cNvSpPr>
            <a:spLocks noChangeArrowheads="1"/>
          </p:cNvSpPr>
          <p:nvPr/>
        </p:nvSpPr>
        <p:spPr bwMode="auto">
          <a:xfrm>
            <a:off x="990600" y="3581400"/>
            <a:ext cx="28956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Кампус</a:t>
            </a:r>
          </a:p>
        </p:txBody>
      </p:sp>
      <p:sp>
        <p:nvSpPr>
          <p:cNvPr id="24584" name="Rectangle 8"/>
          <p:cNvSpPr>
            <a:spLocks noChangeArrowheads="1"/>
          </p:cNvSpPr>
          <p:nvPr/>
        </p:nvSpPr>
        <p:spPr bwMode="auto">
          <a:xfrm>
            <a:off x="5181600" y="3581400"/>
            <a:ext cx="28956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Кампус</a:t>
            </a:r>
          </a:p>
        </p:txBody>
      </p:sp>
      <p:sp>
        <p:nvSpPr>
          <p:cNvPr id="24585" name="Line 9"/>
          <p:cNvSpPr>
            <a:spLocks noChangeShapeType="1"/>
          </p:cNvSpPr>
          <p:nvPr/>
        </p:nvSpPr>
        <p:spPr bwMode="auto">
          <a:xfrm flipV="1">
            <a:off x="2362200" y="3048000"/>
            <a:ext cx="1676400" cy="533400"/>
          </a:xfrm>
          <a:prstGeom prst="line">
            <a:avLst/>
          </a:prstGeom>
          <a:noFill/>
          <a:ln w="9525">
            <a:solidFill>
              <a:schemeClr val="tx1"/>
            </a:solidFill>
            <a:round/>
            <a:headEnd/>
            <a:tailEnd/>
          </a:ln>
          <a:effectLst/>
        </p:spPr>
        <p:txBody>
          <a:bodyPr/>
          <a:lstStyle/>
          <a:p>
            <a:endParaRPr lang="ru-RU"/>
          </a:p>
        </p:txBody>
      </p:sp>
      <p:sp>
        <p:nvSpPr>
          <p:cNvPr id="24586" name="Line 10"/>
          <p:cNvSpPr>
            <a:spLocks noChangeShapeType="1"/>
          </p:cNvSpPr>
          <p:nvPr/>
        </p:nvSpPr>
        <p:spPr bwMode="auto">
          <a:xfrm>
            <a:off x="4648200" y="3048000"/>
            <a:ext cx="2057400" cy="533400"/>
          </a:xfrm>
          <a:prstGeom prst="line">
            <a:avLst/>
          </a:prstGeom>
          <a:noFill/>
          <a:ln w="9525">
            <a:solidFill>
              <a:schemeClr val="tx1"/>
            </a:solidFill>
            <a:round/>
            <a:headEnd/>
            <a:tailEnd/>
          </a:ln>
          <a:effectLst/>
        </p:spPr>
        <p:txBody>
          <a:bodyPr/>
          <a:lstStyle/>
          <a:p>
            <a:endParaRPr lang="ru-RU"/>
          </a:p>
        </p:txBody>
      </p:sp>
      <p:sp>
        <p:nvSpPr>
          <p:cNvPr id="24587" name="Rectangle 11"/>
          <p:cNvSpPr>
            <a:spLocks noChangeArrowheads="1"/>
          </p:cNvSpPr>
          <p:nvPr/>
        </p:nvSpPr>
        <p:spPr bwMode="auto">
          <a:xfrm>
            <a:off x="990600" y="3200400"/>
            <a:ext cx="1581150" cy="366713"/>
          </a:xfrm>
          <a:prstGeom prst="rect">
            <a:avLst/>
          </a:prstGeom>
          <a:noFill/>
          <a:ln w="9525">
            <a:noFill/>
            <a:miter lim="800000"/>
            <a:headEnd/>
            <a:tailEnd/>
          </a:ln>
          <a:effectLst/>
        </p:spPr>
        <p:txBody>
          <a:bodyPr wrap="none" anchor="ctr">
            <a:spAutoFit/>
          </a:bodyPr>
          <a:lstStyle/>
          <a:p>
            <a:r>
              <a:rPr lang="en-US">
                <a:cs typeface="Arial" charset="0"/>
              </a:rPr>
              <a:t>128.1.0.0 / 17</a:t>
            </a:r>
          </a:p>
        </p:txBody>
      </p:sp>
      <p:sp>
        <p:nvSpPr>
          <p:cNvPr id="24588" name="Rectangle 12"/>
          <p:cNvSpPr>
            <a:spLocks noChangeArrowheads="1"/>
          </p:cNvSpPr>
          <p:nvPr/>
        </p:nvSpPr>
        <p:spPr bwMode="auto">
          <a:xfrm>
            <a:off x="6400800" y="3200400"/>
            <a:ext cx="1898650" cy="366713"/>
          </a:xfrm>
          <a:prstGeom prst="rect">
            <a:avLst/>
          </a:prstGeom>
          <a:noFill/>
          <a:ln w="9525">
            <a:noFill/>
            <a:miter lim="800000"/>
            <a:headEnd/>
            <a:tailEnd/>
          </a:ln>
          <a:effectLst/>
        </p:spPr>
        <p:txBody>
          <a:bodyPr wrap="none" anchor="ctr">
            <a:spAutoFit/>
          </a:bodyPr>
          <a:lstStyle/>
          <a:p>
            <a:r>
              <a:rPr lang="en-US" altLang="ja-JP">
                <a:ea typeface="ＭＳ Ｐゴシック" charset="-128"/>
                <a:cs typeface="Arial" charset="0"/>
              </a:rPr>
              <a:t>128.1.128.0 / 17</a:t>
            </a:r>
            <a:r>
              <a:rPr lang="ru-RU" altLang="ja-JP">
                <a:ea typeface="ＭＳ Ｐゴシック" charset="-128"/>
                <a:cs typeface="Arial" charset="0"/>
              </a:rPr>
              <a:t> </a:t>
            </a:r>
          </a:p>
        </p:txBody>
      </p:sp>
      <p:sp>
        <p:nvSpPr>
          <p:cNvPr id="24589" name="Rectangle 13"/>
          <p:cNvSpPr>
            <a:spLocks noChangeArrowheads="1"/>
          </p:cNvSpPr>
          <p:nvPr/>
        </p:nvSpPr>
        <p:spPr bwMode="auto">
          <a:xfrm>
            <a:off x="533400" y="4876800"/>
            <a:ext cx="18288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Факультет</a:t>
            </a:r>
          </a:p>
        </p:txBody>
      </p:sp>
      <p:sp>
        <p:nvSpPr>
          <p:cNvPr id="24590" name="Rectangle 14"/>
          <p:cNvSpPr>
            <a:spLocks noChangeArrowheads="1"/>
          </p:cNvSpPr>
          <p:nvPr/>
        </p:nvSpPr>
        <p:spPr bwMode="auto">
          <a:xfrm>
            <a:off x="2590800" y="4876800"/>
            <a:ext cx="18288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Факультет</a:t>
            </a:r>
          </a:p>
        </p:txBody>
      </p:sp>
      <p:sp>
        <p:nvSpPr>
          <p:cNvPr id="24591" name="Rectangle 15"/>
          <p:cNvSpPr>
            <a:spLocks noChangeArrowheads="1"/>
          </p:cNvSpPr>
          <p:nvPr/>
        </p:nvSpPr>
        <p:spPr bwMode="auto">
          <a:xfrm>
            <a:off x="4648200" y="4876800"/>
            <a:ext cx="18288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Факультет</a:t>
            </a:r>
          </a:p>
        </p:txBody>
      </p:sp>
      <p:sp>
        <p:nvSpPr>
          <p:cNvPr id="24592" name="Rectangle 16"/>
          <p:cNvSpPr>
            <a:spLocks noChangeArrowheads="1"/>
          </p:cNvSpPr>
          <p:nvPr/>
        </p:nvSpPr>
        <p:spPr bwMode="auto">
          <a:xfrm>
            <a:off x="6705600" y="4876800"/>
            <a:ext cx="1828800" cy="609600"/>
          </a:xfrm>
          <a:prstGeom prst="rect">
            <a:avLst/>
          </a:prstGeom>
          <a:noFill/>
          <a:ln w="9525">
            <a:solidFill>
              <a:schemeClr val="tx1"/>
            </a:solidFill>
            <a:miter lim="800000"/>
            <a:headEnd/>
            <a:tailEnd/>
          </a:ln>
          <a:effectLst/>
        </p:spPr>
        <p:txBody>
          <a:bodyPr wrap="none" anchor="ctr"/>
          <a:lstStyle/>
          <a:p>
            <a:pPr algn="ctr"/>
            <a:r>
              <a:rPr lang="ru-RU">
                <a:cs typeface="Arial" charset="0"/>
              </a:rPr>
              <a:t>Факультет</a:t>
            </a:r>
          </a:p>
        </p:txBody>
      </p:sp>
      <p:sp>
        <p:nvSpPr>
          <p:cNvPr id="24593" name="Line 17"/>
          <p:cNvSpPr>
            <a:spLocks noChangeShapeType="1"/>
          </p:cNvSpPr>
          <p:nvPr/>
        </p:nvSpPr>
        <p:spPr bwMode="auto">
          <a:xfrm flipH="1">
            <a:off x="1371600" y="4191000"/>
            <a:ext cx="381000" cy="685800"/>
          </a:xfrm>
          <a:prstGeom prst="line">
            <a:avLst/>
          </a:prstGeom>
          <a:noFill/>
          <a:ln w="9525">
            <a:solidFill>
              <a:schemeClr val="tx1"/>
            </a:solidFill>
            <a:round/>
            <a:headEnd/>
            <a:tailEnd/>
          </a:ln>
          <a:effectLst/>
        </p:spPr>
        <p:txBody>
          <a:bodyPr/>
          <a:lstStyle/>
          <a:p>
            <a:endParaRPr lang="ru-RU"/>
          </a:p>
        </p:txBody>
      </p:sp>
      <p:sp>
        <p:nvSpPr>
          <p:cNvPr id="24594" name="Line 18"/>
          <p:cNvSpPr>
            <a:spLocks noChangeShapeType="1"/>
          </p:cNvSpPr>
          <p:nvPr/>
        </p:nvSpPr>
        <p:spPr bwMode="auto">
          <a:xfrm>
            <a:off x="3124200" y="4191000"/>
            <a:ext cx="304800" cy="685800"/>
          </a:xfrm>
          <a:prstGeom prst="line">
            <a:avLst/>
          </a:prstGeom>
          <a:noFill/>
          <a:ln w="9525">
            <a:solidFill>
              <a:schemeClr val="tx1"/>
            </a:solidFill>
            <a:round/>
            <a:headEnd/>
            <a:tailEnd/>
          </a:ln>
          <a:effectLst/>
        </p:spPr>
        <p:txBody>
          <a:bodyPr/>
          <a:lstStyle/>
          <a:p>
            <a:endParaRPr lang="ru-RU"/>
          </a:p>
        </p:txBody>
      </p:sp>
      <p:sp>
        <p:nvSpPr>
          <p:cNvPr id="24595" name="Line 19"/>
          <p:cNvSpPr>
            <a:spLocks noChangeShapeType="1"/>
          </p:cNvSpPr>
          <p:nvPr/>
        </p:nvSpPr>
        <p:spPr bwMode="auto">
          <a:xfrm flipH="1">
            <a:off x="5562600" y="4191000"/>
            <a:ext cx="533400" cy="685800"/>
          </a:xfrm>
          <a:prstGeom prst="line">
            <a:avLst/>
          </a:prstGeom>
          <a:noFill/>
          <a:ln w="9525">
            <a:solidFill>
              <a:schemeClr val="tx1"/>
            </a:solidFill>
            <a:round/>
            <a:headEnd/>
            <a:tailEnd/>
          </a:ln>
          <a:effectLst/>
        </p:spPr>
        <p:txBody>
          <a:bodyPr/>
          <a:lstStyle/>
          <a:p>
            <a:endParaRPr lang="ru-RU"/>
          </a:p>
        </p:txBody>
      </p:sp>
      <p:sp>
        <p:nvSpPr>
          <p:cNvPr id="24596" name="Line 20"/>
          <p:cNvSpPr>
            <a:spLocks noChangeShapeType="1"/>
          </p:cNvSpPr>
          <p:nvPr/>
        </p:nvSpPr>
        <p:spPr bwMode="auto">
          <a:xfrm>
            <a:off x="7315200" y="4191000"/>
            <a:ext cx="381000" cy="685800"/>
          </a:xfrm>
          <a:prstGeom prst="line">
            <a:avLst/>
          </a:prstGeom>
          <a:noFill/>
          <a:ln w="9525">
            <a:solidFill>
              <a:schemeClr val="tx1"/>
            </a:solidFill>
            <a:round/>
            <a:headEnd/>
            <a:tailEnd/>
          </a:ln>
          <a:effectLst/>
        </p:spPr>
        <p:txBody>
          <a:bodyPr/>
          <a:lstStyle/>
          <a:p>
            <a:endParaRPr lang="ru-RU"/>
          </a:p>
        </p:txBody>
      </p:sp>
      <p:sp>
        <p:nvSpPr>
          <p:cNvPr id="24597" name="Rectangle 21"/>
          <p:cNvSpPr>
            <a:spLocks noChangeArrowheads="1"/>
          </p:cNvSpPr>
          <p:nvPr/>
        </p:nvSpPr>
        <p:spPr bwMode="auto">
          <a:xfrm>
            <a:off x="4648200" y="5486400"/>
            <a:ext cx="1835150" cy="366713"/>
          </a:xfrm>
          <a:prstGeom prst="rect">
            <a:avLst/>
          </a:prstGeom>
          <a:noFill/>
          <a:ln w="9525">
            <a:noFill/>
            <a:miter lim="800000"/>
            <a:headEnd/>
            <a:tailEnd/>
          </a:ln>
          <a:effectLst/>
        </p:spPr>
        <p:txBody>
          <a:bodyPr wrap="none" anchor="ctr">
            <a:spAutoFit/>
          </a:bodyPr>
          <a:lstStyle/>
          <a:p>
            <a:r>
              <a:rPr lang="en-US">
                <a:cs typeface="Arial" charset="0"/>
              </a:rPr>
              <a:t>128.1.128.0 / 18</a:t>
            </a:r>
          </a:p>
        </p:txBody>
      </p:sp>
      <p:sp>
        <p:nvSpPr>
          <p:cNvPr id="24598" name="Rectangle 22"/>
          <p:cNvSpPr>
            <a:spLocks noChangeArrowheads="1"/>
          </p:cNvSpPr>
          <p:nvPr/>
        </p:nvSpPr>
        <p:spPr bwMode="auto">
          <a:xfrm>
            <a:off x="6597650" y="5486400"/>
            <a:ext cx="2089150" cy="366713"/>
          </a:xfrm>
          <a:prstGeom prst="rect">
            <a:avLst/>
          </a:prstGeom>
          <a:noFill/>
          <a:ln w="9525">
            <a:noFill/>
            <a:miter lim="800000"/>
            <a:headEnd/>
            <a:tailEnd/>
          </a:ln>
          <a:effectLst/>
        </p:spPr>
        <p:txBody>
          <a:bodyPr wrap="none" anchor="ctr">
            <a:spAutoFit/>
          </a:bodyPr>
          <a:lstStyle/>
          <a:p>
            <a:r>
              <a:rPr lang="en-US">
                <a:cs typeface="Arial" charset="0"/>
              </a:rPr>
              <a:t>128.1.128.192 / 18</a:t>
            </a:r>
          </a:p>
        </p:txBody>
      </p:sp>
      <p:sp>
        <p:nvSpPr>
          <p:cNvPr id="24599" name="Rectangle 23"/>
          <p:cNvSpPr>
            <a:spLocks noChangeArrowheads="1"/>
          </p:cNvSpPr>
          <p:nvPr/>
        </p:nvSpPr>
        <p:spPr bwMode="auto">
          <a:xfrm>
            <a:off x="641350" y="5486400"/>
            <a:ext cx="1644650" cy="366713"/>
          </a:xfrm>
          <a:prstGeom prst="rect">
            <a:avLst/>
          </a:prstGeom>
          <a:noFill/>
          <a:ln w="9525">
            <a:noFill/>
            <a:miter lim="800000"/>
            <a:headEnd/>
            <a:tailEnd/>
          </a:ln>
          <a:effectLst/>
        </p:spPr>
        <p:txBody>
          <a:bodyPr wrap="none" anchor="ctr">
            <a:spAutoFit/>
          </a:bodyPr>
          <a:lstStyle/>
          <a:p>
            <a:r>
              <a:rPr lang="en-US" altLang="ja-JP">
                <a:ea typeface="ＭＳ Ｐゴシック" charset="-128"/>
                <a:cs typeface="Arial" charset="0"/>
              </a:rPr>
              <a:t>128.1.0.0 / 18</a:t>
            </a:r>
            <a:r>
              <a:rPr lang="ru-RU" altLang="ja-JP">
                <a:ea typeface="ＭＳ Ｐゴシック" charset="-128"/>
                <a:cs typeface="Arial" charset="0"/>
              </a:rPr>
              <a:t> </a:t>
            </a:r>
          </a:p>
        </p:txBody>
      </p:sp>
      <p:sp>
        <p:nvSpPr>
          <p:cNvPr id="24600" name="Rectangle 24"/>
          <p:cNvSpPr>
            <a:spLocks noChangeArrowheads="1"/>
          </p:cNvSpPr>
          <p:nvPr/>
        </p:nvSpPr>
        <p:spPr bwMode="auto">
          <a:xfrm>
            <a:off x="2635250" y="5486400"/>
            <a:ext cx="1708150" cy="366713"/>
          </a:xfrm>
          <a:prstGeom prst="rect">
            <a:avLst/>
          </a:prstGeom>
          <a:noFill/>
          <a:ln w="9525">
            <a:noFill/>
            <a:miter lim="800000"/>
            <a:headEnd/>
            <a:tailEnd/>
          </a:ln>
          <a:effectLst/>
        </p:spPr>
        <p:txBody>
          <a:bodyPr wrap="none" anchor="ctr">
            <a:spAutoFit/>
          </a:bodyPr>
          <a:lstStyle/>
          <a:p>
            <a:r>
              <a:rPr lang="en-US">
                <a:cs typeface="Arial" charset="0"/>
              </a:rPr>
              <a:t>128.1.64.0 / 18</a:t>
            </a:r>
          </a:p>
        </p:txBody>
      </p:sp>
      <p:pic>
        <p:nvPicPr>
          <p:cNvPr id="24601" name="slide_2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601"/>
                                        </p:tgtEl>
                                      </p:cBhvr>
                                    </p:cmd>
                                  </p:childTnLst>
                                </p:cTn>
                              </p:par>
                            </p:childTnLst>
                          </p:cTn>
                        </p:par>
                      </p:childTnLst>
                    </p:cTn>
                  </p:par>
                </p:childTnLst>
              </p:cTn>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4624"/>
            <a:ext cx="8229600" cy="346050"/>
          </a:xfrm>
        </p:spPr>
        <p:txBody>
          <a:bodyPr/>
          <a:lstStyle/>
          <a:p>
            <a:r>
              <a:rPr lang="ru-RU" sz="2400" dirty="0" smtClean="0"/>
              <a:t>Маски постоянной и переменной длины</a:t>
            </a:r>
            <a:endParaRPr lang="ru-RU" sz="2400" dirty="0"/>
          </a:p>
        </p:txBody>
      </p:sp>
      <p:graphicFrame>
        <p:nvGraphicFramePr>
          <p:cNvPr id="12" name="Таблица 11"/>
          <p:cNvGraphicFramePr>
            <a:graphicFrameLocks noGrp="1"/>
          </p:cNvGraphicFramePr>
          <p:nvPr/>
        </p:nvGraphicFramePr>
        <p:xfrm>
          <a:off x="215007" y="2204864"/>
          <a:ext cx="8928993" cy="1455420"/>
        </p:xfrm>
        <a:graphic>
          <a:graphicData uri="http://schemas.openxmlformats.org/drawingml/2006/table">
            <a:tbl>
              <a:tblPr/>
              <a:tblGrid>
                <a:gridCol w="1313751"/>
                <a:gridCol w="3020332"/>
                <a:gridCol w="1182191"/>
                <a:gridCol w="3412719"/>
              </a:tblGrid>
              <a:tr h="0">
                <a:tc>
                  <a:txBody>
                    <a:bodyPr/>
                    <a:lstStyle/>
                    <a:p>
                      <a:pPr algn="ctr">
                        <a:lnSpc>
                          <a:spcPct val="115000"/>
                        </a:lnSpc>
                        <a:spcAft>
                          <a:spcPts val="710"/>
                        </a:spcAft>
                      </a:pPr>
                      <a:r>
                        <a:rPr lang="ru-RU" sz="1600" b="1" dirty="0">
                          <a:latin typeface="Arial"/>
                          <a:ea typeface="Times New Roman"/>
                          <a:cs typeface="Times New Roman"/>
                        </a:rPr>
                        <a:t>Назначение (Сеть)</a:t>
                      </a:r>
                      <a:endParaRPr lang="ru-RU" sz="1600" dirty="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b="1" dirty="0">
                          <a:latin typeface="Arial"/>
                          <a:ea typeface="Times New Roman"/>
                          <a:cs typeface="Times New Roman"/>
                        </a:rPr>
                        <a:t>Маска</a:t>
                      </a:r>
                      <a:endParaRPr lang="ru-RU" sz="1600" dirty="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b="1" dirty="0">
                          <a:latin typeface="Arial"/>
                          <a:ea typeface="Times New Roman"/>
                          <a:cs typeface="Times New Roman"/>
                        </a:rPr>
                        <a:t>Интерфейс / Шлюз</a:t>
                      </a:r>
                      <a:endParaRPr lang="ru-RU" sz="1600" dirty="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b="1">
                          <a:latin typeface="Arial"/>
                          <a:ea typeface="Times New Roman"/>
                          <a:cs typeface="Times New Roman"/>
                        </a:rPr>
                        <a:t>Размер подсети</a:t>
                      </a:r>
                      <a:endParaRPr lang="ru-RU" sz="160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600" b="1">
                          <a:latin typeface="Arial"/>
                          <a:ea typeface="Times New Roman"/>
                          <a:cs typeface="Times New Roman"/>
                        </a:rPr>
                        <a:t>192.168.1.0</a:t>
                      </a:r>
                      <a:endParaRPr lang="ru-RU" sz="16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dirty="0">
                          <a:latin typeface="Arial"/>
                          <a:ea typeface="Times New Roman"/>
                          <a:cs typeface="Times New Roman"/>
                        </a:rPr>
                        <a:t>/26 (255.255.255.192)</a:t>
                      </a:r>
                      <a:endParaRPr lang="ru-RU" sz="16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dirty="0">
                          <a:latin typeface="Arial"/>
                          <a:ea typeface="Times New Roman"/>
                          <a:cs typeface="Times New Roman"/>
                        </a:rPr>
                        <a:t>eth0</a:t>
                      </a:r>
                      <a:endParaRPr lang="ru-RU" sz="16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a:latin typeface="Arial"/>
                          <a:ea typeface="Times New Roman"/>
                          <a:cs typeface="Times New Roman"/>
                        </a:rPr>
                        <a:t>62 хоста</a:t>
                      </a:r>
                      <a:endParaRPr lang="ru-RU" sz="16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600" b="1">
                          <a:latin typeface="Arial"/>
                          <a:ea typeface="Times New Roman"/>
                          <a:cs typeface="Times New Roman"/>
                        </a:rPr>
                        <a:t>192.168.1.64</a:t>
                      </a:r>
                      <a:endParaRPr lang="ru-RU" sz="16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dirty="0">
                          <a:latin typeface="Arial"/>
                          <a:ea typeface="Times New Roman"/>
                          <a:cs typeface="Times New Roman"/>
                        </a:rPr>
                        <a:t>/26 (255.255.255.192)</a:t>
                      </a:r>
                      <a:endParaRPr lang="ru-RU" sz="16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dirty="0">
                          <a:latin typeface="Arial"/>
                          <a:ea typeface="Times New Roman"/>
                          <a:cs typeface="Times New Roman"/>
                        </a:rPr>
                        <a:t>eth1</a:t>
                      </a:r>
                      <a:endParaRPr lang="ru-RU" sz="16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600" dirty="0">
                          <a:latin typeface="Arial"/>
                          <a:ea typeface="Times New Roman"/>
                          <a:cs typeface="Times New Roman"/>
                        </a:rPr>
                        <a:t>62 хоста</a:t>
                      </a:r>
                      <a:endParaRPr lang="ru-RU" sz="16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600" b="1">
                          <a:latin typeface="Arial"/>
                          <a:ea typeface="Times New Roman"/>
                          <a:cs typeface="Times New Roman"/>
                        </a:rPr>
                        <a:t>192.168.1.128</a:t>
                      </a:r>
                      <a:endParaRPr lang="ru-RU" sz="160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ctr">
                        <a:lnSpc>
                          <a:spcPct val="115000"/>
                        </a:lnSpc>
                        <a:spcAft>
                          <a:spcPts val="710"/>
                        </a:spcAft>
                      </a:pPr>
                      <a:r>
                        <a:rPr lang="ru-RU" sz="1600" dirty="0">
                          <a:latin typeface="Arial"/>
                          <a:ea typeface="Times New Roman"/>
                          <a:cs typeface="Times New Roman"/>
                        </a:rPr>
                        <a:t>/26 (255.255.255.192)</a:t>
                      </a:r>
                      <a:endParaRPr lang="ru-RU" sz="1600" dirty="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ctr">
                        <a:lnSpc>
                          <a:spcPct val="115000"/>
                        </a:lnSpc>
                        <a:spcAft>
                          <a:spcPts val="710"/>
                        </a:spcAft>
                      </a:pPr>
                      <a:r>
                        <a:rPr lang="ru-RU" sz="1600">
                          <a:latin typeface="Arial"/>
                          <a:ea typeface="Times New Roman"/>
                          <a:cs typeface="Times New Roman"/>
                        </a:rPr>
                        <a:t>eth2</a:t>
                      </a:r>
                      <a:endParaRPr lang="ru-RU" sz="160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ctr">
                        <a:lnSpc>
                          <a:spcPct val="115000"/>
                        </a:lnSpc>
                        <a:spcAft>
                          <a:spcPts val="710"/>
                        </a:spcAft>
                      </a:pPr>
                      <a:r>
                        <a:rPr lang="ru-RU" sz="1600" dirty="0">
                          <a:latin typeface="Arial"/>
                          <a:ea typeface="Times New Roman"/>
                          <a:cs typeface="Times New Roman"/>
                        </a:rPr>
                        <a:t>62 хоста</a:t>
                      </a:r>
                      <a:endParaRPr lang="ru-RU" sz="1600" dirty="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r>
            </a:tbl>
          </a:graphicData>
        </a:graphic>
      </p:graphicFrame>
      <p:sp>
        <p:nvSpPr>
          <p:cNvPr id="56327" name="Rectangle 7"/>
          <p:cNvSpPr>
            <a:spLocks noChangeArrowheads="1"/>
          </p:cNvSpPr>
          <p:nvPr/>
        </p:nvSpPr>
        <p:spPr bwMode="auto">
          <a:xfrm>
            <a:off x="179512" y="548680"/>
            <a:ext cx="8784976"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1. FLSM (Fixed Length Subnet Mask)</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Все подсети имеют </a:t>
            </a:r>
            <a:r>
              <a:rPr kumimoji="0" lang="ru-RU"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одинаковый размер</a:t>
            </a:r>
            <a:r>
              <a:rPr kumimoji="0" lang="ru-RU" sz="20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 и одну и ту же маску. Это просто в настройке, но неэффективно расходует IP-адреса.</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Пример таблицы маршрутизации (сеть разбита маской /26 на 4 равные части):</a:t>
            </a:r>
            <a:endParaRPr kumimoji="0" lang="ru-RU" sz="2000" b="0" i="0" u="none" strike="noStrike" cap="none" normalizeH="0" baseline="0" dirty="0" smtClean="0">
              <a:ln>
                <a:noFill/>
              </a:ln>
              <a:solidFill>
                <a:schemeClr val="tx1"/>
              </a:solidFill>
              <a:effectLst/>
              <a:latin typeface="Arial" pitchFamily="34" charset="0"/>
            </a:endParaRPr>
          </a:p>
        </p:txBody>
      </p:sp>
      <p:graphicFrame>
        <p:nvGraphicFramePr>
          <p:cNvPr id="14" name="Таблица 13"/>
          <p:cNvGraphicFramePr>
            <a:graphicFrameLocks noGrp="1"/>
          </p:cNvGraphicFramePr>
          <p:nvPr/>
        </p:nvGraphicFramePr>
        <p:xfrm>
          <a:off x="179512" y="5157192"/>
          <a:ext cx="8856984" cy="1630680"/>
        </p:xfrm>
        <a:graphic>
          <a:graphicData uri="http://schemas.openxmlformats.org/drawingml/2006/table">
            <a:tbl>
              <a:tblPr/>
              <a:tblGrid>
                <a:gridCol w="1656184"/>
                <a:gridCol w="2298106"/>
                <a:gridCol w="1423722"/>
                <a:gridCol w="3478972"/>
              </a:tblGrid>
              <a:tr h="0">
                <a:tc>
                  <a:txBody>
                    <a:bodyPr/>
                    <a:lstStyle/>
                    <a:p>
                      <a:pPr algn="ctr">
                        <a:lnSpc>
                          <a:spcPct val="115000"/>
                        </a:lnSpc>
                        <a:spcAft>
                          <a:spcPts val="710"/>
                        </a:spcAft>
                      </a:pPr>
                      <a:r>
                        <a:rPr lang="ru-RU" sz="1800" b="1" dirty="0">
                          <a:latin typeface="Arial"/>
                          <a:ea typeface="Times New Roman"/>
                          <a:cs typeface="Times New Roman"/>
                        </a:rPr>
                        <a:t>Назначение (Сеть)</a:t>
                      </a:r>
                      <a:endParaRPr lang="ru-RU" sz="1800" dirty="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b="1" dirty="0">
                          <a:latin typeface="Arial"/>
                          <a:ea typeface="Times New Roman"/>
                          <a:cs typeface="Times New Roman"/>
                        </a:rPr>
                        <a:t>Маска</a:t>
                      </a:r>
                      <a:endParaRPr lang="ru-RU" sz="1800" dirty="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b="1">
                          <a:latin typeface="Arial"/>
                          <a:ea typeface="Times New Roman"/>
                          <a:cs typeface="Times New Roman"/>
                        </a:rPr>
                        <a:t>Интерфейс / Шлюз</a:t>
                      </a:r>
                      <a:endParaRPr lang="ru-RU" sz="180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b="1">
                          <a:latin typeface="Arial"/>
                          <a:ea typeface="Times New Roman"/>
                          <a:cs typeface="Times New Roman"/>
                        </a:rPr>
                        <a:t>Применение (Хосты)</a:t>
                      </a:r>
                      <a:endParaRPr lang="ru-RU" sz="1800">
                        <a:latin typeface="Times New Roman"/>
                        <a:ea typeface="Calibri"/>
                        <a:cs typeface="Times New Roman"/>
                      </a:endParaRPr>
                    </a:p>
                  </a:txBody>
                  <a:tcPr marL="0" marR="0" marT="0" marB="17780" anchor="ctr">
                    <a:lnL>
                      <a:noFill/>
                    </a:lnL>
                    <a:lnR>
                      <a:noFill/>
                    </a:lnR>
                    <a:lnT>
                      <a:noFill/>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800" b="1" dirty="0">
                          <a:latin typeface="Arial"/>
                          <a:ea typeface="Times New Roman"/>
                          <a:cs typeface="Times New Roman"/>
                        </a:rPr>
                        <a:t>192.168.1.0</a:t>
                      </a:r>
                      <a:endParaRPr lang="ru-RU" sz="18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just">
                        <a:lnSpc>
                          <a:spcPct val="115000"/>
                        </a:lnSpc>
                        <a:spcAft>
                          <a:spcPts val="710"/>
                        </a:spcAft>
                      </a:pPr>
                      <a:r>
                        <a:rPr lang="ru-RU" sz="1800" dirty="0">
                          <a:latin typeface="Arial"/>
                          <a:ea typeface="Times New Roman"/>
                          <a:cs typeface="Times New Roman"/>
                        </a:rPr>
                        <a:t>/24 (255.255.255.0)</a:t>
                      </a:r>
                      <a:endParaRPr lang="ru-RU" sz="18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a:latin typeface="Arial"/>
                          <a:ea typeface="Times New Roman"/>
                          <a:cs typeface="Times New Roman"/>
                        </a:rPr>
                        <a:t>eth0</a:t>
                      </a:r>
                      <a:endParaRPr lang="ru-RU" sz="18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dirty="0">
                          <a:latin typeface="Arial"/>
                          <a:ea typeface="Times New Roman"/>
                          <a:cs typeface="Times New Roman"/>
                        </a:rPr>
                        <a:t>Большая сеть (254 хоста)</a:t>
                      </a:r>
                      <a:endParaRPr lang="ru-RU" sz="18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800" b="1">
                          <a:latin typeface="Arial"/>
                          <a:ea typeface="Times New Roman"/>
                          <a:cs typeface="Times New Roman"/>
                        </a:rPr>
                        <a:t>192.168.2.0</a:t>
                      </a:r>
                      <a:endParaRPr lang="ru-RU" sz="18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just">
                        <a:lnSpc>
                          <a:spcPct val="115000"/>
                        </a:lnSpc>
                        <a:spcAft>
                          <a:spcPts val="710"/>
                        </a:spcAft>
                      </a:pPr>
                      <a:r>
                        <a:rPr lang="ru-RU" sz="1800" dirty="0">
                          <a:latin typeface="Arial"/>
                          <a:ea typeface="Times New Roman"/>
                          <a:cs typeface="Times New Roman"/>
                        </a:rPr>
                        <a:t>/26 (255.255.255.192)</a:t>
                      </a:r>
                      <a:endParaRPr lang="ru-RU" sz="1800" dirty="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a:latin typeface="Arial"/>
                          <a:ea typeface="Times New Roman"/>
                          <a:cs typeface="Times New Roman"/>
                        </a:rPr>
                        <a:t>eth1</a:t>
                      </a:r>
                      <a:endParaRPr lang="ru-RU" sz="18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c>
                  <a:txBody>
                    <a:bodyPr/>
                    <a:lstStyle/>
                    <a:p>
                      <a:pPr algn="ctr">
                        <a:lnSpc>
                          <a:spcPct val="115000"/>
                        </a:lnSpc>
                        <a:spcAft>
                          <a:spcPts val="710"/>
                        </a:spcAft>
                      </a:pPr>
                      <a:r>
                        <a:rPr lang="ru-RU" sz="1800">
                          <a:latin typeface="Arial"/>
                          <a:ea typeface="Times New Roman"/>
                          <a:cs typeface="Times New Roman"/>
                        </a:rPr>
                        <a:t>Средний офис (62 хоста)</a:t>
                      </a:r>
                      <a:endParaRPr lang="ru-RU" sz="1800">
                        <a:latin typeface="Times New Roman"/>
                        <a:ea typeface="Calibri"/>
                        <a:cs typeface="Times New Roman"/>
                      </a:endParaRPr>
                    </a:p>
                  </a:txBody>
                  <a:tcPr marL="0" marR="0" marT="0" marB="17780" anchor="ctr">
                    <a:lnL>
                      <a:noFill/>
                    </a:lnL>
                    <a:lnR>
                      <a:noFill/>
                    </a:lnR>
                    <a:lnT w="12700" cap="flat" cmpd="sng" algn="ctr">
                      <a:solidFill>
                        <a:srgbClr val="444746"/>
                      </a:solidFill>
                      <a:prstDash val="solid"/>
                      <a:round/>
                      <a:headEnd type="none" w="med" len="med"/>
                      <a:tailEnd type="none" w="med" len="med"/>
                    </a:lnT>
                    <a:lnB w="12700" cap="flat" cmpd="sng" algn="ctr">
                      <a:solidFill>
                        <a:srgbClr val="444746"/>
                      </a:solidFill>
                      <a:prstDash val="solid"/>
                      <a:round/>
                      <a:headEnd type="none" w="med" len="med"/>
                      <a:tailEnd type="none" w="med" len="med"/>
                    </a:lnB>
                  </a:tcPr>
                </a:tc>
              </a:tr>
              <a:tr h="0">
                <a:tc>
                  <a:txBody>
                    <a:bodyPr/>
                    <a:lstStyle/>
                    <a:p>
                      <a:pPr algn="ctr">
                        <a:lnSpc>
                          <a:spcPct val="115000"/>
                        </a:lnSpc>
                        <a:spcAft>
                          <a:spcPts val="710"/>
                        </a:spcAft>
                      </a:pPr>
                      <a:r>
                        <a:rPr lang="ru-RU" sz="1800" b="1">
                          <a:latin typeface="Arial"/>
                          <a:ea typeface="Times New Roman"/>
                          <a:cs typeface="Times New Roman"/>
                        </a:rPr>
                        <a:t>10.0.0.0</a:t>
                      </a:r>
                      <a:endParaRPr lang="ru-RU" sz="180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just">
                        <a:lnSpc>
                          <a:spcPct val="115000"/>
                        </a:lnSpc>
                        <a:spcAft>
                          <a:spcPts val="710"/>
                        </a:spcAft>
                      </a:pPr>
                      <a:r>
                        <a:rPr lang="ru-RU" sz="1800" dirty="0">
                          <a:latin typeface="Arial"/>
                          <a:ea typeface="Times New Roman"/>
                          <a:cs typeface="Times New Roman"/>
                        </a:rPr>
                        <a:t>/30 (255.255.255.252)</a:t>
                      </a:r>
                      <a:endParaRPr lang="ru-RU" sz="1800" dirty="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ctr">
                        <a:lnSpc>
                          <a:spcPct val="115000"/>
                        </a:lnSpc>
                        <a:spcAft>
                          <a:spcPts val="710"/>
                        </a:spcAft>
                      </a:pPr>
                      <a:r>
                        <a:rPr lang="ru-RU" sz="1800" dirty="0">
                          <a:latin typeface="Arial"/>
                          <a:ea typeface="Times New Roman"/>
                          <a:cs typeface="Times New Roman"/>
                        </a:rPr>
                        <a:t>serial0</a:t>
                      </a:r>
                      <a:endParaRPr lang="ru-RU" sz="1800" dirty="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c>
                  <a:txBody>
                    <a:bodyPr/>
                    <a:lstStyle/>
                    <a:p>
                      <a:pPr algn="ctr">
                        <a:lnSpc>
                          <a:spcPct val="115000"/>
                        </a:lnSpc>
                        <a:spcAft>
                          <a:spcPts val="710"/>
                        </a:spcAft>
                      </a:pPr>
                      <a:r>
                        <a:rPr lang="ru-RU" sz="1800" dirty="0">
                          <a:latin typeface="Arial"/>
                          <a:ea typeface="Times New Roman"/>
                          <a:cs typeface="Times New Roman"/>
                        </a:rPr>
                        <a:t>Каналы связи (2 хоста)</a:t>
                      </a:r>
                      <a:endParaRPr lang="ru-RU" sz="1800" dirty="0">
                        <a:latin typeface="Times New Roman"/>
                        <a:ea typeface="Calibri"/>
                        <a:cs typeface="Times New Roman"/>
                      </a:endParaRPr>
                    </a:p>
                  </a:txBody>
                  <a:tcPr marL="0" marR="0" marT="0" marB="0" anchor="ctr">
                    <a:lnL>
                      <a:noFill/>
                    </a:lnL>
                    <a:lnR>
                      <a:noFill/>
                    </a:lnR>
                    <a:lnT w="12700" cap="flat" cmpd="sng" algn="ctr">
                      <a:solidFill>
                        <a:srgbClr val="444746"/>
                      </a:solidFill>
                      <a:prstDash val="solid"/>
                      <a:round/>
                      <a:headEnd type="none" w="med" len="med"/>
                      <a:tailEnd type="none" w="med" len="med"/>
                    </a:lnT>
                    <a:lnB>
                      <a:noFill/>
                    </a:lnB>
                  </a:tcPr>
                </a:tc>
              </a:tr>
            </a:tbl>
          </a:graphicData>
        </a:graphic>
      </p:graphicFrame>
      <p:sp>
        <p:nvSpPr>
          <p:cNvPr id="56328" name="Rectangle 8"/>
          <p:cNvSpPr>
            <a:spLocks noChangeArrowheads="1"/>
          </p:cNvSpPr>
          <p:nvPr/>
        </p:nvSpPr>
        <p:spPr bwMode="auto">
          <a:xfrm>
            <a:off x="107504" y="3709918"/>
            <a:ext cx="9036496" cy="160043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2. VLSM (Variable Length Subnet Mask)</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Подсети имеют </a:t>
            </a:r>
            <a:r>
              <a:rPr kumimoji="0" lang="ru-RU"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разную длину маски</a:t>
            </a:r>
            <a:r>
              <a:rPr kumimoji="0" lang="ru-RU" sz="20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 в зависимости от реальной потребности каждого сегмента. Это экономит адресное пространство.</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Пример таблицы маршрутизации (адаптивный размер подсетей):</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800" b="0" i="0" u="none" strike="noStrike" cap="none" normalizeH="0" baseline="0" dirty="0" smtClean="0">
              <a:ln>
                <a:noFill/>
              </a:ln>
              <a:solidFill>
                <a:schemeClr val="tx1"/>
              </a:solidFill>
              <a:effectLst/>
              <a:latin typeface="Arial" pitchFamily="34" charset="0"/>
            </a:endParaRPr>
          </a:p>
        </p:txBody>
      </p:sp>
      <p:pic>
        <p:nvPicPr>
          <p:cNvPr id="56329" name="slide_2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6329"/>
                                        </p:tgtEl>
                                      </p:cBhvr>
                                    </p:cmd>
                                  </p:childTnLst>
                                </p:cTn>
                              </p:par>
                            </p:childTnLst>
                          </p:cTn>
                        </p:par>
                      </p:childTnLst>
                    </p:cTn>
                  </p:par>
                </p:childTnLst>
              </p:cTn>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9062589" cy="5909310"/>
          </a:xfrm>
          <a:prstGeom prst="rect">
            <a:avLst/>
          </a:prstGeom>
          <a:noFill/>
        </p:spPr>
        <p:txBody>
          <a:bodyPr wrap="square" rtlCol="0">
            <a:spAutoFit/>
          </a:bodyPr>
          <a:lstStyle/>
          <a:p>
            <a:pPr indent="457200" algn="just"/>
            <a:r>
              <a:rPr lang="ru-RU" b="1" dirty="0"/>
              <a:t>NAT (</a:t>
            </a:r>
            <a:r>
              <a:rPr lang="ru-RU" b="1" dirty="0" err="1"/>
              <a:t>Network</a:t>
            </a:r>
            <a:r>
              <a:rPr lang="ru-RU" b="1" dirty="0"/>
              <a:t> </a:t>
            </a:r>
            <a:r>
              <a:rPr lang="ru-RU" b="1" dirty="0" err="1"/>
              <a:t>Address</a:t>
            </a:r>
            <a:r>
              <a:rPr lang="ru-RU" b="1" dirty="0"/>
              <a:t> </a:t>
            </a:r>
            <a:r>
              <a:rPr lang="ru-RU" b="1" dirty="0" err="1"/>
              <a:t>Translation</a:t>
            </a:r>
            <a:r>
              <a:rPr lang="ru-RU" b="1" dirty="0"/>
              <a:t>)</a:t>
            </a:r>
            <a:r>
              <a:rPr lang="ru-RU" dirty="0"/>
              <a:t> — это технология трансляции сетевых адресов, которая позволяет преобразовывать IP-адреса в заголовках пакетов при их прохождении через </a:t>
            </a:r>
            <a:r>
              <a:rPr lang="ru-RU" dirty="0" err="1"/>
              <a:t>маршрутизатор</a:t>
            </a:r>
            <a:r>
              <a:rPr lang="ru-RU" dirty="0"/>
              <a:t>.</a:t>
            </a:r>
          </a:p>
          <a:p>
            <a:pPr indent="457200" algn="just"/>
            <a:r>
              <a:rPr lang="ru-RU" dirty="0"/>
              <a:t>Обычно NAT используется для пересылки трафика между </a:t>
            </a:r>
            <a:r>
              <a:rPr lang="ru-RU" b="1" dirty="0"/>
              <a:t>частными (серыми)</a:t>
            </a:r>
            <a:r>
              <a:rPr lang="ru-RU" dirty="0"/>
              <a:t> сетями и </a:t>
            </a:r>
            <a:r>
              <a:rPr lang="ru-RU" b="1" dirty="0"/>
              <a:t>глобальной (белой)</a:t>
            </a:r>
            <a:r>
              <a:rPr lang="ru-RU" dirty="0"/>
              <a:t> сетью Интернет.</a:t>
            </a:r>
          </a:p>
          <a:p>
            <a:pPr indent="457200" algn="just"/>
            <a:r>
              <a:rPr lang="ru-RU" b="1" dirty="0"/>
              <a:t>Роль NAT в расширении адресного пространства</a:t>
            </a:r>
          </a:p>
          <a:p>
            <a:pPr indent="457200" algn="just"/>
            <a:r>
              <a:rPr lang="ru-RU" dirty="0"/>
              <a:t>Хотя NAT физически не создает новые IP-адреса, он стал </a:t>
            </a:r>
            <a:r>
              <a:rPr lang="ru-RU" b="1" dirty="0"/>
              <a:t>главным инструментом искусственного расширения емкости IPv4</a:t>
            </a:r>
            <a:r>
              <a:rPr lang="ru-RU" dirty="0"/>
              <a:t>, решив проблему их острого дефицита за счет следующих механизмов:</a:t>
            </a:r>
          </a:p>
          <a:p>
            <a:pPr indent="457200" algn="just"/>
            <a:r>
              <a:rPr lang="ru-RU" b="1" dirty="0"/>
              <a:t>Разделение на приватные и публичные адреса:</a:t>
            </a:r>
            <a:r>
              <a:rPr lang="ru-RU" dirty="0"/>
              <a:t> Благодаря RFC 1918 были выделены диапазоны «серых» адресов (например, 192.168.x.x, 10.x.x.x). Миллионы локальных сетей по всему миру используют одни и те же адреса внутри себя, не конфликтуя в Интернете.</a:t>
            </a:r>
          </a:p>
          <a:p>
            <a:pPr indent="457200" algn="just"/>
            <a:r>
              <a:rPr lang="ru-RU" b="1" dirty="0"/>
              <a:t>Экономия «один ко многим» (PAT / NAT </a:t>
            </a:r>
            <a:r>
              <a:rPr lang="ru-RU" b="1" dirty="0" err="1"/>
              <a:t>Overload</a:t>
            </a:r>
            <a:r>
              <a:rPr lang="ru-RU" b="1" dirty="0"/>
              <a:t>):</a:t>
            </a:r>
            <a:r>
              <a:rPr lang="ru-RU" dirty="0"/>
              <a:t> Технология позволяет </a:t>
            </a:r>
            <a:r>
              <a:rPr lang="ru-RU" b="1" dirty="0"/>
              <a:t>тысячам устройств</a:t>
            </a:r>
            <a:r>
              <a:rPr lang="ru-RU" dirty="0"/>
              <a:t> из локальной сети выходить в Интернет, используя всего </a:t>
            </a:r>
            <a:r>
              <a:rPr lang="ru-RU" b="1" dirty="0"/>
              <a:t>один общий публичный IP-адрес</a:t>
            </a:r>
            <a:r>
              <a:rPr lang="ru-RU" dirty="0"/>
              <a:t>. Разделение потоков данных происходит на уровне портов транспортного протокола (TCP/UDP).</a:t>
            </a:r>
          </a:p>
          <a:p>
            <a:pPr indent="457200" algn="just"/>
            <a:r>
              <a:rPr lang="ru-RU" b="1" dirty="0"/>
              <a:t>Продление жизни IPv4:</a:t>
            </a:r>
            <a:r>
              <a:rPr lang="ru-RU" dirty="0"/>
              <a:t> NAT позволил глобальной сети продолжать рост и масштабироваться в условиях, когда свободные блоки IPv4-адресов у региональных регистраторов (RIR) полностью закончились.</a:t>
            </a:r>
          </a:p>
          <a:p>
            <a:pPr indent="457200" algn="just"/>
            <a:endParaRPr lang="ru-RU" dirty="0"/>
          </a:p>
        </p:txBody>
      </p:sp>
      <p:pic>
        <p:nvPicPr>
          <p:cNvPr id="3" name="slide_2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67544" y="332656"/>
            <a:ext cx="8118046" cy="6186309"/>
          </a:xfrm>
          <a:prstGeom prst="rect">
            <a:avLst/>
          </a:prstGeom>
          <a:noFill/>
        </p:spPr>
        <p:txBody>
          <a:bodyPr wrap="square" rtlCol="0">
            <a:spAutoFit/>
          </a:bodyPr>
          <a:lstStyle/>
          <a:p>
            <a:pPr indent="457200" algn="just"/>
            <a:r>
              <a:rPr lang="ru-RU" b="1" dirty="0"/>
              <a:t>Диапазоны адресов для NAT (</a:t>
            </a:r>
            <a:r>
              <a:rPr lang="ru-RU" b="1" dirty="0" err="1"/>
              <a:t>Private</a:t>
            </a:r>
            <a:r>
              <a:rPr lang="ru-RU" b="1" dirty="0"/>
              <a:t> IP) и </a:t>
            </a:r>
            <a:r>
              <a:rPr lang="ru-RU" b="1" dirty="0" err="1"/>
              <a:t>Carrier-Grade</a:t>
            </a:r>
            <a:r>
              <a:rPr lang="ru-RU" b="1" dirty="0"/>
              <a:t> NAT (CGNAT)</a:t>
            </a:r>
            <a:endParaRPr lang="ru-RU" dirty="0"/>
          </a:p>
          <a:p>
            <a:pPr indent="457200" algn="just"/>
            <a:r>
              <a:rPr lang="ru-RU" dirty="0"/>
              <a:t>Для обеспечения работы технологий NAT выделены специальные диапазоны </a:t>
            </a:r>
            <a:r>
              <a:rPr lang="ru-RU" b="1" dirty="0"/>
              <a:t>частных (</a:t>
            </a:r>
            <a:r>
              <a:rPr lang="ru-RU" b="1" dirty="0" err="1"/>
              <a:t>немаршрутизируемых</a:t>
            </a:r>
            <a:r>
              <a:rPr lang="ru-RU" b="1" dirty="0"/>
              <a:t> в Интернете)</a:t>
            </a:r>
            <a:r>
              <a:rPr lang="ru-RU" dirty="0"/>
              <a:t> IP-адресов. Их использование регламентировано стандартами RFC.</a:t>
            </a:r>
          </a:p>
          <a:p>
            <a:pPr indent="457200" algn="just"/>
            <a:r>
              <a:rPr lang="ru-RU" b="1" dirty="0"/>
              <a:t>1. Стандартные диапазоны для локальных сетей (RFC 1918)</a:t>
            </a:r>
          </a:p>
          <a:p>
            <a:pPr indent="457200" algn="just"/>
            <a:r>
              <a:rPr lang="ru-RU" dirty="0"/>
              <a:t>Эти адреса предназначены для домашних, корпоративных и технологических локальных сетей (LAN):</a:t>
            </a:r>
          </a:p>
          <a:p>
            <a:pPr indent="457200" algn="just"/>
            <a:r>
              <a:rPr lang="ru-RU" b="1" dirty="0"/>
              <a:t>10.0.0.0 — 10.255.255.255</a:t>
            </a:r>
            <a:r>
              <a:rPr lang="ru-RU" dirty="0"/>
              <a:t> (Маска /8) — используется в крупных корпоративных сетях.</a:t>
            </a:r>
          </a:p>
          <a:p>
            <a:pPr indent="457200" algn="just"/>
            <a:r>
              <a:rPr lang="ru-RU" b="1" dirty="0"/>
              <a:t>172.16.0.0 — 172.31.255.255</a:t>
            </a:r>
            <a:r>
              <a:rPr lang="ru-RU" dirty="0"/>
              <a:t> (Маска /12) — используется в средних сетях и учебных лабораториях.</a:t>
            </a:r>
          </a:p>
          <a:p>
            <a:pPr indent="457200" algn="just"/>
            <a:r>
              <a:rPr lang="ru-RU" b="1" dirty="0"/>
              <a:t>192.168.0.0 — 192.168.255.255</a:t>
            </a:r>
            <a:r>
              <a:rPr lang="ru-RU" dirty="0"/>
              <a:t> (Маска /16) — самый распространенный диапазон для домашних роутеров и малых офисов (SOHO).</a:t>
            </a:r>
          </a:p>
          <a:p>
            <a:pPr indent="457200" algn="just"/>
            <a:r>
              <a:rPr lang="ru-RU" b="1" dirty="0"/>
              <a:t>2. Диапазон для </a:t>
            </a:r>
            <a:r>
              <a:rPr lang="ru-RU" b="1" dirty="0" err="1"/>
              <a:t>Carrier-Grade</a:t>
            </a:r>
            <a:r>
              <a:rPr lang="ru-RU" b="1" dirty="0"/>
              <a:t> NAT (RFC 6598)</a:t>
            </a:r>
          </a:p>
          <a:p>
            <a:pPr indent="457200" algn="just"/>
            <a:r>
              <a:rPr lang="ru-RU" dirty="0"/>
              <a:t>Для </a:t>
            </a:r>
            <a:r>
              <a:rPr lang="ru-RU" dirty="0" err="1"/>
              <a:t>провайдерского</a:t>
            </a:r>
            <a:r>
              <a:rPr lang="ru-RU" dirty="0"/>
              <a:t> NAT крупного масштаба выделено отдельное адресное пространство, которое </a:t>
            </a:r>
            <a:r>
              <a:rPr lang="ru-RU" b="1" dirty="0"/>
              <a:t>не пересекается</a:t>
            </a:r>
            <a:r>
              <a:rPr lang="ru-RU" dirty="0"/>
              <a:t> с обычными домашними сетями:</a:t>
            </a:r>
          </a:p>
          <a:p>
            <a:pPr indent="457200" algn="just"/>
            <a:r>
              <a:rPr lang="ru-RU" b="1" dirty="0"/>
              <a:t>100.64.0.0 — 100.127.255.255</a:t>
            </a:r>
            <a:r>
              <a:rPr lang="ru-RU" dirty="0"/>
              <a:t> (Маска /10) — так называемый </a:t>
            </a:r>
            <a:r>
              <a:rPr lang="ru-RU" b="1" dirty="0" err="1"/>
              <a:t>Shared</a:t>
            </a:r>
            <a:r>
              <a:rPr lang="ru-RU" b="1" dirty="0"/>
              <a:t> </a:t>
            </a:r>
            <a:r>
              <a:rPr lang="ru-RU" b="1" dirty="0" err="1"/>
              <a:t>Address</a:t>
            </a:r>
            <a:r>
              <a:rPr lang="ru-RU" b="1" dirty="0"/>
              <a:t> </a:t>
            </a:r>
            <a:r>
              <a:rPr lang="ru-RU" b="1" dirty="0" err="1"/>
              <a:t>Space</a:t>
            </a:r>
            <a:r>
              <a:rPr lang="ru-RU" dirty="0"/>
              <a:t> (Общее адресное пространство).</a:t>
            </a:r>
          </a:p>
          <a:p>
            <a:pPr indent="457200"/>
            <a:endParaRPr lang="ru-RU" dirty="0"/>
          </a:p>
        </p:txBody>
      </p:sp>
      <p:pic>
        <p:nvPicPr>
          <p:cNvPr id="8" name="slide_2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504" y="404664"/>
            <a:ext cx="8568952" cy="5632311"/>
          </a:xfrm>
          <a:prstGeom prst="rect">
            <a:avLst/>
          </a:prstGeom>
          <a:noFill/>
        </p:spPr>
        <p:txBody>
          <a:bodyPr wrap="square" rtlCol="0">
            <a:spAutoFit/>
          </a:bodyPr>
          <a:lstStyle/>
          <a:p>
            <a:pPr indent="457200" algn="just"/>
            <a:r>
              <a:rPr lang="ru-RU" b="1" dirty="0"/>
              <a:t>Что такое </a:t>
            </a:r>
            <a:r>
              <a:rPr lang="ru-RU" b="1" dirty="0" err="1"/>
              <a:t>Carrier-Grade</a:t>
            </a:r>
            <a:r>
              <a:rPr lang="ru-RU" b="1" dirty="0"/>
              <a:t> NAT (CGNAT) и для чего он нужен?</a:t>
            </a:r>
          </a:p>
          <a:p>
            <a:pPr indent="457200" algn="just"/>
            <a:r>
              <a:rPr lang="ru-RU" b="1" dirty="0"/>
              <a:t>CGNAT (он же </a:t>
            </a:r>
            <a:r>
              <a:rPr lang="ru-RU" b="1" dirty="0" err="1"/>
              <a:t>Large-Scale</a:t>
            </a:r>
            <a:r>
              <a:rPr lang="ru-RU" b="1" dirty="0"/>
              <a:t> NAT)</a:t>
            </a:r>
            <a:r>
              <a:rPr lang="ru-RU" dirty="0"/>
              <a:t> — это технология NAT операторского класса. Она применяется </a:t>
            </a:r>
            <a:r>
              <a:rPr lang="ru-RU" dirty="0" err="1"/>
              <a:t>интернет-провайдерами</a:t>
            </a:r>
            <a:r>
              <a:rPr lang="ru-RU" dirty="0"/>
              <a:t> (ISP) и мобильными операторами для экономии дефицитных публичных IPv4-адресов на уровне всей сети связи.</a:t>
            </a:r>
          </a:p>
          <a:p>
            <a:pPr indent="457200" algn="just"/>
            <a:r>
              <a:rPr lang="ru-RU" b="1" dirty="0"/>
              <a:t>Основные задачи и функции CGNAT:</a:t>
            </a:r>
          </a:p>
          <a:p>
            <a:pPr indent="457200" algn="just"/>
            <a:r>
              <a:rPr lang="ru-RU" b="1" dirty="0"/>
              <a:t>Двойное каскадирование (NAT за NAT):</a:t>
            </a:r>
            <a:r>
              <a:rPr lang="ru-RU" dirty="0"/>
              <a:t> Когда у вас дома стоит роутер с адресом 192.168.1.1, его внешним интерфейсом становится не публичный IP, а </a:t>
            </a:r>
            <a:r>
              <a:rPr lang="ru-RU" dirty="0" err="1"/>
              <a:t>провайдерский</a:t>
            </a:r>
            <a:r>
              <a:rPr lang="ru-RU" dirty="0"/>
              <a:t> «серый» адрес из пула 100.64.0.0/10. Затем оборудование провайдера транслирует этот адрес еще раз — уже в реальный «белый» IP для выхода в глобальную сеть.</a:t>
            </a:r>
          </a:p>
          <a:p>
            <a:pPr indent="457200" algn="just"/>
            <a:r>
              <a:rPr lang="ru-RU" b="1" dirty="0"/>
              <a:t>Изоляция трафика:</a:t>
            </a:r>
            <a:r>
              <a:rPr lang="ru-RU" dirty="0"/>
              <a:t> Разделение пула 100.64.0.0/10 исключает конфликты адресации. Если бы провайдер выдавал клиентам стандартные адреса 192.168.x.x или 10.x.x.x, у пользователей перестали бы открываться их собственные домашние сетевые устройства.</a:t>
            </a:r>
          </a:p>
          <a:p>
            <a:pPr indent="457200" algn="just"/>
            <a:r>
              <a:rPr lang="ru-RU" b="1" dirty="0"/>
              <a:t>Масштабирование мобильных сетей:</a:t>
            </a:r>
            <a:r>
              <a:rPr lang="ru-RU" dirty="0"/>
              <a:t> Без CGNAT было бы физически невозможно подключить к интернету миллиарды смартфонов, так как емкости IPv4 для этого не существует. Один публичный IP-адрес оператора связи через CGNAT могут одновременно делить тысячи абонентов.</a:t>
            </a:r>
          </a:p>
          <a:p>
            <a:endParaRPr lang="ru-RU" dirty="0"/>
          </a:p>
        </p:txBody>
      </p:sp>
      <p:pic>
        <p:nvPicPr>
          <p:cNvPr id="4" name="slide_2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cstate="print"/>
          <a:srcRect/>
          <a:stretch>
            <a:fillRect/>
          </a:stretch>
        </p:blipFill>
        <p:spPr bwMode="auto">
          <a:xfrm>
            <a:off x="251520" y="1196752"/>
            <a:ext cx="8716758" cy="4968552"/>
          </a:xfrm>
          <a:prstGeom prst="rect">
            <a:avLst/>
          </a:prstGeom>
          <a:noFill/>
          <a:ln w="9525">
            <a:noFill/>
            <a:miter lim="800000"/>
            <a:headEnd/>
            <a:tailEnd/>
          </a:ln>
        </p:spPr>
      </p:pic>
      <p:sp>
        <p:nvSpPr>
          <p:cNvPr id="3" name="TextBox 2"/>
          <p:cNvSpPr txBox="1"/>
          <p:nvPr/>
        </p:nvSpPr>
        <p:spPr>
          <a:xfrm>
            <a:off x="2051720" y="692696"/>
            <a:ext cx="2668551" cy="369332"/>
          </a:xfrm>
          <a:prstGeom prst="rect">
            <a:avLst/>
          </a:prstGeom>
          <a:noFill/>
        </p:spPr>
        <p:txBody>
          <a:bodyPr wrap="none" rtlCol="0">
            <a:spAutoFit/>
          </a:bodyPr>
          <a:lstStyle/>
          <a:p>
            <a:r>
              <a:rPr lang="ru-RU" dirty="0" smtClean="0"/>
              <a:t>Пример сети с </a:t>
            </a:r>
            <a:r>
              <a:rPr lang="en-US" dirty="0" smtClean="0"/>
              <a:t>CG-NAT</a:t>
            </a:r>
            <a:endParaRPr lang="ru-RU" dirty="0"/>
          </a:p>
        </p:txBody>
      </p:sp>
      <p:pic>
        <p:nvPicPr>
          <p:cNvPr id="87043" name="slide_29.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7043"/>
                                        </p:tgtEl>
                                      </p:cBhvr>
                                    </p:cmd>
                                  </p:childTnLst>
                                </p:cTn>
                              </p:par>
                            </p:childTnLst>
                          </p:cTn>
                        </p:par>
                      </p:childTnLst>
                    </p:cTn>
                  </p:par>
                </p:childTnLst>
              </p:cTn>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64637"/>
            <a:ext cx="9144000" cy="6432715"/>
          </a:xfrm>
        </p:spPr>
        <p:txBody>
          <a:bodyPr>
            <a:noAutofit/>
          </a:bodyPr>
          <a:lstStyle/>
          <a:p>
            <a:r>
              <a:rPr lang="ru-RU" sz="1600" dirty="0"/>
              <a:t>Классификация </a:t>
            </a:r>
            <a:r>
              <a:rPr lang="ru-RU" sz="1600" dirty="0" smtClean="0"/>
              <a:t>NAT</a:t>
            </a:r>
            <a:endParaRPr lang="en-US" sz="1600" dirty="0" smtClean="0"/>
          </a:p>
          <a:p>
            <a:endParaRPr lang="en-US" sz="1600" dirty="0"/>
          </a:p>
          <a:p>
            <a:r>
              <a:rPr lang="ru-RU" sz="1600" dirty="0" smtClean="0"/>
              <a:t>Симметричный </a:t>
            </a:r>
            <a:r>
              <a:rPr lang="ru-RU" sz="1600" dirty="0"/>
              <a:t>NAT (</a:t>
            </a:r>
            <a:r>
              <a:rPr lang="ru-RU" sz="1600" dirty="0" err="1"/>
              <a:t>Symmetric</a:t>
            </a:r>
            <a:r>
              <a:rPr lang="ru-RU" sz="1600" dirty="0"/>
              <a:t> NAT) — трансляция, при которой каждое соединение, инициируемое парой «внутренний адрес: внутренний порт» преобразуется в свободную уникальную случайно выбранную пару «публичный адрес: публичный порт». При этом инициация соединения из публичной сети невозможна</a:t>
            </a:r>
            <a:r>
              <a:rPr lang="ru-RU" sz="1600" dirty="0" smtClean="0"/>
              <a:t>.</a:t>
            </a:r>
            <a:r>
              <a:rPr lang="en-US" sz="1600" dirty="0" smtClean="0"/>
              <a:t> </a:t>
            </a:r>
            <a:r>
              <a:rPr lang="ru-RU" sz="1600" dirty="0" smtClean="0"/>
              <a:t>Не пропускает несовпадающие по адресам и портам отправителя  (ориентируется только на адрес и порт получателя)</a:t>
            </a:r>
            <a:r>
              <a:rPr lang="ru-RU" sz="1600" dirty="0"/>
              <a:t>.</a:t>
            </a:r>
          </a:p>
          <a:p>
            <a:r>
              <a:rPr lang="ru-RU" sz="1600" dirty="0"/>
              <a:t> </a:t>
            </a:r>
          </a:p>
          <a:p>
            <a:r>
              <a:rPr lang="ru-RU" sz="1600" dirty="0" err="1"/>
              <a:t>Cone</a:t>
            </a:r>
            <a:r>
              <a:rPr lang="ru-RU" sz="1600" dirty="0"/>
              <a:t> NAT, </a:t>
            </a:r>
            <a:r>
              <a:rPr lang="ru-RU" sz="1600" dirty="0" err="1"/>
              <a:t>Full</a:t>
            </a:r>
            <a:r>
              <a:rPr lang="ru-RU" sz="1600" dirty="0"/>
              <a:t> </a:t>
            </a:r>
            <a:r>
              <a:rPr lang="ru-RU" sz="1600" dirty="0" err="1"/>
              <a:t>Cone</a:t>
            </a:r>
            <a:r>
              <a:rPr lang="ru-RU" sz="1600" dirty="0"/>
              <a:t> NAT — однозначная (взаимная) трансляция между парами «внутренний адрес: внутренний порт» и «публичный адрес: публичный порт». Любой внешний хост может инициировать соединение с внутренним хостом (если это разрешено в правилах межсетевого экрана</a:t>
            </a:r>
            <a:r>
              <a:rPr lang="ru-RU" sz="1600" dirty="0" smtClean="0"/>
              <a:t>). Например, любой внешний адрес и порт отправителя пройдет во внутреннюю сеть, если адрес назначения совпал с хранимой в таблице </a:t>
            </a:r>
            <a:r>
              <a:rPr lang="en-US" sz="1600" dirty="0" smtClean="0"/>
              <a:t>NAT </a:t>
            </a:r>
            <a:r>
              <a:rPr lang="ru-RU" sz="1600" dirty="0" smtClean="0"/>
              <a:t>информацией.</a:t>
            </a:r>
            <a:endParaRPr lang="ru-RU" sz="1600" dirty="0"/>
          </a:p>
          <a:p>
            <a:r>
              <a:rPr lang="ru-RU" sz="1600" dirty="0"/>
              <a:t> </a:t>
            </a:r>
            <a:endParaRPr lang="en-US" sz="1600" dirty="0" smtClean="0"/>
          </a:p>
          <a:p>
            <a:r>
              <a:rPr lang="ru-RU" sz="1600" dirty="0" err="1" smtClean="0"/>
              <a:t>Address-Restricted</a:t>
            </a:r>
            <a:r>
              <a:rPr lang="ru-RU" sz="1600" dirty="0" smtClean="0"/>
              <a:t> </a:t>
            </a:r>
            <a:r>
              <a:rPr lang="ru-RU" sz="1600" dirty="0" err="1"/>
              <a:t>cone</a:t>
            </a:r>
            <a:r>
              <a:rPr lang="ru-RU" sz="1600" dirty="0"/>
              <a:t> NAT, </a:t>
            </a:r>
            <a:r>
              <a:rPr lang="ru-RU" sz="1600" dirty="0" err="1"/>
              <a:t>Restricted</a:t>
            </a:r>
            <a:r>
              <a:rPr lang="ru-RU" sz="1600" dirty="0"/>
              <a:t> </a:t>
            </a:r>
            <a:r>
              <a:rPr lang="ru-RU" sz="1600" dirty="0" err="1"/>
              <a:t>cone</a:t>
            </a:r>
            <a:r>
              <a:rPr lang="ru-RU" sz="1600" dirty="0"/>
              <a:t> NAT — постоянная трансляция между парой «внутренний адрес: внутренний порт» и «публичный адрес: публичный порт». Любое соединение, инициированное с внутреннего адреса, позволяет в дальнейшем получать ему пакеты с любого порта того публичного хоста, к которому он отправлял пакет(</a:t>
            </a:r>
            <a:r>
              <a:rPr lang="ru-RU" sz="1600" dirty="0" err="1"/>
              <a:t>ы</a:t>
            </a:r>
            <a:r>
              <a:rPr lang="ru-RU" sz="1600" dirty="0"/>
              <a:t>) ранее.</a:t>
            </a:r>
          </a:p>
          <a:p>
            <a:r>
              <a:rPr lang="ru-RU" sz="1600" dirty="0"/>
              <a:t> </a:t>
            </a:r>
          </a:p>
          <a:p>
            <a:r>
              <a:rPr lang="ru-RU" sz="1600" dirty="0" err="1"/>
              <a:t>Port-Restricted</a:t>
            </a:r>
            <a:r>
              <a:rPr lang="ru-RU" sz="1600" dirty="0"/>
              <a:t> </a:t>
            </a:r>
            <a:r>
              <a:rPr lang="ru-RU" sz="1600" dirty="0" err="1"/>
              <a:t>cone</a:t>
            </a:r>
            <a:r>
              <a:rPr lang="ru-RU" sz="1600" dirty="0"/>
              <a:t> NAT — трансляция между парой «внутренний адрес: внутренний порт» и «публичный адрес: публичный порт», при которой входящие пакеты проходят на внутренний хост только с одного порта публичного хоста — того, на который внутренний хост уже посылал пакет.</a:t>
            </a:r>
          </a:p>
          <a:p>
            <a:endParaRPr lang="ru-RU" sz="1600" dirty="0"/>
          </a:p>
        </p:txBody>
      </p:sp>
      <p:sp>
        <p:nvSpPr>
          <p:cNvPr id="4" name="Номер слайда 3"/>
          <p:cNvSpPr>
            <a:spLocks noGrp="1"/>
          </p:cNvSpPr>
          <p:nvPr>
            <p:ph type="sldNum" sz="quarter" idx="12"/>
          </p:nvPr>
        </p:nvSpPr>
        <p:spPr/>
        <p:txBody>
          <a:bodyPr/>
          <a:lstStyle/>
          <a:p>
            <a:fld id="{95F1F294-9256-463D-A0A5-AED193AA7D01}" type="slidenum">
              <a:rPr lang="ru-RU" smtClean="0"/>
              <a:pPr/>
              <a:t>30</a:t>
            </a:fld>
            <a:endParaRPr lang="ru-RU"/>
          </a:p>
        </p:txBody>
      </p:sp>
      <p:pic>
        <p:nvPicPr>
          <p:cNvPr id="5" name="slide_3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64637"/>
            <a:ext cx="8892480" cy="1824203"/>
          </a:xfrm>
        </p:spPr>
        <p:txBody>
          <a:bodyPr>
            <a:normAutofit fontScale="62500" lnSpcReduction="20000"/>
          </a:bodyPr>
          <a:lstStyle/>
          <a:p>
            <a:r>
              <a:rPr lang="ru-RU" dirty="0"/>
              <a:t> </a:t>
            </a:r>
          </a:p>
          <a:p>
            <a:r>
              <a:rPr lang="ru-RU" dirty="0" smtClean="0"/>
              <a:t>Пусть </a:t>
            </a:r>
            <a:r>
              <a:rPr lang="ru-RU" dirty="0"/>
              <a:t>компьютер с адресом IL 192.168.0.141 отправляет DNS-запрос на внешний хост 1.2.3.4 (порт 53, протокол UDP). Как следует из конфигурации, наш внешний адрес IG – 11.22.33.44.</a:t>
            </a:r>
          </a:p>
          <a:p>
            <a:r>
              <a:rPr lang="ru-RU" dirty="0"/>
              <a:t> </a:t>
            </a:r>
          </a:p>
          <a:p>
            <a:r>
              <a:rPr lang="ru-RU" dirty="0"/>
              <a:t>В результате этого в таблице NAT появится примерно такая запись:</a:t>
            </a:r>
          </a:p>
          <a:p>
            <a:endParaRPr lang="ru-RU" dirty="0" smtClean="0"/>
          </a:p>
          <a:p>
            <a:endParaRPr lang="ru-RU" dirty="0"/>
          </a:p>
        </p:txBody>
      </p:sp>
      <p:pic>
        <p:nvPicPr>
          <p:cNvPr id="4" name="Рисунок 3"/>
          <p:cNvPicPr/>
          <p:nvPr/>
        </p:nvPicPr>
        <p:blipFill>
          <a:blip r:embed="rId2" cstate="print"/>
          <a:srcRect/>
          <a:stretch>
            <a:fillRect/>
          </a:stretch>
        </p:blipFill>
        <p:spPr bwMode="auto">
          <a:xfrm>
            <a:off x="683568" y="3356992"/>
            <a:ext cx="7992888" cy="3360373"/>
          </a:xfrm>
          <a:prstGeom prst="rect">
            <a:avLst/>
          </a:prstGeom>
          <a:noFill/>
          <a:ln w="9525">
            <a:noFill/>
            <a:miter lim="800000"/>
            <a:headEnd/>
            <a:tailEnd/>
          </a:ln>
        </p:spPr>
      </p:pic>
      <p:graphicFrame>
        <p:nvGraphicFramePr>
          <p:cNvPr id="5" name="Таблица 4"/>
          <p:cNvGraphicFramePr>
            <a:graphicFrameLocks noGrp="1"/>
          </p:cNvGraphicFramePr>
          <p:nvPr/>
        </p:nvGraphicFramePr>
        <p:xfrm>
          <a:off x="179512" y="1916832"/>
          <a:ext cx="8784975" cy="1392687"/>
        </p:xfrm>
        <a:graphic>
          <a:graphicData uri="http://schemas.openxmlformats.org/drawingml/2006/table">
            <a:tbl>
              <a:tblPr firstRow="1" bandRow="1">
                <a:tableStyleId>{5C22544A-7EE6-4342-B048-85BDC9FD1C3A}</a:tableStyleId>
              </a:tblPr>
              <a:tblGrid>
                <a:gridCol w="936104"/>
                <a:gridCol w="2160240"/>
                <a:gridCol w="2276286"/>
                <a:gridCol w="1655350"/>
                <a:gridCol w="1756995"/>
              </a:tblGrid>
              <a:tr h="646447">
                <a:tc>
                  <a:txBody>
                    <a:bodyPr/>
                    <a:lstStyle/>
                    <a:p>
                      <a:pPr algn="ctr"/>
                      <a:r>
                        <a:rPr lang="en-US" sz="1800" dirty="0" smtClean="0"/>
                        <a:t>Proto</a:t>
                      </a:r>
                      <a:r>
                        <a:rPr lang="ru-RU" sz="1800" dirty="0" smtClean="0"/>
                        <a:t> </a:t>
                      </a:r>
                      <a:endParaRPr lang="ru-RU" sz="1800" dirty="0"/>
                    </a:p>
                  </a:txBody>
                  <a:tcPr marL="72000" marR="72000" marT="48000" marB="48000" anchor="ctr"/>
                </a:tc>
                <a:tc>
                  <a:txBody>
                    <a:bodyPr/>
                    <a:lstStyle/>
                    <a:p>
                      <a:pPr algn="ctr"/>
                      <a:r>
                        <a:rPr lang="en-US" sz="1800" dirty="0" smtClean="0"/>
                        <a:t>Inside global </a:t>
                      </a:r>
                    </a:p>
                  </a:txBody>
                  <a:tcPr marL="72000" marR="72000" marT="48000" marB="48000" anchor="ctr"/>
                </a:tc>
                <a:tc>
                  <a:txBody>
                    <a:bodyPr/>
                    <a:lstStyle/>
                    <a:p>
                      <a:pPr algn="ctr"/>
                      <a:r>
                        <a:rPr lang="en-US" sz="1800" dirty="0" smtClean="0"/>
                        <a:t> Inside local</a:t>
                      </a:r>
                      <a:endParaRPr lang="ru-RU" sz="1800" dirty="0"/>
                    </a:p>
                  </a:txBody>
                  <a:tcPr marL="72000" marR="72000" marT="48000" marB="48000" anchor="ctr"/>
                </a:tc>
                <a:tc>
                  <a:txBody>
                    <a:bodyPr/>
                    <a:lstStyle/>
                    <a:p>
                      <a:pPr algn="ctr"/>
                      <a:r>
                        <a:rPr lang="en-US" sz="1800" dirty="0" smtClean="0"/>
                        <a:t>Outside local</a:t>
                      </a:r>
                      <a:endParaRPr lang="ru-RU" sz="1800" dirty="0"/>
                    </a:p>
                  </a:txBody>
                  <a:tcPr marL="72000" marR="72000" marT="48000" marB="48000" anchor="ctr"/>
                </a:tc>
                <a:tc>
                  <a:txBody>
                    <a:bodyPr/>
                    <a:lstStyle/>
                    <a:p>
                      <a:pPr algn="ctr"/>
                      <a:r>
                        <a:rPr lang="en-US" sz="1800" dirty="0" smtClean="0"/>
                        <a:t>Outside global</a:t>
                      </a:r>
                      <a:endParaRPr lang="ru-RU" sz="1800" dirty="0"/>
                    </a:p>
                  </a:txBody>
                  <a:tcPr marL="72000" marR="72000" marT="48000" marB="48000" anchor="ctr"/>
                </a:tc>
              </a:tr>
              <a:tr h="746240">
                <a:tc>
                  <a:txBody>
                    <a:bodyPr/>
                    <a:lstStyle/>
                    <a:p>
                      <a:pPr algn="ctr"/>
                      <a:r>
                        <a:rPr lang="ru-RU" sz="1800" dirty="0" smtClean="0"/>
                        <a:t>UDP </a:t>
                      </a:r>
                      <a:endParaRPr lang="ru-RU" sz="1800" dirty="0"/>
                    </a:p>
                  </a:txBody>
                  <a:tcPr marL="72000" marR="72000" marT="48000" marB="48000" anchor="ctr"/>
                </a:tc>
                <a:tc>
                  <a:txBody>
                    <a:bodyPr/>
                    <a:lstStyle/>
                    <a:p>
                      <a:pPr algn="ctr"/>
                      <a:r>
                        <a:rPr lang="ru-RU" sz="1800" dirty="0" smtClean="0"/>
                        <a:t> 11.22.33.44:1053</a:t>
                      </a:r>
                      <a:endParaRPr lang="ru-RU" sz="1800" dirty="0"/>
                    </a:p>
                  </a:txBody>
                  <a:tcPr marL="72000" marR="72000" marT="48000" marB="48000" anchor="ctr"/>
                </a:tc>
                <a:tc>
                  <a:txBody>
                    <a:bodyPr/>
                    <a:lstStyle/>
                    <a:p>
                      <a:pPr algn="ctr"/>
                      <a:r>
                        <a:rPr lang="ru-RU" sz="1800" dirty="0" smtClean="0"/>
                        <a:t>192.168.0.141:1053</a:t>
                      </a:r>
                      <a:endParaRPr lang="ru-RU" sz="1800" dirty="0"/>
                    </a:p>
                  </a:txBody>
                  <a:tcPr marL="72000" marR="72000" marT="48000" marB="48000" anchor="ctr"/>
                </a:tc>
                <a:tc>
                  <a:txBody>
                    <a:bodyPr/>
                    <a:lstStyle/>
                    <a:p>
                      <a:pPr algn="ctr"/>
                      <a:r>
                        <a:rPr lang="ru-RU" sz="1800" dirty="0" smtClean="0"/>
                        <a:t>1.2.3.4:53 </a:t>
                      </a:r>
                      <a:endParaRPr lang="ru-RU" sz="1800" dirty="0"/>
                    </a:p>
                  </a:txBody>
                  <a:tcPr marL="72000" marR="72000" marT="48000" marB="48000" anchor="ctr"/>
                </a:tc>
                <a:tc>
                  <a:txBody>
                    <a:bodyPr/>
                    <a:lstStyle/>
                    <a:p>
                      <a:pPr algn="ctr"/>
                      <a:r>
                        <a:rPr lang="ru-RU" sz="1800" dirty="0" smtClean="0"/>
                        <a:t>1.2.3.4:53</a:t>
                      </a:r>
                      <a:endParaRPr lang="ru-RU" sz="1800" dirty="0"/>
                    </a:p>
                  </a:txBody>
                  <a:tcPr marL="72000" marR="72000" marT="48000" marB="48000" anchor="ctr"/>
                </a:tc>
              </a:tr>
            </a:tbl>
          </a:graphicData>
        </a:graphic>
      </p:graphicFrame>
      <p:sp>
        <p:nvSpPr>
          <p:cNvPr id="6" name="Номер слайда 5"/>
          <p:cNvSpPr>
            <a:spLocks noGrp="1"/>
          </p:cNvSpPr>
          <p:nvPr>
            <p:ph type="sldNum" sz="quarter" idx="12"/>
          </p:nvPr>
        </p:nvSpPr>
        <p:spPr/>
        <p:txBody>
          <a:bodyPr/>
          <a:lstStyle/>
          <a:p>
            <a:fld id="{95F1F294-9256-463D-A0A5-AED193AA7D01}" type="slidenum">
              <a:rPr lang="ru-RU" smtClean="0"/>
              <a:pPr/>
              <a:t>31</a:t>
            </a:fld>
            <a:endParaRPr lang="ru-RU"/>
          </a:p>
        </p:txBody>
      </p:sp>
      <p:pic>
        <p:nvPicPr>
          <p:cNvPr id="7" name="slide_31.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40"/>
            <a:ext cx="8229600" cy="850105"/>
          </a:xfrm>
        </p:spPr>
        <p:txBody>
          <a:bodyPr>
            <a:normAutofit/>
          </a:bodyPr>
          <a:lstStyle/>
          <a:p>
            <a:r>
              <a:rPr lang="ru-RU" dirty="0" smtClean="0"/>
              <a:t>STUN</a:t>
            </a:r>
            <a:endParaRPr lang="ru-RU" dirty="0"/>
          </a:p>
        </p:txBody>
      </p:sp>
      <p:sp>
        <p:nvSpPr>
          <p:cNvPr id="3" name="Содержимое 2"/>
          <p:cNvSpPr>
            <a:spLocks noGrp="1"/>
          </p:cNvSpPr>
          <p:nvPr>
            <p:ph idx="1"/>
          </p:nvPr>
        </p:nvSpPr>
        <p:spPr/>
        <p:txBody>
          <a:bodyPr>
            <a:normAutofit fontScale="62500" lnSpcReduction="20000"/>
          </a:bodyPr>
          <a:lstStyle/>
          <a:p>
            <a:r>
              <a:rPr lang="ru-RU" dirty="0">
                <a:solidFill>
                  <a:schemeClr val="tx2">
                    <a:lumMod val="60000"/>
                    <a:lumOff val="40000"/>
                  </a:schemeClr>
                </a:solidFill>
              </a:rPr>
              <a:t>STUN</a:t>
            </a:r>
            <a:r>
              <a:rPr lang="ru-RU" dirty="0"/>
              <a:t> </a:t>
            </a:r>
            <a:r>
              <a:rPr lang="ru-RU" dirty="0" smtClean="0"/>
              <a:t>(</a:t>
            </a:r>
            <a:r>
              <a:rPr lang="ru-RU" dirty="0" err="1" smtClean="0"/>
              <a:t>Session</a:t>
            </a:r>
            <a:r>
              <a:rPr lang="ru-RU" dirty="0" smtClean="0"/>
              <a:t> </a:t>
            </a:r>
            <a:r>
              <a:rPr lang="ru-RU" dirty="0" err="1"/>
              <a:t>Traversal</a:t>
            </a:r>
            <a:r>
              <a:rPr lang="ru-RU" dirty="0"/>
              <a:t> </a:t>
            </a:r>
            <a:r>
              <a:rPr lang="ru-RU" dirty="0" err="1"/>
              <a:t>Utilities</a:t>
            </a:r>
            <a:r>
              <a:rPr lang="ru-RU" dirty="0"/>
              <a:t> </a:t>
            </a:r>
            <a:r>
              <a:rPr lang="ru-RU" dirty="0" err="1"/>
              <a:t>for</a:t>
            </a:r>
            <a:r>
              <a:rPr lang="ru-RU" dirty="0"/>
              <a:t> NAT, Утилиты прохождения сессий для NAT, ранее англ. </a:t>
            </a:r>
            <a:r>
              <a:rPr lang="ru-RU" dirty="0" err="1"/>
              <a:t>Simple</a:t>
            </a:r>
            <a:r>
              <a:rPr lang="ru-RU" dirty="0"/>
              <a:t> </a:t>
            </a:r>
            <a:r>
              <a:rPr lang="ru-RU" dirty="0" err="1"/>
              <a:t>Traversal</a:t>
            </a:r>
            <a:r>
              <a:rPr lang="ru-RU" dirty="0"/>
              <a:t> </a:t>
            </a:r>
            <a:r>
              <a:rPr lang="ru-RU" dirty="0" err="1"/>
              <a:t>of</a:t>
            </a:r>
            <a:r>
              <a:rPr lang="ru-RU" dirty="0"/>
              <a:t> UDP </a:t>
            </a:r>
            <a:r>
              <a:rPr lang="ru-RU" dirty="0" err="1"/>
              <a:t>through</a:t>
            </a:r>
            <a:r>
              <a:rPr lang="ru-RU" dirty="0"/>
              <a:t> </a:t>
            </a:r>
            <a:r>
              <a:rPr lang="ru-RU" dirty="0" err="1"/>
              <a:t>NATs</a:t>
            </a:r>
            <a:r>
              <a:rPr lang="ru-RU" dirty="0"/>
              <a:t>, Простое прохождение UDP через серверы NAT) </a:t>
            </a:r>
            <a:endParaRPr lang="ru-RU" dirty="0" smtClean="0"/>
          </a:p>
          <a:p>
            <a:endParaRPr lang="en-US" dirty="0" smtClean="0"/>
          </a:p>
          <a:p>
            <a:r>
              <a:rPr lang="en-US" dirty="0" smtClean="0"/>
              <a:t>STUN</a:t>
            </a:r>
            <a:r>
              <a:rPr lang="ru-RU" dirty="0"/>
              <a:t>-сервер позволяет клиентам находить свой адрес общего доступа, тип </a:t>
            </a:r>
            <a:r>
              <a:rPr lang="en-US" dirty="0"/>
              <a:t>NAT</a:t>
            </a:r>
            <a:r>
              <a:rPr lang="ru-RU" dirty="0"/>
              <a:t>, за которым они находятся и порт Интернета, связываемый </a:t>
            </a:r>
            <a:r>
              <a:rPr lang="en-US" dirty="0"/>
              <a:t>NAT</a:t>
            </a:r>
            <a:r>
              <a:rPr lang="ru-RU" dirty="0"/>
              <a:t> с конкретным локальным </a:t>
            </a:r>
            <a:r>
              <a:rPr lang="ru-RU" dirty="0" smtClean="0"/>
              <a:t>портом, а так же тип </a:t>
            </a:r>
            <a:r>
              <a:rPr lang="en-US" dirty="0" smtClean="0"/>
              <a:t>NAT</a:t>
            </a:r>
            <a:r>
              <a:rPr lang="ru-RU" dirty="0" smtClean="0"/>
              <a:t>. </a:t>
            </a:r>
            <a:r>
              <a:rPr lang="ru-RU" dirty="0"/>
              <a:t>Эта информация используется для настройки связи </a:t>
            </a:r>
            <a:r>
              <a:rPr lang="en-US" dirty="0"/>
              <a:t>UDP</a:t>
            </a:r>
            <a:r>
              <a:rPr lang="ru-RU" dirty="0"/>
              <a:t> между клиентом и провайдером </a:t>
            </a:r>
            <a:r>
              <a:rPr lang="en-US" dirty="0"/>
              <a:t>VOIP</a:t>
            </a:r>
            <a:r>
              <a:rPr lang="ru-RU" dirty="0"/>
              <a:t> и организации сеанса. </a:t>
            </a:r>
            <a:r>
              <a:rPr lang="en-US" dirty="0" err="1"/>
              <a:t>Протокол</a:t>
            </a:r>
            <a:r>
              <a:rPr lang="en-US" dirty="0"/>
              <a:t> STUN </a:t>
            </a:r>
            <a:r>
              <a:rPr lang="en-US" dirty="0" err="1"/>
              <a:t>определяется</a:t>
            </a:r>
            <a:r>
              <a:rPr lang="en-US" dirty="0"/>
              <a:t> </a:t>
            </a:r>
            <a:r>
              <a:rPr lang="en-US" dirty="0" err="1"/>
              <a:t>стандартом</a:t>
            </a:r>
            <a:r>
              <a:rPr lang="en-US" dirty="0"/>
              <a:t> RFC 3489.</a:t>
            </a:r>
            <a:endParaRPr lang="ru-RU" dirty="0"/>
          </a:p>
          <a:p>
            <a:r>
              <a:rPr lang="ru-RU" dirty="0" smtClean="0"/>
              <a:t>Соединение </a:t>
            </a:r>
            <a:r>
              <a:rPr lang="ru-RU" dirty="0"/>
              <a:t>с сервером </a:t>
            </a:r>
            <a:r>
              <a:rPr lang="en-US" dirty="0"/>
              <a:t>STUN</a:t>
            </a:r>
            <a:r>
              <a:rPr lang="ru-RU" dirty="0"/>
              <a:t> устанавливается через </a:t>
            </a:r>
            <a:r>
              <a:rPr lang="en-US" dirty="0"/>
              <a:t>UDP</a:t>
            </a:r>
            <a:r>
              <a:rPr lang="ru-RU" dirty="0"/>
              <a:t>-порт 3478, однако сервер предлагает клиентам выполнить проверку также и альтернативного </a:t>
            </a:r>
            <a:r>
              <a:rPr lang="en-US" dirty="0"/>
              <a:t>IP</a:t>
            </a:r>
            <a:r>
              <a:rPr lang="ru-RU" dirty="0"/>
              <a:t> и номера порта (у серверов </a:t>
            </a:r>
            <a:r>
              <a:rPr lang="en-US" dirty="0"/>
              <a:t>STUN</a:t>
            </a:r>
            <a:r>
              <a:rPr lang="ru-RU" dirty="0"/>
              <a:t> есть два </a:t>
            </a:r>
            <a:r>
              <a:rPr lang="en-US" dirty="0"/>
              <a:t>IP</a:t>
            </a:r>
            <a:r>
              <a:rPr lang="ru-RU" dirty="0"/>
              <a:t>-адреса). В </a:t>
            </a:r>
            <a:r>
              <a:rPr lang="en-US" dirty="0"/>
              <a:t>RFC</a:t>
            </a:r>
            <a:r>
              <a:rPr lang="ru-RU" dirty="0"/>
              <a:t> говорится, что выбор порта и </a:t>
            </a:r>
            <a:r>
              <a:rPr lang="en-US" dirty="0"/>
              <a:t>IP</a:t>
            </a:r>
            <a:r>
              <a:rPr lang="ru-RU" dirty="0"/>
              <a:t> является произвольным.</a:t>
            </a:r>
          </a:p>
          <a:p>
            <a:endParaRPr lang="ru-RU" dirty="0"/>
          </a:p>
          <a:p>
            <a:endParaRPr lang="ru-RU" dirty="0"/>
          </a:p>
        </p:txBody>
      </p:sp>
      <p:sp>
        <p:nvSpPr>
          <p:cNvPr id="4" name="Номер слайда 3"/>
          <p:cNvSpPr>
            <a:spLocks noGrp="1"/>
          </p:cNvSpPr>
          <p:nvPr>
            <p:ph type="sldNum" sz="quarter" idx="12"/>
          </p:nvPr>
        </p:nvSpPr>
        <p:spPr/>
        <p:txBody>
          <a:bodyPr/>
          <a:lstStyle/>
          <a:p>
            <a:fld id="{95F1F294-9256-463D-A0A5-AED193AA7D01}" type="slidenum">
              <a:rPr lang="ru-RU" smtClean="0"/>
              <a:pPr/>
              <a:t>32</a:t>
            </a:fld>
            <a:endParaRPr lang="ru-RU"/>
          </a:p>
        </p:txBody>
      </p:sp>
      <p:pic>
        <p:nvPicPr>
          <p:cNvPr id="5" name="slide_3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164637"/>
            <a:ext cx="8640960" cy="2976331"/>
          </a:xfrm>
        </p:spPr>
        <p:txBody>
          <a:bodyPr>
            <a:normAutofit fontScale="70000" lnSpcReduction="20000"/>
          </a:bodyPr>
          <a:lstStyle/>
          <a:p>
            <a:r>
              <a:rPr lang="ru-RU" dirty="0" smtClean="0"/>
              <a:t>STUN</a:t>
            </a:r>
            <a:r>
              <a:rPr lang="ru-RU" dirty="0"/>
              <a:t> — это клиент-серверный протокол. </a:t>
            </a:r>
            <a:endParaRPr lang="en-US" dirty="0" smtClean="0"/>
          </a:p>
          <a:p>
            <a:r>
              <a:rPr lang="ru-RU" dirty="0" smtClean="0"/>
              <a:t>VoIP-клиент </a:t>
            </a:r>
            <a:r>
              <a:rPr lang="ru-RU" dirty="0"/>
              <a:t>может включать в себя реализацию клиента STUN, который отправляет запрос серверу STUN. </a:t>
            </a:r>
            <a:endParaRPr lang="en-US" dirty="0" smtClean="0"/>
          </a:p>
          <a:p>
            <a:r>
              <a:rPr lang="ru-RU" dirty="0" smtClean="0"/>
              <a:t>Затем </a:t>
            </a:r>
            <a:r>
              <a:rPr lang="ru-RU" dirty="0"/>
              <a:t>сервер STUN отправляет клиенту обратно информацию о том, каков внешний адрес </a:t>
            </a:r>
            <a:r>
              <a:rPr lang="ru-RU" dirty="0" err="1"/>
              <a:t>маршрутизатора</a:t>
            </a:r>
            <a:r>
              <a:rPr lang="ru-RU" dirty="0"/>
              <a:t> NAT, и какой порт открыт на NAT для приема входящих запросов обратно во внутреннюю сеть.</a:t>
            </a:r>
          </a:p>
          <a:p>
            <a:endParaRPr lang="ru-RU" dirty="0"/>
          </a:p>
        </p:txBody>
      </p:sp>
      <p:pic>
        <p:nvPicPr>
          <p:cNvPr id="4" name="Рисунок 3"/>
          <p:cNvPicPr/>
          <p:nvPr/>
        </p:nvPicPr>
        <p:blipFill>
          <a:blip r:embed="rId2" cstate="print">
            <a:clrChange>
              <a:clrFrom>
                <a:srgbClr val="000000"/>
              </a:clrFrom>
              <a:clrTo>
                <a:srgbClr val="000000">
                  <a:alpha val="0"/>
                </a:srgbClr>
              </a:clrTo>
            </a:clrChange>
            <a:duotone>
              <a:prstClr val="black"/>
              <a:schemeClr val="accent2">
                <a:tint val="45000"/>
                <a:satMod val="400000"/>
              </a:schemeClr>
            </a:duotone>
          </a:blip>
          <a:stretch>
            <a:fillRect/>
          </a:stretch>
        </p:blipFill>
        <p:spPr bwMode="auto">
          <a:xfrm>
            <a:off x="755576" y="3140968"/>
            <a:ext cx="7560840" cy="307234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p:spPr>
      </p:pic>
      <p:sp>
        <p:nvSpPr>
          <p:cNvPr id="5" name="Номер слайда 4"/>
          <p:cNvSpPr>
            <a:spLocks noGrp="1"/>
          </p:cNvSpPr>
          <p:nvPr>
            <p:ph type="sldNum" sz="quarter" idx="12"/>
          </p:nvPr>
        </p:nvSpPr>
        <p:spPr/>
        <p:txBody>
          <a:bodyPr/>
          <a:lstStyle/>
          <a:p>
            <a:fld id="{95F1F294-9256-463D-A0A5-AED193AA7D01}" type="slidenum">
              <a:rPr lang="ru-RU" smtClean="0"/>
              <a:pPr/>
              <a:t>33</a:t>
            </a:fld>
            <a:endParaRPr lang="ru-RU"/>
          </a:p>
        </p:txBody>
      </p:sp>
      <p:pic>
        <p:nvPicPr>
          <p:cNvPr id="6" name="slide_33.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504" y="164638"/>
            <a:ext cx="8856984" cy="6528725"/>
          </a:xfrm>
        </p:spPr>
        <p:txBody>
          <a:bodyPr>
            <a:normAutofit fontScale="62500" lnSpcReduction="20000"/>
          </a:bodyPr>
          <a:lstStyle/>
          <a:p>
            <a:r>
              <a:rPr lang="ru-RU" dirty="0"/>
              <a:t>Ответ </a:t>
            </a:r>
            <a:r>
              <a:rPr lang="ru-RU" dirty="0" smtClean="0"/>
              <a:t>сервера </a:t>
            </a:r>
            <a:r>
              <a:rPr lang="en-US" dirty="0" smtClean="0"/>
              <a:t>STUN</a:t>
            </a:r>
            <a:r>
              <a:rPr lang="ru-RU" dirty="0" smtClean="0"/>
              <a:t> </a:t>
            </a:r>
            <a:r>
              <a:rPr lang="ru-RU" dirty="0"/>
              <a:t>позволяет клиенту STUN определить, какой тип трансляции адреса используется, </a:t>
            </a:r>
            <a:r>
              <a:rPr lang="ru-RU" dirty="0" smtClean="0"/>
              <a:t>(разные типы </a:t>
            </a:r>
            <a:r>
              <a:rPr lang="ru-RU" dirty="0" err="1"/>
              <a:t>маршрутизаторов</a:t>
            </a:r>
            <a:r>
              <a:rPr lang="ru-RU" dirty="0"/>
              <a:t> NAT обрабатывают входящие UDP пакеты </a:t>
            </a:r>
            <a:r>
              <a:rPr lang="ru-RU" dirty="0" smtClean="0"/>
              <a:t>по-разному). </a:t>
            </a:r>
          </a:p>
          <a:p>
            <a:r>
              <a:rPr lang="ru-RU" dirty="0" smtClean="0"/>
              <a:t>STUN </a:t>
            </a:r>
            <a:r>
              <a:rPr lang="ru-RU" dirty="0"/>
              <a:t>работает с тремя из четырёх основных типов: </a:t>
            </a:r>
            <a:endParaRPr lang="ru-RU" dirty="0" smtClean="0"/>
          </a:p>
          <a:p>
            <a:r>
              <a:rPr lang="ru-RU" dirty="0" err="1" smtClean="0"/>
              <a:t>Full</a:t>
            </a:r>
            <a:r>
              <a:rPr lang="ru-RU" dirty="0" smtClean="0"/>
              <a:t> </a:t>
            </a:r>
            <a:r>
              <a:rPr lang="ru-RU" dirty="0" err="1"/>
              <a:t>Cone</a:t>
            </a:r>
            <a:r>
              <a:rPr lang="ru-RU" dirty="0"/>
              <a:t> NAT, </a:t>
            </a:r>
            <a:r>
              <a:rPr lang="ru-RU" dirty="0" err="1"/>
              <a:t>Address</a:t>
            </a:r>
            <a:r>
              <a:rPr lang="ru-RU" dirty="0"/>
              <a:t> </a:t>
            </a:r>
            <a:r>
              <a:rPr lang="ru-RU" dirty="0" err="1"/>
              <a:t>Restricted</a:t>
            </a:r>
            <a:r>
              <a:rPr lang="ru-RU" dirty="0"/>
              <a:t> NAT и </a:t>
            </a:r>
            <a:r>
              <a:rPr lang="ru-RU" dirty="0" err="1"/>
              <a:t>Port</a:t>
            </a:r>
            <a:r>
              <a:rPr lang="ru-RU" dirty="0"/>
              <a:t> </a:t>
            </a:r>
            <a:r>
              <a:rPr lang="ru-RU" dirty="0" err="1"/>
              <a:t>Restricted</a:t>
            </a:r>
            <a:r>
              <a:rPr lang="ru-RU" dirty="0"/>
              <a:t> NAT (четвёртый - </a:t>
            </a:r>
            <a:r>
              <a:rPr lang="ru-RU" dirty="0" err="1"/>
              <a:t>Symmetric</a:t>
            </a:r>
            <a:r>
              <a:rPr lang="ru-RU" dirty="0"/>
              <a:t> NAT). </a:t>
            </a:r>
            <a:endParaRPr lang="ru-RU" dirty="0" smtClean="0"/>
          </a:p>
          <a:p>
            <a:endParaRPr lang="ru-RU" dirty="0" smtClean="0"/>
          </a:p>
          <a:p>
            <a:r>
              <a:rPr lang="ru-RU" dirty="0" smtClean="0"/>
              <a:t>В </a:t>
            </a:r>
            <a:r>
              <a:rPr lang="ru-RU" dirty="0"/>
              <a:t>случае ограничивающего NAT клиент должен отправить пакет на удаленный узел, прежде чем NAT начнет пропускать пакеты от удаленного узла к клиенту. STUN не будет работать с симметричным </a:t>
            </a:r>
            <a:r>
              <a:rPr lang="ru-RU" dirty="0" err="1"/>
              <a:t>NAT’ом</a:t>
            </a:r>
            <a:r>
              <a:rPr lang="ru-RU" dirty="0"/>
              <a:t> (также называемым «двусторонний NAT»), который часто встречается в сетях больших компаний. При симметричном NAT IP-адрес сервера STUN отличается от конечного адреса, и из-за этого адрес NAT, который видит STUN-сервер, отличается от конечного адреса, который будет использоваться для отправки пакетов клиенту.</a:t>
            </a:r>
          </a:p>
          <a:p>
            <a:r>
              <a:rPr lang="ru-RU" dirty="0"/>
              <a:t> </a:t>
            </a:r>
          </a:p>
          <a:p>
            <a:r>
              <a:rPr lang="ru-RU" dirty="0"/>
              <a:t>Как только клиент обнаружил свой внешний адрес, он может передать его узлу, с которым проходит соединение. Если на пути встречаются трансляторы типа «полный конус», любая из двух сторон может начать общение. Если же выполняется трансляция типа «ограниченный конус» или «порт ограниченного конуса», обе стороны должны начать передачу данных совместно.</a:t>
            </a:r>
          </a:p>
          <a:p>
            <a:endParaRPr lang="ru-RU" dirty="0"/>
          </a:p>
        </p:txBody>
      </p:sp>
      <p:sp>
        <p:nvSpPr>
          <p:cNvPr id="4" name="Номер слайда 3"/>
          <p:cNvSpPr>
            <a:spLocks noGrp="1"/>
          </p:cNvSpPr>
          <p:nvPr>
            <p:ph type="sldNum" sz="quarter" idx="12"/>
          </p:nvPr>
        </p:nvSpPr>
        <p:spPr/>
        <p:txBody>
          <a:bodyPr/>
          <a:lstStyle/>
          <a:p>
            <a:fld id="{95F1F294-9256-463D-A0A5-AED193AA7D01}" type="slidenum">
              <a:rPr lang="ru-RU" smtClean="0"/>
              <a:pPr/>
              <a:t>34</a:t>
            </a:fld>
            <a:endParaRPr lang="ru-RU"/>
          </a:p>
        </p:txBody>
      </p:sp>
      <p:pic>
        <p:nvPicPr>
          <p:cNvPr id="5" name="slide_3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ru-RU"/>
              <a:t>Итоги</a:t>
            </a:r>
          </a:p>
        </p:txBody>
      </p:sp>
      <p:sp>
        <p:nvSpPr>
          <p:cNvPr id="25603" name="Rectangle 3"/>
          <p:cNvSpPr>
            <a:spLocks noGrp="1" noChangeArrowheads="1"/>
          </p:cNvSpPr>
          <p:nvPr>
            <p:ph type="body" idx="1"/>
          </p:nvPr>
        </p:nvSpPr>
        <p:spPr/>
        <p:txBody>
          <a:bodyPr/>
          <a:lstStyle/>
          <a:p>
            <a:pPr>
              <a:lnSpc>
                <a:spcPct val="90000"/>
              </a:lnSpc>
            </a:pPr>
            <a:r>
              <a:rPr lang="ru-RU"/>
              <a:t>Глобальные и локальные адреса</a:t>
            </a:r>
          </a:p>
          <a:p>
            <a:pPr>
              <a:lnSpc>
                <a:spcPct val="90000"/>
              </a:lnSpc>
            </a:pPr>
            <a:r>
              <a:rPr lang="ru-RU"/>
              <a:t>Структура </a:t>
            </a:r>
            <a:r>
              <a:rPr lang="en-US"/>
              <a:t>IP</a:t>
            </a:r>
            <a:r>
              <a:rPr lang="ru-RU"/>
              <a:t>-адреса</a:t>
            </a:r>
          </a:p>
          <a:p>
            <a:pPr>
              <a:lnSpc>
                <a:spcPct val="90000"/>
              </a:lnSpc>
            </a:pPr>
            <a:r>
              <a:rPr lang="ru-RU"/>
              <a:t>Классы </a:t>
            </a:r>
            <a:r>
              <a:rPr lang="en-US"/>
              <a:t>IP</a:t>
            </a:r>
            <a:r>
              <a:rPr lang="ru-RU"/>
              <a:t>-сетей</a:t>
            </a:r>
          </a:p>
          <a:p>
            <a:pPr>
              <a:lnSpc>
                <a:spcPct val="90000"/>
              </a:lnSpc>
            </a:pPr>
            <a:r>
              <a:rPr lang="ru-RU"/>
              <a:t>Бесклассовая маршрутизация (Classless Inter-Domain Routing, </a:t>
            </a:r>
            <a:r>
              <a:rPr lang="en-US"/>
              <a:t>CIDR</a:t>
            </a:r>
            <a:r>
              <a:rPr lang="ru-RU"/>
              <a:t>)</a:t>
            </a:r>
          </a:p>
          <a:p>
            <a:pPr>
              <a:lnSpc>
                <a:spcPct val="90000"/>
              </a:lnSpc>
            </a:pPr>
            <a:r>
              <a:rPr lang="ru-RU"/>
              <a:t>Специальные типы сетей</a:t>
            </a:r>
            <a:endParaRPr lang="en-US"/>
          </a:p>
          <a:p>
            <a:pPr>
              <a:lnSpc>
                <a:spcPct val="90000"/>
              </a:lnSpc>
            </a:pPr>
            <a:r>
              <a:rPr lang="ru-RU"/>
              <a:t>Подсети</a:t>
            </a:r>
          </a:p>
        </p:txBody>
      </p:sp>
      <p:pic>
        <p:nvPicPr>
          <p:cNvPr id="25604" name="slide_3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604"/>
                                        </p:tgtEl>
                                      </p:cBhvr>
                                    </p:cmd>
                                  </p:childTnLst>
                                </p:cTn>
                              </p:par>
                            </p:childTnLst>
                          </p:cTn>
                        </p:par>
                      </p:childTnLst>
                    </p:cTn>
                  </p:par>
                </p:childTnLst>
              </p:cTn>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23850" y="188913"/>
            <a:ext cx="3960813" cy="1143000"/>
          </a:xfrm>
        </p:spPr>
        <p:txBody>
          <a:bodyPr/>
          <a:lstStyle/>
          <a:p>
            <a:r>
              <a:rPr lang="en-US"/>
              <a:t>IP </a:t>
            </a:r>
            <a:r>
              <a:rPr lang="ru-RU"/>
              <a:t>пакет</a:t>
            </a:r>
          </a:p>
        </p:txBody>
      </p:sp>
      <p:sp>
        <p:nvSpPr>
          <p:cNvPr id="34819" name="Rectangle 3"/>
          <p:cNvSpPr>
            <a:spLocks noGrp="1" noChangeArrowheads="1"/>
          </p:cNvSpPr>
          <p:nvPr>
            <p:ph type="body" idx="1"/>
          </p:nvPr>
        </p:nvSpPr>
        <p:spPr>
          <a:xfrm>
            <a:off x="4427538" y="188913"/>
            <a:ext cx="4716462" cy="4525962"/>
          </a:xfrm>
        </p:spPr>
        <p:txBody>
          <a:bodyPr/>
          <a:lstStyle/>
          <a:p>
            <a:pPr>
              <a:lnSpc>
                <a:spcPct val="90000"/>
              </a:lnSpc>
            </a:pPr>
            <a:r>
              <a:rPr lang="en-US" sz="2000"/>
              <a:t>VERS, version </a:t>
            </a:r>
            <a:r>
              <a:rPr lang="ru-RU" sz="2000"/>
              <a:t>– версия </a:t>
            </a:r>
            <a:r>
              <a:rPr lang="en-US" sz="2000"/>
              <a:t>IP (4, 0010)</a:t>
            </a:r>
            <a:endParaRPr lang="ru-RU" sz="2000"/>
          </a:p>
          <a:p>
            <a:pPr>
              <a:lnSpc>
                <a:spcPct val="90000"/>
              </a:lnSpc>
            </a:pPr>
            <a:r>
              <a:rPr lang="en-US" sz="2000"/>
              <a:t>HLENG, header length – </a:t>
            </a:r>
            <a:r>
              <a:rPr lang="ru-RU" sz="2000"/>
              <a:t>длина заголовка</a:t>
            </a:r>
            <a:endParaRPr lang="en-US" sz="2000"/>
          </a:p>
          <a:p>
            <a:pPr>
              <a:lnSpc>
                <a:spcPct val="90000"/>
              </a:lnSpc>
            </a:pPr>
            <a:r>
              <a:rPr lang="en-US" sz="2000"/>
              <a:t>TOTAL LENGTH –</a:t>
            </a:r>
            <a:r>
              <a:rPr lang="ru-RU" sz="2000"/>
              <a:t> полная длина пакета</a:t>
            </a:r>
            <a:endParaRPr lang="en-US" sz="2000"/>
          </a:p>
          <a:p>
            <a:pPr>
              <a:lnSpc>
                <a:spcPct val="90000"/>
              </a:lnSpc>
            </a:pPr>
            <a:r>
              <a:rPr lang="en-US" sz="2000"/>
              <a:t>ID, identification – </a:t>
            </a:r>
            <a:r>
              <a:rPr lang="ru-RU" sz="2000"/>
              <a:t>номер (идентификатор) фрагмента</a:t>
            </a:r>
            <a:endParaRPr lang="en-US" sz="2000"/>
          </a:p>
          <a:p>
            <a:pPr>
              <a:lnSpc>
                <a:spcPct val="90000"/>
              </a:lnSpc>
            </a:pPr>
            <a:r>
              <a:rPr lang="en-US" sz="2000"/>
              <a:t>FLG, flags - </a:t>
            </a:r>
            <a:r>
              <a:rPr lang="ru-RU" sz="2000"/>
              <a:t>флаги</a:t>
            </a:r>
            <a:endParaRPr lang="en-US" sz="2000"/>
          </a:p>
          <a:p>
            <a:pPr>
              <a:lnSpc>
                <a:spcPct val="90000"/>
              </a:lnSpc>
            </a:pPr>
            <a:r>
              <a:rPr lang="en-US" sz="2000"/>
              <a:t>FRAGMENTATION OFFSET – </a:t>
            </a:r>
            <a:r>
              <a:rPr lang="ru-RU" sz="2000"/>
              <a:t>начало фрагмента</a:t>
            </a:r>
            <a:endParaRPr lang="en-US" sz="2000"/>
          </a:p>
          <a:p>
            <a:pPr>
              <a:lnSpc>
                <a:spcPct val="90000"/>
              </a:lnSpc>
            </a:pPr>
            <a:r>
              <a:rPr lang="en-US" sz="2000"/>
              <a:t>TTL, time to live – </a:t>
            </a:r>
            <a:r>
              <a:rPr lang="ru-RU" sz="2000"/>
              <a:t>время жизни</a:t>
            </a:r>
          </a:p>
          <a:p>
            <a:pPr>
              <a:lnSpc>
                <a:spcPct val="90000"/>
              </a:lnSpc>
            </a:pPr>
            <a:r>
              <a:rPr lang="en-US" sz="2000"/>
              <a:t>NEXT PROTOCOL – </a:t>
            </a:r>
            <a:r>
              <a:rPr lang="ru-RU" sz="2000"/>
              <a:t>следующий протокол</a:t>
            </a:r>
          </a:p>
          <a:p>
            <a:pPr>
              <a:lnSpc>
                <a:spcPct val="90000"/>
              </a:lnSpc>
            </a:pPr>
            <a:r>
              <a:rPr lang="en-US" sz="2000"/>
              <a:t>HEADER CHECKSUM – </a:t>
            </a:r>
            <a:r>
              <a:rPr lang="ru-RU" sz="2000"/>
              <a:t>контрольная сумма заголовка</a:t>
            </a:r>
          </a:p>
          <a:p>
            <a:pPr>
              <a:lnSpc>
                <a:spcPct val="90000"/>
              </a:lnSpc>
            </a:pPr>
            <a:r>
              <a:rPr lang="en-US" sz="2000"/>
              <a:t>SOURCE IP ADDRESS – </a:t>
            </a:r>
            <a:r>
              <a:rPr lang="ru-RU" sz="2000"/>
              <a:t>адрес отправителя</a:t>
            </a:r>
            <a:endParaRPr lang="en-US" sz="2000"/>
          </a:p>
          <a:p>
            <a:pPr>
              <a:lnSpc>
                <a:spcPct val="90000"/>
              </a:lnSpc>
            </a:pPr>
            <a:r>
              <a:rPr lang="en-US" sz="2000"/>
              <a:t>DESTINATION IP ADDRESS – </a:t>
            </a:r>
            <a:r>
              <a:rPr lang="ru-RU" sz="2000"/>
              <a:t>адрес получателя</a:t>
            </a:r>
            <a:endParaRPr lang="en-US" sz="2000"/>
          </a:p>
          <a:p>
            <a:pPr>
              <a:lnSpc>
                <a:spcPct val="90000"/>
              </a:lnSpc>
            </a:pPr>
            <a:r>
              <a:rPr lang="en-US" sz="2000"/>
              <a:t>IP OPTIONS – </a:t>
            </a:r>
            <a:r>
              <a:rPr lang="ru-RU" sz="2000"/>
              <a:t>варианты</a:t>
            </a:r>
            <a:endParaRPr lang="en-US" sz="2000"/>
          </a:p>
          <a:p>
            <a:pPr>
              <a:lnSpc>
                <a:spcPct val="90000"/>
              </a:lnSpc>
            </a:pPr>
            <a:r>
              <a:rPr lang="en-US" sz="2000"/>
              <a:t>PADDIND – </a:t>
            </a:r>
            <a:r>
              <a:rPr lang="ru-RU" sz="2000"/>
              <a:t>заполнение</a:t>
            </a:r>
            <a:r>
              <a:rPr lang="en-US" sz="2000"/>
              <a:t> </a:t>
            </a:r>
            <a:endParaRPr lang="ru-RU" sz="2000"/>
          </a:p>
        </p:txBody>
      </p:sp>
      <p:graphicFrame>
        <p:nvGraphicFramePr>
          <p:cNvPr id="34820" name="Object 4"/>
          <p:cNvGraphicFramePr>
            <a:graphicFrameLocks noChangeAspect="1"/>
          </p:cNvGraphicFramePr>
          <p:nvPr/>
        </p:nvGraphicFramePr>
        <p:xfrm>
          <a:off x="107950" y="3429000"/>
          <a:ext cx="4572000" cy="2520950"/>
        </p:xfrm>
        <a:graphic>
          <a:graphicData uri="http://schemas.openxmlformats.org/presentationml/2006/ole">
            <p:oleObj spid="_x0000_s34820" name="VISIO" r:id="rId3" imgW="5914800" imgH="2740680" progId="Visio.Drawing.6">
              <p:embed/>
            </p:oleObj>
          </a:graphicData>
        </a:graphic>
      </p:graphicFrame>
      <p:sp>
        <p:nvSpPr>
          <p:cNvPr id="34821" name="Rectangle 5"/>
          <p:cNvSpPr>
            <a:spLocks noChangeArrowheads="1"/>
          </p:cNvSpPr>
          <p:nvPr/>
        </p:nvSpPr>
        <p:spPr bwMode="auto">
          <a:xfrm>
            <a:off x="114300" y="2057400"/>
            <a:ext cx="1371600" cy="533400"/>
          </a:xfrm>
          <a:prstGeom prst="rect">
            <a:avLst/>
          </a:prstGeom>
          <a:solidFill>
            <a:srgbClr val="CC99FF"/>
          </a:solidFill>
          <a:ln w="9525">
            <a:solidFill>
              <a:schemeClr val="tx1"/>
            </a:solidFill>
            <a:miter lim="800000"/>
            <a:headEnd/>
            <a:tailEnd/>
          </a:ln>
          <a:effectLst/>
        </p:spPr>
        <p:txBody>
          <a:bodyPr wrap="none" anchor="ctr"/>
          <a:lstStyle/>
          <a:p>
            <a:pPr algn="ctr"/>
            <a:r>
              <a:rPr lang="ru-RU" sz="1600"/>
              <a:t>Заголовок</a:t>
            </a:r>
          </a:p>
        </p:txBody>
      </p:sp>
      <p:sp>
        <p:nvSpPr>
          <p:cNvPr id="34822" name="Rectangle 6"/>
          <p:cNvSpPr>
            <a:spLocks noChangeArrowheads="1"/>
          </p:cNvSpPr>
          <p:nvPr/>
        </p:nvSpPr>
        <p:spPr bwMode="auto">
          <a:xfrm>
            <a:off x="1397000" y="2057400"/>
            <a:ext cx="3048000" cy="533400"/>
          </a:xfrm>
          <a:prstGeom prst="rect">
            <a:avLst/>
          </a:prstGeom>
          <a:solidFill>
            <a:srgbClr val="FF9933"/>
          </a:solidFill>
          <a:ln w="9525">
            <a:solidFill>
              <a:schemeClr val="tx1"/>
            </a:solidFill>
            <a:miter lim="800000"/>
            <a:headEnd/>
            <a:tailEnd/>
          </a:ln>
          <a:effectLst/>
        </p:spPr>
        <p:txBody>
          <a:bodyPr wrap="none" anchor="ctr"/>
          <a:lstStyle/>
          <a:p>
            <a:pPr algn="ctr"/>
            <a:r>
              <a:rPr lang="ru-RU" sz="1600"/>
              <a:t>Данные</a:t>
            </a:r>
          </a:p>
        </p:txBody>
      </p:sp>
      <p:sp>
        <p:nvSpPr>
          <p:cNvPr id="34823" name="Rectangle 7"/>
          <p:cNvSpPr>
            <a:spLocks noChangeArrowheads="1"/>
          </p:cNvSpPr>
          <p:nvPr/>
        </p:nvSpPr>
        <p:spPr bwMode="auto">
          <a:xfrm>
            <a:off x="1219200" y="1600200"/>
            <a:ext cx="1943100" cy="304800"/>
          </a:xfrm>
          <a:prstGeom prst="rect">
            <a:avLst/>
          </a:prstGeom>
          <a:noFill/>
          <a:ln w="9525">
            <a:noFill/>
            <a:miter lim="800000"/>
            <a:headEnd/>
            <a:tailEnd/>
          </a:ln>
          <a:effectLst/>
        </p:spPr>
        <p:txBody>
          <a:bodyPr wrap="none">
            <a:spAutoFit/>
          </a:bodyPr>
          <a:lstStyle/>
          <a:p>
            <a:r>
              <a:rPr lang="ru-RU" sz="1400" b="1">
                <a:solidFill>
                  <a:srgbClr val="0033CC"/>
                </a:solidFill>
              </a:rPr>
              <a:t>Структура </a:t>
            </a:r>
            <a:r>
              <a:rPr lang="en-US" sz="1400" b="1">
                <a:solidFill>
                  <a:srgbClr val="0033CC"/>
                </a:solidFill>
              </a:rPr>
              <a:t>IP</a:t>
            </a:r>
            <a:r>
              <a:rPr lang="ru-RU" sz="1400" b="1">
                <a:solidFill>
                  <a:srgbClr val="0033CC"/>
                </a:solidFill>
              </a:rPr>
              <a:t>-пакета</a:t>
            </a:r>
          </a:p>
        </p:txBody>
      </p:sp>
      <p:sp>
        <p:nvSpPr>
          <p:cNvPr id="34824" name="Rectangle 8"/>
          <p:cNvSpPr>
            <a:spLocks noChangeArrowheads="1"/>
          </p:cNvSpPr>
          <p:nvPr/>
        </p:nvSpPr>
        <p:spPr bwMode="auto">
          <a:xfrm>
            <a:off x="1219200" y="3200400"/>
            <a:ext cx="1958975" cy="304800"/>
          </a:xfrm>
          <a:prstGeom prst="rect">
            <a:avLst/>
          </a:prstGeom>
          <a:noFill/>
          <a:ln w="9525">
            <a:noFill/>
            <a:miter lim="800000"/>
            <a:headEnd/>
            <a:tailEnd/>
          </a:ln>
          <a:effectLst/>
        </p:spPr>
        <p:txBody>
          <a:bodyPr wrap="none">
            <a:spAutoFit/>
          </a:bodyPr>
          <a:lstStyle/>
          <a:p>
            <a:r>
              <a:rPr lang="ru-RU" sz="1400" b="1">
                <a:solidFill>
                  <a:srgbClr val="0033CC"/>
                </a:solidFill>
              </a:rPr>
              <a:t>Заголовок </a:t>
            </a:r>
            <a:r>
              <a:rPr lang="en-US" sz="1400" b="1">
                <a:solidFill>
                  <a:srgbClr val="0033CC"/>
                </a:solidFill>
              </a:rPr>
              <a:t>IP</a:t>
            </a:r>
            <a:r>
              <a:rPr lang="ru-RU" sz="1400" b="1">
                <a:solidFill>
                  <a:srgbClr val="0033CC"/>
                </a:solidFill>
              </a:rPr>
              <a:t>-пакета</a:t>
            </a:r>
          </a:p>
        </p:txBody>
      </p:sp>
      <p:pic>
        <p:nvPicPr>
          <p:cNvPr id="34825" name="slide_36.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825"/>
                                        </p:tgtEl>
                                      </p:cBhvr>
                                    </p:cmd>
                                  </p:childTnLst>
                                </p:cTn>
                              </p:par>
                            </p:childTnLst>
                          </p:cTn>
                        </p:par>
                      </p:childTnLst>
                    </p:cTn>
                  </p:par>
                </p:childTnLst>
              </p:cTn>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39750" y="-242888"/>
            <a:ext cx="4608513" cy="1143001"/>
          </a:xfrm>
        </p:spPr>
        <p:txBody>
          <a:bodyPr/>
          <a:lstStyle/>
          <a:p>
            <a:r>
              <a:rPr lang="ru-RU" sz="2400"/>
              <a:t>Тип сервиса</a:t>
            </a:r>
          </a:p>
        </p:txBody>
      </p:sp>
      <p:sp>
        <p:nvSpPr>
          <p:cNvPr id="35843" name="Rectangle 3"/>
          <p:cNvSpPr>
            <a:spLocks noGrp="1" noChangeArrowheads="1"/>
          </p:cNvSpPr>
          <p:nvPr>
            <p:ph type="body" idx="1"/>
          </p:nvPr>
        </p:nvSpPr>
        <p:spPr>
          <a:xfrm>
            <a:off x="4643438" y="188913"/>
            <a:ext cx="4354512" cy="4525962"/>
          </a:xfrm>
        </p:spPr>
        <p:txBody>
          <a:bodyPr/>
          <a:lstStyle/>
          <a:p>
            <a:r>
              <a:rPr lang="ru-RU" sz="1800"/>
              <a:t>Поле </a:t>
            </a:r>
            <a:r>
              <a:rPr lang="en-US" sz="1800"/>
              <a:t>SERVICE TYPE </a:t>
            </a:r>
            <a:r>
              <a:rPr lang="ru-RU" sz="1800"/>
              <a:t>используется для управления приоритетом </a:t>
            </a:r>
            <a:r>
              <a:rPr lang="en-US" sz="1800"/>
              <a:t>(</a:t>
            </a:r>
            <a:r>
              <a:rPr lang="ru-RU" sz="1800"/>
              <a:t>качеством сервиса)</a:t>
            </a:r>
          </a:p>
          <a:p>
            <a:pPr lvl="1"/>
            <a:r>
              <a:rPr lang="en-US" sz="2000"/>
              <a:t>PRED, predecence – </a:t>
            </a:r>
            <a:r>
              <a:rPr lang="ru-RU" sz="2000"/>
              <a:t>приоритет:</a:t>
            </a:r>
          </a:p>
          <a:p>
            <a:pPr lvl="2"/>
            <a:r>
              <a:rPr lang="ru-RU" sz="1400"/>
              <a:t>000: Routine</a:t>
            </a:r>
          </a:p>
          <a:p>
            <a:pPr lvl="2"/>
            <a:r>
              <a:rPr lang="ru-RU" sz="1400"/>
              <a:t>001: Priority</a:t>
            </a:r>
          </a:p>
          <a:p>
            <a:pPr lvl="2"/>
            <a:r>
              <a:rPr lang="ru-RU" sz="1400"/>
              <a:t>010: Immediate</a:t>
            </a:r>
          </a:p>
          <a:p>
            <a:pPr lvl="2"/>
            <a:r>
              <a:rPr lang="ru-RU" sz="1400"/>
              <a:t>011: Flash</a:t>
            </a:r>
          </a:p>
          <a:p>
            <a:pPr lvl="2"/>
            <a:r>
              <a:rPr lang="ru-RU" sz="1400"/>
              <a:t>100: Flash override</a:t>
            </a:r>
          </a:p>
          <a:p>
            <a:pPr lvl="2"/>
            <a:r>
              <a:rPr lang="ru-RU" sz="1400"/>
              <a:t>101: Critical</a:t>
            </a:r>
          </a:p>
          <a:p>
            <a:pPr lvl="2"/>
            <a:r>
              <a:rPr lang="ru-RU" sz="1400"/>
              <a:t>110: Internetwork control</a:t>
            </a:r>
          </a:p>
          <a:p>
            <a:pPr lvl="2"/>
            <a:r>
              <a:rPr lang="ru-RU" sz="1400"/>
              <a:t>111: Network control</a:t>
            </a:r>
          </a:p>
          <a:p>
            <a:pPr lvl="1"/>
            <a:r>
              <a:rPr lang="en-US" sz="2000"/>
              <a:t>TOS, type of service – </a:t>
            </a:r>
            <a:r>
              <a:rPr lang="ru-RU" sz="2000"/>
              <a:t>тип сервиса:</a:t>
            </a:r>
          </a:p>
          <a:p>
            <a:pPr lvl="2">
              <a:buFontTx/>
              <a:buNone/>
            </a:pPr>
            <a:r>
              <a:rPr lang="ru-RU" sz="1400"/>
              <a:t>1000: Minimize delay</a:t>
            </a:r>
          </a:p>
          <a:p>
            <a:pPr lvl="2">
              <a:buFontTx/>
              <a:buNone/>
            </a:pPr>
            <a:r>
              <a:rPr lang="ru-RU" sz="1400"/>
              <a:t>0100: Maximize throughput (пропускн)</a:t>
            </a:r>
          </a:p>
          <a:p>
            <a:pPr lvl="2">
              <a:buFontTx/>
              <a:buNone/>
            </a:pPr>
            <a:r>
              <a:rPr lang="ru-RU" sz="1400"/>
              <a:t>0010: Maximize reliability (надежн)</a:t>
            </a:r>
          </a:p>
          <a:p>
            <a:pPr lvl="2">
              <a:buFontTx/>
              <a:buNone/>
            </a:pPr>
            <a:r>
              <a:rPr lang="ru-RU" sz="1400"/>
              <a:t>0001: Minimize monetary cost</a:t>
            </a:r>
          </a:p>
          <a:p>
            <a:pPr lvl="2">
              <a:buFontTx/>
              <a:buNone/>
            </a:pPr>
            <a:r>
              <a:rPr lang="ru-RU" sz="1400"/>
              <a:t>0000: Normal service</a:t>
            </a:r>
            <a:endParaRPr lang="en-US" sz="1400"/>
          </a:p>
          <a:p>
            <a:pPr lvl="1"/>
            <a:r>
              <a:rPr lang="en-US" sz="2000"/>
              <a:t>MBZ </a:t>
            </a:r>
            <a:r>
              <a:rPr lang="ru-RU" sz="2000"/>
              <a:t>– зарезервировано для последующего использования</a:t>
            </a:r>
          </a:p>
        </p:txBody>
      </p:sp>
      <p:graphicFrame>
        <p:nvGraphicFramePr>
          <p:cNvPr id="35844" name="Object 4"/>
          <p:cNvGraphicFramePr>
            <a:graphicFrameLocks noChangeAspect="1"/>
          </p:cNvGraphicFramePr>
          <p:nvPr/>
        </p:nvGraphicFramePr>
        <p:xfrm>
          <a:off x="101600" y="762000"/>
          <a:ext cx="4440238" cy="2057400"/>
        </p:xfrm>
        <a:graphic>
          <a:graphicData uri="http://schemas.openxmlformats.org/presentationml/2006/ole">
            <p:oleObj spid="_x0000_s35844" name="VISIO" r:id="rId3" imgW="5914800" imgH="2740680" progId="Visio.Drawing.6">
              <p:embed/>
            </p:oleObj>
          </a:graphicData>
        </a:graphic>
      </p:graphicFrame>
      <p:graphicFrame>
        <p:nvGraphicFramePr>
          <p:cNvPr id="35845" name="Object 5"/>
          <p:cNvGraphicFramePr>
            <a:graphicFrameLocks noChangeAspect="1"/>
          </p:cNvGraphicFramePr>
          <p:nvPr/>
        </p:nvGraphicFramePr>
        <p:xfrm>
          <a:off x="1447800" y="3430588"/>
          <a:ext cx="1474788" cy="531812"/>
        </p:xfrm>
        <a:graphic>
          <a:graphicData uri="http://schemas.openxmlformats.org/presentationml/2006/ole">
            <p:oleObj spid="_x0000_s35845" name="VISIO" r:id="rId4" imgW="1474560" imgH="532440" progId="Visio.Drawing.6">
              <p:embed/>
            </p:oleObj>
          </a:graphicData>
        </a:graphic>
      </p:graphicFrame>
      <p:sp>
        <p:nvSpPr>
          <p:cNvPr id="35846" name="Rectangle 6"/>
          <p:cNvSpPr>
            <a:spLocks noChangeArrowheads="1"/>
          </p:cNvSpPr>
          <p:nvPr/>
        </p:nvSpPr>
        <p:spPr bwMode="auto">
          <a:xfrm>
            <a:off x="876300" y="2971800"/>
            <a:ext cx="2914650" cy="304800"/>
          </a:xfrm>
          <a:prstGeom prst="rect">
            <a:avLst/>
          </a:prstGeom>
          <a:noFill/>
          <a:ln w="9525">
            <a:noFill/>
            <a:miter lim="800000"/>
            <a:headEnd/>
            <a:tailEnd/>
          </a:ln>
          <a:effectLst/>
        </p:spPr>
        <p:txBody>
          <a:bodyPr wrap="none">
            <a:spAutoFit/>
          </a:bodyPr>
          <a:lstStyle/>
          <a:p>
            <a:r>
              <a:rPr lang="ru-RU" sz="1400" b="1">
                <a:solidFill>
                  <a:srgbClr val="0033CC"/>
                </a:solidFill>
              </a:rPr>
              <a:t>Структура поля </a:t>
            </a:r>
            <a:r>
              <a:rPr lang="en-US" sz="1400" b="1">
                <a:solidFill>
                  <a:srgbClr val="0033CC"/>
                </a:solidFill>
              </a:rPr>
              <a:t>SERVICE TYPE</a:t>
            </a:r>
            <a:endParaRPr lang="ru-RU" sz="1400" b="1">
              <a:solidFill>
                <a:srgbClr val="0033CC"/>
              </a:solidFill>
            </a:endParaRPr>
          </a:p>
        </p:txBody>
      </p:sp>
      <p:sp>
        <p:nvSpPr>
          <p:cNvPr id="35847" name="Rectangle 7"/>
          <p:cNvSpPr>
            <a:spLocks noChangeArrowheads="1"/>
          </p:cNvSpPr>
          <p:nvPr/>
        </p:nvSpPr>
        <p:spPr bwMode="auto">
          <a:xfrm>
            <a:off x="304800" y="4451350"/>
            <a:ext cx="3505200" cy="1568450"/>
          </a:xfrm>
          <a:prstGeom prst="rect">
            <a:avLst/>
          </a:prstGeom>
          <a:noFill/>
          <a:ln w="9525">
            <a:solidFill>
              <a:schemeClr val="bg2"/>
            </a:solidFill>
            <a:miter lim="800000"/>
            <a:headEnd/>
            <a:tailEnd/>
          </a:ln>
          <a:effectLst/>
        </p:spPr>
        <p:txBody>
          <a:bodyPr>
            <a:spAutoFit/>
          </a:bodyPr>
          <a:lstStyle/>
          <a:p>
            <a:r>
              <a:rPr lang="ru-RU" sz="1600" b="1">
                <a:solidFill>
                  <a:srgbClr val="800000"/>
                </a:solidFill>
              </a:rPr>
              <a:t>На обработке битов поля </a:t>
            </a:r>
            <a:r>
              <a:rPr lang="en-US" sz="1600" b="1">
                <a:solidFill>
                  <a:srgbClr val="800000"/>
                </a:solidFill>
              </a:rPr>
              <a:t>TOS </a:t>
            </a:r>
            <a:r>
              <a:rPr lang="ru-RU" sz="1600" b="1">
                <a:solidFill>
                  <a:srgbClr val="800000"/>
                </a:solidFill>
              </a:rPr>
              <a:t>строятся современные механизмы управления качеством сервиса </a:t>
            </a:r>
            <a:r>
              <a:rPr lang="en-US" sz="1600" b="1">
                <a:solidFill>
                  <a:srgbClr val="800000"/>
                </a:solidFill>
              </a:rPr>
              <a:t>(Quality of Service, QoS)</a:t>
            </a:r>
            <a:r>
              <a:rPr lang="ru-RU" sz="1600" b="1">
                <a:solidFill>
                  <a:srgbClr val="800000"/>
                </a:solidFill>
              </a:rPr>
              <a:t> для передачи голосового и видеотрафика</a:t>
            </a:r>
          </a:p>
        </p:txBody>
      </p:sp>
      <p:pic>
        <p:nvPicPr>
          <p:cNvPr id="35848" name="Picture 8" descr="pointfinger-r"/>
          <p:cNvPicPr>
            <a:picLocks noChangeAspect="1" noChangeArrowheads="1"/>
          </p:cNvPicPr>
          <p:nvPr/>
        </p:nvPicPr>
        <p:blipFill>
          <a:blip r:embed="rId5" cstate="print"/>
          <a:srcRect/>
          <a:stretch>
            <a:fillRect/>
          </a:stretch>
        </p:blipFill>
        <p:spPr bwMode="auto">
          <a:xfrm>
            <a:off x="3613150" y="4618038"/>
            <a:ext cx="730250" cy="360362"/>
          </a:xfrm>
          <a:prstGeom prst="rect">
            <a:avLst/>
          </a:prstGeom>
          <a:noFill/>
        </p:spPr>
      </p:pic>
      <p:pic>
        <p:nvPicPr>
          <p:cNvPr id="35849" name="slide_37.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9"/>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849"/>
                                        </p:tgtEl>
                                      </p:cBhvr>
                                    </p:cmd>
                                  </p:childTnLst>
                                </p:cTn>
                              </p:par>
                            </p:childTnLst>
                          </p:cTn>
                        </p:par>
                      </p:childTnLst>
                    </p:cTn>
                  </p:par>
                </p:childTnLst>
              </p:cTn>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68313" y="0"/>
            <a:ext cx="8229600" cy="490538"/>
          </a:xfrm>
        </p:spPr>
        <p:txBody>
          <a:bodyPr/>
          <a:lstStyle/>
          <a:p>
            <a:r>
              <a:rPr lang="ru-RU" sz="2400"/>
              <a:t>Фрагментация</a:t>
            </a:r>
          </a:p>
        </p:txBody>
      </p:sp>
      <p:sp>
        <p:nvSpPr>
          <p:cNvPr id="36867" name="Rectangle 3"/>
          <p:cNvSpPr>
            <a:spLocks noGrp="1" noChangeArrowheads="1"/>
          </p:cNvSpPr>
          <p:nvPr>
            <p:ph type="body" idx="1"/>
          </p:nvPr>
        </p:nvSpPr>
        <p:spPr>
          <a:xfrm>
            <a:off x="4427538" y="520700"/>
            <a:ext cx="4716462" cy="6337300"/>
          </a:xfrm>
        </p:spPr>
        <p:txBody>
          <a:bodyPr/>
          <a:lstStyle/>
          <a:p>
            <a:pPr>
              <a:lnSpc>
                <a:spcPct val="90000"/>
              </a:lnSpc>
            </a:pPr>
            <a:r>
              <a:rPr lang="ru-RU" sz="1800"/>
              <a:t>Физические сети могут иметь различные размеры кадров </a:t>
            </a:r>
            <a:r>
              <a:rPr lang="en-US" sz="1800"/>
              <a:t>(minimal transfer unit, MTU)</a:t>
            </a:r>
          </a:p>
          <a:p>
            <a:pPr lvl="1">
              <a:lnSpc>
                <a:spcPct val="90000"/>
              </a:lnSpc>
            </a:pPr>
            <a:r>
              <a:rPr lang="ru-RU" sz="2000"/>
              <a:t>если на пути пакета встречается сеть с </a:t>
            </a:r>
            <a:r>
              <a:rPr lang="en-US" sz="2000"/>
              <a:t>MTU</a:t>
            </a:r>
            <a:r>
              <a:rPr lang="ru-RU" sz="2000"/>
              <a:t> менее его размера, пакет фрагментируется</a:t>
            </a:r>
          </a:p>
          <a:p>
            <a:pPr lvl="1">
              <a:lnSpc>
                <a:spcPct val="90000"/>
              </a:lnSpc>
            </a:pPr>
            <a:r>
              <a:rPr lang="ru-RU" sz="2000"/>
              <a:t>фрагменты «собирает» в исходный пакет получатель</a:t>
            </a:r>
          </a:p>
          <a:p>
            <a:pPr>
              <a:lnSpc>
                <a:spcPct val="90000"/>
              </a:lnSpc>
            </a:pPr>
            <a:r>
              <a:rPr lang="ru-RU" sz="1800"/>
              <a:t>Управляют фрагментацией поля </a:t>
            </a:r>
            <a:r>
              <a:rPr lang="en-US" sz="1800"/>
              <a:t>ID, FLG, FRGMTTN OFFGSET</a:t>
            </a:r>
          </a:p>
          <a:p>
            <a:pPr lvl="1">
              <a:lnSpc>
                <a:spcPct val="90000"/>
              </a:lnSpc>
            </a:pPr>
            <a:r>
              <a:rPr lang="en-US" sz="2000"/>
              <a:t>ID –</a:t>
            </a:r>
            <a:r>
              <a:rPr lang="ru-RU" sz="2000"/>
              <a:t>уникальный идентификатор, единый для всех фрагментов серии </a:t>
            </a:r>
          </a:p>
          <a:p>
            <a:pPr lvl="1">
              <a:lnSpc>
                <a:spcPct val="90000"/>
              </a:lnSpc>
            </a:pPr>
            <a:r>
              <a:rPr lang="ru-RU" sz="2000"/>
              <a:t>поле </a:t>
            </a:r>
            <a:r>
              <a:rPr lang="en-US" sz="2000"/>
              <a:t>FLG: </a:t>
            </a:r>
          </a:p>
          <a:p>
            <a:pPr lvl="2">
              <a:lnSpc>
                <a:spcPct val="90000"/>
              </a:lnSpc>
            </a:pPr>
            <a:r>
              <a:rPr lang="en-US" sz="1600"/>
              <a:t>1</a:t>
            </a:r>
            <a:r>
              <a:rPr lang="ru-RU" sz="1600"/>
              <a:t>й бит – резерв, всегда 0</a:t>
            </a:r>
          </a:p>
          <a:p>
            <a:pPr lvl="2">
              <a:lnSpc>
                <a:spcPct val="90000"/>
              </a:lnSpc>
            </a:pPr>
            <a:r>
              <a:rPr lang="ru-RU" sz="1600"/>
              <a:t>2й бит – </a:t>
            </a:r>
            <a:r>
              <a:rPr lang="en-US" sz="1600"/>
              <a:t>DF, Do not Fragment – </a:t>
            </a:r>
            <a:r>
              <a:rPr lang="ru-RU" sz="1600"/>
              <a:t>запрещает фрагментацию</a:t>
            </a:r>
          </a:p>
          <a:p>
            <a:pPr lvl="2">
              <a:lnSpc>
                <a:spcPct val="90000"/>
              </a:lnSpc>
            </a:pPr>
            <a:r>
              <a:rPr lang="ru-RU" sz="1600"/>
              <a:t>бит </a:t>
            </a:r>
            <a:r>
              <a:rPr lang="en-US" sz="1600"/>
              <a:t>MF</a:t>
            </a:r>
            <a:r>
              <a:rPr lang="ru-RU" sz="1600"/>
              <a:t> – </a:t>
            </a:r>
            <a:r>
              <a:rPr lang="en-US" sz="1600"/>
              <a:t>More Fragments –</a:t>
            </a:r>
            <a:r>
              <a:rPr lang="ru-RU" sz="1600"/>
              <a:t> 0 для нефрагментированного или последнего пакета в серии, 1 – в противном случае</a:t>
            </a:r>
          </a:p>
        </p:txBody>
      </p:sp>
      <p:grpSp>
        <p:nvGrpSpPr>
          <p:cNvPr id="36868" name="Group 4"/>
          <p:cNvGrpSpPr>
            <a:grpSpLocks/>
          </p:cNvGrpSpPr>
          <p:nvPr/>
        </p:nvGrpSpPr>
        <p:grpSpPr bwMode="auto">
          <a:xfrm>
            <a:off x="31750" y="3683000"/>
            <a:ext cx="4510088" cy="2565400"/>
            <a:chOff x="20" y="2320"/>
            <a:chExt cx="2841" cy="1616"/>
          </a:xfrm>
        </p:grpSpPr>
        <p:graphicFrame>
          <p:nvGraphicFramePr>
            <p:cNvPr id="36869" name="Object 5"/>
            <p:cNvGraphicFramePr>
              <a:graphicFrameLocks noChangeAspect="1"/>
            </p:cNvGraphicFramePr>
            <p:nvPr/>
          </p:nvGraphicFramePr>
          <p:xfrm>
            <a:off x="64" y="2320"/>
            <a:ext cx="2797" cy="1296"/>
          </p:xfrm>
          <a:graphic>
            <a:graphicData uri="http://schemas.openxmlformats.org/presentationml/2006/ole">
              <p:oleObj spid="_x0000_s36869" name="VISIO" r:id="rId3" imgW="5914800" imgH="2740680" progId="Visio.Drawing.6">
                <p:embed/>
              </p:oleObj>
            </a:graphicData>
          </a:graphic>
        </p:graphicFrame>
        <p:graphicFrame>
          <p:nvGraphicFramePr>
            <p:cNvPr id="36870" name="Object 6"/>
            <p:cNvGraphicFramePr>
              <a:graphicFrameLocks noChangeAspect="1"/>
            </p:cNvGraphicFramePr>
            <p:nvPr/>
          </p:nvGraphicFramePr>
          <p:xfrm>
            <a:off x="1440" y="3601"/>
            <a:ext cx="362" cy="335"/>
          </p:xfrm>
          <a:graphic>
            <a:graphicData uri="http://schemas.openxmlformats.org/presentationml/2006/ole">
              <p:oleObj spid="_x0000_s36870" name="VISIO" r:id="rId4" imgW="574560" imgH="532440" progId="Visio.Drawing.6">
                <p:embed/>
              </p:oleObj>
            </a:graphicData>
          </a:graphic>
        </p:graphicFrame>
        <p:sp>
          <p:nvSpPr>
            <p:cNvPr id="36871" name="Rectangle 7"/>
            <p:cNvSpPr>
              <a:spLocks noChangeArrowheads="1"/>
            </p:cNvSpPr>
            <p:nvPr/>
          </p:nvSpPr>
          <p:spPr bwMode="auto">
            <a:xfrm>
              <a:off x="20" y="3688"/>
              <a:ext cx="1279" cy="192"/>
            </a:xfrm>
            <a:prstGeom prst="rect">
              <a:avLst/>
            </a:prstGeom>
            <a:solidFill>
              <a:srgbClr val="C0C0C0"/>
            </a:solidFill>
            <a:ln w="9525">
              <a:noFill/>
              <a:miter lim="800000"/>
              <a:headEnd/>
              <a:tailEnd/>
            </a:ln>
            <a:effectLst/>
          </p:spPr>
          <p:txBody>
            <a:bodyPr wrap="none">
              <a:spAutoFit/>
            </a:bodyPr>
            <a:lstStyle/>
            <a:p>
              <a:r>
                <a:rPr lang="ru-RU" sz="1400" b="1">
                  <a:solidFill>
                    <a:srgbClr val="0033CC"/>
                  </a:solidFill>
                </a:rPr>
                <a:t>Структура поля </a:t>
              </a:r>
              <a:r>
                <a:rPr lang="en-US" sz="1400" b="1">
                  <a:solidFill>
                    <a:srgbClr val="0033CC"/>
                  </a:solidFill>
                </a:rPr>
                <a:t>FLG:</a:t>
              </a:r>
              <a:endParaRPr lang="ru-RU" sz="1400" b="1">
                <a:solidFill>
                  <a:srgbClr val="0033CC"/>
                </a:solidFill>
              </a:endParaRPr>
            </a:p>
          </p:txBody>
        </p:sp>
      </p:grpSp>
      <p:grpSp>
        <p:nvGrpSpPr>
          <p:cNvPr id="36872" name="Group 8"/>
          <p:cNvGrpSpPr>
            <a:grpSpLocks/>
          </p:cNvGrpSpPr>
          <p:nvPr/>
        </p:nvGrpSpPr>
        <p:grpSpPr bwMode="auto">
          <a:xfrm>
            <a:off x="249238" y="990600"/>
            <a:ext cx="3987800" cy="2209800"/>
            <a:chOff x="157" y="624"/>
            <a:chExt cx="2512" cy="1392"/>
          </a:xfrm>
        </p:grpSpPr>
        <p:sp>
          <p:nvSpPr>
            <p:cNvPr id="36873" name="Line 9"/>
            <p:cNvSpPr>
              <a:spLocks noChangeShapeType="1"/>
            </p:cNvSpPr>
            <p:nvPr/>
          </p:nvSpPr>
          <p:spPr bwMode="auto">
            <a:xfrm rot="5400000">
              <a:off x="1560" y="1704"/>
              <a:ext cx="0" cy="432"/>
            </a:xfrm>
            <a:prstGeom prst="line">
              <a:avLst/>
            </a:prstGeom>
            <a:noFill/>
            <a:ln w="9525">
              <a:solidFill>
                <a:srgbClr val="FF3300"/>
              </a:solidFill>
              <a:prstDash val="sysDot"/>
              <a:round/>
              <a:headEnd type="arrow" w="med" len="med"/>
              <a:tailEnd/>
            </a:ln>
            <a:effectLst/>
          </p:spPr>
          <p:txBody>
            <a:bodyPr/>
            <a:lstStyle/>
            <a:p>
              <a:endParaRPr lang="ru-RU"/>
            </a:p>
          </p:txBody>
        </p:sp>
        <p:sp>
          <p:nvSpPr>
            <p:cNvPr id="36874" name="Line 10"/>
            <p:cNvSpPr>
              <a:spLocks noChangeShapeType="1"/>
            </p:cNvSpPr>
            <p:nvPr/>
          </p:nvSpPr>
          <p:spPr bwMode="auto">
            <a:xfrm rot="5400000">
              <a:off x="2232" y="1704"/>
              <a:ext cx="0" cy="432"/>
            </a:xfrm>
            <a:prstGeom prst="line">
              <a:avLst/>
            </a:prstGeom>
            <a:noFill/>
            <a:ln w="9525">
              <a:solidFill>
                <a:srgbClr val="FF3300"/>
              </a:solidFill>
              <a:prstDash val="sysDot"/>
              <a:round/>
              <a:headEnd type="arrow" w="med" len="med"/>
              <a:tailEnd/>
            </a:ln>
            <a:effectLst/>
          </p:spPr>
          <p:txBody>
            <a:bodyPr/>
            <a:lstStyle/>
            <a:p>
              <a:endParaRPr lang="ru-RU"/>
            </a:p>
          </p:txBody>
        </p:sp>
        <p:sp>
          <p:nvSpPr>
            <p:cNvPr id="36875" name="Line 11"/>
            <p:cNvSpPr>
              <a:spLocks noChangeShapeType="1"/>
            </p:cNvSpPr>
            <p:nvPr/>
          </p:nvSpPr>
          <p:spPr bwMode="auto">
            <a:xfrm rot="5400000">
              <a:off x="1464" y="1464"/>
              <a:ext cx="0" cy="624"/>
            </a:xfrm>
            <a:prstGeom prst="line">
              <a:avLst/>
            </a:prstGeom>
            <a:noFill/>
            <a:ln w="9525">
              <a:solidFill>
                <a:srgbClr val="FF3300"/>
              </a:solidFill>
              <a:prstDash val="sysDot"/>
              <a:round/>
              <a:headEnd type="arrow" w="med" len="med"/>
              <a:tailEnd/>
            </a:ln>
            <a:effectLst/>
          </p:spPr>
          <p:txBody>
            <a:bodyPr/>
            <a:lstStyle/>
            <a:p>
              <a:endParaRPr lang="ru-RU"/>
            </a:p>
          </p:txBody>
        </p:sp>
        <p:sp>
          <p:nvSpPr>
            <p:cNvPr id="36876" name="Line 12"/>
            <p:cNvSpPr>
              <a:spLocks noChangeShapeType="1"/>
            </p:cNvSpPr>
            <p:nvPr/>
          </p:nvSpPr>
          <p:spPr bwMode="auto">
            <a:xfrm rot="5400000">
              <a:off x="1464" y="1320"/>
              <a:ext cx="0" cy="624"/>
            </a:xfrm>
            <a:prstGeom prst="line">
              <a:avLst/>
            </a:prstGeom>
            <a:noFill/>
            <a:ln w="9525">
              <a:solidFill>
                <a:srgbClr val="FF3300"/>
              </a:solidFill>
              <a:prstDash val="sysDot"/>
              <a:round/>
              <a:headEnd type="arrow" w="med" len="med"/>
              <a:tailEnd/>
            </a:ln>
            <a:effectLst/>
          </p:spPr>
          <p:txBody>
            <a:bodyPr/>
            <a:lstStyle/>
            <a:p>
              <a:endParaRPr lang="ru-RU"/>
            </a:p>
          </p:txBody>
        </p:sp>
        <p:sp>
          <p:nvSpPr>
            <p:cNvPr id="36877" name="Line 13"/>
            <p:cNvSpPr>
              <a:spLocks noChangeShapeType="1"/>
            </p:cNvSpPr>
            <p:nvPr/>
          </p:nvSpPr>
          <p:spPr bwMode="auto">
            <a:xfrm rot="5400000">
              <a:off x="680" y="1176"/>
              <a:ext cx="0" cy="624"/>
            </a:xfrm>
            <a:prstGeom prst="line">
              <a:avLst/>
            </a:prstGeom>
            <a:noFill/>
            <a:ln w="9525">
              <a:solidFill>
                <a:srgbClr val="FF3300"/>
              </a:solidFill>
              <a:prstDash val="sysDot"/>
              <a:round/>
              <a:headEnd type="arrow" w="med" len="med"/>
              <a:tailEnd/>
            </a:ln>
            <a:effectLst/>
          </p:spPr>
          <p:txBody>
            <a:bodyPr/>
            <a:lstStyle/>
            <a:p>
              <a:endParaRPr lang="ru-RU"/>
            </a:p>
          </p:txBody>
        </p:sp>
        <p:grpSp>
          <p:nvGrpSpPr>
            <p:cNvPr id="36878" name="Group 14"/>
            <p:cNvGrpSpPr>
              <a:grpSpLocks/>
            </p:cNvGrpSpPr>
            <p:nvPr/>
          </p:nvGrpSpPr>
          <p:grpSpPr bwMode="auto">
            <a:xfrm>
              <a:off x="157" y="851"/>
              <a:ext cx="2512" cy="397"/>
              <a:chOff x="157" y="2605"/>
              <a:chExt cx="2512" cy="397"/>
            </a:xfrm>
          </p:grpSpPr>
          <p:sp>
            <p:nvSpPr>
              <p:cNvPr id="36879" name="Freeform 15"/>
              <p:cNvSpPr>
                <a:spLocks/>
              </p:cNvSpPr>
              <p:nvPr/>
            </p:nvSpPr>
            <p:spPr bwMode="auto">
              <a:xfrm>
                <a:off x="398" y="2638"/>
                <a:ext cx="412" cy="316"/>
              </a:xfrm>
              <a:custGeom>
                <a:avLst/>
                <a:gdLst/>
                <a:ahLst/>
                <a:cxnLst>
                  <a:cxn ang="0">
                    <a:pos x="37" y="132"/>
                  </a:cxn>
                  <a:cxn ang="0">
                    <a:pos x="26" y="116"/>
                  </a:cxn>
                  <a:cxn ang="0">
                    <a:pos x="24" y="88"/>
                  </a:cxn>
                  <a:cxn ang="0">
                    <a:pos x="30" y="57"/>
                  </a:cxn>
                  <a:cxn ang="0">
                    <a:pos x="50" y="36"/>
                  </a:cxn>
                  <a:cxn ang="0">
                    <a:pos x="82" y="24"/>
                  </a:cxn>
                  <a:cxn ang="0">
                    <a:pos x="118" y="29"/>
                  </a:cxn>
                  <a:cxn ang="0">
                    <a:pos x="142" y="39"/>
                  </a:cxn>
                  <a:cxn ang="0">
                    <a:pos x="155" y="52"/>
                  </a:cxn>
                  <a:cxn ang="0">
                    <a:pos x="160" y="59"/>
                  </a:cxn>
                  <a:cxn ang="0">
                    <a:pos x="163" y="49"/>
                  </a:cxn>
                  <a:cxn ang="0">
                    <a:pos x="170" y="21"/>
                  </a:cxn>
                  <a:cxn ang="0">
                    <a:pos x="195" y="4"/>
                  </a:cxn>
                  <a:cxn ang="0">
                    <a:pos x="223" y="0"/>
                  </a:cxn>
                  <a:cxn ang="0">
                    <a:pos x="252" y="4"/>
                  </a:cxn>
                  <a:cxn ang="0">
                    <a:pos x="275" y="20"/>
                  </a:cxn>
                  <a:cxn ang="0">
                    <a:pos x="299" y="44"/>
                  </a:cxn>
                  <a:cxn ang="0">
                    <a:pos x="304" y="64"/>
                  </a:cxn>
                  <a:cxn ang="0">
                    <a:pos x="304" y="78"/>
                  </a:cxn>
                  <a:cxn ang="0">
                    <a:pos x="306" y="83"/>
                  </a:cxn>
                  <a:cxn ang="0">
                    <a:pos x="324" y="62"/>
                  </a:cxn>
                  <a:cxn ang="0">
                    <a:pos x="343" y="50"/>
                  </a:cxn>
                  <a:cxn ang="0">
                    <a:pos x="369" y="51"/>
                  </a:cxn>
                  <a:cxn ang="0">
                    <a:pos x="391" y="69"/>
                  </a:cxn>
                  <a:cxn ang="0">
                    <a:pos x="405" y="98"/>
                  </a:cxn>
                  <a:cxn ang="0">
                    <a:pos x="412" y="126"/>
                  </a:cxn>
                  <a:cxn ang="0">
                    <a:pos x="405" y="153"/>
                  </a:cxn>
                  <a:cxn ang="0">
                    <a:pos x="390" y="172"/>
                  </a:cxn>
                  <a:cxn ang="0">
                    <a:pos x="372" y="179"/>
                  </a:cxn>
                  <a:cxn ang="0">
                    <a:pos x="349" y="180"/>
                  </a:cxn>
                  <a:cxn ang="0">
                    <a:pos x="345" y="180"/>
                  </a:cxn>
                  <a:cxn ang="0">
                    <a:pos x="355" y="184"/>
                  </a:cxn>
                  <a:cxn ang="0">
                    <a:pos x="366" y="194"/>
                  </a:cxn>
                  <a:cxn ang="0">
                    <a:pos x="378" y="209"/>
                  </a:cxn>
                  <a:cxn ang="0">
                    <a:pos x="382" y="225"/>
                  </a:cxn>
                  <a:cxn ang="0">
                    <a:pos x="381" y="261"/>
                  </a:cxn>
                  <a:cxn ang="0">
                    <a:pos x="369" y="278"/>
                  </a:cxn>
                  <a:cxn ang="0">
                    <a:pos x="355" y="291"/>
                  </a:cxn>
                  <a:cxn ang="0">
                    <a:pos x="323" y="301"/>
                  </a:cxn>
                  <a:cxn ang="0">
                    <a:pos x="295" y="297"/>
                  </a:cxn>
                  <a:cxn ang="0">
                    <a:pos x="274" y="284"/>
                  </a:cxn>
                  <a:cxn ang="0">
                    <a:pos x="256" y="262"/>
                  </a:cxn>
                  <a:cxn ang="0">
                    <a:pos x="251" y="263"/>
                  </a:cxn>
                  <a:cxn ang="0">
                    <a:pos x="249" y="277"/>
                  </a:cxn>
                  <a:cxn ang="0">
                    <a:pos x="230" y="300"/>
                  </a:cxn>
                  <a:cxn ang="0">
                    <a:pos x="194" y="314"/>
                  </a:cxn>
                  <a:cxn ang="0">
                    <a:pos x="155" y="315"/>
                  </a:cxn>
                  <a:cxn ang="0">
                    <a:pos x="128" y="303"/>
                  </a:cxn>
                  <a:cxn ang="0">
                    <a:pos x="113" y="282"/>
                  </a:cxn>
                  <a:cxn ang="0">
                    <a:pos x="110" y="256"/>
                  </a:cxn>
                  <a:cxn ang="0">
                    <a:pos x="105" y="254"/>
                  </a:cxn>
                  <a:cxn ang="0">
                    <a:pos x="97" y="262"/>
                  </a:cxn>
                  <a:cxn ang="0">
                    <a:pos x="71" y="265"/>
                  </a:cxn>
                  <a:cxn ang="0">
                    <a:pos x="38" y="258"/>
                  </a:cxn>
                  <a:cxn ang="0">
                    <a:pos x="13" y="235"/>
                  </a:cxn>
                  <a:cxn ang="0">
                    <a:pos x="0" y="199"/>
                  </a:cxn>
                  <a:cxn ang="0">
                    <a:pos x="2" y="172"/>
                  </a:cxn>
                  <a:cxn ang="0">
                    <a:pos x="20" y="148"/>
                  </a:cxn>
                  <a:cxn ang="0">
                    <a:pos x="35" y="142"/>
                  </a:cxn>
                </a:cxnLst>
                <a:rect l="0" t="0" r="r" b="b"/>
                <a:pathLst>
                  <a:path w="412" h="316">
                    <a:moveTo>
                      <a:pt x="40" y="139"/>
                    </a:moveTo>
                    <a:lnTo>
                      <a:pt x="40" y="138"/>
                    </a:lnTo>
                    <a:lnTo>
                      <a:pt x="39" y="136"/>
                    </a:lnTo>
                    <a:lnTo>
                      <a:pt x="38" y="134"/>
                    </a:lnTo>
                    <a:lnTo>
                      <a:pt x="37" y="132"/>
                    </a:lnTo>
                    <a:lnTo>
                      <a:pt x="34" y="129"/>
                    </a:lnTo>
                    <a:lnTo>
                      <a:pt x="32" y="126"/>
                    </a:lnTo>
                    <a:lnTo>
                      <a:pt x="31" y="123"/>
                    </a:lnTo>
                    <a:lnTo>
                      <a:pt x="30" y="122"/>
                    </a:lnTo>
                    <a:lnTo>
                      <a:pt x="26" y="116"/>
                    </a:lnTo>
                    <a:lnTo>
                      <a:pt x="25" y="111"/>
                    </a:lnTo>
                    <a:lnTo>
                      <a:pt x="24" y="106"/>
                    </a:lnTo>
                    <a:lnTo>
                      <a:pt x="24" y="96"/>
                    </a:lnTo>
                    <a:lnTo>
                      <a:pt x="24" y="93"/>
                    </a:lnTo>
                    <a:lnTo>
                      <a:pt x="24" y="88"/>
                    </a:lnTo>
                    <a:lnTo>
                      <a:pt x="24" y="80"/>
                    </a:lnTo>
                    <a:lnTo>
                      <a:pt x="25" y="75"/>
                    </a:lnTo>
                    <a:lnTo>
                      <a:pt x="25" y="69"/>
                    </a:lnTo>
                    <a:lnTo>
                      <a:pt x="26" y="64"/>
                    </a:lnTo>
                    <a:lnTo>
                      <a:pt x="30" y="57"/>
                    </a:lnTo>
                    <a:lnTo>
                      <a:pt x="32" y="53"/>
                    </a:lnTo>
                    <a:lnTo>
                      <a:pt x="34" y="50"/>
                    </a:lnTo>
                    <a:lnTo>
                      <a:pt x="38" y="46"/>
                    </a:lnTo>
                    <a:lnTo>
                      <a:pt x="45" y="39"/>
                    </a:lnTo>
                    <a:lnTo>
                      <a:pt x="50" y="36"/>
                    </a:lnTo>
                    <a:lnTo>
                      <a:pt x="54" y="32"/>
                    </a:lnTo>
                    <a:lnTo>
                      <a:pt x="64" y="27"/>
                    </a:lnTo>
                    <a:lnTo>
                      <a:pt x="67" y="26"/>
                    </a:lnTo>
                    <a:lnTo>
                      <a:pt x="72" y="25"/>
                    </a:lnTo>
                    <a:lnTo>
                      <a:pt x="82" y="24"/>
                    </a:lnTo>
                    <a:lnTo>
                      <a:pt x="89" y="23"/>
                    </a:lnTo>
                    <a:lnTo>
                      <a:pt x="95" y="24"/>
                    </a:lnTo>
                    <a:lnTo>
                      <a:pt x="106" y="25"/>
                    </a:lnTo>
                    <a:lnTo>
                      <a:pt x="112" y="27"/>
                    </a:lnTo>
                    <a:lnTo>
                      <a:pt x="118" y="29"/>
                    </a:lnTo>
                    <a:lnTo>
                      <a:pt x="128" y="32"/>
                    </a:lnTo>
                    <a:lnTo>
                      <a:pt x="130" y="33"/>
                    </a:lnTo>
                    <a:lnTo>
                      <a:pt x="134" y="35"/>
                    </a:lnTo>
                    <a:lnTo>
                      <a:pt x="139" y="37"/>
                    </a:lnTo>
                    <a:lnTo>
                      <a:pt x="142" y="39"/>
                    </a:lnTo>
                    <a:lnTo>
                      <a:pt x="145" y="40"/>
                    </a:lnTo>
                    <a:lnTo>
                      <a:pt x="148" y="43"/>
                    </a:lnTo>
                    <a:lnTo>
                      <a:pt x="150" y="45"/>
                    </a:lnTo>
                    <a:lnTo>
                      <a:pt x="154" y="50"/>
                    </a:lnTo>
                    <a:lnTo>
                      <a:pt x="155" y="52"/>
                    </a:lnTo>
                    <a:lnTo>
                      <a:pt x="156" y="53"/>
                    </a:lnTo>
                    <a:lnTo>
                      <a:pt x="157" y="56"/>
                    </a:lnTo>
                    <a:lnTo>
                      <a:pt x="158" y="57"/>
                    </a:lnTo>
                    <a:lnTo>
                      <a:pt x="158" y="58"/>
                    </a:lnTo>
                    <a:lnTo>
                      <a:pt x="160" y="59"/>
                    </a:lnTo>
                    <a:lnTo>
                      <a:pt x="161" y="61"/>
                    </a:lnTo>
                    <a:lnTo>
                      <a:pt x="162" y="58"/>
                    </a:lnTo>
                    <a:lnTo>
                      <a:pt x="162" y="56"/>
                    </a:lnTo>
                    <a:lnTo>
                      <a:pt x="163" y="52"/>
                    </a:lnTo>
                    <a:lnTo>
                      <a:pt x="163" y="49"/>
                    </a:lnTo>
                    <a:lnTo>
                      <a:pt x="163" y="44"/>
                    </a:lnTo>
                    <a:lnTo>
                      <a:pt x="164" y="40"/>
                    </a:lnTo>
                    <a:lnTo>
                      <a:pt x="167" y="31"/>
                    </a:lnTo>
                    <a:lnTo>
                      <a:pt x="168" y="26"/>
                    </a:lnTo>
                    <a:lnTo>
                      <a:pt x="170" y="21"/>
                    </a:lnTo>
                    <a:lnTo>
                      <a:pt x="173" y="18"/>
                    </a:lnTo>
                    <a:lnTo>
                      <a:pt x="176" y="14"/>
                    </a:lnTo>
                    <a:lnTo>
                      <a:pt x="184" y="8"/>
                    </a:lnTo>
                    <a:lnTo>
                      <a:pt x="190" y="6"/>
                    </a:lnTo>
                    <a:lnTo>
                      <a:pt x="195" y="4"/>
                    </a:lnTo>
                    <a:lnTo>
                      <a:pt x="202" y="1"/>
                    </a:lnTo>
                    <a:lnTo>
                      <a:pt x="212" y="0"/>
                    </a:lnTo>
                    <a:lnTo>
                      <a:pt x="215" y="0"/>
                    </a:lnTo>
                    <a:lnTo>
                      <a:pt x="220" y="0"/>
                    </a:lnTo>
                    <a:lnTo>
                      <a:pt x="223" y="0"/>
                    </a:lnTo>
                    <a:lnTo>
                      <a:pt x="232" y="0"/>
                    </a:lnTo>
                    <a:lnTo>
                      <a:pt x="238" y="0"/>
                    </a:lnTo>
                    <a:lnTo>
                      <a:pt x="242" y="1"/>
                    </a:lnTo>
                    <a:lnTo>
                      <a:pt x="247" y="3"/>
                    </a:lnTo>
                    <a:lnTo>
                      <a:pt x="252" y="4"/>
                    </a:lnTo>
                    <a:lnTo>
                      <a:pt x="260" y="7"/>
                    </a:lnTo>
                    <a:lnTo>
                      <a:pt x="265" y="10"/>
                    </a:lnTo>
                    <a:lnTo>
                      <a:pt x="268" y="13"/>
                    </a:lnTo>
                    <a:lnTo>
                      <a:pt x="272" y="17"/>
                    </a:lnTo>
                    <a:lnTo>
                      <a:pt x="275" y="20"/>
                    </a:lnTo>
                    <a:lnTo>
                      <a:pt x="284" y="27"/>
                    </a:lnTo>
                    <a:lnTo>
                      <a:pt x="287" y="31"/>
                    </a:lnTo>
                    <a:lnTo>
                      <a:pt x="291" y="33"/>
                    </a:lnTo>
                    <a:lnTo>
                      <a:pt x="293" y="37"/>
                    </a:lnTo>
                    <a:lnTo>
                      <a:pt x="299" y="44"/>
                    </a:lnTo>
                    <a:lnTo>
                      <a:pt x="300" y="49"/>
                    </a:lnTo>
                    <a:lnTo>
                      <a:pt x="301" y="52"/>
                    </a:lnTo>
                    <a:lnTo>
                      <a:pt x="303" y="56"/>
                    </a:lnTo>
                    <a:lnTo>
                      <a:pt x="304" y="63"/>
                    </a:lnTo>
                    <a:lnTo>
                      <a:pt x="304" y="64"/>
                    </a:lnTo>
                    <a:lnTo>
                      <a:pt x="304" y="66"/>
                    </a:lnTo>
                    <a:lnTo>
                      <a:pt x="304" y="69"/>
                    </a:lnTo>
                    <a:lnTo>
                      <a:pt x="304" y="74"/>
                    </a:lnTo>
                    <a:lnTo>
                      <a:pt x="304" y="76"/>
                    </a:lnTo>
                    <a:lnTo>
                      <a:pt x="304" y="78"/>
                    </a:lnTo>
                    <a:lnTo>
                      <a:pt x="304" y="81"/>
                    </a:lnTo>
                    <a:lnTo>
                      <a:pt x="304" y="82"/>
                    </a:lnTo>
                    <a:lnTo>
                      <a:pt x="304" y="83"/>
                    </a:lnTo>
                    <a:lnTo>
                      <a:pt x="305" y="84"/>
                    </a:lnTo>
                    <a:lnTo>
                      <a:pt x="306" y="83"/>
                    </a:lnTo>
                    <a:lnTo>
                      <a:pt x="308" y="81"/>
                    </a:lnTo>
                    <a:lnTo>
                      <a:pt x="312" y="77"/>
                    </a:lnTo>
                    <a:lnTo>
                      <a:pt x="314" y="74"/>
                    </a:lnTo>
                    <a:lnTo>
                      <a:pt x="318" y="69"/>
                    </a:lnTo>
                    <a:lnTo>
                      <a:pt x="324" y="62"/>
                    </a:lnTo>
                    <a:lnTo>
                      <a:pt x="326" y="58"/>
                    </a:lnTo>
                    <a:lnTo>
                      <a:pt x="329" y="57"/>
                    </a:lnTo>
                    <a:lnTo>
                      <a:pt x="332" y="55"/>
                    </a:lnTo>
                    <a:lnTo>
                      <a:pt x="339" y="51"/>
                    </a:lnTo>
                    <a:lnTo>
                      <a:pt x="343" y="50"/>
                    </a:lnTo>
                    <a:lnTo>
                      <a:pt x="347" y="49"/>
                    </a:lnTo>
                    <a:lnTo>
                      <a:pt x="352" y="48"/>
                    </a:lnTo>
                    <a:lnTo>
                      <a:pt x="360" y="49"/>
                    </a:lnTo>
                    <a:lnTo>
                      <a:pt x="364" y="50"/>
                    </a:lnTo>
                    <a:lnTo>
                      <a:pt x="369" y="51"/>
                    </a:lnTo>
                    <a:lnTo>
                      <a:pt x="372" y="53"/>
                    </a:lnTo>
                    <a:lnTo>
                      <a:pt x="379" y="57"/>
                    </a:lnTo>
                    <a:lnTo>
                      <a:pt x="382" y="59"/>
                    </a:lnTo>
                    <a:lnTo>
                      <a:pt x="385" y="62"/>
                    </a:lnTo>
                    <a:lnTo>
                      <a:pt x="391" y="69"/>
                    </a:lnTo>
                    <a:lnTo>
                      <a:pt x="395" y="74"/>
                    </a:lnTo>
                    <a:lnTo>
                      <a:pt x="397" y="80"/>
                    </a:lnTo>
                    <a:lnTo>
                      <a:pt x="402" y="89"/>
                    </a:lnTo>
                    <a:lnTo>
                      <a:pt x="403" y="94"/>
                    </a:lnTo>
                    <a:lnTo>
                      <a:pt x="405" y="98"/>
                    </a:lnTo>
                    <a:lnTo>
                      <a:pt x="408" y="108"/>
                    </a:lnTo>
                    <a:lnTo>
                      <a:pt x="410" y="111"/>
                    </a:lnTo>
                    <a:lnTo>
                      <a:pt x="411" y="116"/>
                    </a:lnTo>
                    <a:lnTo>
                      <a:pt x="411" y="123"/>
                    </a:lnTo>
                    <a:lnTo>
                      <a:pt x="412" y="126"/>
                    </a:lnTo>
                    <a:lnTo>
                      <a:pt x="411" y="129"/>
                    </a:lnTo>
                    <a:lnTo>
                      <a:pt x="411" y="136"/>
                    </a:lnTo>
                    <a:lnTo>
                      <a:pt x="410" y="141"/>
                    </a:lnTo>
                    <a:lnTo>
                      <a:pt x="408" y="145"/>
                    </a:lnTo>
                    <a:lnTo>
                      <a:pt x="405" y="153"/>
                    </a:lnTo>
                    <a:lnTo>
                      <a:pt x="403" y="158"/>
                    </a:lnTo>
                    <a:lnTo>
                      <a:pt x="401" y="161"/>
                    </a:lnTo>
                    <a:lnTo>
                      <a:pt x="398" y="165"/>
                    </a:lnTo>
                    <a:lnTo>
                      <a:pt x="392" y="170"/>
                    </a:lnTo>
                    <a:lnTo>
                      <a:pt x="390" y="172"/>
                    </a:lnTo>
                    <a:lnTo>
                      <a:pt x="388" y="173"/>
                    </a:lnTo>
                    <a:lnTo>
                      <a:pt x="385" y="174"/>
                    </a:lnTo>
                    <a:lnTo>
                      <a:pt x="379" y="177"/>
                    </a:lnTo>
                    <a:lnTo>
                      <a:pt x="376" y="178"/>
                    </a:lnTo>
                    <a:lnTo>
                      <a:pt x="372" y="179"/>
                    </a:lnTo>
                    <a:lnTo>
                      <a:pt x="365" y="180"/>
                    </a:lnTo>
                    <a:lnTo>
                      <a:pt x="360" y="180"/>
                    </a:lnTo>
                    <a:lnTo>
                      <a:pt x="357" y="180"/>
                    </a:lnTo>
                    <a:lnTo>
                      <a:pt x="350" y="180"/>
                    </a:lnTo>
                    <a:lnTo>
                      <a:pt x="349" y="180"/>
                    </a:lnTo>
                    <a:lnTo>
                      <a:pt x="347" y="180"/>
                    </a:lnTo>
                    <a:lnTo>
                      <a:pt x="346" y="180"/>
                    </a:lnTo>
                    <a:lnTo>
                      <a:pt x="345" y="180"/>
                    </a:lnTo>
                    <a:lnTo>
                      <a:pt x="345" y="180"/>
                    </a:lnTo>
                    <a:lnTo>
                      <a:pt x="345" y="180"/>
                    </a:lnTo>
                    <a:lnTo>
                      <a:pt x="345" y="181"/>
                    </a:lnTo>
                    <a:lnTo>
                      <a:pt x="347" y="181"/>
                    </a:lnTo>
                    <a:lnTo>
                      <a:pt x="350" y="183"/>
                    </a:lnTo>
                    <a:lnTo>
                      <a:pt x="352" y="183"/>
                    </a:lnTo>
                    <a:lnTo>
                      <a:pt x="355" y="184"/>
                    </a:lnTo>
                    <a:lnTo>
                      <a:pt x="358" y="186"/>
                    </a:lnTo>
                    <a:lnTo>
                      <a:pt x="360" y="187"/>
                    </a:lnTo>
                    <a:lnTo>
                      <a:pt x="362" y="190"/>
                    </a:lnTo>
                    <a:lnTo>
                      <a:pt x="363" y="191"/>
                    </a:lnTo>
                    <a:lnTo>
                      <a:pt x="366" y="194"/>
                    </a:lnTo>
                    <a:lnTo>
                      <a:pt x="369" y="197"/>
                    </a:lnTo>
                    <a:lnTo>
                      <a:pt x="371" y="199"/>
                    </a:lnTo>
                    <a:lnTo>
                      <a:pt x="373" y="201"/>
                    </a:lnTo>
                    <a:lnTo>
                      <a:pt x="377" y="206"/>
                    </a:lnTo>
                    <a:lnTo>
                      <a:pt x="378" y="209"/>
                    </a:lnTo>
                    <a:lnTo>
                      <a:pt x="379" y="211"/>
                    </a:lnTo>
                    <a:lnTo>
                      <a:pt x="379" y="213"/>
                    </a:lnTo>
                    <a:lnTo>
                      <a:pt x="381" y="219"/>
                    </a:lnTo>
                    <a:lnTo>
                      <a:pt x="382" y="222"/>
                    </a:lnTo>
                    <a:lnTo>
                      <a:pt x="382" y="225"/>
                    </a:lnTo>
                    <a:lnTo>
                      <a:pt x="383" y="235"/>
                    </a:lnTo>
                    <a:lnTo>
                      <a:pt x="384" y="241"/>
                    </a:lnTo>
                    <a:lnTo>
                      <a:pt x="383" y="246"/>
                    </a:lnTo>
                    <a:lnTo>
                      <a:pt x="382" y="256"/>
                    </a:lnTo>
                    <a:lnTo>
                      <a:pt x="381" y="261"/>
                    </a:lnTo>
                    <a:lnTo>
                      <a:pt x="379" y="264"/>
                    </a:lnTo>
                    <a:lnTo>
                      <a:pt x="378" y="268"/>
                    </a:lnTo>
                    <a:lnTo>
                      <a:pt x="373" y="274"/>
                    </a:lnTo>
                    <a:lnTo>
                      <a:pt x="371" y="276"/>
                    </a:lnTo>
                    <a:lnTo>
                      <a:pt x="369" y="278"/>
                    </a:lnTo>
                    <a:lnTo>
                      <a:pt x="366" y="281"/>
                    </a:lnTo>
                    <a:lnTo>
                      <a:pt x="362" y="286"/>
                    </a:lnTo>
                    <a:lnTo>
                      <a:pt x="359" y="288"/>
                    </a:lnTo>
                    <a:lnTo>
                      <a:pt x="357" y="289"/>
                    </a:lnTo>
                    <a:lnTo>
                      <a:pt x="355" y="291"/>
                    </a:lnTo>
                    <a:lnTo>
                      <a:pt x="347" y="295"/>
                    </a:lnTo>
                    <a:lnTo>
                      <a:pt x="343" y="297"/>
                    </a:lnTo>
                    <a:lnTo>
                      <a:pt x="338" y="299"/>
                    </a:lnTo>
                    <a:lnTo>
                      <a:pt x="333" y="300"/>
                    </a:lnTo>
                    <a:lnTo>
                      <a:pt x="323" y="301"/>
                    </a:lnTo>
                    <a:lnTo>
                      <a:pt x="318" y="301"/>
                    </a:lnTo>
                    <a:lnTo>
                      <a:pt x="313" y="301"/>
                    </a:lnTo>
                    <a:lnTo>
                      <a:pt x="308" y="301"/>
                    </a:lnTo>
                    <a:lnTo>
                      <a:pt x="300" y="300"/>
                    </a:lnTo>
                    <a:lnTo>
                      <a:pt x="295" y="297"/>
                    </a:lnTo>
                    <a:lnTo>
                      <a:pt x="292" y="296"/>
                    </a:lnTo>
                    <a:lnTo>
                      <a:pt x="288" y="295"/>
                    </a:lnTo>
                    <a:lnTo>
                      <a:pt x="281" y="290"/>
                    </a:lnTo>
                    <a:lnTo>
                      <a:pt x="278" y="288"/>
                    </a:lnTo>
                    <a:lnTo>
                      <a:pt x="274" y="284"/>
                    </a:lnTo>
                    <a:lnTo>
                      <a:pt x="272" y="281"/>
                    </a:lnTo>
                    <a:lnTo>
                      <a:pt x="265" y="273"/>
                    </a:lnTo>
                    <a:lnTo>
                      <a:pt x="262" y="269"/>
                    </a:lnTo>
                    <a:lnTo>
                      <a:pt x="259" y="264"/>
                    </a:lnTo>
                    <a:lnTo>
                      <a:pt x="256" y="262"/>
                    </a:lnTo>
                    <a:lnTo>
                      <a:pt x="254" y="260"/>
                    </a:lnTo>
                    <a:lnTo>
                      <a:pt x="252" y="258"/>
                    </a:lnTo>
                    <a:lnTo>
                      <a:pt x="251" y="261"/>
                    </a:lnTo>
                    <a:lnTo>
                      <a:pt x="251" y="261"/>
                    </a:lnTo>
                    <a:lnTo>
                      <a:pt x="251" y="263"/>
                    </a:lnTo>
                    <a:lnTo>
                      <a:pt x="251" y="264"/>
                    </a:lnTo>
                    <a:lnTo>
                      <a:pt x="251" y="265"/>
                    </a:lnTo>
                    <a:lnTo>
                      <a:pt x="251" y="268"/>
                    </a:lnTo>
                    <a:lnTo>
                      <a:pt x="251" y="274"/>
                    </a:lnTo>
                    <a:lnTo>
                      <a:pt x="249" y="277"/>
                    </a:lnTo>
                    <a:lnTo>
                      <a:pt x="248" y="282"/>
                    </a:lnTo>
                    <a:lnTo>
                      <a:pt x="246" y="284"/>
                    </a:lnTo>
                    <a:lnTo>
                      <a:pt x="240" y="293"/>
                    </a:lnTo>
                    <a:lnTo>
                      <a:pt x="235" y="296"/>
                    </a:lnTo>
                    <a:lnTo>
                      <a:pt x="230" y="300"/>
                    </a:lnTo>
                    <a:lnTo>
                      <a:pt x="226" y="302"/>
                    </a:lnTo>
                    <a:lnTo>
                      <a:pt x="215" y="307"/>
                    </a:lnTo>
                    <a:lnTo>
                      <a:pt x="210" y="309"/>
                    </a:lnTo>
                    <a:lnTo>
                      <a:pt x="206" y="310"/>
                    </a:lnTo>
                    <a:lnTo>
                      <a:pt x="194" y="314"/>
                    </a:lnTo>
                    <a:lnTo>
                      <a:pt x="187" y="315"/>
                    </a:lnTo>
                    <a:lnTo>
                      <a:pt x="180" y="316"/>
                    </a:lnTo>
                    <a:lnTo>
                      <a:pt x="167" y="316"/>
                    </a:lnTo>
                    <a:lnTo>
                      <a:pt x="161" y="316"/>
                    </a:lnTo>
                    <a:lnTo>
                      <a:pt x="155" y="315"/>
                    </a:lnTo>
                    <a:lnTo>
                      <a:pt x="149" y="314"/>
                    </a:lnTo>
                    <a:lnTo>
                      <a:pt x="139" y="310"/>
                    </a:lnTo>
                    <a:lnTo>
                      <a:pt x="135" y="308"/>
                    </a:lnTo>
                    <a:lnTo>
                      <a:pt x="131" y="306"/>
                    </a:lnTo>
                    <a:lnTo>
                      <a:pt x="128" y="303"/>
                    </a:lnTo>
                    <a:lnTo>
                      <a:pt x="121" y="297"/>
                    </a:lnTo>
                    <a:lnTo>
                      <a:pt x="118" y="294"/>
                    </a:lnTo>
                    <a:lnTo>
                      <a:pt x="116" y="290"/>
                    </a:lnTo>
                    <a:lnTo>
                      <a:pt x="115" y="287"/>
                    </a:lnTo>
                    <a:lnTo>
                      <a:pt x="113" y="282"/>
                    </a:lnTo>
                    <a:lnTo>
                      <a:pt x="111" y="271"/>
                    </a:lnTo>
                    <a:lnTo>
                      <a:pt x="111" y="268"/>
                    </a:lnTo>
                    <a:lnTo>
                      <a:pt x="111" y="263"/>
                    </a:lnTo>
                    <a:lnTo>
                      <a:pt x="111" y="260"/>
                    </a:lnTo>
                    <a:lnTo>
                      <a:pt x="110" y="256"/>
                    </a:lnTo>
                    <a:lnTo>
                      <a:pt x="110" y="254"/>
                    </a:lnTo>
                    <a:lnTo>
                      <a:pt x="109" y="252"/>
                    </a:lnTo>
                    <a:lnTo>
                      <a:pt x="106" y="252"/>
                    </a:lnTo>
                    <a:lnTo>
                      <a:pt x="106" y="254"/>
                    </a:lnTo>
                    <a:lnTo>
                      <a:pt x="105" y="254"/>
                    </a:lnTo>
                    <a:lnTo>
                      <a:pt x="104" y="255"/>
                    </a:lnTo>
                    <a:lnTo>
                      <a:pt x="103" y="256"/>
                    </a:lnTo>
                    <a:lnTo>
                      <a:pt x="102" y="257"/>
                    </a:lnTo>
                    <a:lnTo>
                      <a:pt x="102" y="258"/>
                    </a:lnTo>
                    <a:lnTo>
                      <a:pt x="97" y="262"/>
                    </a:lnTo>
                    <a:lnTo>
                      <a:pt x="93" y="263"/>
                    </a:lnTo>
                    <a:lnTo>
                      <a:pt x="90" y="263"/>
                    </a:lnTo>
                    <a:lnTo>
                      <a:pt x="86" y="264"/>
                    </a:lnTo>
                    <a:lnTo>
                      <a:pt x="77" y="264"/>
                    </a:lnTo>
                    <a:lnTo>
                      <a:pt x="71" y="265"/>
                    </a:lnTo>
                    <a:lnTo>
                      <a:pt x="65" y="265"/>
                    </a:lnTo>
                    <a:lnTo>
                      <a:pt x="58" y="265"/>
                    </a:lnTo>
                    <a:lnTo>
                      <a:pt x="47" y="263"/>
                    </a:lnTo>
                    <a:lnTo>
                      <a:pt x="43" y="261"/>
                    </a:lnTo>
                    <a:lnTo>
                      <a:pt x="38" y="258"/>
                    </a:lnTo>
                    <a:lnTo>
                      <a:pt x="33" y="255"/>
                    </a:lnTo>
                    <a:lnTo>
                      <a:pt x="25" y="249"/>
                    </a:lnTo>
                    <a:lnTo>
                      <a:pt x="21" y="246"/>
                    </a:lnTo>
                    <a:lnTo>
                      <a:pt x="19" y="243"/>
                    </a:lnTo>
                    <a:lnTo>
                      <a:pt x="13" y="235"/>
                    </a:lnTo>
                    <a:lnTo>
                      <a:pt x="9" y="229"/>
                    </a:lnTo>
                    <a:lnTo>
                      <a:pt x="7" y="223"/>
                    </a:lnTo>
                    <a:lnTo>
                      <a:pt x="2" y="211"/>
                    </a:lnTo>
                    <a:lnTo>
                      <a:pt x="1" y="205"/>
                    </a:lnTo>
                    <a:lnTo>
                      <a:pt x="0" y="199"/>
                    </a:lnTo>
                    <a:lnTo>
                      <a:pt x="0" y="193"/>
                    </a:lnTo>
                    <a:lnTo>
                      <a:pt x="0" y="184"/>
                    </a:lnTo>
                    <a:lnTo>
                      <a:pt x="0" y="179"/>
                    </a:lnTo>
                    <a:lnTo>
                      <a:pt x="1" y="175"/>
                    </a:lnTo>
                    <a:lnTo>
                      <a:pt x="2" y="172"/>
                    </a:lnTo>
                    <a:lnTo>
                      <a:pt x="7" y="164"/>
                    </a:lnTo>
                    <a:lnTo>
                      <a:pt x="9" y="159"/>
                    </a:lnTo>
                    <a:lnTo>
                      <a:pt x="13" y="155"/>
                    </a:lnTo>
                    <a:lnTo>
                      <a:pt x="18" y="149"/>
                    </a:lnTo>
                    <a:lnTo>
                      <a:pt x="20" y="148"/>
                    </a:lnTo>
                    <a:lnTo>
                      <a:pt x="22" y="147"/>
                    </a:lnTo>
                    <a:lnTo>
                      <a:pt x="25" y="145"/>
                    </a:lnTo>
                    <a:lnTo>
                      <a:pt x="31" y="143"/>
                    </a:lnTo>
                    <a:lnTo>
                      <a:pt x="33" y="142"/>
                    </a:lnTo>
                    <a:lnTo>
                      <a:pt x="35" y="142"/>
                    </a:lnTo>
                    <a:lnTo>
                      <a:pt x="38" y="141"/>
                    </a:lnTo>
                    <a:lnTo>
                      <a:pt x="39" y="140"/>
                    </a:lnTo>
                    <a:lnTo>
                      <a:pt x="40" y="139"/>
                    </a:lnTo>
                    <a:close/>
                  </a:path>
                </a:pathLst>
              </a:custGeom>
              <a:solidFill>
                <a:srgbClr val="DBDBFF"/>
              </a:solidFill>
              <a:ln w="3175">
                <a:solidFill>
                  <a:srgbClr val="0000FF"/>
                </a:solidFill>
                <a:prstDash val="solid"/>
                <a:round/>
                <a:headEnd/>
                <a:tailEnd/>
              </a:ln>
            </p:spPr>
            <p:txBody>
              <a:bodyPr/>
              <a:lstStyle/>
              <a:p>
                <a:endParaRPr lang="ru-RU"/>
              </a:p>
            </p:txBody>
          </p:sp>
          <p:sp>
            <p:nvSpPr>
              <p:cNvPr id="36880" name="Freeform 16"/>
              <p:cNvSpPr>
                <a:spLocks/>
              </p:cNvSpPr>
              <p:nvPr/>
            </p:nvSpPr>
            <p:spPr bwMode="auto">
              <a:xfrm>
                <a:off x="1971" y="2605"/>
                <a:ext cx="412" cy="317"/>
              </a:xfrm>
              <a:custGeom>
                <a:avLst/>
                <a:gdLst/>
                <a:ahLst/>
                <a:cxnLst>
                  <a:cxn ang="0">
                    <a:pos x="38" y="133"/>
                  </a:cxn>
                  <a:cxn ang="0">
                    <a:pos x="27" y="116"/>
                  </a:cxn>
                  <a:cxn ang="0">
                    <a:pos x="25" y="89"/>
                  </a:cxn>
                  <a:cxn ang="0">
                    <a:pos x="30" y="57"/>
                  </a:cxn>
                  <a:cxn ang="0">
                    <a:pos x="51" y="36"/>
                  </a:cxn>
                  <a:cxn ang="0">
                    <a:pos x="82" y="24"/>
                  </a:cxn>
                  <a:cxn ang="0">
                    <a:pos x="119" y="30"/>
                  </a:cxn>
                  <a:cxn ang="0">
                    <a:pos x="143" y="39"/>
                  </a:cxn>
                  <a:cxn ang="0">
                    <a:pos x="156" y="52"/>
                  </a:cxn>
                  <a:cxn ang="0">
                    <a:pos x="160" y="60"/>
                  </a:cxn>
                  <a:cxn ang="0">
                    <a:pos x="164" y="50"/>
                  </a:cxn>
                  <a:cxn ang="0">
                    <a:pos x="171" y="23"/>
                  </a:cxn>
                  <a:cxn ang="0">
                    <a:pos x="196" y="4"/>
                  </a:cxn>
                  <a:cxn ang="0">
                    <a:pos x="224" y="0"/>
                  </a:cxn>
                  <a:cxn ang="0">
                    <a:pos x="253" y="4"/>
                  </a:cxn>
                  <a:cxn ang="0">
                    <a:pos x="276" y="21"/>
                  </a:cxn>
                  <a:cxn ang="0">
                    <a:pos x="300" y="45"/>
                  </a:cxn>
                  <a:cxn ang="0">
                    <a:pos x="305" y="65"/>
                  </a:cxn>
                  <a:cxn ang="0">
                    <a:pos x="305" y="78"/>
                  </a:cxn>
                  <a:cxn ang="0">
                    <a:pos x="307" y="84"/>
                  </a:cxn>
                  <a:cxn ang="0">
                    <a:pos x="325" y="62"/>
                  </a:cxn>
                  <a:cxn ang="0">
                    <a:pos x="344" y="50"/>
                  </a:cxn>
                  <a:cxn ang="0">
                    <a:pos x="370" y="52"/>
                  </a:cxn>
                  <a:cxn ang="0">
                    <a:pos x="392" y="70"/>
                  </a:cxn>
                  <a:cxn ang="0">
                    <a:pos x="406" y="99"/>
                  </a:cxn>
                  <a:cxn ang="0">
                    <a:pos x="412" y="127"/>
                  </a:cxn>
                  <a:cxn ang="0">
                    <a:pos x="406" y="154"/>
                  </a:cxn>
                  <a:cxn ang="0">
                    <a:pos x="391" y="172"/>
                  </a:cxn>
                  <a:cxn ang="0">
                    <a:pos x="373" y="180"/>
                  </a:cxn>
                  <a:cxn ang="0">
                    <a:pos x="350" y="180"/>
                  </a:cxn>
                  <a:cxn ang="0">
                    <a:pos x="345" y="181"/>
                  </a:cxn>
                  <a:cxn ang="0">
                    <a:pos x="355" y="185"/>
                  </a:cxn>
                  <a:cxn ang="0">
                    <a:pos x="367" y="195"/>
                  </a:cxn>
                  <a:cxn ang="0">
                    <a:pos x="379" y="210"/>
                  </a:cxn>
                  <a:cxn ang="0">
                    <a:pos x="383" y="225"/>
                  </a:cxn>
                  <a:cxn ang="0">
                    <a:pos x="381" y="261"/>
                  </a:cxn>
                  <a:cxn ang="0">
                    <a:pos x="370" y="279"/>
                  </a:cxn>
                  <a:cxn ang="0">
                    <a:pos x="355" y="291"/>
                  </a:cxn>
                  <a:cxn ang="0">
                    <a:pos x="324" y="301"/>
                  </a:cxn>
                  <a:cxn ang="0">
                    <a:pos x="296" y="298"/>
                  </a:cxn>
                  <a:cxn ang="0">
                    <a:pos x="275" y="285"/>
                  </a:cxn>
                  <a:cxn ang="0">
                    <a:pos x="257" y="262"/>
                  </a:cxn>
                  <a:cxn ang="0">
                    <a:pos x="251" y="263"/>
                  </a:cxn>
                  <a:cxn ang="0">
                    <a:pos x="250" y="278"/>
                  </a:cxn>
                  <a:cxn ang="0">
                    <a:pos x="231" y="300"/>
                  </a:cxn>
                  <a:cxn ang="0">
                    <a:pos x="195" y="315"/>
                  </a:cxn>
                  <a:cxn ang="0">
                    <a:pos x="156" y="316"/>
                  </a:cxn>
                  <a:cxn ang="0">
                    <a:pos x="129" y="303"/>
                  </a:cxn>
                  <a:cxn ang="0">
                    <a:pos x="114" y="282"/>
                  </a:cxn>
                  <a:cxn ang="0">
                    <a:pos x="111" y="257"/>
                  </a:cxn>
                  <a:cxn ang="0">
                    <a:pos x="106" y="255"/>
                  </a:cxn>
                  <a:cxn ang="0">
                    <a:pos x="98" y="262"/>
                  </a:cxn>
                  <a:cxn ang="0">
                    <a:pos x="72" y="265"/>
                  </a:cxn>
                  <a:cxn ang="0">
                    <a:pos x="38" y="258"/>
                  </a:cxn>
                  <a:cxn ang="0">
                    <a:pos x="14" y="234"/>
                  </a:cxn>
                  <a:cxn ang="0">
                    <a:pos x="1" y="199"/>
                  </a:cxn>
                  <a:cxn ang="0">
                    <a:pos x="3" y="172"/>
                  </a:cxn>
                  <a:cxn ang="0">
                    <a:pos x="21" y="148"/>
                  </a:cxn>
                  <a:cxn ang="0">
                    <a:pos x="36" y="142"/>
                  </a:cxn>
                </a:cxnLst>
                <a:rect l="0" t="0" r="r" b="b"/>
                <a:pathLst>
                  <a:path w="412" h="317">
                    <a:moveTo>
                      <a:pt x="41" y="140"/>
                    </a:moveTo>
                    <a:lnTo>
                      <a:pt x="41" y="139"/>
                    </a:lnTo>
                    <a:lnTo>
                      <a:pt x="40" y="136"/>
                    </a:lnTo>
                    <a:lnTo>
                      <a:pt x="39" y="134"/>
                    </a:lnTo>
                    <a:lnTo>
                      <a:pt x="38" y="133"/>
                    </a:lnTo>
                    <a:lnTo>
                      <a:pt x="35" y="130"/>
                    </a:lnTo>
                    <a:lnTo>
                      <a:pt x="33" y="126"/>
                    </a:lnTo>
                    <a:lnTo>
                      <a:pt x="32" y="124"/>
                    </a:lnTo>
                    <a:lnTo>
                      <a:pt x="30" y="122"/>
                    </a:lnTo>
                    <a:lnTo>
                      <a:pt x="27" y="116"/>
                    </a:lnTo>
                    <a:lnTo>
                      <a:pt x="26" y="111"/>
                    </a:lnTo>
                    <a:lnTo>
                      <a:pt x="25" y="107"/>
                    </a:lnTo>
                    <a:lnTo>
                      <a:pt x="25" y="97"/>
                    </a:lnTo>
                    <a:lnTo>
                      <a:pt x="25" y="92"/>
                    </a:lnTo>
                    <a:lnTo>
                      <a:pt x="25" y="89"/>
                    </a:lnTo>
                    <a:lnTo>
                      <a:pt x="25" y="79"/>
                    </a:lnTo>
                    <a:lnTo>
                      <a:pt x="26" y="75"/>
                    </a:lnTo>
                    <a:lnTo>
                      <a:pt x="26" y="70"/>
                    </a:lnTo>
                    <a:lnTo>
                      <a:pt x="27" y="65"/>
                    </a:lnTo>
                    <a:lnTo>
                      <a:pt x="30" y="57"/>
                    </a:lnTo>
                    <a:lnTo>
                      <a:pt x="33" y="53"/>
                    </a:lnTo>
                    <a:lnTo>
                      <a:pt x="35" y="50"/>
                    </a:lnTo>
                    <a:lnTo>
                      <a:pt x="39" y="47"/>
                    </a:lnTo>
                    <a:lnTo>
                      <a:pt x="46" y="39"/>
                    </a:lnTo>
                    <a:lnTo>
                      <a:pt x="51" y="36"/>
                    </a:lnTo>
                    <a:lnTo>
                      <a:pt x="55" y="32"/>
                    </a:lnTo>
                    <a:lnTo>
                      <a:pt x="65" y="27"/>
                    </a:lnTo>
                    <a:lnTo>
                      <a:pt x="68" y="26"/>
                    </a:lnTo>
                    <a:lnTo>
                      <a:pt x="73" y="25"/>
                    </a:lnTo>
                    <a:lnTo>
                      <a:pt x="82" y="24"/>
                    </a:lnTo>
                    <a:lnTo>
                      <a:pt x="90" y="24"/>
                    </a:lnTo>
                    <a:lnTo>
                      <a:pt x="95" y="24"/>
                    </a:lnTo>
                    <a:lnTo>
                      <a:pt x="107" y="26"/>
                    </a:lnTo>
                    <a:lnTo>
                      <a:pt x="113" y="27"/>
                    </a:lnTo>
                    <a:lnTo>
                      <a:pt x="119" y="30"/>
                    </a:lnTo>
                    <a:lnTo>
                      <a:pt x="127" y="33"/>
                    </a:lnTo>
                    <a:lnTo>
                      <a:pt x="131" y="34"/>
                    </a:lnTo>
                    <a:lnTo>
                      <a:pt x="134" y="36"/>
                    </a:lnTo>
                    <a:lnTo>
                      <a:pt x="140" y="38"/>
                    </a:lnTo>
                    <a:lnTo>
                      <a:pt x="143" y="39"/>
                    </a:lnTo>
                    <a:lnTo>
                      <a:pt x="146" y="41"/>
                    </a:lnTo>
                    <a:lnTo>
                      <a:pt x="149" y="43"/>
                    </a:lnTo>
                    <a:lnTo>
                      <a:pt x="151" y="45"/>
                    </a:lnTo>
                    <a:lnTo>
                      <a:pt x="155" y="51"/>
                    </a:lnTo>
                    <a:lnTo>
                      <a:pt x="156" y="52"/>
                    </a:lnTo>
                    <a:lnTo>
                      <a:pt x="157" y="54"/>
                    </a:lnTo>
                    <a:lnTo>
                      <a:pt x="158" y="56"/>
                    </a:lnTo>
                    <a:lnTo>
                      <a:pt x="158" y="58"/>
                    </a:lnTo>
                    <a:lnTo>
                      <a:pt x="159" y="59"/>
                    </a:lnTo>
                    <a:lnTo>
                      <a:pt x="160" y="60"/>
                    </a:lnTo>
                    <a:lnTo>
                      <a:pt x="162" y="60"/>
                    </a:lnTo>
                    <a:lnTo>
                      <a:pt x="163" y="59"/>
                    </a:lnTo>
                    <a:lnTo>
                      <a:pt x="163" y="57"/>
                    </a:lnTo>
                    <a:lnTo>
                      <a:pt x="164" y="53"/>
                    </a:lnTo>
                    <a:lnTo>
                      <a:pt x="164" y="50"/>
                    </a:lnTo>
                    <a:lnTo>
                      <a:pt x="164" y="45"/>
                    </a:lnTo>
                    <a:lnTo>
                      <a:pt x="165" y="40"/>
                    </a:lnTo>
                    <a:lnTo>
                      <a:pt x="168" y="31"/>
                    </a:lnTo>
                    <a:lnTo>
                      <a:pt x="169" y="26"/>
                    </a:lnTo>
                    <a:lnTo>
                      <a:pt x="171" y="23"/>
                    </a:lnTo>
                    <a:lnTo>
                      <a:pt x="173" y="19"/>
                    </a:lnTo>
                    <a:lnTo>
                      <a:pt x="177" y="15"/>
                    </a:lnTo>
                    <a:lnTo>
                      <a:pt x="185" y="9"/>
                    </a:lnTo>
                    <a:lnTo>
                      <a:pt x="190" y="6"/>
                    </a:lnTo>
                    <a:lnTo>
                      <a:pt x="196" y="4"/>
                    </a:lnTo>
                    <a:lnTo>
                      <a:pt x="203" y="1"/>
                    </a:lnTo>
                    <a:lnTo>
                      <a:pt x="212" y="0"/>
                    </a:lnTo>
                    <a:lnTo>
                      <a:pt x="216" y="0"/>
                    </a:lnTo>
                    <a:lnTo>
                      <a:pt x="221" y="0"/>
                    </a:lnTo>
                    <a:lnTo>
                      <a:pt x="224" y="0"/>
                    </a:lnTo>
                    <a:lnTo>
                      <a:pt x="233" y="1"/>
                    </a:lnTo>
                    <a:lnTo>
                      <a:pt x="237" y="1"/>
                    </a:lnTo>
                    <a:lnTo>
                      <a:pt x="243" y="1"/>
                    </a:lnTo>
                    <a:lnTo>
                      <a:pt x="248" y="2"/>
                    </a:lnTo>
                    <a:lnTo>
                      <a:pt x="253" y="4"/>
                    </a:lnTo>
                    <a:lnTo>
                      <a:pt x="261" y="8"/>
                    </a:lnTo>
                    <a:lnTo>
                      <a:pt x="266" y="11"/>
                    </a:lnTo>
                    <a:lnTo>
                      <a:pt x="269" y="14"/>
                    </a:lnTo>
                    <a:lnTo>
                      <a:pt x="273" y="18"/>
                    </a:lnTo>
                    <a:lnTo>
                      <a:pt x="276" y="21"/>
                    </a:lnTo>
                    <a:lnTo>
                      <a:pt x="285" y="27"/>
                    </a:lnTo>
                    <a:lnTo>
                      <a:pt x="288" y="31"/>
                    </a:lnTo>
                    <a:lnTo>
                      <a:pt x="292" y="34"/>
                    </a:lnTo>
                    <a:lnTo>
                      <a:pt x="294" y="38"/>
                    </a:lnTo>
                    <a:lnTo>
                      <a:pt x="300" y="45"/>
                    </a:lnTo>
                    <a:lnTo>
                      <a:pt x="301" y="49"/>
                    </a:lnTo>
                    <a:lnTo>
                      <a:pt x="302" y="52"/>
                    </a:lnTo>
                    <a:lnTo>
                      <a:pt x="303" y="57"/>
                    </a:lnTo>
                    <a:lnTo>
                      <a:pt x="305" y="63"/>
                    </a:lnTo>
                    <a:lnTo>
                      <a:pt x="305" y="65"/>
                    </a:lnTo>
                    <a:lnTo>
                      <a:pt x="305" y="68"/>
                    </a:lnTo>
                    <a:lnTo>
                      <a:pt x="305" y="70"/>
                    </a:lnTo>
                    <a:lnTo>
                      <a:pt x="305" y="75"/>
                    </a:lnTo>
                    <a:lnTo>
                      <a:pt x="305" y="77"/>
                    </a:lnTo>
                    <a:lnTo>
                      <a:pt x="305" y="78"/>
                    </a:lnTo>
                    <a:lnTo>
                      <a:pt x="305" y="81"/>
                    </a:lnTo>
                    <a:lnTo>
                      <a:pt x="305" y="82"/>
                    </a:lnTo>
                    <a:lnTo>
                      <a:pt x="305" y="84"/>
                    </a:lnTo>
                    <a:lnTo>
                      <a:pt x="306" y="85"/>
                    </a:lnTo>
                    <a:lnTo>
                      <a:pt x="307" y="84"/>
                    </a:lnTo>
                    <a:lnTo>
                      <a:pt x="309" y="82"/>
                    </a:lnTo>
                    <a:lnTo>
                      <a:pt x="313" y="78"/>
                    </a:lnTo>
                    <a:lnTo>
                      <a:pt x="315" y="73"/>
                    </a:lnTo>
                    <a:lnTo>
                      <a:pt x="319" y="70"/>
                    </a:lnTo>
                    <a:lnTo>
                      <a:pt x="325" y="62"/>
                    </a:lnTo>
                    <a:lnTo>
                      <a:pt x="327" y="59"/>
                    </a:lnTo>
                    <a:lnTo>
                      <a:pt x="329" y="57"/>
                    </a:lnTo>
                    <a:lnTo>
                      <a:pt x="333" y="54"/>
                    </a:lnTo>
                    <a:lnTo>
                      <a:pt x="340" y="52"/>
                    </a:lnTo>
                    <a:lnTo>
                      <a:pt x="344" y="50"/>
                    </a:lnTo>
                    <a:lnTo>
                      <a:pt x="348" y="49"/>
                    </a:lnTo>
                    <a:lnTo>
                      <a:pt x="353" y="49"/>
                    </a:lnTo>
                    <a:lnTo>
                      <a:pt x="361" y="49"/>
                    </a:lnTo>
                    <a:lnTo>
                      <a:pt x="365" y="50"/>
                    </a:lnTo>
                    <a:lnTo>
                      <a:pt x="370" y="52"/>
                    </a:lnTo>
                    <a:lnTo>
                      <a:pt x="373" y="53"/>
                    </a:lnTo>
                    <a:lnTo>
                      <a:pt x="379" y="58"/>
                    </a:lnTo>
                    <a:lnTo>
                      <a:pt x="383" y="60"/>
                    </a:lnTo>
                    <a:lnTo>
                      <a:pt x="386" y="63"/>
                    </a:lnTo>
                    <a:lnTo>
                      <a:pt x="392" y="70"/>
                    </a:lnTo>
                    <a:lnTo>
                      <a:pt x="396" y="75"/>
                    </a:lnTo>
                    <a:lnTo>
                      <a:pt x="398" y="79"/>
                    </a:lnTo>
                    <a:lnTo>
                      <a:pt x="403" y="89"/>
                    </a:lnTo>
                    <a:lnTo>
                      <a:pt x="404" y="94"/>
                    </a:lnTo>
                    <a:lnTo>
                      <a:pt x="406" y="99"/>
                    </a:lnTo>
                    <a:lnTo>
                      <a:pt x="409" y="108"/>
                    </a:lnTo>
                    <a:lnTo>
                      <a:pt x="410" y="113"/>
                    </a:lnTo>
                    <a:lnTo>
                      <a:pt x="411" y="116"/>
                    </a:lnTo>
                    <a:lnTo>
                      <a:pt x="412" y="123"/>
                    </a:lnTo>
                    <a:lnTo>
                      <a:pt x="412" y="127"/>
                    </a:lnTo>
                    <a:lnTo>
                      <a:pt x="412" y="129"/>
                    </a:lnTo>
                    <a:lnTo>
                      <a:pt x="412" y="137"/>
                    </a:lnTo>
                    <a:lnTo>
                      <a:pt x="411" y="141"/>
                    </a:lnTo>
                    <a:lnTo>
                      <a:pt x="409" y="146"/>
                    </a:lnTo>
                    <a:lnTo>
                      <a:pt x="406" y="154"/>
                    </a:lnTo>
                    <a:lnTo>
                      <a:pt x="404" y="158"/>
                    </a:lnTo>
                    <a:lnTo>
                      <a:pt x="402" y="162"/>
                    </a:lnTo>
                    <a:lnTo>
                      <a:pt x="399" y="166"/>
                    </a:lnTo>
                    <a:lnTo>
                      <a:pt x="393" y="171"/>
                    </a:lnTo>
                    <a:lnTo>
                      <a:pt x="391" y="172"/>
                    </a:lnTo>
                    <a:lnTo>
                      <a:pt x="389" y="173"/>
                    </a:lnTo>
                    <a:lnTo>
                      <a:pt x="386" y="174"/>
                    </a:lnTo>
                    <a:lnTo>
                      <a:pt x="380" y="178"/>
                    </a:lnTo>
                    <a:lnTo>
                      <a:pt x="377" y="179"/>
                    </a:lnTo>
                    <a:lnTo>
                      <a:pt x="373" y="180"/>
                    </a:lnTo>
                    <a:lnTo>
                      <a:pt x="365" y="181"/>
                    </a:lnTo>
                    <a:lnTo>
                      <a:pt x="361" y="181"/>
                    </a:lnTo>
                    <a:lnTo>
                      <a:pt x="358" y="181"/>
                    </a:lnTo>
                    <a:lnTo>
                      <a:pt x="351" y="180"/>
                    </a:lnTo>
                    <a:lnTo>
                      <a:pt x="350" y="180"/>
                    </a:lnTo>
                    <a:lnTo>
                      <a:pt x="348" y="180"/>
                    </a:lnTo>
                    <a:lnTo>
                      <a:pt x="347" y="180"/>
                    </a:lnTo>
                    <a:lnTo>
                      <a:pt x="346" y="180"/>
                    </a:lnTo>
                    <a:lnTo>
                      <a:pt x="346" y="180"/>
                    </a:lnTo>
                    <a:lnTo>
                      <a:pt x="345" y="181"/>
                    </a:lnTo>
                    <a:lnTo>
                      <a:pt x="346" y="181"/>
                    </a:lnTo>
                    <a:lnTo>
                      <a:pt x="348" y="182"/>
                    </a:lnTo>
                    <a:lnTo>
                      <a:pt x="351" y="182"/>
                    </a:lnTo>
                    <a:lnTo>
                      <a:pt x="353" y="184"/>
                    </a:lnTo>
                    <a:lnTo>
                      <a:pt x="355" y="185"/>
                    </a:lnTo>
                    <a:lnTo>
                      <a:pt x="359" y="187"/>
                    </a:lnTo>
                    <a:lnTo>
                      <a:pt x="361" y="188"/>
                    </a:lnTo>
                    <a:lnTo>
                      <a:pt x="363" y="189"/>
                    </a:lnTo>
                    <a:lnTo>
                      <a:pt x="364" y="191"/>
                    </a:lnTo>
                    <a:lnTo>
                      <a:pt x="367" y="195"/>
                    </a:lnTo>
                    <a:lnTo>
                      <a:pt x="370" y="198"/>
                    </a:lnTo>
                    <a:lnTo>
                      <a:pt x="372" y="199"/>
                    </a:lnTo>
                    <a:lnTo>
                      <a:pt x="374" y="203"/>
                    </a:lnTo>
                    <a:lnTo>
                      <a:pt x="378" y="207"/>
                    </a:lnTo>
                    <a:lnTo>
                      <a:pt x="379" y="210"/>
                    </a:lnTo>
                    <a:lnTo>
                      <a:pt x="380" y="212"/>
                    </a:lnTo>
                    <a:lnTo>
                      <a:pt x="380" y="214"/>
                    </a:lnTo>
                    <a:lnTo>
                      <a:pt x="381" y="219"/>
                    </a:lnTo>
                    <a:lnTo>
                      <a:pt x="383" y="223"/>
                    </a:lnTo>
                    <a:lnTo>
                      <a:pt x="383" y="225"/>
                    </a:lnTo>
                    <a:lnTo>
                      <a:pt x="384" y="234"/>
                    </a:lnTo>
                    <a:lnTo>
                      <a:pt x="385" y="240"/>
                    </a:lnTo>
                    <a:lnTo>
                      <a:pt x="384" y="246"/>
                    </a:lnTo>
                    <a:lnTo>
                      <a:pt x="383" y="257"/>
                    </a:lnTo>
                    <a:lnTo>
                      <a:pt x="381" y="261"/>
                    </a:lnTo>
                    <a:lnTo>
                      <a:pt x="380" y="264"/>
                    </a:lnTo>
                    <a:lnTo>
                      <a:pt x="379" y="269"/>
                    </a:lnTo>
                    <a:lnTo>
                      <a:pt x="374" y="275"/>
                    </a:lnTo>
                    <a:lnTo>
                      <a:pt x="372" y="277"/>
                    </a:lnTo>
                    <a:lnTo>
                      <a:pt x="370" y="279"/>
                    </a:lnTo>
                    <a:lnTo>
                      <a:pt x="367" y="282"/>
                    </a:lnTo>
                    <a:lnTo>
                      <a:pt x="363" y="285"/>
                    </a:lnTo>
                    <a:lnTo>
                      <a:pt x="360" y="288"/>
                    </a:lnTo>
                    <a:lnTo>
                      <a:pt x="358" y="290"/>
                    </a:lnTo>
                    <a:lnTo>
                      <a:pt x="355" y="291"/>
                    </a:lnTo>
                    <a:lnTo>
                      <a:pt x="348" y="296"/>
                    </a:lnTo>
                    <a:lnTo>
                      <a:pt x="344" y="297"/>
                    </a:lnTo>
                    <a:lnTo>
                      <a:pt x="339" y="298"/>
                    </a:lnTo>
                    <a:lnTo>
                      <a:pt x="333" y="300"/>
                    </a:lnTo>
                    <a:lnTo>
                      <a:pt x="324" y="301"/>
                    </a:lnTo>
                    <a:lnTo>
                      <a:pt x="319" y="302"/>
                    </a:lnTo>
                    <a:lnTo>
                      <a:pt x="314" y="302"/>
                    </a:lnTo>
                    <a:lnTo>
                      <a:pt x="309" y="301"/>
                    </a:lnTo>
                    <a:lnTo>
                      <a:pt x="300" y="300"/>
                    </a:lnTo>
                    <a:lnTo>
                      <a:pt x="296" y="298"/>
                    </a:lnTo>
                    <a:lnTo>
                      <a:pt x="293" y="297"/>
                    </a:lnTo>
                    <a:lnTo>
                      <a:pt x="289" y="295"/>
                    </a:lnTo>
                    <a:lnTo>
                      <a:pt x="282" y="291"/>
                    </a:lnTo>
                    <a:lnTo>
                      <a:pt x="279" y="288"/>
                    </a:lnTo>
                    <a:lnTo>
                      <a:pt x="275" y="285"/>
                    </a:lnTo>
                    <a:lnTo>
                      <a:pt x="273" y="281"/>
                    </a:lnTo>
                    <a:lnTo>
                      <a:pt x="266" y="272"/>
                    </a:lnTo>
                    <a:lnTo>
                      <a:pt x="263" y="269"/>
                    </a:lnTo>
                    <a:lnTo>
                      <a:pt x="260" y="265"/>
                    </a:lnTo>
                    <a:lnTo>
                      <a:pt x="257" y="262"/>
                    </a:lnTo>
                    <a:lnTo>
                      <a:pt x="255" y="259"/>
                    </a:lnTo>
                    <a:lnTo>
                      <a:pt x="253" y="259"/>
                    </a:lnTo>
                    <a:lnTo>
                      <a:pt x="251" y="261"/>
                    </a:lnTo>
                    <a:lnTo>
                      <a:pt x="251" y="262"/>
                    </a:lnTo>
                    <a:lnTo>
                      <a:pt x="251" y="263"/>
                    </a:lnTo>
                    <a:lnTo>
                      <a:pt x="251" y="264"/>
                    </a:lnTo>
                    <a:lnTo>
                      <a:pt x="251" y="266"/>
                    </a:lnTo>
                    <a:lnTo>
                      <a:pt x="251" y="268"/>
                    </a:lnTo>
                    <a:lnTo>
                      <a:pt x="251" y="274"/>
                    </a:lnTo>
                    <a:lnTo>
                      <a:pt x="250" y="278"/>
                    </a:lnTo>
                    <a:lnTo>
                      <a:pt x="249" y="282"/>
                    </a:lnTo>
                    <a:lnTo>
                      <a:pt x="247" y="285"/>
                    </a:lnTo>
                    <a:lnTo>
                      <a:pt x="241" y="293"/>
                    </a:lnTo>
                    <a:lnTo>
                      <a:pt x="236" y="296"/>
                    </a:lnTo>
                    <a:lnTo>
                      <a:pt x="231" y="300"/>
                    </a:lnTo>
                    <a:lnTo>
                      <a:pt x="227" y="303"/>
                    </a:lnTo>
                    <a:lnTo>
                      <a:pt x="216" y="308"/>
                    </a:lnTo>
                    <a:lnTo>
                      <a:pt x="211" y="309"/>
                    </a:lnTo>
                    <a:lnTo>
                      <a:pt x="207" y="311"/>
                    </a:lnTo>
                    <a:lnTo>
                      <a:pt x="195" y="315"/>
                    </a:lnTo>
                    <a:lnTo>
                      <a:pt x="188" y="316"/>
                    </a:lnTo>
                    <a:lnTo>
                      <a:pt x="181" y="317"/>
                    </a:lnTo>
                    <a:lnTo>
                      <a:pt x="166" y="317"/>
                    </a:lnTo>
                    <a:lnTo>
                      <a:pt x="162" y="317"/>
                    </a:lnTo>
                    <a:lnTo>
                      <a:pt x="156" y="316"/>
                    </a:lnTo>
                    <a:lnTo>
                      <a:pt x="150" y="315"/>
                    </a:lnTo>
                    <a:lnTo>
                      <a:pt x="140" y="310"/>
                    </a:lnTo>
                    <a:lnTo>
                      <a:pt x="136" y="309"/>
                    </a:lnTo>
                    <a:lnTo>
                      <a:pt x="132" y="306"/>
                    </a:lnTo>
                    <a:lnTo>
                      <a:pt x="129" y="303"/>
                    </a:lnTo>
                    <a:lnTo>
                      <a:pt x="121" y="297"/>
                    </a:lnTo>
                    <a:lnTo>
                      <a:pt x="119" y="295"/>
                    </a:lnTo>
                    <a:lnTo>
                      <a:pt x="117" y="291"/>
                    </a:lnTo>
                    <a:lnTo>
                      <a:pt x="116" y="287"/>
                    </a:lnTo>
                    <a:lnTo>
                      <a:pt x="114" y="282"/>
                    </a:lnTo>
                    <a:lnTo>
                      <a:pt x="112" y="272"/>
                    </a:lnTo>
                    <a:lnTo>
                      <a:pt x="112" y="268"/>
                    </a:lnTo>
                    <a:lnTo>
                      <a:pt x="112" y="264"/>
                    </a:lnTo>
                    <a:lnTo>
                      <a:pt x="112" y="259"/>
                    </a:lnTo>
                    <a:lnTo>
                      <a:pt x="111" y="257"/>
                    </a:lnTo>
                    <a:lnTo>
                      <a:pt x="111" y="253"/>
                    </a:lnTo>
                    <a:lnTo>
                      <a:pt x="110" y="252"/>
                    </a:lnTo>
                    <a:lnTo>
                      <a:pt x="107" y="253"/>
                    </a:lnTo>
                    <a:lnTo>
                      <a:pt x="106" y="253"/>
                    </a:lnTo>
                    <a:lnTo>
                      <a:pt x="106" y="255"/>
                    </a:lnTo>
                    <a:lnTo>
                      <a:pt x="105" y="256"/>
                    </a:lnTo>
                    <a:lnTo>
                      <a:pt x="104" y="257"/>
                    </a:lnTo>
                    <a:lnTo>
                      <a:pt x="103" y="258"/>
                    </a:lnTo>
                    <a:lnTo>
                      <a:pt x="103" y="259"/>
                    </a:lnTo>
                    <a:lnTo>
                      <a:pt x="98" y="262"/>
                    </a:lnTo>
                    <a:lnTo>
                      <a:pt x="94" y="263"/>
                    </a:lnTo>
                    <a:lnTo>
                      <a:pt x="91" y="264"/>
                    </a:lnTo>
                    <a:lnTo>
                      <a:pt x="87" y="264"/>
                    </a:lnTo>
                    <a:lnTo>
                      <a:pt x="78" y="265"/>
                    </a:lnTo>
                    <a:lnTo>
                      <a:pt x="72" y="265"/>
                    </a:lnTo>
                    <a:lnTo>
                      <a:pt x="65" y="265"/>
                    </a:lnTo>
                    <a:lnTo>
                      <a:pt x="59" y="265"/>
                    </a:lnTo>
                    <a:lnTo>
                      <a:pt x="48" y="263"/>
                    </a:lnTo>
                    <a:lnTo>
                      <a:pt x="43" y="262"/>
                    </a:lnTo>
                    <a:lnTo>
                      <a:pt x="38" y="258"/>
                    </a:lnTo>
                    <a:lnTo>
                      <a:pt x="34" y="256"/>
                    </a:lnTo>
                    <a:lnTo>
                      <a:pt x="26" y="250"/>
                    </a:lnTo>
                    <a:lnTo>
                      <a:pt x="22" y="248"/>
                    </a:lnTo>
                    <a:lnTo>
                      <a:pt x="20" y="244"/>
                    </a:lnTo>
                    <a:lnTo>
                      <a:pt x="14" y="234"/>
                    </a:lnTo>
                    <a:lnTo>
                      <a:pt x="10" y="230"/>
                    </a:lnTo>
                    <a:lnTo>
                      <a:pt x="8" y="223"/>
                    </a:lnTo>
                    <a:lnTo>
                      <a:pt x="3" y="211"/>
                    </a:lnTo>
                    <a:lnTo>
                      <a:pt x="2" y="205"/>
                    </a:lnTo>
                    <a:lnTo>
                      <a:pt x="1" y="199"/>
                    </a:lnTo>
                    <a:lnTo>
                      <a:pt x="0" y="193"/>
                    </a:lnTo>
                    <a:lnTo>
                      <a:pt x="1" y="184"/>
                    </a:lnTo>
                    <a:lnTo>
                      <a:pt x="1" y="180"/>
                    </a:lnTo>
                    <a:lnTo>
                      <a:pt x="2" y="176"/>
                    </a:lnTo>
                    <a:lnTo>
                      <a:pt x="3" y="172"/>
                    </a:lnTo>
                    <a:lnTo>
                      <a:pt x="8" y="163"/>
                    </a:lnTo>
                    <a:lnTo>
                      <a:pt x="10" y="160"/>
                    </a:lnTo>
                    <a:lnTo>
                      <a:pt x="14" y="155"/>
                    </a:lnTo>
                    <a:lnTo>
                      <a:pt x="19" y="150"/>
                    </a:lnTo>
                    <a:lnTo>
                      <a:pt x="21" y="148"/>
                    </a:lnTo>
                    <a:lnTo>
                      <a:pt x="23" y="147"/>
                    </a:lnTo>
                    <a:lnTo>
                      <a:pt x="26" y="146"/>
                    </a:lnTo>
                    <a:lnTo>
                      <a:pt x="32" y="143"/>
                    </a:lnTo>
                    <a:lnTo>
                      <a:pt x="34" y="143"/>
                    </a:lnTo>
                    <a:lnTo>
                      <a:pt x="36" y="142"/>
                    </a:lnTo>
                    <a:lnTo>
                      <a:pt x="39" y="142"/>
                    </a:lnTo>
                    <a:lnTo>
                      <a:pt x="40" y="141"/>
                    </a:lnTo>
                    <a:lnTo>
                      <a:pt x="41" y="140"/>
                    </a:lnTo>
                    <a:close/>
                  </a:path>
                </a:pathLst>
              </a:custGeom>
              <a:solidFill>
                <a:srgbClr val="DBDBFF"/>
              </a:solidFill>
              <a:ln w="3175">
                <a:solidFill>
                  <a:srgbClr val="0000FF"/>
                </a:solidFill>
                <a:prstDash val="solid"/>
                <a:round/>
                <a:headEnd/>
                <a:tailEnd/>
              </a:ln>
            </p:spPr>
            <p:txBody>
              <a:bodyPr/>
              <a:lstStyle/>
              <a:p>
                <a:endParaRPr lang="ru-RU"/>
              </a:p>
            </p:txBody>
          </p:sp>
          <p:sp>
            <p:nvSpPr>
              <p:cNvPr id="36881" name="Rectangle 17"/>
              <p:cNvSpPr>
                <a:spLocks noChangeArrowheads="1"/>
              </p:cNvSpPr>
              <p:nvPr/>
            </p:nvSpPr>
            <p:spPr bwMode="auto">
              <a:xfrm>
                <a:off x="241" y="2638"/>
                <a:ext cx="279" cy="255"/>
              </a:xfrm>
              <a:prstGeom prst="rect">
                <a:avLst/>
              </a:prstGeom>
              <a:solidFill>
                <a:srgbClr val="FFFFFF"/>
              </a:solidFill>
              <a:ln w="3175">
                <a:solidFill>
                  <a:srgbClr val="000000"/>
                </a:solidFill>
                <a:miter lim="800000"/>
                <a:headEnd/>
                <a:tailEnd/>
              </a:ln>
            </p:spPr>
            <p:txBody>
              <a:bodyPr/>
              <a:lstStyle/>
              <a:p>
                <a:endParaRPr lang="ru-RU"/>
              </a:p>
            </p:txBody>
          </p:sp>
          <p:sp>
            <p:nvSpPr>
              <p:cNvPr id="36882" name="Freeform 18"/>
              <p:cNvSpPr>
                <a:spLocks/>
              </p:cNvSpPr>
              <p:nvPr/>
            </p:nvSpPr>
            <p:spPr bwMode="auto">
              <a:xfrm>
                <a:off x="268" y="2667"/>
                <a:ext cx="223" cy="195"/>
              </a:xfrm>
              <a:custGeom>
                <a:avLst/>
                <a:gdLst/>
                <a:ahLst/>
                <a:cxnLst>
                  <a:cxn ang="0">
                    <a:pos x="0" y="17"/>
                  </a:cxn>
                  <a:cxn ang="0">
                    <a:pos x="15" y="0"/>
                  </a:cxn>
                  <a:cxn ang="0">
                    <a:pos x="209" y="0"/>
                  </a:cxn>
                  <a:cxn ang="0">
                    <a:pos x="223" y="17"/>
                  </a:cxn>
                  <a:cxn ang="0">
                    <a:pos x="223" y="177"/>
                  </a:cxn>
                  <a:cxn ang="0">
                    <a:pos x="209" y="195"/>
                  </a:cxn>
                  <a:cxn ang="0">
                    <a:pos x="15" y="195"/>
                  </a:cxn>
                  <a:cxn ang="0">
                    <a:pos x="0" y="177"/>
                  </a:cxn>
                  <a:cxn ang="0">
                    <a:pos x="0" y="17"/>
                  </a:cxn>
                </a:cxnLst>
                <a:rect l="0" t="0" r="r" b="b"/>
                <a:pathLst>
                  <a:path w="223" h="195">
                    <a:moveTo>
                      <a:pt x="0" y="17"/>
                    </a:moveTo>
                    <a:lnTo>
                      <a:pt x="15" y="0"/>
                    </a:lnTo>
                    <a:lnTo>
                      <a:pt x="209" y="0"/>
                    </a:lnTo>
                    <a:lnTo>
                      <a:pt x="223" y="17"/>
                    </a:lnTo>
                    <a:lnTo>
                      <a:pt x="223" y="177"/>
                    </a:lnTo>
                    <a:lnTo>
                      <a:pt x="209" y="195"/>
                    </a:lnTo>
                    <a:lnTo>
                      <a:pt x="15" y="195"/>
                    </a:lnTo>
                    <a:lnTo>
                      <a:pt x="0" y="177"/>
                    </a:lnTo>
                    <a:lnTo>
                      <a:pt x="0" y="17"/>
                    </a:lnTo>
                    <a:close/>
                  </a:path>
                </a:pathLst>
              </a:custGeom>
              <a:solidFill>
                <a:srgbClr val="FFFFFF"/>
              </a:solidFill>
              <a:ln w="3175">
                <a:solidFill>
                  <a:srgbClr val="000000"/>
                </a:solidFill>
                <a:prstDash val="solid"/>
                <a:round/>
                <a:headEnd/>
                <a:tailEnd/>
              </a:ln>
            </p:spPr>
            <p:txBody>
              <a:bodyPr/>
              <a:lstStyle/>
              <a:p>
                <a:endParaRPr lang="ru-RU"/>
              </a:p>
            </p:txBody>
          </p:sp>
          <p:sp>
            <p:nvSpPr>
              <p:cNvPr id="36883" name="Rectangle 19"/>
              <p:cNvSpPr>
                <a:spLocks noChangeArrowheads="1"/>
              </p:cNvSpPr>
              <p:nvPr/>
            </p:nvSpPr>
            <p:spPr bwMode="auto">
              <a:xfrm>
                <a:off x="192" y="2911"/>
                <a:ext cx="376" cy="54"/>
              </a:xfrm>
              <a:prstGeom prst="rect">
                <a:avLst/>
              </a:prstGeom>
              <a:solidFill>
                <a:srgbClr val="FFFFFF"/>
              </a:solidFill>
              <a:ln w="3175">
                <a:solidFill>
                  <a:srgbClr val="000000"/>
                </a:solidFill>
                <a:miter lim="800000"/>
                <a:headEnd/>
                <a:tailEnd/>
              </a:ln>
            </p:spPr>
            <p:txBody>
              <a:bodyPr/>
              <a:lstStyle/>
              <a:p>
                <a:endParaRPr lang="ru-RU"/>
              </a:p>
            </p:txBody>
          </p:sp>
          <p:sp>
            <p:nvSpPr>
              <p:cNvPr id="36884" name="Freeform 20"/>
              <p:cNvSpPr>
                <a:spLocks/>
              </p:cNvSpPr>
              <p:nvPr/>
            </p:nvSpPr>
            <p:spPr bwMode="auto">
              <a:xfrm>
                <a:off x="157" y="2965"/>
                <a:ext cx="447" cy="37"/>
              </a:xfrm>
              <a:custGeom>
                <a:avLst/>
                <a:gdLst/>
                <a:ahLst/>
                <a:cxnLst>
                  <a:cxn ang="0">
                    <a:pos x="0" y="37"/>
                  </a:cxn>
                  <a:cxn ang="0">
                    <a:pos x="447" y="37"/>
                  </a:cxn>
                  <a:cxn ang="0">
                    <a:pos x="411" y="0"/>
                  </a:cxn>
                  <a:cxn ang="0">
                    <a:pos x="35" y="0"/>
                  </a:cxn>
                  <a:cxn ang="0">
                    <a:pos x="0" y="37"/>
                  </a:cxn>
                </a:cxnLst>
                <a:rect l="0" t="0" r="r" b="b"/>
                <a:pathLst>
                  <a:path w="447" h="37">
                    <a:moveTo>
                      <a:pt x="0" y="37"/>
                    </a:moveTo>
                    <a:lnTo>
                      <a:pt x="447" y="37"/>
                    </a:lnTo>
                    <a:lnTo>
                      <a:pt x="411" y="0"/>
                    </a:lnTo>
                    <a:lnTo>
                      <a:pt x="35" y="0"/>
                    </a:lnTo>
                    <a:lnTo>
                      <a:pt x="0" y="37"/>
                    </a:lnTo>
                    <a:close/>
                  </a:path>
                </a:pathLst>
              </a:custGeom>
              <a:solidFill>
                <a:srgbClr val="FFFFFF"/>
              </a:solidFill>
              <a:ln w="3175">
                <a:solidFill>
                  <a:srgbClr val="000000"/>
                </a:solidFill>
                <a:prstDash val="solid"/>
                <a:round/>
                <a:headEnd/>
                <a:tailEnd/>
              </a:ln>
            </p:spPr>
            <p:txBody>
              <a:bodyPr/>
              <a:lstStyle/>
              <a:p>
                <a:endParaRPr lang="ru-RU"/>
              </a:p>
            </p:txBody>
          </p:sp>
          <p:sp>
            <p:nvSpPr>
              <p:cNvPr id="36885" name="Rectangle 21"/>
              <p:cNvSpPr>
                <a:spLocks noChangeArrowheads="1"/>
              </p:cNvSpPr>
              <p:nvPr/>
            </p:nvSpPr>
            <p:spPr bwMode="auto">
              <a:xfrm>
                <a:off x="2306" y="2638"/>
                <a:ext cx="279" cy="255"/>
              </a:xfrm>
              <a:prstGeom prst="rect">
                <a:avLst/>
              </a:prstGeom>
              <a:solidFill>
                <a:srgbClr val="FFFFFF"/>
              </a:solidFill>
              <a:ln w="3175">
                <a:solidFill>
                  <a:srgbClr val="000000"/>
                </a:solidFill>
                <a:miter lim="800000"/>
                <a:headEnd/>
                <a:tailEnd/>
              </a:ln>
            </p:spPr>
            <p:txBody>
              <a:bodyPr/>
              <a:lstStyle/>
              <a:p>
                <a:endParaRPr lang="ru-RU"/>
              </a:p>
            </p:txBody>
          </p:sp>
          <p:sp>
            <p:nvSpPr>
              <p:cNvPr id="36886" name="Freeform 22"/>
              <p:cNvSpPr>
                <a:spLocks/>
              </p:cNvSpPr>
              <p:nvPr/>
            </p:nvSpPr>
            <p:spPr bwMode="auto">
              <a:xfrm>
                <a:off x="2335" y="2667"/>
                <a:ext cx="223" cy="195"/>
              </a:xfrm>
              <a:custGeom>
                <a:avLst/>
                <a:gdLst/>
                <a:ahLst/>
                <a:cxnLst>
                  <a:cxn ang="0">
                    <a:pos x="0" y="17"/>
                  </a:cxn>
                  <a:cxn ang="0">
                    <a:pos x="14" y="0"/>
                  </a:cxn>
                  <a:cxn ang="0">
                    <a:pos x="208" y="0"/>
                  </a:cxn>
                  <a:cxn ang="0">
                    <a:pos x="223" y="17"/>
                  </a:cxn>
                  <a:cxn ang="0">
                    <a:pos x="223" y="177"/>
                  </a:cxn>
                  <a:cxn ang="0">
                    <a:pos x="208" y="195"/>
                  </a:cxn>
                  <a:cxn ang="0">
                    <a:pos x="14" y="195"/>
                  </a:cxn>
                  <a:cxn ang="0">
                    <a:pos x="0" y="177"/>
                  </a:cxn>
                  <a:cxn ang="0">
                    <a:pos x="0" y="17"/>
                  </a:cxn>
                </a:cxnLst>
                <a:rect l="0" t="0" r="r" b="b"/>
                <a:pathLst>
                  <a:path w="223" h="195">
                    <a:moveTo>
                      <a:pt x="0" y="17"/>
                    </a:moveTo>
                    <a:lnTo>
                      <a:pt x="14" y="0"/>
                    </a:lnTo>
                    <a:lnTo>
                      <a:pt x="208" y="0"/>
                    </a:lnTo>
                    <a:lnTo>
                      <a:pt x="223" y="17"/>
                    </a:lnTo>
                    <a:lnTo>
                      <a:pt x="223" y="177"/>
                    </a:lnTo>
                    <a:lnTo>
                      <a:pt x="208" y="195"/>
                    </a:lnTo>
                    <a:lnTo>
                      <a:pt x="14" y="195"/>
                    </a:lnTo>
                    <a:lnTo>
                      <a:pt x="0" y="177"/>
                    </a:lnTo>
                    <a:lnTo>
                      <a:pt x="0" y="17"/>
                    </a:lnTo>
                    <a:close/>
                  </a:path>
                </a:pathLst>
              </a:custGeom>
              <a:solidFill>
                <a:srgbClr val="FFFFFF"/>
              </a:solidFill>
              <a:ln w="3175">
                <a:solidFill>
                  <a:srgbClr val="000000"/>
                </a:solidFill>
                <a:prstDash val="solid"/>
                <a:round/>
                <a:headEnd/>
                <a:tailEnd/>
              </a:ln>
            </p:spPr>
            <p:txBody>
              <a:bodyPr/>
              <a:lstStyle/>
              <a:p>
                <a:endParaRPr lang="ru-RU"/>
              </a:p>
            </p:txBody>
          </p:sp>
          <p:sp>
            <p:nvSpPr>
              <p:cNvPr id="36887" name="Rectangle 23"/>
              <p:cNvSpPr>
                <a:spLocks noChangeArrowheads="1"/>
              </p:cNvSpPr>
              <p:nvPr/>
            </p:nvSpPr>
            <p:spPr bwMode="auto">
              <a:xfrm>
                <a:off x="2258" y="2911"/>
                <a:ext cx="376" cy="54"/>
              </a:xfrm>
              <a:prstGeom prst="rect">
                <a:avLst/>
              </a:prstGeom>
              <a:solidFill>
                <a:srgbClr val="FFFFFF"/>
              </a:solidFill>
              <a:ln w="3175">
                <a:solidFill>
                  <a:srgbClr val="000000"/>
                </a:solidFill>
                <a:miter lim="800000"/>
                <a:headEnd/>
                <a:tailEnd/>
              </a:ln>
            </p:spPr>
            <p:txBody>
              <a:bodyPr/>
              <a:lstStyle/>
              <a:p>
                <a:endParaRPr lang="ru-RU"/>
              </a:p>
            </p:txBody>
          </p:sp>
          <p:sp>
            <p:nvSpPr>
              <p:cNvPr id="36888" name="Freeform 24"/>
              <p:cNvSpPr>
                <a:spLocks/>
              </p:cNvSpPr>
              <p:nvPr/>
            </p:nvSpPr>
            <p:spPr bwMode="auto">
              <a:xfrm>
                <a:off x="2222" y="2965"/>
                <a:ext cx="447" cy="37"/>
              </a:xfrm>
              <a:custGeom>
                <a:avLst/>
                <a:gdLst/>
                <a:ahLst/>
                <a:cxnLst>
                  <a:cxn ang="0">
                    <a:pos x="0" y="37"/>
                  </a:cxn>
                  <a:cxn ang="0">
                    <a:pos x="447" y="37"/>
                  </a:cxn>
                  <a:cxn ang="0">
                    <a:pos x="412" y="0"/>
                  </a:cxn>
                  <a:cxn ang="0">
                    <a:pos x="36" y="0"/>
                  </a:cxn>
                  <a:cxn ang="0">
                    <a:pos x="0" y="37"/>
                  </a:cxn>
                </a:cxnLst>
                <a:rect l="0" t="0" r="r" b="b"/>
                <a:pathLst>
                  <a:path w="447" h="37">
                    <a:moveTo>
                      <a:pt x="0" y="37"/>
                    </a:moveTo>
                    <a:lnTo>
                      <a:pt x="447" y="37"/>
                    </a:lnTo>
                    <a:lnTo>
                      <a:pt x="412" y="0"/>
                    </a:lnTo>
                    <a:lnTo>
                      <a:pt x="36" y="0"/>
                    </a:lnTo>
                    <a:lnTo>
                      <a:pt x="0" y="37"/>
                    </a:lnTo>
                    <a:close/>
                  </a:path>
                </a:pathLst>
              </a:custGeom>
              <a:solidFill>
                <a:srgbClr val="FFFFFF"/>
              </a:solidFill>
              <a:ln w="3175">
                <a:solidFill>
                  <a:srgbClr val="000000"/>
                </a:solidFill>
                <a:prstDash val="solid"/>
                <a:round/>
                <a:headEnd/>
                <a:tailEnd/>
              </a:ln>
            </p:spPr>
            <p:txBody>
              <a:bodyPr/>
              <a:lstStyle/>
              <a:p>
                <a:endParaRPr lang="ru-RU"/>
              </a:p>
            </p:txBody>
          </p:sp>
          <p:sp>
            <p:nvSpPr>
              <p:cNvPr id="36889" name="Freeform 25"/>
              <p:cNvSpPr>
                <a:spLocks/>
              </p:cNvSpPr>
              <p:nvPr/>
            </p:nvSpPr>
            <p:spPr bwMode="auto">
              <a:xfrm>
                <a:off x="1204" y="2619"/>
                <a:ext cx="412" cy="318"/>
              </a:xfrm>
              <a:custGeom>
                <a:avLst/>
                <a:gdLst/>
                <a:ahLst/>
                <a:cxnLst>
                  <a:cxn ang="0">
                    <a:pos x="37" y="132"/>
                  </a:cxn>
                  <a:cxn ang="0">
                    <a:pos x="27" y="116"/>
                  </a:cxn>
                  <a:cxn ang="0">
                    <a:pos x="24" y="89"/>
                  </a:cxn>
                  <a:cxn ang="0">
                    <a:pos x="31" y="57"/>
                  </a:cxn>
                  <a:cxn ang="0">
                    <a:pos x="50" y="36"/>
                  </a:cxn>
                  <a:cxn ang="0">
                    <a:pos x="83" y="24"/>
                  </a:cxn>
                  <a:cxn ang="0">
                    <a:pos x="118" y="30"/>
                  </a:cxn>
                  <a:cxn ang="0">
                    <a:pos x="143" y="39"/>
                  </a:cxn>
                  <a:cxn ang="0">
                    <a:pos x="155" y="52"/>
                  </a:cxn>
                  <a:cxn ang="0">
                    <a:pos x="159" y="59"/>
                  </a:cxn>
                  <a:cxn ang="0">
                    <a:pos x="163" y="49"/>
                  </a:cxn>
                  <a:cxn ang="0">
                    <a:pos x="170" y="22"/>
                  </a:cxn>
                  <a:cxn ang="0">
                    <a:pos x="196" y="4"/>
                  </a:cxn>
                  <a:cxn ang="0">
                    <a:pos x="223" y="0"/>
                  </a:cxn>
                  <a:cxn ang="0">
                    <a:pos x="252" y="4"/>
                  </a:cxn>
                  <a:cxn ang="0">
                    <a:pos x="276" y="22"/>
                  </a:cxn>
                  <a:cxn ang="0">
                    <a:pos x="299" y="45"/>
                  </a:cxn>
                  <a:cxn ang="0">
                    <a:pos x="304" y="65"/>
                  </a:cxn>
                  <a:cxn ang="0">
                    <a:pos x="304" y="78"/>
                  </a:cxn>
                  <a:cxn ang="0">
                    <a:pos x="307" y="84"/>
                  </a:cxn>
                  <a:cxn ang="0">
                    <a:pos x="324" y="62"/>
                  </a:cxn>
                  <a:cxn ang="0">
                    <a:pos x="344" y="50"/>
                  </a:cxn>
                  <a:cxn ang="0">
                    <a:pos x="369" y="52"/>
                  </a:cxn>
                  <a:cxn ang="0">
                    <a:pos x="391" y="70"/>
                  </a:cxn>
                  <a:cxn ang="0">
                    <a:pos x="405" y="99"/>
                  </a:cxn>
                  <a:cxn ang="0">
                    <a:pos x="412" y="127"/>
                  </a:cxn>
                  <a:cxn ang="0">
                    <a:pos x="405" y="154"/>
                  </a:cxn>
                  <a:cxn ang="0">
                    <a:pos x="391" y="172"/>
                  </a:cxn>
                  <a:cxn ang="0">
                    <a:pos x="372" y="180"/>
                  </a:cxn>
                  <a:cxn ang="0">
                    <a:pos x="350" y="180"/>
                  </a:cxn>
                  <a:cxn ang="0">
                    <a:pos x="345" y="181"/>
                  </a:cxn>
                  <a:cxn ang="0">
                    <a:pos x="354" y="184"/>
                  </a:cxn>
                  <a:cxn ang="0">
                    <a:pos x="366" y="194"/>
                  </a:cxn>
                  <a:cxn ang="0">
                    <a:pos x="378" y="209"/>
                  </a:cxn>
                  <a:cxn ang="0">
                    <a:pos x="383" y="225"/>
                  </a:cxn>
                  <a:cxn ang="0">
                    <a:pos x="382" y="261"/>
                  </a:cxn>
                  <a:cxn ang="0">
                    <a:pos x="369" y="280"/>
                  </a:cxn>
                  <a:cxn ang="0">
                    <a:pos x="354" y="292"/>
                  </a:cxn>
                  <a:cxn ang="0">
                    <a:pos x="322" y="301"/>
                  </a:cxn>
                  <a:cxn ang="0">
                    <a:pos x="295" y="299"/>
                  </a:cxn>
                  <a:cxn ang="0">
                    <a:pos x="275" y="286"/>
                  </a:cxn>
                  <a:cxn ang="0">
                    <a:pos x="256" y="262"/>
                  </a:cxn>
                  <a:cxn ang="0">
                    <a:pos x="250" y="263"/>
                  </a:cxn>
                  <a:cxn ang="0">
                    <a:pos x="250" y="279"/>
                  </a:cxn>
                  <a:cxn ang="0">
                    <a:pos x="230" y="300"/>
                  </a:cxn>
                  <a:cxn ang="0">
                    <a:pos x="194" y="314"/>
                  </a:cxn>
                  <a:cxn ang="0">
                    <a:pos x="155" y="316"/>
                  </a:cxn>
                  <a:cxn ang="0">
                    <a:pos x="128" y="303"/>
                  </a:cxn>
                  <a:cxn ang="0">
                    <a:pos x="113" y="282"/>
                  </a:cxn>
                  <a:cxn ang="0">
                    <a:pos x="111" y="256"/>
                  </a:cxn>
                  <a:cxn ang="0">
                    <a:pos x="105" y="255"/>
                  </a:cxn>
                  <a:cxn ang="0">
                    <a:pos x="97" y="262"/>
                  </a:cxn>
                  <a:cxn ang="0">
                    <a:pos x="71" y="265"/>
                  </a:cxn>
                  <a:cxn ang="0">
                    <a:pos x="38" y="258"/>
                  </a:cxn>
                  <a:cxn ang="0">
                    <a:pos x="13" y="235"/>
                  </a:cxn>
                  <a:cxn ang="0">
                    <a:pos x="0" y="199"/>
                  </a:cxn>
                  <a:cxn ang="0">
                    <a:pos x="3" y="172"/>
                  </a:cxn>
                  <a:cxn ang="0">
                    <a:pos x="21" y="148"/>
                  </a:cxn>
                  <a:cxn ang="0">
                    <a:pos x="35" y="142"/>
                  </a:cxn>
                </a:cxnLst>
                <a:rect l="0" t="0" r="r" b="b"/>
                <a:pathLst>
                  <a:path w="412" h="318">
                    <a:moveTo>
                      <a:pt x="40" y="140"/>
                    </a:moveTo>
                    <a:lnTo>
                      <a:pt x="40" y="138"/>
                    </a:lnTo>
                    <a:lnTo>
                      <a:pt x="40" y="136"/>
                    </a:lnTo>
                    <a:lnTo>
                      <a:pt x="39" y="134"/>
                    </a:lnTo>
                    <a:lnTo>
                      <a:pt x="37" y="132"/>
                    </a:lnTo>
                    <a:lnTo>
                      <a:pt x="35" y="129"/>
                    </a:lnTo>
                    <a:lnTo>
                      <a:pt x="32" y="126"/>
                    </a:lnTo>
                    <a:lnTo>
                      <a:pt x="31" y="125"/>
                    </a:lnTo>
                    <a:lnTo>
                      <a:pt x="29" y="122"/>
                    </a:lnTo>
                    <a:lnTo>
                      <a:pt x="27" y="116"/>
                    </a:lnTo>
                    <a:lnTo>
                      <a:pt x="25" y="112"/>
                    </a:lnTo>
                    <a:lnTo>
                      <a:pt x="25" y="107"/>
                    </a:lnTo>
                    <a:lnTo>
                      <a:pt x="24" y="97"/>
                    </a:lnTo>
                    <a:lnTo>
                      <a:pt x="24" y="93"/>
                    </a:lnTo>
                    <a:lnTo>
                      <a:pt x="24" y="89"/>
                    </a:lnTo>
                    <a:lnTo>
                      <a:pt x="24" y="80"/>
                    </a:lnTo>
                    <a:lnTo>
                      <a:pt x="25" y="75"/>
                    </a:lnTo>
                    <a:lnTo>
                      <a:pt x="26" y="70"/>
                    </a:lnTo>
                    <a:lnTo>
                      <a:pt x="27" y="65"/>
                    </a:lnTo>
                    <a:lnTo>
                      <a:pt x="31" y="57"/>
                    </a:lnTo>
                    <a:lnTo>
                      <a:pt x="33" y="54"/>
                    </a:lnTo>
                    <a:lnTo>
                      <a:pt x="35" y="50"/>
                    </a:lnTo>
                    <a:lnTo>
                      <a:pt x="38" y="46"/>
                    </a:lnTo>
                    <a:lnTo>
                      <a:pt x="45" y="39"/>
                    </a:lnTo>
                    <a:lnTo>
                      <a:pt x="50" y="36"/>
                    </a:lnTo>
                    <a:lnTo>
                      <a:pt x="54" y="32"/>
                    </a:lnTo>
                    <a:lnTo>
                      <a:pt x="64" y="27"/>
                    </a:lnTo>
                    <a:lnTo>
                      <a:pt x="67" y="26"/>
                    </a:lnTo>
                    <a:lnTo>
                      <a:pt x="72" y="25"/>
                    </a:lnTo>
                    <a:lnTo>
                      <a:pt x="83" y="24"/>
                    </a:lnTo>
                    <a:lnTo>
                      <a:pt x="89" y="24"/>
                    </a:lnTo>
                    <a:lnTo>
                      <a:pt x="94" y="24"/>
                    </a:lnTo>
                    <a:lnTo>
                      <a:pt x="106" y="26"/>
                    </a:lnTo>
                    <a:lnTo>
                      <a:pt x="112" y="27"/>
                    </a:lnTo>
                    <a:lnTo>
                      <a:pt x="118" y="30"/>
                    </a:lnTo>
                    <a:lnTo>
                      <a:pt x="128" y="33"/>
                    </a:lnTo>
                    <a:lnTo>
                      <a:pt x="130" y="35"/>
                    </a:lnTo>
                    <a:lnTo>
                      <a:pt x="133" y="36"/>
                    </a:lnTo>
                    <a:lnTo>
                      <a:pt x="139" y="38"/>
                    </a:lnTo>
                    <a:lnTo>
                      <a:pt x="143" y="39"/>
                    </a:lnTo>
                    <a:lnTo>
                      <a:pt x="145" y="40"/>
                    </a:lnTo>
                    <a:lnTo>
                      <a:pt x="148" y="43"/>
                    </a:lnTo>
                    <a:lnTo>
                      <a:pt x="151" y="45"/>
                    </a:lnTo>
                    <a:lnTo>
                      <a:pt x="155" y="50"/>
                    </a:lnTo>
                    <a:lnTo>
                      <a:pt x="155" y="52"/>
                    </a:lnTo>
                    <a:lnTo>
                      <a:pt x="156" y="54"/>
                    </a:lnTo>
                    <a:lnTo>
                      <a:pt x="157" y="56"/>
                    </a:lnTo>
                    <a:lnTo>
                      <a:pt x="158" y="57"/>
                    </a:lnTo>
                    <a:lnTo>
                      <a:pt x="158" y="59"/>
                    </a:lnTo>
                    <a:lnTo>
                      <a:pt x="159" y="59"/>
                    </a:lnTo>
                    <a:lnTo>
                      <a:pt x="161" y="61"/>
                    </a:lnTo>
                    <a:lnTo>
                      <a:pt x="162" y="59"/>
                    </a:lnTo>
                    <a:lnTo>
                      <a:pt x="162" y="57"/>
                    </a:lnTo>
                    <a:lnTo>
                      <a:pt x="163" y="54"/>
                    </a:lnTo>
                    <a:lnTo>
                      <a:pt x="163" y="49"/>
                    </a:lnTo>
                    <a:lnTo>
                      <a:pt x="164" y="45"/>
                    </a:lnTo>
                    <a:lnTo>
                      <a:pt x="164" y="40"/>
                    </a:lnTo>
                    <a:lnTo>
                      <a:pt x="167" y="31"/>
                    </a:lnTo>
                    <a:lnTo>
                      <a:pt x="168" y="26"/>
                    </a:lnTo>
                    <a:lnTo>
                      <a:pt x="170" y="22"/>
                    </a:lnTo>
                    <a:lnTo>
                      <a:pt x="172" y="18"/>
                    </a:lnTo>
                    <a:lnTo>
                      <a:pt x="176" y="16"/>
                    </a:lnTo>
                    <a:lnTo>
                      <a:pt x="184" y="10"/>
                    </a:lnTo>
                    <a:lnTo>
                      <a:pt x="190" y="6"/>
                    </a:lnTo>
                    <a:lnTo>
                      <a:pt x="196" y="4"/>
                    </a:lnTo>
                    <a:lnTo>
                      <a:pt x="202" y="1"/>
                    </a:lnTo>
                    <a:lnTo>
                      <a:pt x="211" y="0"/>
                    </a:lnTo>
                    <a:lnTo>
                      <a:pt x="216" y="0"/>
                    </a:lnTo>
                    <a:lnTo>
                      <a:pt x="220" y="0"/>
                    </a:lnTo>
                    <a:lnTo>
                      <a:pt x="223" y="0"/>
                    </a:lnTo>
                    <a:lnTo>
                      <a:pt x="233" y="0"/>
                    </a:lnTo>
                    <a:lnTo>
                      <a:pt x="237" y="1"/>
                    </a:lnTo>
                    <a:lnTo>
                      <a:pt x="242" y="1"/>
                    </a:lnTo>
                    <a:lnTo>
                      <a:pt x="247" y="3"/>
                    </a:lnTo>
                    <a:lnTo>
                      <a:pt x="252" y="4"/>
                    </a:lnTo>
                    <a:lnTo>
                      <a:pt x="260" y="7"/>
                    </a:lnTo>
                    <a:lnTo>
                      <a:pt x="265" y="11"/>
                    </a:lnTo>
                    <a:lnTo>
                      <a:pt x="268" y="14"/>
                    </a:lnTo>
                    <a:lnTo>
                      <a:pt x="273" y="17"/>
                    </a:lnTo>
                    <a:lnTo>
                      <a:pt x="276" y="22"/>
                    </a:lnTo>
                    <a:lnTo>
                      <a:pt x="283" y="27"/>
                    </a:lnTo>
                    <a:lnTo>
                      <a:pt x="287" y="31"/>
                    </a:lnTo>
                    <a:lnTo>
                      <a:pt x="291" y="35"/>
                    </a:lnTo>
                    <a:lnTo>
                      <a:pt x="294" y="38"/>
                    </a:lnTo>
                    <a:lnTo>
                      <a:pt x="299" y="45"/>
                    </a:lnTo>
                    <a:lnTo>
                      <a:pt x="301" y="49"/>
                    </a:lnTo>
                    <a:lnTo>
                      <a:pt x="302" y="52"/>
                    </a:lnTo>
                    <a:lnTo>
                      <a:pt x="304" y="57"/>
                    </a:lnTo>
                    <a:lnTo>
                      <a:pt x="304" y="63"/>
                    </a:lnTo>
                    <a:lnTo>
                      <a:pt x="304" y="65"/>
                    </a:lnTo>
                    <a:lnTo>
                      <a:pt x="304" y="68"/>
                    </a:lnTo>
                    <a:lnTo>
                      <a:pt x="304" y="70"/>
                    </a:lnTo>
                    <a:lnTo>
                      <a:pt x="304" y="75"/>
                    </a:lnTo>
                    <a:lnTo>
                      <a:pt x="304" y="77"/>
                    </a:lnTo>
                    <a:lnTo>
                      <a:pt x="304" y="78"/>
                    </a:lnTo>
                    <a:lnTo>
                      <a:pt x="304" y="81"/>
                    </a:lnTo>
                    <a:lnTo>
                      <a:pt x="304" y="82"/>
                    </a:lnTo>
                    <a:lnTo>
                      <a:pt x="304" y="83"/>
                    </a:lnTo>
                    <a:lnTo>
                      <a:pt x="305" y="85"/>
                    </a:lnTo>
                    <a:lnTo>
                      <a:pt x="307" y="84"/>
                    </a:lnTo>
                    <a:lnTo>
                      <a:pt x="309" y="81"/>
                    </a:lnTo>
                    <a:lnTo>
                      <a:pt x="312" y="77"/>
                    </a:lnTo>
                    <a:lnTo>
                      <a:pt x="314" y="74"/>
                    </a:lnTo>
                    <a:lnTo>
                      <a:pt x="318" y="69"/>
                    </a:lnTo>
                    <a:lnTo>
                      <a:pt x="324" y="62"/>
                    </a:lnTo>
                    <a:lnTo>
                      <a:pt x="326" y="59"/>
                    </a:lnTo>
                    <a:lnTo>
                      <a:pt x="330" y="57"/>
                    </a:lnTo>
                    <a:lnTo>
                      <a:pt x="332" y="55"/>
                    </a:lnTo>
                    <a:lnTo>
                      <a:pt x="339" y="51"/>
                    </a:lnTo>
                    <a:lnTo>
                      <a:pt x="344" y="50"/>
                    </a:lnTo>
                    <a:lnTo>
                      <a:pt x="347" y="49"/>
                    </a:lnTo>
                    <a:lnTo>
                      <a:pt x="352" y="49"/>
                    </a:lnTo>
                    <a:lnTo>
                      <a:pt x="360" y="49"/>
                    </a:lnTo>
                    <a:lnTo>
                      <a:pt x="365" y="50"/>
                    </a:lnTo>
                    <a:lnTo>
                      <a:pt x="369" y="52"/>
                    </a:lnTo>
                    <a:lnTo>
                      <a:pt x="372" y="54"/>
                    </a:lnTo>
                    <a:lnTo>
                      <a:pt x="379" y="58"/>
                    </a:lnTo>
                    <a:lnTo>
                      <a:pt x="382" y="61"/>
                    </a:lnTo>
                    <a:lnTo>
                      <a:pt x="385" y="63"/>
                    </a:lnTo>
                    <a:lnTo>
                      <a:pt x="391" y="70"/>
                    </a:lnTo>
                    <a:lnTo>
                      <a:pt x="395" y="75"/>
                    </a:lnTo>
                    <a:lnTo>
                      <a:pt x="397" y="80"/>
                    </a:lnTo>
                    <a:lnTo>
                      <a:pt x="402" y="89"/>
                    </a:lnTo>
                    <a:lnTo>
                      <a:pt x="404" y="94"/>
                    </a:lnTo>
                    <a:lnTo>
                      <a:pt x="405" y="99"/>
                    </a:lnTo>
                    <a:lnTo>
                      <a:pt x="409" y="108"/>
                    </a:lnTo>
                    <a:lnTo>
                      <a:pt x="410" y="112"/>
                    </a:lnTo>
                    <a:lnTo>
                      <a:pt x="411" y="116"/>
                    </a:lnTo>
                    <a:lnTo>
                      <a:pt x="412" y="123"/>
                    </a:lnTo>
                    <a:lnTo>
                      <a:pt x="412" y="127"/>
                    </a:lnTo>
                    <a:lnTo>
                      <a:pt x="412" y="129"/>
                    </a:lnTo>
                    <a:lnTo>
                      <a:pt x="411" y="136"/>
                    </a:lnTo>
                    <a:lnTo>
                      <a:pt x="410" y="141"/>
                    </a:lnTo>
                    <a:lnTo>
                      <a:pt x="409" y="145"/>
                    </a:lnTo>
                    <a:lnTo>
                      <a:pt x="405" y="154"/>
                    </a:lnTo>
                    <a:lnTo>
                      <a:pt x="403" y="158"/>
                    </a:lnTo>
                    <a:lnTo>
                      <a:pt x="400" y="161"/>
                    </a:lnTo>
                    <a:lnTo>
                      <a:pt x="398" y="165"/>
                    </a:lnTo>
                    <a:lnTo>
                      <a:pt x="392" y="171"/>
                    </a:lnTo>
                    <a:lnTo>
                      <a:pt x="391" y="172"/>
                    </a:lnTo>
                    <a:lnTo>
                      <a:pt x="387" y="173"/>
                    </a:lnTo>
                    <a:lnTo>
                      <a:pt x="385" y="174"/>
                    </a:lnTo>
                    <a:lnTo>
                      <a:pt x="379" y="178"/>
                    </a:lnTo>
                    <a:lnTo>
                      <a:pt x="376" y="179"/>
                    </a:lnTo>
                    <a:lnTo>
                      <a:pt x="372" y="180"/>
                    </a:lnTo>
                    <a:lnTo>
                      <a:pt x="365" y="181"/>
                    </a:lnTo>
                    <a:lnTo>
                      <a:pt x="361" y="181"/>
                    </a:lnTo>
                    <a:lnTo>
                      <a:pt x="357" y="181"/>
                    </a:lnTo>
                    <a:lnTo>
                      <a:pt x="351" y="180"/>
                    </a:lnTo>
                    <a:lnTo>
                      <a:pt x="350" y="180"/>
                    </a:lnTo>
                    <a:lnTo>
                      <a:pt x="347" y="180"/>
                    </a:lnTo>
                    <a:lnTo>
                      <a:pt x="346" y="180"/>
                    </a:lnTo>
                    <a:lnTo>
                      <a:pt x="346" y="180"/>
                    </a:lnTo>
                    <a:lnTo>
                      <a:pt x="345" y="180"/>
                    </a:lnTo>
                    <a:lnTo>
                      <a:pt x="345" y="181"/>
                    </a:lnTo>
                    <a:lnTo>
                      <a:pt x="346" y="181"/>
                    </a:lnTo>
                    <a:lnTo>
                      <a:pt x="347" y="181"/>
                    </a:lnTo>
                    <a:lnTo>
                      <a:pt x="350" y="183"/>
                    </a:lnTo>
                    <a:lnTo>
                      <a:pt x="352" y="184"/>
                    </a:lnTo>
                    <a:lnTo>
                      <a:pt x="354" y="184"/>
                    </a:lnTo>
                    <a:lnTo>
                      <a:pt x="359" y="186"/>
                    </a:lnTo>
                    <a:lnTo>
                      <a:pt x="360" y="189"/>
                    </a:lnTo>
                    <a:lnTo>
                      <a:pt x="361" y="190"/>
                    </a:lnTo>
                    <a:lnTo>
                      <a:pt x="363" y="191"/>
                    </a:lnTo>
                    <a:lnTo>
                      <a:pt x="366" y="194"/>
                    </a:lnTo>
                    <a:lnTo>
                      <a:pt x="369" y="197"/>
                    </a:lnTo>
                    <a:lnTo>
                      <a:pt x="371" y="199"/>
                    </a:lnTo>
                    <a:lnTo>
                      <a:pt x="373" y="202"/>
                    </a:lnTo>
                    <a:lnTo>
                      <a:pt x="377" y="206"/>
                    </a:lnTo>
                    <a:lnTo>
                      <a:pt x="378" y="209"/>
                    </a:lnTo>
                    <a:lnTo>
                      <a:pt x="379" y="211"/>
                    </a:lnTo>
                    <a:lnTo>
                      <a:pt x="380" y="215"/>
                    </a:lnTo>
                    <a:lnTo>
                      <a:pt x="382" y="219"/>
                    </a:lnTo>
                    <a:lnTo>
                      <a:pt x="382" y="223"/>
                    </a:lnTo>
                    <a:lnTo>
                      <a:pt x="383" y="225"/>
                    </a:lnTo>
                    <a:lnTo>
                      <a:pt x="384" y="235"/>
                    </a:lnTo>
                    <a:lnTo>
                      <a:pt x="384" y="241"/>
                    </a:lnTo>
                    <a:lnTo>
                      <a:pt x="384" y="247"/>
                    </a:lnTo>
                    <a:lnTo>
                      <a:pt x="382" y="257"/>
                    </a:lnTo>
                    <a:lnTo>
                      <a:pt x="382" y="261"/>
                    </a:lnTo>
                    <a:lnTo>
                      <a:pt x="379" y="264"/>
                    </a:lnTo>
                    <a:lnTo>
                      <a:pt x="378" y="268"/>
                    </a:lnTo>
                    <a:lnTo>
                      <a:pt x="373" y="275"/>
                    </a:lnTo>
                    <a:lnTo>
                      <a:pt x="371" y="277"/>
                    </a:lnTo>
                    <a:lnTo>
                      <a:pt x="369" y="280"/>
                    </a:lnTo>
                    <a:lnTo>
                      <a:pt x="366" y="282"/>
                    </a:lnTo>
                    <a:lnTo>
                      <a:pt x="361" y="286"/>
                    </a:lnTo>
                    <a:lnTo>
                      <a:pt x="359" y="288"/>
                    </a:lnTo>
                    <a:lnTo>
                      <a:pt x="357" y="290"/>
                    </a:lnTo>
                    <a:lnTo>
                      <a:pt x="354" y="292"/>
                    </a:lnTo>
                    <a:lnTo>
                      <a:pt x="347" y="295"/>
                    </a:lnTo>
                    <a:lnTo>
                      <a:pt x="343" y="297"/>
                    </a:lnTo>
                    <a:lnTo>
                      <a:pt x="338" y="299"/>
                    </a:lnTo>
                    <a:lnTo>
                      <a:pt x="333" y="300"/>
                    </a:lnTo>
                    <a:lnTo>
                      <a:pt x="322" y="301"/>
                    </a:lnTo>
                    <a:lnTo>
                      <a:pt x="318" y="301"/>
                    </a:lnTo>
                    <a:lnTo>
                      <a:pt x="313" y="301"/>
                    </a:lnTo>
                    <a:lnTo>
                      <a:pt x="308" y="301"/>
                    </a:lnTo>
                    <a:lnTo>
                      <a:pt x="300" y="300"/>
                    </a:lnTo>
                    <a:lnTo>
                      <a:pt x="295" y="299"/>
                    </a:lnTo>
                    <a:lnTo>
                      <a:pt x="292" y="297"/>
                    </a:lnTo>
                    <a:lnTo>
                      <a:pt x="288" y="295"/>
                    </a:lnTo>
                    <a:lnTo>
                      <a:pt x="281" y="292"/>
                    </a:lnTo>
                    <a:lnTo>
                      <a:pt x="278" y="288"/>
                    </a:lnTo>
                    <a:lnTo>
                      <a:pt x="275" y="286"/>
                    </a:lnTo>
                    <a:lnTo>
                      <a:pt x="272" y="281"/>
                    </a:lnTo>
                    <a:lnTo>
                      <a:pt x="265" y="273"/>
                    </a:lnTo>
                    <a:lnTo>
                      <a:pt x="262" y="269"/>
                    </a:lnTo>
                    <a:lnTo>
                      <a:pt x="259" y="265"/>
                    </a:lnTo>
                    <a:lnTo>
                      <a:pt x="256" y="262"/>
                    </a:lnTo>
                    <a:lnTo>
                      <a:pt x="254" y="260"/>
                    </a:lnTo>
                    <a:lnTo>
                      <a:pt x="253" y="260"/>
                    </a:lnTo>
                    <a:lnTo>
                      <a:pt x="250" y="261"/>
                    </a:lnTo>
                    <a:lnTo>
                      <a:pt x="250" y="262"/>
                    </a:lnTo>
                    <a:lnTo>
                      <a:pt x="250" y="263"/>
                    </a:lnTo>
                    <a:lnTo>
                      <a:pt x="250" y="264"/>
                    </a:lnTo>
                    <a:lnTo>
                      <a:pt x="252" y="267"/>
                    </a:lnTo>
                    <a:lnTo>
                      <a:pt x="252" y="268"/>
                    </a:lnTo>
                    <a:lnTo>
                      <a:pt x="250" y="274"/>
                    </a:lnTo>
                    <a:lnTo>
                      <a:pt x="250" y="279"/>
                    </a:lnTo>
                    <a:lnTo>
                      <a:pt x="248" y="282"/>
                    </a:lnTo>
                    <a:lnTo>
                      <a:pt x="247" y="286"/>
                    </a:lnTo>
                    <a:lnTo>
                      <a:pt x="240" y="293"/>
                    </a:lnTo>
                    <a:lnTo>
                      <a:pt x="235" y="296"/>
                    </a:lnTo>
                    <a:lnTo>
                      <a:pt x="230" y="300"/>
                    </a:lnTo>
                    <a:lnTo>
                      <a:pt x="226" y="302"/>
                    </a:lnTo>
                    <a:lnTo>
                      <a:pt x="215" y="307"/>
                    </a:lnTo>
                    <a:lnTo>
                      <a:pt x="210" y="309"/>
                    </a:lnTo>
                    <a:lnTo>
                      <a:pt x="206" y="310"/>
                    </a:lnTo>
                    <a:lnTo>
                      <a:pt x="194" y="314"/>
                    </a:lnTo>
                    <a:lnTo>
                      <a:pt x="187" y="316"/>
                    </a:lnTo>
                    <a:lnTo>
                      <a:pt x="180" y="316"/>
                    </a:lnTo>
                    <a:lnTo>
                      <a:pt x="167" y="318"/>
                    </a:lnTo>
                    <a:lnTo>
                      <a:pt x="161" y="316"/>
                    </a:lnTo>
                    <a:lnTo>
                      <a:pt x="155" y="316"/>
                    </a:lnTo>
                    <a:lnTo>
                      <a:pt x="149" y="314"/>
                    </a:lnTo>
                    <a:lnTo>
                      <a:pt x="139" y="310"/>
                    </a:lnTo>
                    <a:lnTo>
                      <a:pt x="135" y="308"/>
                    </a:lnTo>
                    <a:lnTo>
                      <a:pt x="131" y="306"/>
                    </a:lnTo>
                    <a:lnTo>
                      <a:pt x="128" y="303"/>
                    </a:lnTo>
                    <a:lnTo>
                      <a:pt x="122" y="297"/>
                    </a:lnTo>
                    <a:lnTo>
                      <a:pt x="119" y="294"/>
                    </a:lnTo>
                    <a:lnTo>
                      <a:pt x="117" y="290"/>
                    </a:lnTo>
                    <a:lnTo>
                      <a:pt x="115" y="287"/>
                    </a:lnTo>
                    <a:lnTo>
                      <a:pt x="113" y="282"/>
                    </a:lnTo>
                    <a:lnTo>
                      <a:pt x="112" y="273"/>
                    </a:lnTo>
                    <a:lnTo>
                      <a:pt x="111" y="268"/>
                    </a:lnTo>
                    <a:lnTo>
                      <a:pt x="111" y="263"/>
                    </a:lnTo>
                    <a:lnTo>
                      <a:pt x="111" y="260"/>
                    </a:lnTo>
                    <a:lnTo>
                      <a:pt x="111" y="256"/>
                    </a:lnTo>
                    <a:lnTo>
                      <a:pt x="110" y="254"/>
                    </a:lnTo>
                    <a:lnTo>
                      <a:pt x="109" y="252"/>
                    </a:lnTo>
                    <a:lnTo>
                      <a:pt x="106" y="252"/>
                    </a:lnTo>
                    <a:lnTo>
                      <a:pt x="106" y="254"/>
                    </a:lnTo>
                    <a:lnTo>
                      <a:pt x="105" y="255"/>
                    </a:lnTo>
                    <a:lnTo>
                      <a:pt x="104" y="256"/>
                    </a:lnTo>
                    <a:lnTo>
                      <a:pt x="104" y="257"/>
                    </a:lnTo>
                    <a:lnTo>
                      <a:pt x="103" y="257"/>
                    </a:lnTo>
                    <a:lnTo>
                      <a:pt x="102" y="258"/>
                    </a:lnTo>
                    <a:lnTo>
                      <a:pt x="97" y="262"/>
                    </a:lnTo>
                    <a:lnTo>
                      <a:pt x="94" y="263"/>
                    </a:lnTo>
                    <a:lnTo>
                      <a:pt x="91" y="264"/>
                    </a:lnTo>
                    <a:lnTo>
                      <a:pt x="87" y="264"/>
                    </a:lnTo>
                    <a:lnTo>
                      <a:pt x="77" y="265"/>
                    </a:lnTo>
                    <a:lnTo>
                      <a:pt x="71" y="265"/>
                    </a:lnTo>
                    <a:lnTo>
                      <a:pt x="65" y="265"/>
                    </a:lnTo>
                    <a:lnTo>
                      <a:pt x="59" y="265"/>
                    </a:lnTo>
                    <a:lnTo>
                      <a:pt x="47" y="263"/>
                    </a:lnTo>
                    <a:lnTo>
                      <a:pt x="42" y="261"/>
                    </a:lnTo>
                    <a:lnTo>
                      <a:pt x="38" y="258"/>
                    </a:lnTo>
                    <a:lnTo>
                      <a:pt x="33" y="256"/>
                    </a:lnTo>
                    <a:lnTo>
                      <a:pt x="25" y="250"/>
                    </a:lnTo>
                    <a:lnTo>
                      <a:pt x="22" y="247"/>
                    </a:lnTo>
                    <a:lnTo>
                      <a:pt x="19" y="244"/>
                    </a:lnTo>
                    <a:lnTo>
                      <a:pt x="13" y="235"/>
                    </a:lnTo>
                    <a:lnTo>
                      <a:pt x="9" y="229"/>
                    </a:lnTo>
                    <a:lnTo>
                      <a:pt x="7" y="223"/>
                    </a:lnTo>
                    <a:lnTo>
                      <a:pt x="2" y="211"/>
                    </a:lnTo>
                    <a:lnTo>
                      <a:pt x="1" y="205"/>
                    </a:lnTo>
                    <a:lnTo>
                      <a:pt x="0" y="199"/>
                    </a:lnTo>
                    <a:lnTo>
                      <a:pt x="0" y="193"/>
                    </a:lnTo>
                    <a:lnTo>
                      <a:pt x="0" y="184"/>
                    </a:lnTo>
                    <a:lnTo>
                      <a:pt x="1" y="180"/>
                    </a:lnTo>
                    <a:lnTo>
                      <a:pt x="2" y="175"/>
                    </a:lnTo>
                    <a:lnTo>
                      <a:pt x="3" y="172"/>
                    </a:lnTo>
                    <a:lnTo>
                      <a:pt x="7" y="164"/>
                    </a:lnTo>
                    <a:lnTo>
                      <a:pt x="9" y="159"/>
                    </a:lnTo>
                    <a:lnTo>
                      <a:pt x="13" y="155"/>
                    </a:lnTo>
                    <a:lnTo>
                      <a:pt x="19" y="149"/>
                    </a:lnTo>
                    <a:lnTo>
                      <a:pt x="21" y="148"/>
                    </a:lnTo>
                    <a:lnTo>
                      <a:pt x="22" y="147"/>
                    </a:lnTo>
                    <a:lnTo>
                      <a:pt x="26" y="146"/>
                    </a:lnTo>
                    <a:lnTo>
                      <a:pt x="31" y="144"/>
                    </a:lnTo>
                    <a:lnTo>
                      <a:pt x="33" y="144"/>
                    </a:lnTo>
                    <a:lnTo>
                      <a:pt x="35" y="142"/>
                    </a:lnTo>
                    <a:lnTo>
                      <a:pt x="38" y="142"/>
                    </a:lnTo>
                    <a:lnTo>
                      <a:pt x="40" y="141"/>
                    </a:lnTo>
                    <a:lnTo>
                      <a:pt x="40" y="140"/>
                    </a:lnTo>
                    <a:close/>
                  </a:path>
                </a:pathLst>
              </a:custGeom>
              <a:solidFill>
                <a:srgbClr val="DBDBFF"/>
              </a:solidFill>
              <a:ln w="3175">
                <a:solidFill>
                  <a:srgbClr val="0000FF"/>
                </a:solidFill>
                <a:prstDash val="solid"/>
                <a:round/>
                <a:headEnd/>
                <a:tailEnd/>
              </a:ln>
            </p:spPr>
            <p:txBody>
              <a:bodyPr/>
              <a:lstStyle/>
              <a:p>
                <a:endParaRPr lang="ru-RU"/>
              </a:p>
            </p:txBody>
          </p:sp>
          <p:sp>
            <p:nvSpPr>
              <p:cNvPr id="36890" name="Line 26"/>
              <p:cNvSpPr>
                <a:spLocks noChangeShapeType="1"/>
              </p:cNvSpPr>
              <p:nvPr/>
            </p:nvSpPr>
            <p:spPr bwMode="auto">
              <a:xfrm>
                <a:off x="429" y="2781"/>
                <a:ext cx="1980" cy="1"/>
              </a:xfrm>
              <a:prstGeom prst="line">
                <a:avLst/>
              </a:prstGeom>
              <a:noFill/>
              <a:ln w="49213">
                <a:solidFill>
                  <a:srgbClr val="FF0000"/>
                </a:solidFill>
                <a:round/>
                <a:headEnd/>
                <a:tailEnd/>
              </a:ln>
            </p:spPr>
            <p:txBody>
              <a:bodyPr/>
              <a:lstStyle/>
              <a:p>
                <a:endParaRPr lang="ru-RU"/>
              </a:p>
            </p:txBody>
          </p:sp>
          <p:sp>
            <p:nvSpPr>
              <p:cNvPr id="36891" name="Freeform 27"/>
              <p:cNvSpPr>
                <a:spLocks/>
              </p:cNvSpPr>
              <p:nvPr/>
            </p:nvSpPr>
            <p:spPr bwMode="auto">
              <a:xfrm>
                <a:off x="386" y="2740"/>
                <a:ext cx="84" cy="83"/>
              </a:xfrm>
              <a:custGeom>
                <a:avLst/>
                <a:gdLst/>
                <a:ahLst/>
                <a:cxnLst>
                  <a:cxn ang="0">
                    <a:pos x="84" y="41"/>
                  </a:cxn>
                  <a:cxn ang="0">
                    <a:pos x="84" y="37"/>
                  </a:cxn>
                  <a:cxn ang="0">
                    <a:pos x="83" y="32"/>
                  </a:cxn>
                  <a:cxn ang="0">
                    <a:pos x="82" y="27"/>
                  </a:cxn>
                  <a:cxn ang="0">
                    <a:pos x="79" y="24"/>
                  </a:cxn>
                  <a:cxn ang="0">
                    <a:pos x="77" y="19"/>
                  </a:cxn>
                  <a:cxn ang="0">
                    <a:pos x="75" y="15"/>
                  </a:cxn>
                  <a:cxn ang="0">
                    <a:pos x="71" y="12"/>
                  </a:cxn>
                  <a:cxn ang="0">
                    <a:pos x="69" y="9"/>
                  </a:cxn>
                  <a:cxn ang="0">
                    <a:pos x="64" y="6"/>
                  </a:cxn>
                  <a:cxn ang="0">
                    <a:pos x="60" y="4"/>
                  </a:cxn>
                  <a:cxn ang="0">
                    <a:pos x="56" y="2"/>
                  </a:cxn>
                  <a:cxn ang="0">
                    <a:pos x="51" y="1"/>
                  </a:cxn>
                  <a:cxn ang="0">
                    <a:pos x="46" y="0"/>
                  </a:cxn>
                  <a:cxn ang="0">
                    <a:pos x="43" y="0"/>
                  </a:cxn>
                  <a:cxn ang="0">
                    <a:pos x="38" y="0"/>
                  </a:cxn>
                  <a:cxn ang="0">
                    <a:pos x="33" y="1"/>
                  </a:cxn>
                  <a:cxn ang="0">
                    <a:pos x="29" y="2"/>
                  </a:cxn>
                  <a:cxn ang="0">
                    <a:pos x="24" y="4"/>
                  </a:cxn>
                  <a:cxn ang="0">
                    <a:pos x="20" y="6"/>
                  </a:cxn>
                  <a:cxn ang="0">
                    <a:pos x="17" y="9"/>
                  </a:cxn>
                  <a:cxn ang="0">
                    <a:pos x="13" y="12"/>
                  </a:cxn>
                  <a:cxn ang="0">
                    <a:pos x="10" y="15"/>
                  </a:cxn>
                  <a:cxn ang="0">
                    <a:pos x="7" y="19"/>
                  </a:cxn>
                  <a:cxn ang="0">
                    <a:pos x="5" y="24"/>
                  </a:cxn>
                  <a:cxn ang="0">
                    <a:pos x="3" y="27"/>
                  </a:cxn>
                  <a:cxn ang="0">
                    <a:pos x="1" y="32"/>
                  </a:cxn>
                  <a:cxn ang="0">
                    <a:pos x="0" y="37"/>
                  </a:cxn>
                  <a:cxn ang="0">
                    <a:pos x="0" y="41"/>
                  </a:cxn>
                  <a:cxn ang="0">
                    <a:pos x="0" y="46"/>
                  </a:cxn>
                  <a:cxn ang="0">
                    <a:pos x="1" y="51"/>
                  </a:cxn>
                  <a:cxn ang="0">
                    <a:pos x="3" y="56"/>
                  </a:cxn>
                  <a:cxn ang="0">
                    <a:pos x="5" y="59"/>
                  </a:cxn>
                  <a:cxn ang="0">
                    <a:pos x="7" y="64"/>
                  </a:cxn>
                  <a:cxn ang="0">
                    <a:pos x="10" y="68"/>
                  </a:cxn>
                  <a:cxn ang="0">
                    <a:pos x="13" y="71"/>
                  </a:cxn>
                  <a:cxn ang="0">
                    <a:pos x="17" y="75"/>
                  </a:cxn>
                  <a:cxn ang="0">
                    <a:pos x="20" y="77"/>
                  </a:cxn>
                  <a:cxn ang="0">
                    <a:pos x="24" y="79"/>
                  </a:cxn>
                  <a:cxn ang="0">
                    <a:pos x="29" y="81"/>
                  </a:cxn>
                  <a:cxn ang="0">
                    <a:pos x="33" y="82"/>
                  </a:cxn>
                  <a:cxn ang="0">
                    <a:pos x="38" y="83"/>
                  </a:cxn>
                  <a:cxn ang="0">
                    <a:pos x="43" y="83"/>
                  </a:cxn>
                  <a:cxn ang="0">
                    <a:pos x="46" y="83"/>
                  </a:cxn>
                  <a:cxn ang="0">
                    <a:pos x="51" y="82"/>
                  </a:cxn>
                  <a:cxn ang="0">
                    <a:pos x="56" y="81"/>
                  </a:cxn>
                  <a:cxn ang="0">
                    <a:pos x="60" y="79"/>
                  </a:cxn>
                  <a:cxn ang="0">
                    <a:pos x="64" y="77"/>
                  </a:cxn>
                  <a:cxn ang="0">
                    <a:pos x="69" y="75"/>
                  </a:cxn>
                  <a:cxn ang="0">
                    <a:pos x="71" y="71"/>
                  </a:cxn>
                  <a:cxn ang="0">
                    <a:pos x="75" y="68"/>
                  </a:cxn>
                  <a:cxn ang="0">
                    <a:pos x="77" y="64"/>
                  </a:cxn>
                  <a:cxn ang="0">
                    <a:pos x="79" y="59"/>
                  </a:cxn>
                  <a:cxn ang="0">
                    <a:pos x="82" y="56"/>
                  </a:cxn>
                  <a:cxn ang="0">
                    <a:pos x="83" y="51"/>
                  </a:cxn>
                  <a:cxn ang="0">
                    <a:pos x="84" y="46"/>
                  </a:cxn>
                  <a:cxn ang="0">
                    <a:pos x="84" y="41"/>
                  </a:cxn>
                </a:cxnLst>
                <a:rect l="0" t="0" r="r" b="b"/>
                <a:pathLst>
                  <a:path w="84" h="83">
                    <a:moveTo>
                      <a:pt x="84" y="41"/>
                    </a:moveTo>
                    <a:lnTo>
                      <a:pt x="84" y="37"/>
                    </a:lnTo>
                    <a:lnTo>
                      <a:pt x="83" y="32"/>
                    </a:lnTo>
                    <a:lnTo>
                      <a:pt x="82" y="27"/>
                    </a:lnTo>
                    <a:lnTo>
                      <a:pt x="79" y="24"/>
                    </a:lnTo>
                    <a:lnTo>
                      <a:pt x="77" y="19"/>
                    </a:lnTo>
                    <a:lnTo>
                      <a:pt x="75" y="15"/>
                    </a:lnTo>
                    <a:lnTo>
                      <a:pt x="71" y="12"/>
                    </a:lnTo>
                    <a:lnTo>
                      <a:pt x="69" y="9"/>
                    </a:lnTo>
                    <a:lnTo>
                      <a:pt x="64" y="6"/>
                    </a:lnTo>
                    <a:lnTo>
                      <a:pt x="60" y="4"/>
                    </a:lnTo>
                    <a:lnTo>
                      <a:pt x="56" y="2"/>
                    </a:lnTo>
                    <a:lnTo>
                      <a:pt x="51" y="1"/>
                    </a:lnTo>
                    <a:lnTo>
                      <a:pt x="46" y="0"/>
                    </a:lnTo>
                    <a:lnTo>
                      <a:pt x="43" y="0"/>
                    </a:lnTo>
                    <a:lnTo>
                      <a:pt x="38" y="0"/>
                    </a:lnTo>
                    <a:lnTo>
                      <a:pt x="33" y="1"/>
                    </a:lnTo>
                    <a:lnTo>
                      <a:pt x="29" y="2"/>
                    </a:lnTo>
                    <a:lnTo>
                      <a:pt x="24" y="4"/>
                    </a:lnTo>
                    <a:lnTo>
                      <a:pt x="20" y="6"/>
                    </a:lnTo>
                    <a:lnTo>
                      <a:pt x="17" y="9"/>
                    </a:lnTo>
                    <a:lnTo>
                      <a:pt x="13" y="12"/>
                    </a:lnTo>
                    <a:lnTo>
                      <a:pt x="10" y="15"/>
                    </a:lnTo>
                    <a:lnTo>
                      <a:pt x="7" y="19"/>
                    </a:lnTo>
                    <a:lnTo>
                      <a:pt x="5" y="24"/>
                    </a:lnTo>
                    <a:lnTo>
                      <a:pt x="3" y="27"/>
                    </a:lnTo>
                    <a:lnTo>
                      <a:pt x="1" y="32"/>
                    </a:lnTo>
                    <a:lnTo>
                      <a:pt x="0" y="37"/>
                    </a:lnTo>
                    <a:lnTo>
                      <a:pt x="0" y="41"/>
                    </a:lnTo>
                    <a:lnTo>
                      <a:pt x="0" y="46"/>
                    </a:lnTo>
                    <a:lnTo>
                      <a:pt x="1" y="51"/>
                    </a:lnTo>
                    <a:lnTo>
                      <a:pt x="3" y="56"/>
                    </a:lnTo>
                    <a:lnTo>
                      <a:pt x="5" y="59"/>
                    </a:lnTo>
                    <a:lnTo>
                      <a:pt x="7" y="64"/>
                    </a:lnTo>
                    <a:lnTo>
                      <a:pt x="10" y="68"/>
                    </a:lnTo>
                    <a:lnTo>
                      <a:pt x="13" y="71"/>
                    </a:lnTo>
                    <a:lnTo>
                      <a:pt x="17" y="75"/>
                    </a:lnTo>
                    <a:lnTo>
                      <a:pt x="20" y="77"/>
                    </a:lnTo>
                    <a:lnTo>
                      <a:pt x="24" y="79"/>
                    </a:lnTo>
                    <a:lnTo>
                      <a:pt x="29" y="81"/>
                    </a:lnTo>
                    <a:lnTo>
                      <a:pt x="33" y="82"/>
                    </a:lnTo>
                    <a:lnTo>
                      <a:pt x="38" y="83"/>
                    </a:lnTo>
                    <a:lnTo>
                      <a:pt x="43" y="83"/>
                    </a:lnTo>
                    <a:lnTo>
                      <a:pt x="46" y="83"/>
                    </a:lnTo>
                    <a:lnTo>
                      <a:pt x="51" y="82"/>
                    </a:lnTo>
                    <a:lnTo>
                      <a:pt x="56" y="81"/>
                    </a:lnTo>
                    <a:lnTo>
                      <a:pt x="60" y="79"/>
                    </a:lnTo>
                    <a:lnTo>
                      <a:pt x="64" y="77"/>
                    </a:lnTo>
                    <a:lnTo>
                      <a:pt x="69" y="75"/>
                    </a:lnTo>
                    <a:lnTo>
                      <a:pt x="71" y="71"/>
                    </a:lnTo>
                    <a:lnTo>
                      <a:pt x="75" y="68"/>
                    </a:lnTo>
                    <a:lnTo>
                      <a:pt x="77" y="64"/>
                    </a:lnTo>
                    <a:lnTo>
                      <a:pt x="79" y="59"/>
                    </a:lnTo>
                    <a:lnTo>
                      <a:pt x="82" y="56"/>
                    </a:lnTo>
                    <a:lnTo>
                      <a:pt x="83" y="51"/>
                    </a:lnTo>
                    <a:lnTo>
                      <a:pt x="84" y="46"/>
                    </a:lnTo>
                    <a:lnTo>
                      <a:pt x="84" y="41"/>
                    </a:lnTo>
                    <a:close/>
                  </a:path>
                </a:pathLst>
              </a:custGeom>
              <a:solidFill>
                <a:srgbClr val="FF0000"/>
              </a:solidFill>
              <a:ln w="9525">
                <a:noFill/>
                <a:round/>
                <a:headEnd/>
                <a:tailEnd/>
              </a:ln>
            </p:spPr>
            <p:txBody>
              <a:bodyPr/>
              <a:lstStyle/>
              <a:p>
                <a:endParaRPr lang="ru-RU"/>
              </a:p>
            </p:txBody>
          </p:sp>
          <p:sp>
            <p:nvSpPr>
              <p:cNvPr id="36892" name="Freeform 28"/>
              <p:cNvSpPr>
                <a:spLocks/>
              </p:cNvSpPr>
              <p:nvPr/>
            </p:nvSpPr>
            <p:spPr bwMode="auto">
              <a:xfrm>
                <a:off x="2367" y="2740"/>
                <a:ext cx="83" cy="83"/>
              </a:xfrm>
              <a:custGeom>
                <a:avLst/>
                <a:gdLst/>
                <a:ahLst/>
                <a:cxnLst>
                  <a:cxn ang="0">
                    <a:pos x="0" y="41"/>
                  </a:cxn>
                  <a:cxn ang="0">
                    <a:pos x="1" y="46"/>
                  </a:cxn>
                  <a:cxn ang="0">
                    <a:pos x="1" y="51"/>
                  </a:cxn>
                  <a:cxn ang="0">
                    <a:pos x="2" y="56"/>
                  </a:cxn>
                  <a:cxn ang="0">
                    <a:pos x="4" y="59"/>
                  </a:cxn>
                  <a:cxn ang="0">
                    <a:pos x="7" y="64"/>
                  </a:cxn>
                  <a:cxn ang="0">
                    <a:pos x="9" y="68"/>
                  </a:cxn>
                  <a:cxn ang="0">
                    <a:pos x="13" y="71"/>
                  </a:cxn>
                  <a:cxn ang="0">
                    <a:pos x="16" y="75"/>
                  </a:cxn>
                  <a:cxn ang="0">
                    <a:pos x="20" y="77"/>
                  </a:cxn>
                  <a:cxn ang="0">
                    <a:pos x="23" y="79"/>
                  </a:cxn>
                  <a:cxn ang="0">
                    <a:pos x="28" y="81"/>
                  </a:cxn>
                  <a:cxn ang="0">
                    <a:pos x="33" y="82"/>
                  </a:cxn>
                  <a:cxn ang="0">
                    <a:pos x="37" y="83"/>
                  </a:cxn>
                  <a:cxn ang="0">
                    <a:pos x="42" y="83"/>
                  </a:cxn>
                  <a:cxn ang="0">
                    <a:pos x="47" y="83"/>
                  </a:cxn>
                  <a:cxn ang="0">
                    <a:pos x="50" y="82"/>
                  </a:cxn>
                  <a:cxn ang="0">
                    <a:pos x="55" y="81"/>
                  </a:cxn>
                  <a:cxn ang="0">
                    <a:pos x="60" y="79"/>
                  </a:cxn>
                  <a:cxn ang="0">
                    <a:pos x="63" y="77"/>
                  </a:cxn>
                  <a:cxn ang="0">
                    <a:pos x="68" y="75"/>
                  </a:cxn>
                  <a:cxn ang="0">
                    <a:pos x="72" y="71"/>
                  </a:cxn>
                  <a:cxn ang="0">
                    <a:pos x="74" y="68"/>
                  </a:cxn>
                  <a:cxn ang="0">
                    <a:pos x="76" y="64"/>
                  </a:cxn>
                  <a:cxn ang="0">
                    <a:pos x="79" y="59"/>
                  </a:cxn>
                  <a:cxn ang="0">
                    <a:pos x="81" y="56"/>
                  </a:cxn>
                  <a:cxn ang="0">
                    <a:pos x="82" y="51"/>
                  </a:cxn>
                  <a:cxn ang="0">
                    <a:pos x="83" y="46"/>
                  </a:cxn>
                  <a:cxn ang="0">
                    <a:pos x="83" y="41"/>
                  </a:cxn>
                  <a:cxn ang="0">
                    <a:pos x="83" y="37"/>
                  </a:cxn>
                  <a:cxn ang="0">
                    <a:pos x="82" y="32"/>
                  </a:cxn>
                  <a:cxn ang="0">
                    <a:pos x="81" y="27"/>
                  </a:cxn>
                  <a:cxn ang="0">
                    <a:pos x="79" y="24"/>
                  </a:cxn>
                  <a:cxn ang="0">
                    <a:pos x="76" y="19"/>
                  </a:cxn>
                  <a:cxn ang="0">
                    <a:pos x="74" y="15"/>
                  </a:cxn>
                  <a:cxn ang="0">
                    <a:pos x="72" y="12"/>
                  </a:cxn>
                  <a:cxn ang="0">
                    <a:pos x="68" y="9"/>
                  </a:cxn>
                  <a:cxn ang="0">
                    <a:pos x="63" y="6"/>
                  </a:cxn>
                  <a:cxn ang="0">
                    <a:pos x="60" y="4"/>
                  </a:cxn>
                  <a:cxn ang="0">
                    <a:pos x="55" y="2"/>
                  </a:cxn>
                  <a:cxn ang="0">
                    <a:pos x="50" y="1"/>
                  </a:cxn>
                  <a:cxn ang="0">
                    <a:pos x="47" y="0"/>
                  </a:cxn>
                  <a:cxn ang="0">
                    <a:pos x="42" y="0"/>
                  </a:cxn>
                  <a:cxn ang="0">
                    <a:pos x="37" y="0"/>
                  </a:cxn>
                  <a:cxn ang="0">
                    <a:pos x="33" y="1"/>
                  </a:cxn>
                  <a:cxn ang="0">
                    <a:pos x="28" y="2"/>
                  </a:cxn>
                  <a:cxn ang="0">
                    <a:pos x="23" y="4"/>
                  </a:cxn>
                  <a:cxn ang="0">
                    <a:pos x="20" y="6"/>
                  </a:cxn>
                  <a:cxn ang="0">
                    <a:pos x="16" y="9"/>
                  </a:cxn>
                  <a:cxn ang="0">
                    <a:pos x="13" y="12"/>
                  </a:cxn>
                  <a:cxn ang="0">
                    <a:pos x="9" y="15"/>
                  </a:cxn>
                  <a:cxn ang="0">
                    <a:pos x="7" y="19"/>
                  </a:cxn>
                  <a:cxn ang="0">
                    <a:pos x="4" y="24"/>
                  </a:cxn>
                  <a:cxn ang="0">
                    <a:pos x="2" y="27"/>
                  </a:cxn>
                  <a:cxn ang="0">
                    <a:pos x="1" y="32"/>
                  </a:cxn>
                  <a:cxn ang="0">
                    <a:pos x="1" y="37"/>
                  </a:cxn>
                  <a:cxn ang="0">
                    <a:pos x="0" y="41"/>
                  </a:cxn>
                </a:cxnLst>
                <a:rect l="0" t="0" r="r" b="b"/>
                <a:pathLst>
                  <a:path w="83" h="83">
                    <a:moveTo>
                      <a:pt x="0" y="41"/>
                    </a:moveTo>
                    <a:lnTo>
                      <a:pt x="1" y="46"/>
                    </a:lnTo>
                    <a:lnTo>
                      <a:pt x="1" y="51"/>
                    </a:lnTo>
                    <a:lnTo>
                      <a:pt x="2" y="56"/>
                    </a:lnTo>
                    <a:lnTo>
                      <a:pt x="4" y="59"/>
                    </a:lnTo>
                    <a:lnTo>
                      <a:pt x="7" y="64"/>
                    </a:lnTo>
                    <a:lnTo>
                      <a:pt x="9" y="68"/>
                    </a:lnTo>
                    <a:lnTo>
                      <a:pt x="13" y="71"/>
                    </a:lnTo>
                    <a:lnTo>
                      <a:pt x="16" y="75"/>
                    </a:lnTo>
                    <a:lnTo>
                      <a:pt x="20" y="77"/>
                    </a:lnTo>
                    <a:lnTo>
                      <a:pt x="23" y="79"/>
                    </a:lnTo>
                    <a:lnTo>
                      <a:pt x="28" y="81"/>
                    </a:lnTo>
                    <a:lnTo>
                      <a:pt x="33" y="82"/>
                    </a:lnTo>
                    <a:lnTo>
                      <a:pt x="37" y="83"/>
                    </a:lnTo>
                    <a:lnTo>
                      <a:pt x="42" y="83"/>
                    </a:lnTo>
                    <a:lnTo>
                      <a:pt x="47" y="83"/>
                    </a:lnTo>
                    <a:lnTo>
                      <a:pt x="50" y="82"/>
                    </a:lnTo>
                    <a:lnTo>
                      <a:pt x="55" y="81"/>
                    </a:lnTo>
                    <a:lnTo>
                      <a:pt x="60" y="79"/>
                    </a:lnTo>
                    <a:lnTo>
                      <a:pt x="63" y="77"/>
                    </a:lnTo>
                    <a:lnTo>
                      <a:pt x="68" y="75"/>
                    </a:lnTo>
                    <a:lnTo>
                      <a:pt x="72" y="71"/>
                    </a:lnTo>
                    <a:lnTo>
                      <a:pt x="74" y="68"/>
                    </a:lnTo>
                    <a:lnTo>
                      <a:pt x="76" y="64"/>
                    </a:lnTo>
                    <a:lnTo>
                      <a:pt x="79" y="59"/>
                    </a:lnTo>
                    <a:lnTo>
                      <a:pt x="81" y="56"/>
                    </a:lnTo>
                    <a:lnTo>
                      <a:pt x="82" y="51"/>
                    </a:lnTo>
                    <a:lnTo>
                      <a:pt x="83" y="46"/>
                    </a:lnTo>
                    <a:lnTo>
                      <a:pt x="83" y="41"/>
                    </a:lnTo>
                    <a:lnTo>
                      <a:pt x="83" y="37"/>
                    </a:lnTo>
                    <a:lnTo>
                      <a:pt x="82" y="32"/>
                    </a:lnTo>
                    <a:lnTo>
                      <a:pt x="81" y="27"/>
                    </a:lnTo>
                    <a:lnTo>
                      <a:pt x="79" y="24"/>
                    </a:lnTo>
                    <a:lnTo>
                      <a:pt x="76" y="19"/>
                    </a:lnTo>
                    <a:lnTo>
                      <a:pt x="74" y="15"/>
                    </a:lnTo>
                    <a:lnTo>
                      <a:pt x="72" y="12"/>
                    </a:lnTo>
                    <a:lnTo>
                      <a:pt x="68" y="9"/>
                    </a:lnTo>
                    <a:lnTo>
                      <a:pt x="63" y="6"/>
                    </a:lnTo>
                    <a:lnTo>
                      <a:pt x="60" y="4"/>
                    </a:lnTo>
                    <a:lnTo>
                      <a:pt x="55" y="2"/>
                    </a:lnTo>
                    <a:lnTo>
                      <a:pt x="50" y="1"/>
                    </a:lnTo>
                    <a:lnTo>
                      <a:pt x="47" y="0"/>
                    </a:lnTo>
                    <a:lnTo>
                      <a:pt x="42" y="0"/>
                    </a:lnTo>
                    <a:lnTo>
                      <a:pt x="37" y="0"/>
                    </a:lnTo>
                    <a:lnTo>
                      <a:pt x="33" y="1"/>
                    </a:lnTo>
                    <a:lnTo>
                      <a:pt x="28" y="2"/>
                    </a:lnTo>
                    <a:lnTo>
                      <a:pt x="23" y="4"/>
                    </a:lnTo>
                    <a:lnTo>
                      <a:pt x="20" y="6"/>
                    </a:lnTo>
                    <a:lnTo>
                      <a:pt x="16" y="9"/>
                    </a:lnTo>
                    <a:lnTo>
                      <a:pt x="13" y="12"/>
                    </a:lnTo>
                    <a:lnTo>
                      <a:pt x="9" y="15"/>
                    </a:lnTo>
                    <a:lnTo>
                      <a:pt x="7" y="19"/>
                    </a:lnTo>
                    <a:lnTo>
                      <a:pt x="4" y="24"/>
                    </a:lnTo>
                    <a:lnTo>
                      <a:pt x="2" y="27"/>
                    </a:lnTo>
                    <a:lnTo>
                      <a:pt x="1" y="32"/>
                    </a:lnTo>
                    <a:lnTo>
                      <a:pt x="1" y="37"/>
                    </a:lnTo>
                    <a:lnTo>
                      <a:pt x="0" y="41"/>
                    </a:lnTo>
                    <a:close/>
                  </a:path>
                </a:pathLst>
              </a:custGeom>
              <a:solidFill>
                <a:srgbClr val="FF0000"/>
              </a:solidFill>
              <a:ln w="9525">
                <a:noFill/>
                <a:round/>
                <a:headEnd/>
                <a:tailEnd/>
              </a:ln>
            </p:spPr>
            <p:txBody>
              <a:bodyPr/>
              <a:lstStyle/>
              <a:p>
                <a:endParaRPr lang="ru-RU"/>
              </a:p>
            </p:txBody>
          </p:sp>
          <p:sp>
            <p:nvSpPr>
              <p:cNvPr id="36893" name="Rectangle 29"/>
              <p:cNvSpPr>
                <a:spLocks noChangeArrowheads="1"/>
              </p:cNvSpPr>
              <p:nvPr/>
            </p:nvSpPr>
            <p:spPr bwMode="auto">
              <a:xfrm>
                <a:off x="1685" y="2638"/>
                <a:ext cx="105" cy="280"/>
              </a:xfrm>
              <a:prstGeom prst="rect">
                <a:avLst/>
              </a:prstGeom>
              <a:solidFill>
                <a:srgbClr val="FFFFFF"/>
              </a:solidFill>
              <a:ln w="3175">
                <a:solidFill>
                  <a:srgbClr val="000000"/>
                </a:solidFill>
                <a:miter lim="800000"/>
                <a:headEnd/>
                <a:tailEnd/>
              </a:ln>
            </p:spPr>
            <p:txBody>
              <a:bodyPr/>
              <a:lstStyle/>
              <a:p>
                <a:endParaRPr lang="ru-RU"/>
              </a:p>
            </p:txBody>
          </p:sp>
          <p:sp>
            <p:nvSpPr>
              <p:cNvPr id="36894" name="Rectangle 30"/>
              <p:cNvSpPr>
                <a:spLocks noChangeArrowheads="1"/>
              </p:cNvSpPr>
              <p:nvPr/>
            </p:nvSpPr>
            <p:spPr bwMode="auto">
              <a:xfrm>
                <a:off x="1790" y="2638"/>
                <a:ext cx="105" cy="280"/>
              </a:xfrm>
              <a:prstGeom prst="rect">
                <a:avLst/>
              </a:prstGeom>
              <a:solidFill>
                <a:srgbClr val="FFFFFF"/>
              </a:solidFill>
              <a:ln w="3175">
                <a:solidFill>
                  <a:srgbClr val="000000"/>
                </a:solidFill>
                <a:miter lim="800000"/>
                <a:headEnd/>
                <a:tailEnd/>
              </a:ln>
            </p:spPr>
            <p:txBody>
              <a:bodyPr/>
              <a:lstStyle/>
              <a:p>
                <a:endParaRPr lang="ru-RU"/>
              </a:p>
            </p:txBody>
          </p:sp>
          <p:sp>
            <p:nvSpPr>
              <p:cNvPr id="36895" name="Freeform 31"/>
              <p:cNvSpPr>
                <a:spLocks/>
              </p:cNvSpPr>
              <p:nvPr/>
            </p:nvSpPr>
            <p:spPr bwMode="auto">
              <a:xfrm>
                <a:off x="1651" y="2744"/>
                <a:ext cx="69" cy="69"/>
              </a:xfrm>
              <a:custGeom>
                <a:avLst/>
                <a:gdLst/>
                <a:ahLst/>
                <a:cxnLst>
                  <a:cxn ang="0">
                    <a:pos x="0" y="22"/>
                  </a:cxn>
                  <a:cxn ang="0">
                    <a:pos x="22" y="0"/>
                  </a:cxn>
                  <a:cxn ang="0">
                    <a:pos x="46" y="0"/>
                  </a:cxn>
                  <a:cxn ang="0">
                    <a:pos x="69" y="22"/>
                  </a:cxn>
                  <a:cxn ang="0">
                    <a:pos x="69" y="46"/>
                  </a:cxn>
                  <a:cxn ang="0">
                    <a:pos x="46" y="69"/>
                  </a:cxn>
                  <a:cxn ang="0">
                    <a:pos x="22" y="69"/>
                  </a:cxn>
                  <a:cxn ang="0">
                    <a:pos x="0" y="46"/>
                  </a:cxn>
                  <a:cxn ang="0">
                    <a:pos x="0" y="22"/>
                  </a:cxn>
                </a:cxnLst>
                <a:rect l="0" t="0" r="r" b="b"/>
                <a:pathLst>
                  <a:path w="69" h="69">
                    <a:moveTo>
                      <a:pt x="0" y="22"/>
                    </a:moveTo>
                    <a:lnTo>
                      <a:pt x="22" y="0"/>
                    </a:lnTo>
                    <a:lnTo>
                      <a:pt x="46" y="0"/>
                    </a:lnTo>
                    <a:lnTo>
                      <a:pt x="69" y="22"/>
                    </a:lnTo>
                    <a:lnTo>
                      <a:pt x="69" y="46"/>
                    </a:lnTo>
                    <a:lnTo>
                      <a:pt x="46" y="69"/>
                    </a:lnTo>
                    <a:lnTo>
                      <a:pt x="22" y="69"/>
                    </a:lnTo>
                    <a:lnTo>
                      <a:pt x="0" y="46"/>
                    </a:lnTo>
                    <a:lnTo>
                      <a:pt x="0" y="22"/>
                    </a:lnTo>
                    <a:close/>
                  </a:path>
                </a:pathLst>
              </a:custGeom>
              <a:solidFill>
                <a:srgbClr val="FFFFFF"/>
              </a:solidFill>
              <a:ln w="3175">
                <a:solidFill>
                  <a:srgbClr val="000000"/>
                </a:solidFill>
                <a:prstDash val="solid"/>
                <a:round/>
                <a:headEnd/>
                <a:tailEnd/>
              </a:ln>
            </p:spPr>
            <p:txBody>
              <a:bodyPr/>
              <a:lstStyle/>
              <a:p>
                <a:endParaRPr lang="ru-RU"/>
              </a:p>
            </p:txBody>
          </p:sp>
          <p:sp>
            <p:nvSpPr>
              <p:cNvPr id="36896" name="Freeform 32"/>
              <p:cNvSpPr>
                <a:spLocks/>
              </p:cNvSpPr>
              <p:nvPr/>
            </p:nvSpPr>
            <p:spPr bwMode="auto">
              <a:xfrm>
                <a:off x="1860" y="2744"/>
                <a:ext cx="69" cy="69"/>
              </a:xfrm>
              <a:custGeom>
                <a:avLst/>
                <a:gdLst/>
                <a:ahLst/>
                <a:cxnLst>
                  <a:cxn ang="0">
                    <a:pos x="0" y="22"/>
                  </a:cxn>
                  <a:cxn ang="0">
                    <a:pos x="23" y="0"/>
                  </a:cxn>
                  <a:cxn ang="0">
                    <a:pos x="46" y="0"/>
                  </a:cxn>
                  <a:cxn ang="0">
                    <a:pos x="69" y="22"/>
                  </a:cxn>
                  <a:cxn ang="0">
                    <a:pos x="69" y="46"/>
                  </a:cxn>
                  <a:cxn ang="0">
                    <a:pos x="46" y="69"/>
                  </a:cxn>
                  <a:cxn ang="0">
                    <a:pos x="23" y="69"/>
                  </a:cxn>
                  <a:cxn ang="0">
                    <a:pos x="0" y="46"/>
                  </a:cxn>
                  <a:cxn ang="0">
                    <a:pos x="0" y="22"/>
                  </a:cxn>
                </a:cxnLst>
                <a:rect l="0" t="0" r="r" b="b"/>
                <a:pathLst>
                  <a:path w="69" h="69">
                    <a:moveTo>
                      <a:pt x="0" y="22"/>
                    </a:moveTo>
                    <a:lnTo>
                      <a:pt x="23" y="0"/>
                    </a:lnTo>
                    <a:lnTo>
                      <a:pt x="46" y="0"/>
                    </a:lnTo>
                    <a:lnTo>
                      <a:pt x="69" y="22"/>
                    </a:lnTo>
                    <a:lnTo>
                      <a:pt x="69" y="46"/>
                    </a:lnTo>
                    <a:lnTo>
                      <a:pt x="46" y="69"/>
                    </a:lnTo>
                    <a:lnTo>
                      <a:pt x="23" y="69"/>
                    </a:lnTo>
                    <a:lnTo>
                      <a:pt x="0" y="46"/>
                    </a:lnTo>
                    <a:lnTo>
                      <a:pt x="0" y="22"/>
                    </a:lnTo>
                    <a:close/>
                  </a:path>
                </a:pathLst>
              </a:custGeom>
              <a:solidFill>
                <a:srgbClr val="FFFFFF"/>
              </a:solidFill>
              <a:ln w="3175">
                <a:solidFill>
                  <a:srgbClr val="000000"/>
                </a:solidFill>
                <a:prstDash val="solid"/>
                <a:round/>
                <a:headEnd/>
                <a:tailEnd/>
              </a:ln>
            </p:spPr>
            <p:txBody>
              <a:bodyPr/>
              <a:lstStyle/>
              <a:p>
                <a:endParaRPr lang="ru-RU"/>
              </a:p>
            </p:txBody>
          </p:sp>
          <p:sp>
            <p:nvSpPr>
              <p:cNvPr id="36897" name="Rectangle 33"/>
              <p:cNvSpPr>
                <a:spLocks noChangeArrowheads="1"/>
              </p:cNvSpPr>
              <p:nvPr/>
            </p:nvSpPr>
            <p:spPr bwMode="auto">
              <a:xfrm>
                <a:off x="918" y="2638"/>
                <a:ext cx="104" cy="280"/>
              </a:xfrm>
              <a:prstGeom prst="rect">
                <a:avLst/>
              </a:prstGeom>
              <a:solidFill>
                <a:srgbClr val="FFFFFF"/>
              </a:solidFill>
              <a:ln w="3175">
                <a:solidFill>
                  <a:srgbClr val="000000"/>
                </a:solidFill>
                <a:miter lim="800000"/>
                <a:headEnd/>
                <a:tailEnd/>
              </a:ln>
            </p:spPr>
            <p:txBody>
              <a:bodyPr/>
              <a:lstStyle/>
              <a:p>
                <a:endParaRPr lang="ru-RU"/>
              </a:p>
            </p:txBody>
          </p:sp>
          <p:sp>
            <p:nvSpPr>
              <p:cNvPr id="36898" name="Rectangle 34"/>
              <p:cNvSpPr>
                <a:spLocks noChangeArrowheads="1"/>
              </p:cNvSpPr>
              <p:nvPr/>
            </p:nvSpPr>
            <p:spPr bwMode="auto">
              <a:xfrm>
                <a:off x="1022" y="2638"/>
                <a:ext cx="105" cy="280"/>
              </a:xfrm>
              <a:prstGeom prst="rect">
                <a:avLst/>
              </a:prstGeom>
              <a:solidFill>
                <a:srgbClr val="FFFFFF"/>
              </a:solidFill>
              <a:ln w="3175">
                <a:solidFill>
                  <a:srgbClr val="000000"/>
                </a:solidFill>
                <a:miter lim="800000"/>
                <a:headEnd/>
                <a:tailEnd/>
              </a:ln>
            </p:spPr>
            <p:txBody>
              <a:bodyPr/>
              <a:lstStyle/>
              <a:p>
                <a:endParaRPr lang="ru-RU"/>
              </a:p>
            </p:txBody>
          </p:sp>
          <p:sp>
            <p:nvSpPr>
              <p:cNvPr id="36899" name="Freeform 35"/>
              <p:cNvSpPr>
                <a:spLocks/>
              </p:cNvSpPr>
              <p:nvPr/>
            </p:nvSpPr>
            <p:spPr bwMode="auto">
              <a:xfrm>
                <a:off x="883" y="2744"/>
                <a:ext cx="69" cy="69"/>
              </a:xfrm>
              <a:custGeom>
                <a:avLst/>
                <a:gdLst/>
                <a:ahLst/>
                <a:cxnLst>
                  <a:cxn ang="0">
                    <a:pos x="0" y="22"/>
                  </a:cxn>
                  <a:cxn ang="0">
                    <a:pos x="23" y="0"/>
                  </a:cxn>
                  <a:cxn ang="0">
                    <a:pos x="47" y="0"/>
                  </a:cxn>
                  <a:cxn ang="0">
                    <a:pos x="69" y="22"/>
                  </a:cxn>
                  <a:cxn ang="0">
                    <a:pos x="69" y="46"/>
                  </a:cxn>
                  <a:cxn ang="0">
                    <a:pos x="47" y="69"/>
                  </a:cxn>
                  <a:cxn ang="0">
                    <a:pos x="23" y="69"/>
                  </a:cxn>
                  <a:cxn ang="0">
                    <a:pos x="0" y="46"/>
                  </a:cxn>
                  <a:cxn ang="0">
                    <a:pos x="0" y="22"/>
                  </a:cxn>
                </a:cxnLst>
                <a:rect l="0" t="0" r="r" b="b"/>
                <a:pathLst>
                  <a:path w="69" h="69">
                    <a:moveTo>
                      <a:pt x="0" y="22"/>
                    </a:moveTo>
                    <a:lnTo>
                      <a:pt x="23" y="0"/>
                    </a:lnTo>
                    <a:lnTo>
                      <a:pt x="47" y="0"/>
                    </a:lnTo>
                    <a:lnTo>
                      <a:pt x="69" y="22"/>
                    </a:lnTo>
                    <a:lnTo>
                      <a:pt x="69" y="46"/>
                    </a:lnTo>
                    <a:lnTo>
                      <a:pt x="47" y="69"/>
                    </a:lnTo>
                    <a:lnTo>
                      <a:pt x="23" y="69"/>
                    </a:lnTo>
                    <a:lnTo>
                      <a:pt x="0" y="46"/>
                    </a:lnTo>
                    <a:lnTo>
                      <a:pt x="0" y="22"/>
                    </a:lnTo>
                    <a:close/>
                  </a:path>
                </a:pathLst>
              </a:custGeom>
              <a:solidFill>
                <a:srgbClr val="FFFFFF"/>
              </a:solidFill>
              <a:ln w="3175">
                <a:solidFill>
                  <a:srgbClr val="000000"/>
                </a:solidFill>
                <a:prstDash val="solid"/>
                <a:round/>
                <a:headEnd/>
                <a:tailEnd/>
              </a:ln>
            </p:spPr>
            <p:txBody>
              <a:bodyPr/>
              <a:lstStyle/>
              <a:p>
                <a:endParaRPr lang="ru-RU"/>
              </a:p>
            </p:txBody>
          </p:sp>
          <p:sp>
            <p:nvSpPr>
              <p:cNvPr id="36900" name="Freeform 36"/>
              <p:cNvSpPr>
                <a:spLocks/>
              </p:cNvSpPr>
              <p:nvPr/>
            </p:nvSpPr>
            <p:spPr bwMode="auto">
              <a:xfrm>
                <a:off x="1092" y="2744"/>
                <a:ext cx="69" cy="69"/>
              </a:xfrm>
              <a:custGeom>
                <a:avLst/>
                <a:gdLst/>
                <a:ahLst/>
                <a:cxnLst>
                  <a:cxn ang="0">
                    <a:pos x="0" y="22"/>
                  </a:cxn>
                  <a:cxn ang="0">
                    <a:pos x="23" y="0"/>
                  </a:cxn>
                  <a:cxn ang="0">
                    <a:pos x="47" y="0"/>
                  </a:cxn>
                  <a:cxn ang="0">
                    <a:pos x="69" y="22"/>
                  </a:cxn>
                  <a:cxn ang="0">
                    <a:pos x="69" y="46"/>
                  </a:cxn>
                  <a:cxn ang="0">
                    <a:pos x="47" y="69"/>
                  </a:cxn>
                  <a:cxn ang="0">
                    <a:pos x="23" y="69"/>
                  </a:cxn>
                  <a:cxn ang="0">
                    <a:pos x="0" y="46"/>
                  </a:cxn>
                  <a:cxn ang="0">
                    <a:pos x="0" y="22"/>
                  </a:cxn>
                </a:cxnLst>
                <a:rect l="0" t="0" r="r" b="b"/>
                <a:pathLst>
                  <a:path w="69" h="69">
                    <a:moveTo>
                      <a:pt x="0" y="22"/>
                    </a:moveTo>
                    <a:lnTo>
                      <a:pt x="23" y="0"/>
                    </a:lnTo>
                    <a:lnTo>
                      <a:pt x="47" y="0"/>
                    </a:lnTo>
                    <a:lnTo>
                      <a:pt x="69" y="22"/>
                    </a:lnTo>
                    <a:lnTo>
                      <a:pt x="69" y="46"/>
                    </a:lnTo>
                    <a:lnTo>
                      <a:pt x="47" y="69"/>
                    </a:lnTo>
                    <a:lnTo>
                      <a:pt x="23" y="69"/>
                    </a:lnTo>
                    <a:lnTo>
                      <a:pt x="0" y="46"/>
                    </a:lnTo>
                    <a:lnTo>
                      <a:pt x="0" y="22"/>
                    </a:lnTo>
                    <a:close/>
                  </a:path>
                </a:pathLst>
              </a:custGeom>
              <a:solidFill>
                <a:srgbClr val="FFFFFF"/>
              </a:solidFill>
              <a:ln w="3175">
                <a:solidFill>
                  <a:srgbClr val="000000"/>
                </a:solidFill>
                <a:prstDash val="solid"/>
                <a:round/>
                <a:headEnd/>
                <a:tailEnd/>
              </a:ln>
            </p:spPr>
            <p:txBody>
              <a:bodyPr/>
              <a:lstStyle/>
              <a:p>
                <a:endParaRPr lang="ru-RU"/>
              </a:p>
            </p:txBody>
          </p:sp>
        </p:grpSp>
        <p:sp>
          <p:nvSpPr>
            <p:cNvPr id="36901" name="Rectangle 37"/>
            <p:cNvSpPr>
              <a:spLocks noChangeArrowheads="1"/>
            </p:cNvSpPr>
            <p:nvPr/>
          </p:nvSpPr>
          <p:spPr bwMode="auto">
            <a:xfrm>
              <a:off x="240" y="624"/>
              <a:ext cx="671" cy="192"/>
            </a:xfrm>
            <a:prstGeom prst="rect">
              <a:avLst/>
            </a:prstGeom>
            <a:noFill/>
            <a:ln w="9525">
              <a:noFill/>
              <a:miter lim="800000"/>
              <a:headEnd/>
              <a:tailEnd/>
            </a:ln>
            <a:effectLst/>
          </p:spPr>
          <p:txBody>
            <a:bodyPr wrap="none">
              <a:spAutoFit/>
            </a:bodyPr>
            <a:lstStyle/>
            <a:p>
              <a:r>
                <a:rPr lang="en-US" sz="1400" b="1">
                  <a:solidFill>
                    <a:srgbClr val="0033CC"/>
                  </a:solidFill>
                </a:rPr>
                <a:t>MTU=1500</a:t>
              </a:r>
              <a:endParaRPr lang="ru-RU" sz="1400" b="1">
                <a:solidFill>
                  <a:srgbClr val="0033CC"/>
                </a:solidFill>
              </a:endParaRPr>
            </a:p>
          </p:txBody>
        </p:sp>
        <p:sp>
          <p:nvSpPr>
            <p:cNvPr id="36902" name="Rectangle 38"/>
            <p:cNvSpPr>
              <a:spLocks noChangeArrowheads="1"/>
            </p:cNvSpPr>
            <p:nvPr/>
          </p:nvSpPr>
          <p:spPr bwMode="auto">
            <a:xfrm>
              <a:off x="1096" y="624"/>
              <a:ext cx="609" cy="192"/>
            </a:xfrm>
            <a:prstGeom prst="rect">
              <a:avLst/>
            </a:prstGeom>
            <a:noFill/>
            <a:ln w="9525">
              <a:noFill/>
              <a:miter lim="800000"/>
              <a:headEnd/>
              <a:tailEnd/>
            </a:ln>
            <a:effectLst/>
          </p:spPr>
          <p:txBody>
            <a:bodyPr wrap="none">
              <a:spAutoFit/>
            </a:bodyPr>
            <a:lstStyle/>
            <a:p>
              <a:r>
                <a:rPr lang="en-US" sz="1400" b="1">
                  <a:solidFill>
                    <a:srgbClr val="0033CC"/>
                  </a:solidFill>
                </a:rPr>
                <a:t>MTU=512</a:t>
              </a:r>
              <a:endParaRPr lang="ru-RU" sz="1400" b="1">
                <a:solidFill>
                  <a:srgbClr val="0033CC"/>
                </a:solidFill>
              </a:endParaRPr>
            </a:p>
          </p:txBody>
        </p:sp>
        <p:sp>
          <p:nvSpPr>
            <p:cNvPr id="36903" name="Rectangle 39"/>
            <p:cNvSpPr>
              <a:spLocks noChangeArrowheads="1"/>
            </p:cNvSpPr>
            <p:nvPr/>
          </p:nvSpPr>
          <p:spPr bwMode="auto">
            <a:xfrm>
              <a:off x="1840" y="624"/>
              <a:ext cx="671" cy="192"/>
            </a:xfrm>
            <a:prstGeom prst="rect">
              <a:avLst/>
            </a:prstGeom>
            <a:noFill/>
            <a:ln w="9525">
              <a:noFill/>
              <a:miter lim="800000"/>
              <a:headEnd/>
              <a:tailEnd/>
            </a:ln>
            <a:effectLst/>
          </p:spPr>
          <p:txBody>
            <a:bodyPr wrap="none">
              <a:spAutoFit/>
            </a:bodyPr>
            <a:lstStyle/>
            <a:p>
              <a:r>
                <a:rPr lang="en-US" sz="1400" b="1">
                  <a:solidFill>
                    <a:srgbClr val="0033CC"/>
                  </a:solidFill>
                </a:rPr>
                <a:t>MTU=1500</a:t>
              </a:r>
              <a:endParaRPr lang="ru-RU" sz="1400" b="1">
                <a:solidFill>
                  <a:srgbClr val="0033CC"/>
                </a:solidFill>
              </a:endParaRPr>
            </a:p>
          </p:txBody>
        </p:sp>
        <p:sp>
          <p:nvSpPr>
            <p:cNvPr id="36904" name="Rectangle 40"/>
            <p:cNvSpPr>
              <a:spLocks noChangeArrowheads="1"/>
            </p:cNvSpPr>
            <p:nvPr/>
          </p:nvSpPr>
          <p:spPr bwMode="auto">
            <a:xfrm>
              <a:off x="248" y="1440"/>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05" name="Rectangle 41"/>
            <p:cNvSpPr>
              <a:spLocks noChangeArrowheads="1"/>
            </p:cNvSpPr>
            <p:nvPr/>
          </p:nvSpPr>
          <p:spPr bwMode="auto">
            <a:xfrm>
              <a:off x="336" y="1440"/>
              <a:ext cx="38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grpSp>
          <p:nvGrpSpPr>
            <p:cNvPr id="36906" name="Group 42"/>
            <p:cNvGrpSpPr>
              <a:grpSpLocks/>
            </p:cNvGrpSpPr>
            <p:nvPr/>
          </p:nvGrpSpPr>
          <p:grpSpPr bwMode="auto">
            <a:xfrm>
              <a:off x="1056" y="1584"/>
              <a:ext cx="408" cy="384"/>
              <a:chOff x="1056" y="3264"/>
              <a:chExt cx="408" cy="384"/>
            </a:xfrm>
          </p:grpSpPr>
          <p:sp>
            <p:nvSpPr>
              <p:cNvPr id="36907" name="Rectangle 43"/>
              <p:cNvSpPr>
                <a:spLocks noChangeArrowheads="1"/>
              </p:cNvSpPr>
              <p:nvPr/>
            </p:nvSpPr>
            <p:spPr bwMode="auto">
              <a:xfrm>
                <a:off x="1056" y="3264"/>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08" name="Rectangle 44"/>
              <p:cNvSpPr>
                <a:spLocks noChangeArrowheads="1"/>
              </p:cNvSpPr>
              <p:nvPr/>
            </p:nvSpPr>
            <p:spPr bwMode="auto">
              <a:xfrm>
                <a:off x="1144" y="3264"/>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sp>
            <p:nvSpPr>
              <p:cNvPr id="36909" name="Rectangle 45"/>
              <p:cNvSpPr>
                <a:spLocks noChangeArrowheads="1"/>
              </p:cNvSpPr>
              <p:nvPr/>
            </p:nvSpPr>
            <p:spPr bwMode="auto">
              <a:xfrm>
                <a:off x="1144" y="3408"/>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10" name="Rectangle 46"/>
              <p:cNvSpPr>
                <a:spLocks noChangeArrowheads="1"/>
              </p:cNvSpPr>
              <p:nvPr/>
            </p:nvSpPr>
            <p:spPr bwMode="auto">
              <a:xfrm>
                <a:off x="1232" y="3408"/>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sp>
            <p:nvSpPr>
              <p:cNvPr id="36911" name="Rectangle 47"/>
              <p:cNvSpPr>
                <a:spLocks noChangeArrowheads="1"/>
              </p:cNvSpPr>
              <p:nvPr/>
            </p:nvSpPr>
            <p:spPr bwMode="auto">
              <a:xfrm>
                <a:off x="1232" y="3552"/>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12" name="Rectangle 48"/>
              <p:cNvSpPr>
                <a:spLocks noChangeArrowheads="1"/>
              </p:cNvSpPr>
              <p:nvPr/>
            </p:nvSpPr>
            <p:spPr bwMode="auto">
              <a:xfrm>
                <a:off x="1320" y="3552"/>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grpSp>
        <p:sp>
          <p:nvSpPr>
            <p:cNvPr id="36913" name="Line 49"/>
            <p:cNvSpPr>
              <a:spLocks noChangeShapeType="1"/>
            </p:cNvSpPr>
            <p:nvPr/>
          </p:nvSpPr>
          <p:spPr bwMode="auto">
            <a:xfrm>
              <a:off x="1008" y="1392"/>
              <a:ext cx="0" cy="624"/>
            </a:xfrm>
            <a:prstGeom prst="line">
              <a:avLst/>
            </a:prstGeom>
            <a:noFill/>
            <a:ln w="9525">
              <a:solidFill>
                <a:schemeClr val="bg2"/>
              </a:solidFill>
              <a:round/>
              <a:headEnd/>
              <a:tailEnd/>
            </a:ln>
            <a:effectLst/>
          </p:spPr>
          <p:txBody>
            <a:bodyPr/>
            <a:lstStyle/>
            <a:p>
              <a:endParaRPr lang="ru-RU"/>
            </a:p>
          </p:txBody>
        </p:sp>
        <p:sp>
          <p:nvSpPr>
            <p:cNvPr id="36914" name="Line 50"/>
            <p:cNvSpPr>
              <a:spLocks noChangeShapeType="1"/>
            </p:cNvSpPr>
            <p:nvPr/>
          </p:nvSpPr>
          <p:spPr bwMode="auto">
            <a:xfrm>
              <a:off x="1776" y="1392"/>
              <a:ext cx="0" cy="624"/>
            </a:xfrm>
            <a:prstGeom prst="line">
              <a:avLst/>
            </a:prstGeom>
            <a:noFill/>
            <a:ln w="9525">
              <a:solidFill>
                <a:schemeClr val="bg2"/>
              </a:solidFill>
              <a:round/>
              <a:headEnd/>
              <a:tailEnd/>
            </a:ln>
            <a:effectLst/>
          </p:spPr>
          <p:txBody>
            <a:bodyPr/>
            <a:lstStyle/>
            <a:p>
              <a:endParaRPr lang="ru-RU"/>
            </a:p>
          </p:txBody>
        </p:sp>
        <p:sp>
          <p:nvSpPr>
            <p:cNvPr id="36915" name="Line 51"/>
            <p:cNvSpPr>
              <a:spLocks noChangeShapeType="1"/>
            </p:cNvSpPr>
            <p:nvPr/>
          </p:nvSpPr>
          <p:spPr bwMode="auto">
            <a:xfrm rot="5400000">
              <a:off x="2256" y="1584"/>
              <a:ext cx="0" cy="384"/>
            </a:xfrm>
            <a:prstGeom prst="line">
              <a:avLst/>
            </a:prstGeom>
            <a:noFill/>
            <a:ln w="9525">
              <a:solidFill>
                <a:srgbClr val="FF3300"/>
              </a:solidFill>
              <a:prstDash val="sysDot"/>
              <a:round/>
              <a:headEnd type="arrow" w="med" len="med"/>
              <a:tailEnd/>
            </a:ln>
            <a:effectLst/>
          </p:spPr>
          <p:txBody>
            <a:bodyPr/>
            <a:lstStyle/>
            <a:p>
              <a:endParaRPr lang="ru-RU"/>
            </a:p>
          </p:txBody>
        </p:sp>
        <p:sp>
          <p:nvSpPr>
            <p:cNvPr id="36916" name="Line 52"/>
            <p:cNvSpPr>
              <a:spLocks noChangeShapeType="1"/>
            </p:cNvSpPr>
            <p:nvPr/>
          </p:nvSpPr>
          <p:spPr bwMode="auto">
            <a:xfrm rot="5400000">
              <a:off x="2136" y="1320"/>
              <a:ext cx="0" cy="624"/>
            </a:xfrm>
            <a:prstGeom prst="line">
              <a:avLst/>
            </a:prstGeom>
            <a:noFill/>
            <a:ln w="9525">
              <a:solidFill>
                <a:srgbClr val="FF3300"/>
              </a:solidFill>
              <a:prstDash val="sysDot"/>
              <a:round/>
              <a:headEnd type="arrow" w="med" len="med"/>
              <a:tailEnd/>
            </a:ln>
            <a:effectLst/>
          </p:spPr>
          <p:txBody>
            <a:bodyPr/>
            <a:lstStyle/>
            <a:p>
              <a:endParaRPr lang="ru-RU"/>
            </a:p>
          </p:txBody>
        </p:sp>
        <p:grpSp>
          <p:nvGrpSpPr>
            <p:cNvPr id="36917" name="Group 53"/>
            <p:cNvGrpSpPr>
              <a:grpSpLocks/>
            </p:cNvGrpSpPr>
            <p:nvPr/>
          </p:nvGrpSpPr>
          <p:grpSpPr bwMode="auto">
            <a:xfrm>
              <a:off x="1824" y="1584"/>
              <a:ext cx="408" cy="384"/>
              <a:chOff x="1056" y="3264"/>
              <a:chExt cx="408" cy="384"/>
            </a:xfrm>
          </p:grpSpPr>
          <p:sp>
            <p:nvSpPr>
              <p:cNvPr id="36918" name="Rectangle 54"/>
              <p:cNvSpPr>
                <a:spLocks noChangeArrowheads="1"/>
              </p:cNvSpPr>
              <p:nvPr/>
            </p:nvSpPr>
            <p:spPr bwMode="auto">
              <a:xfrm>
                <a:off x="1056" y="3264"/>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19" name="Rectangle 55"/>
              <p:cNvSpPr>
                <a:spLocks noChangeArrowheads="1"/>
              </p:cNvSpPr>
              <p:nvPr/>
            </p:nvSpPr>
            <p:spPr bwMode="auto">
              <a:xfrm>
                <a:off x="1144" y="3264"/>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sp>
            <p:nvSpPr>
              <p:cNvPr id="36920" name="Rectangle 56"/>
              <p:cNvSpPr>
                <a:spLocks noChangeArrowheads="1"/>
              </p:cNvSpPr>
              <p:nvPr/>
            </p:nvSpPr>
            <p:spPr bwMode="auto">
              <a:xfrm>
                <a:off x="1144" y="3408"/>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21" name="Rectangle 57"/>
              <p:cNvSpPr>
                <a:spLocks noChangeArrowheads="1"/>
              </p:cNvSpPr>
              <p:nvPr/>
            </p:nvSpPr>
            <p:spPr bwMode="auto">
              <a:xfrm>
                <a:off x="1232" y="3408"/>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sp>
            <p:nvSpPr>
              <p:cNvPr id="36922" name="Rectangle 58"/>
              <p:cNvSpPr>
                <a:spLocks noChangeArrowheads="1"/>
              </p:cNvSpPr>
              <p:nvPr/>
            </p:nvSpPr>
            <p:spPr bwMode="auto">
              <a:xfrm>
                <a:off x="1232" y="3552"/>
                <a:ext cx="88" cy="96"/>
              </a:xfrm>
              <a:prstGeom prst="rect">
                <a:avLst/>
              </a:prstGeom>
              <a:solidFill>
                <a:srgbClr val="CC99FF"/>
              </a:solidFill>
              <a:ln w="9525">
                <a:solidFill>
                  <a:schemeClr val="tx1"/>
                </a:solidFill>
                <a:miter lim="800000"/>
                <a:headEnd/>
                <a:tailEnd/>
              </a:ln>
              <a:effectLst/>
            </p:spPr>
            <p:txBody>
              <a:bodyPr wrap="none" anchor="ctr"/>
              <a:lstStyle/>
              <a:p>
                <a:pPr algn="ctr"/>
                <a:endParaRPr lang="ru-RU" sz="1600"/>
              </a:p>
            </p:txBody>
          </p:sp>
          <p:sp>
            <p:nvSpPr>
              <p:cNvPr id="36923" name="Rectangle 59"/>
              <p:cNvSpPr>
                <a:spLocks noChangeArrowheads="1"/>
              </p:cNvSpPr>
              <p:nvPr/>
            </p:nvSpPr>
            <p:spPr bwMode="auto">
              <a:xfrm>
                <a:off x="1320" y="3552"/>
                <a:ext cx="144" cy="96"/>
              </a:xfrm>
              <a:prstGeom prst="rect">
                <a:avLst/>
              </a:prstGeom>
              <a:solidFill>
                <a:srgbClr val="FF9933"/>
              </a:solidFill>
              <a:ln w="9525">
                <a:solidFill>
                  <a:schemeClr val="tx1"/>
                </a:solidFill>
                <a:miter lim="800000"/>
                <a:headEnd/>
                <a:tailEnd/>
              </a:ln>
              <a:effectLst/>
            </p:spPr>
            <p:txBody>
              <a:bodyPr wrap="none" anchor="ctr"/>
              <a:lstStyle/>
              <a:p>
                <a:pPr algn="ctr"/>
                <a:endParaRPr lang="ru-RU" sz="1600"/>
              </a:p>
            </p:txBody>
          </p:sp>
        </p:grpSp>
        <p:sp>
          <p:nvSpPr>
            <p:cNvPr id="36924" name="Line 60"/>
            <p:cNvSpPr>
              <a:spLocks noChangeShapeType="1"/>
            </p:cNvSpPr>
            <p:nvPr/>
          </p:nvSpPr>
          <p:spPr bwMode="auto">
            <a:xfrm>
              <a:off x="2448" y="1392"/>
              <a:ext cx="0" cy="624"/>
            </a:xfrm>
            <a:prstGeom prst="line">
              <a:avLst/>
            </a:prstGeom>
            <a:noFill/>
            <a:ln w="9525">
              <a:solidFill>
                <a:schemeClr val="bg2"/>
              </a:solidFill>
              <a:round/>
              <a:headEnd/>
              <a:tailEnd/>
            </a:ln>
            <a:effectLst/>
          </p:spPr>
          <p:txBody>
            <a:bodyPr/>
            <a:lstStyle/>
            <a:p>
              <a:endParaRPr lang="ru-RU"/>
            </a:p>
          </p:txBody>
        </p:sp>
      </p:grpSp>
      <p:pic>
        <p:nvPicPr>
          <p:cNvPr id="36925" name="slide_38.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925"/>
                                        </p:tgtEl>
                                      </p:cBhvr>
                                    </p:cmd>
                                  </p:childTnLst>
                                </p:cTn>
                              </p:par>
                            </p:childTnLst>
                          </p:cTn>
                        </p:par>
                      </p:childTnLst>
                    </p:cTn>
                  </p:par>
                </p:childTnLst>
              </p:cTn>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229600" cy="201612"/>
          </a:xfrm>
        </p:spPr>
        <p:txBody>
          <a:bodyPr/>
          <a:lstStyle/>
          <a:p>
            <a:r>
              <a:rPr lang="ru-RU" sz="2400"/>
              <a:t>Время жизни </a:t>
            </a:r>
            <a:r>
              <a:rPr lang="en-US" sz="2400"/>
              <a:t>IP </a:t>
            </a:r>
            <a:r>
              <a:rPr lang="ru-RU" sz="2400"/>
              <a:t>пакета</a:t>
            </a:r>
          </a:p>
        </p:txBody>
      </p:sp>
      <p:sp>
        <p:nvSpPr>
          <p:cNvPr id="37891" name="Rectangle 3"/>
          <p:cNvSpPr>
            <a:spLocks noGrp="1" noChangeArrowheads="1"/>
          </p:cNvSpPr>
          <p:nvPr>
            <p:ph type="body" idx="1"/>
          </p:nvPr>
        </p:nvSpPr>
        <p:spPr>
          <a:xfrm>
            <a:off x="468313" y="2565400"/>
            <a:ext cx="8280400" cy="4525963"/>
          </a:xfrm>
        </p:spPr>
        <p:txBody>
          <a:bodyPr/>
          <a:lstStyle/>
          <a:p>
            <a:pPr>
              <a:lnSpc>
                <a:spcPct val="90000"/>
              </a:lnSpc>
            </a:pPr>
            <a:r>
              <a:rPr lang="ru-RU" sz="2400"/>
              <a:t>В силу ошибок маршрутизации или по другим причинам пакет может бесконечно циркулировать по некоторому пути в сети</a:t>
            </a:r>
          </a:p>
          <a:p>
            <a:pPr lvl="1">
              <a:lnSpc>
                <a:spcPct val="90000"/>
              </a:lnSpc>
            </a:pPr>
            <a:r>
              <a:rPr lang="ru-RU" sz="2000"/>
              <a:t>поскольку маршрутизатор обрабатывает </a:t>
            </a:r>
            <a:r>
              <a:rPr lang="en-US" sz="2000"/>
              <a:t>IP </a:t>
            </a:r>
            <a:r>
              <a:rPr lang="ru-RU" sz="2000"/>
              <a:t>в дейтаграммном режиме, т.е. «забывает» о всех переданных пакетах (не хранит предысторию) – такие пакеты могут «бродить по сети» вечно</a:t>
            </a:r>
          </a:p>
          <a:p>
            <a:pPr lvl="1">
              <a:lnSpc>
                <a:spcPct val="90000"/>
              </a:lnSpc>
            </a:pPr>
            <a:r>
              <a:rPr lang="ru-RU" sz="2000"/>
              <a:t>чтобы устранить перегрузку сети такими пакетами, введено поле </a:t>
            </a:r>
            <a:r>
              <a:rPr lang="en-US" sz="2000"/>
              <a:t>TTL</a:t>
            </a:r>
          </a:p>
          <a:p>
            <a:pPr lvl="2">
              <a:lnSpc>
                <a:spcPct val="90000"/>
              </a:lnSpc>
            </a:pPr>
            <a:r>
              <a:rPr lang="ru-RU" sz="1600"/>
              <a:t>хост-отправитель устанавливает </a:t>
            </a:r>
            <a:r>
              <a:rPr lang="en-US" sz="1600"/>
              <a:t>TTL </a:t>
            </a:r>
            <a:r>
              <a:rPr lang="ru-RU" sz="1600"/>
              <a:t>в некоторое заданной значение, отличное от нуля</a:t>
            </a:r>
          </a:p>
          <a:p>
            <a:pPr lvl="2">
              <a:lnSpc>
                <a:spcPct val="90000"/>
              </a:lnSpc>
            </a:pPr>
            <a:r>
              <a:rPr lang="ru-RU" sz="1600"/>
              <a:t>при всякой переретрансляции промежуточные маршрутизаторы уменьшают значение </a:t>
            </a:r>
            <a:r>
              <a:rPr lang="en-US" sz="1600"/>
              <a:t>TTL </a:t>
            </a:r>
            <a:r>
              <a:rPr lang="ru-RU" sz="1600"/>
              <a:t>на единицу</a:t>
            </a:r>
          </a:p>
          <a:p>
            <a:pPr lvl="2">
              <a:lnSpc>
                <a:spcPct val="90000"/>
              </a:lnSpc>
            </a:pPr>
            <a:r>
              <a:rPr lang="ru-RU" sz="1600"/>
              <a:t>когда поле </a:t>
            </a:r>
            <a:r>
              <a:rPr lang="en-US" sz="1600"/>
              <a:t>TTL </a:t>
            </a:r>
            <a:r>
              <a:rPr lang="ru-RU" sz="1600"/>
              <a:t>принимает значение 0 – пакет изымается из сети</a:t>
            </a:r>
          </a:p>
        </p:txBody>
      </p:sp>
      <p:graphicFrame>
        <p:nvGraphicFramePr>
          <p:cNvPr id="37892" name="Object 4"/>
          <p:cNvGraphicFramePr>
            <a:graphicFrameLocks noChangeAspect="1"/>
          </p:cNvGraphicFramePr>
          <p:nvPr/>
        </p:nvGraphicFramePr>
        <p:xfrm>
          <a:off x="0" y="476250"/>
          <a:ext cx="4440238" cy="2057400"/>
        </p:xfrm>
        <a:graphic>
          <a:graphicData uri="http://schemas.openxmlformats.org/presentationml/2006/ole">
            <p:oleObj spid="_x0000_s37892" name="VISIO" r:id="rId3" imgW="5914800" imgH="2740680" progId="Visio.Drawing.6">
              <p:embed/>
            </p:oleObj>
          </a:graphicData>
        </a:graphic>
      </p:graphicFrame>
      <p:pic>
        <p:nvPicPr>
          <p:cNvPr id="37893" name="slide_3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893"/>
                                        </p:tgtEl>
                                      </p:cBhvr>
                                    </p:cmd>
                                  </p:childTnLst>
                                </p:cTn>
                              </p:par>
                            </p:childTnLst>
                          </p:cTn>
                        </p:par>
                      </p:childTnLst>
                    </p:cTn>
                  </p:par>
                </p:childTnLst>
              </p:cTn>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68313" y="0"/>
            <a:ext cx="8229600" cy="620713"/>
          </a:xfrm>
        </p:spPr>
        <p:txBody>
          <a:bodyPr/>
          <a:lstStyle/>
          <a:p>
            <a:r>
              <a:rPr lang="ru-RU" sz="4000"/>
              <a:t>Механизм </a:t>
            </a:r>
            <a:r>
              <a:rPr lang="en-US" sz="4000"/>
              <a:t>IP-</a:t>
            </a:r>
            <a:r>
              <a:rPr lang="ru-RU" sz="4000"/>
              <a:t>инкапсуляции</a:t>
            </a:r>
          </a:p>
        </p:txBody>
      </p:sp>
      <p:sp>
        <p:nvSpPr>
          <p:cNvPr id="38915" name="Rectangle 3"/>
          <p:cNvSpPr>
            <a:spLocks noGrp="1" noChangeArrowheads="1"/>
          </p:cNvSpPr>
          <p:nvPr>
            <p:ph type="body" idx="1"/>
          </p:nvPr>
        </p:nvSpPr>
        <p:spPr>
          <a:xfrm>
            <a:off x="4391025" y="520700"/>
            <a:ext cx="4752975" cy="6337300"/>
          </a:xfrm>
        </p:spPr>
        <p:txBody>
          <a:bodyPr/>
          <a:lstStyle/>
          <a:p>
            <a:r>
              <a:rPr lang="en-US" sz="2000"/>
              <a:t>IP </a:t>
            </a:r>
            <a:r>
              <a:rPr lang="ru-RU" sz="2000"/>
              <a:t>может «нести» данные различных протоколов, номер «вложенного» протокола кодируется в поле </a:t>
            </a:r>
            <a:r>
              <a:rPr lang="en-US" sz="2000"/>
              <a:t>NEXT PROTOCOL</a:t>
            </a:r>
            <a:r>
              <a:rPr lang="ru-RU" sz="2000"/>
              <a:t>:</a:t>
            </a:r>
          </a:p>
          <a:p>
            <a:pPr lvl="1"/>
            <a:r>
              <a:rPr lang="ru-RU" sz="1600"/>
              <a:t>0: Reserved</a:t>
            </a:r>
          </a:p>
          <a:p>
            <a:pPr lvl="1"/>
            <a:r>
              <a:rPr lang="ru-RU" sz="1600"/>
              <a:t>1: Internet Control Message Protocol (ICMP)</a:t>
            </a:r>
          </a:p>
          <a:p>
            <a:pPr lvl="1"/>
            <a:r>
              <a:rPr lang="ru-RU" sz="1600"/>
              <a:t>2: Internet Group Management Protocol (IGMP)</a:t>
            </a:r>
          </a:p>
          <a:p>
            <a:pPr lvl="1"/>
            <a:r>
              <a:rPr lang="ru-RU" sz="1600"/>
              <a:t>3: Gateway-to-Gateway Protocol (GGP)</a:t>
            </a:r>
          </a:p>
          <a:p>
            <a:pPr lvl="1"/>
            <a:r>
              <a:rPr lang="ru-RU" sz="1600"/>
              <a:t>4: IP (IP encapsulation)</a:t>
            </a:r>
          </a:p>
          <a:p>
            <a:pPr lvl="1"/>
            <a:r>
              <a:rPr lang="ru-RU" sz="1600"/>
              <a:t>5: Stream</a:t>
            </a:r>
          </a:p>
          <a:p>
            <a:pPr lvl="1"/>
            <a:r>
              <a:rPr lang="ru-RU" sz="1600"/>
              <a:t>6: Transmission Control Protocol (TCP)</a:t>
            </a:r>
          </a:p>
          <a:p>
            <a:pPr lvl="1"/>
            <a:r>
              <a:rPr lang="ru-RU" sz="1600"/>
              <a:t>8: Exterior Gateway Protocol (EGP)</a:t>
            </a:r>
          </a:p>
          <a:p>
            <a:pPr lvl="1"/>
            <a:r>
              <a:rPr lang="ru-RU" sz="1600"/>
              <a:t>9: Private Interior Routing Protocol</a:t>
            </a:r>
          </a:p>
          <a:p>
            <a:pPr lvl="1"/>
            <a:r>
              <a:rPr lang="ru-RU" sz="1600"/>
              <a:t>17: User Datagram Protocol (UDP)</a:t>
            </a:r>
          </a:p>
          <a:p>
            <a:pPr lvl="1"/>
            <a:r>
              <a:rPr lang="ru-RU" sz="1600"/>
              <a:t>41: IP Version 6 (IPv6)</a:t>
            </a:r>
          </a:p>
          <a:p>
            <a:pPr lvl="1"/>
            <a:r>
              <a:rPr lang="ru-RU" sz="1600"/>
              <a:t>50: Encap Security Payload (ESP)</a:t>
            </a:r>
          </a:p>
          <a:p>
            <a:pPr lvl="1"/>
            <a:r>
              <a:rPr lang="ru-RU" sz="1600"/>
              <a:t>51: Authentication Header (AH)</a:t>
            </a:r>
          </a:p>
          <a:p>
            <a:pPr lvl="1"/>
            <a:r>
              <a:rPr lang="ru-RU" sz="1600"/>
              <a:t>89: Open Shortest Path First</a:t>
            </a:r>
            <a:r>
              <a:rPr lang="en-US" sz="1600"/>
              <a:t> (OSPF)</a:t>
            </a:r>
            <a:endParaRPr lang="ru-RU" sz="1800"/>
          </a:p>
        </p:txBody>
      </p:sp>
      <p:graphicFrame>
        <p:nvGraphicFramePr>
          <p:cNvPr id="38916" name="Object 4"/>
          <p:cNvGraphicFramePr>
            <a:graphicFrameLocks noChangeAspect="1"/>
          </p:cNvGraphicFramePr>
          <p:nvPr/>
        </p:nvGraphicFramePr>
        <p:xfrm>
          <a:off x="0" y="836613"/>
          <a:ext cx="4440238" cy="2057400"/>
        </p:xfrm>
        <a:graphic>
          <a:graphicData uri="http://schemas.openxmlformats.org/presentationml/2006/ole">
            <p:oleObj spid="_x0000_s38916" name="VISIO" r:id="rId3" imgW="5914800" imgH="2740680" progId="Visio.Drawing.6">
              <p:embed/>
            </p:oleObj>
          </a:graphicData>
        </a:graphic>
      </p:graphicFrame>
      <p:sp>
        <p:nvSpPr>
          <p:cNvPr id="38917" name="Rectangle 5"/>
          <p:cNvSpPr>
            <a:spLocks noChangeArrowheads="1"/>
          </p:cNvSpPr>
          <p:nvPr/>
        </p:nvSpPr>
        <p:spPr bwMode="auto">
          <a:xfrm>
            <a:off x="0" y="3068638"/>
            <a:ext cx="3505200" cy="2790825"/>
          </a:xfrm>
          <a:prstGeom prst="rect">
            <a:avLst/>
          </a:prstGeom>
          <a:noFill/>
          <a:ln w="9525">
            <a:solidFill>
              <a:schemeClr val="bg2"/>
            </a:solidFill>
            <a:miter lim="800000"/>
            <a:headEnd/>
            <a:tailEnd/>
          </a:ln>
          <a:effectLst/>
        </p:spPr>
        <p:txBody>
          <a:bodyPr>
            <a:spAutoFit/>
          </a:bodyPr>
          <a:lstStyle/>
          <a:p>
            <a:r>
              <a:rPr lang="ru-RU" sz="1600" b="1">
                <a:solidFill>
                  <a:srgbClr val="800000"/>
                </a:solidFill>
              </a:rPr>
              <a:t>Обратите внимание на множественность механизмов туннелирования трафика, заложенных в </a:t>
            </a:r>
            <a:r>
              <a:rPr lang="en-US" sz="1600" b="1">
                <a:solidFill>
                  <a:srgbClr val="800000"/>
                </a:solidFill>
              </a:rPr>
              <a:t>IP: IP</a:t>
            </a:r>
            <a:r>
              <a:rPr lang="ru-RU" sz="1600" b="1">
                <a:solidFill>
                  <a:srgbClr val="800000"/>
                </a:solidFill>
              </a:rPr>
              <a:t> может «нести» не только транспортные </a:t>
            </a:r>
            <a:r>
              <a:rPr lang="en-US" sz="1600" b="1">
                <a:solidFill>
                  <a:srgbClr val="800000"/>
                </a:solidFill>
              </a:rPr>
              <a:t>(TCP, UDP), </a:t>
            </a:r>
            <a:r>
              <a:rPr lang="ru-RU" sz="1600" b="1">
                <a:solidFill>
                  <a:srgbClr val="800000"/>
                </a:solidFill>
              </a:rPr>
              <a:t> </a:t>
            </a:r>
            <a:r>
              <a:rPr lang="en-US" sz="1600" b="1">
                <a:solidFill>
                  <a:srgbClr val="800000"/>
                </a:solidFill>
              </a:rPr>
              <a:t> </a:t>
            </a:r>
            <a:r>
              <a:rPr lang="ru-RU" sz="1600" b="1">
                <a:solidFill>
                  <a:srgbClr val="800000"/>
                </a:solidFill>
              </a:rPr>
              <a:t>служебные (</a:t>
            </a:r>
            <a:r>
              <a:rPr lang="en-US" sz="1600" b="1">
                <a:solidFill>
                  <a:srgbClr val="800000"/>
                </a:solidFill>
              </a:rPr>
              <a:t>ICMP, IGMP, GGP, EGP, OSPF), </a:t>
            </a:r>
            <a:r>
              <a:rPr lang="ru-RU" sz="1600" b="1">
                <a:solidFill>
                  <a:srgbClr val="800000"/>
                </a:solidFill>
              </a:rPr>
              <a:t>протоколы сетевой защиты </a:t>
            </a:r>
            <a:r>
              <a:rPr lang="en-US" sz="1600" b="1">
                <a:solidFill>
                  <a:srgbClr val="800000"/>
                </a:solidFill>
              </a:rPr>
              <a:t>(AH </a:t>
            </a:r>
            <a:r>
              <a:rPr lang="ru-RU" sz="1600" b="1">
                <a:solidFill>
                  <a:srgbClr val="800000"/>
                </a:solidFill>
              </a:rPr>
              <a:t>и </a:t>
            </a:r>
            <a:r>
              <a:rPr lang="en-US" sz="1600" b="1">
                <a:solidFill>
                  <a:srgbClr val="800000"/>
                </a:solidFill>
              </a:rPr>
              <a:t>ESP), </a:t>
            </a:r>
            <a:r>
              <a:rPr lang="ru-RU" sz="1600" b="1">
                <a:solidFill>
                  <a:srgbClr val="800000"/>
                </a:solidFill>
              </a:rPr>
              <a:t>но также нести «себя» (</a:t>
            </a:r>
            <a:r>
              <a:rPr lang="en-US" sz="1600" b="1">
                <a:solidFill>
                  <a:srgbClr val="800000"/>
                </a:solidFill>
              </a:rPr>
              <a:t>IP-IP </a:t>
            </a:r>
            <a:r>
              <a:rPr lang="ru-RU" sz="1600" b="1">
                <a:solidFill>
                  <a:srgbClr val="800000"/>
                </a:solidFill>
              </a:rPr>
              <a:t>инкапсуляция), </a:t>
            </a:r>
            <a:r>
              <a:rPr lang="en-US" sz="1600" b="1">
                <a:solidFill>
                  <a:srgbClr val="800000"/>
                </a:solidFill>
              </a:rPr>
              <a:t>IPv6</a:t>
            </a:r>
            <a:endParaRPr lang="ru-RU" sz="1600" b="1">
              <a:solidFill>
                <a:srgbClr val="800000"/>
              </a:solidFill>
            </a:endParaRPr>
          </a:p>
        </p:txBody>
      </p:sp>
      <p:pic>
        <p:nvPicPr>
          <p:cNvPr id="38918" name="Picture 6" descr="pointfinger-r"/>
          <p:cNvPicPr>
            <a:picLocks noChangeAspect="1" noChangeArrowheads="1"/>
          </p:cNvPicPr>
          <p:nvPr/>
        </p:nvPicPr>
        <p:blipFill>
          <a:blip r:embed="rId4" cstate="print"/>
          <a:srcRect/>
          <a:stretch>
            <a:fillRect/>
          </a:stretch>
        </p:blipFill>
        <p:spPr bwMode="auto">
          <a:xfrm>
            <a:off x="3419475" y="3500438"/>
            <a:ext cx="730250" cy="360362"/>
          </a:xfrm>
          <a:prstGeom prst="rect">
            <a:avLst/>
          </a:prstGeom>
          <a:noFill/>
        </p:spPr>
      </p:pic>
      <p:pic>
        <p:nvPicPr>
          <p:cNvPr id="38919" name="slide_40.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919"/>
                                        </p:tgtEl>
                                      </p:cBhvr>
                                    </p:cmd>
                                  </p:childTnLst>
                                </p:cTn>
                              </p:par>
                            </p:childTnLst>
                          </p:cTn>
                        </p:par>
                      </p:childTnLst>
                    </p:cTn>
                  </p:par>
                </p:childTnLst>
              </p:cTn>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8313" y="115888"/>
            <a:ext cx="8229600" cy="706437"/>
          </a:xfrm>
        </p:spPr>
        <p:txBody>
          <a:bodyPr/>
          <a:lstStyle/>
          <a:p>
            <a:r>
              <a:rPr lang="ru-RU" sz="4000"/>
              <a:t>Целостность </a:t>
            </a:r>
            <a:r>
              <a:rPr lang="en-US" sz="4000"/>
              <a:t>IP</a:t>
            </a:r>
            <a:r>
              <a:rPr lang="ru-RU" sz="4000"/>
              <a:t>-пакетов</a:t>
            </a:r>
          </a:p>
        </p:txBody>
      </p:sp>
      <p:sp>
        <p:nvSpPr>
          <p:cNvPr id="39939" name="Rectangle 3"/>
          <p:cNvSpPr>
            <a:spLocks noGrp="1" noChangeArrowheads="1"/>
          </p:cNvSpPr>
          <p:nvPr>
            <p:ph type="body" idx="1"/>
          </p:nvPr>
        </p:nvSpPr>
        <p:spPr>
          <a:xfrm>
            <a:off x="755650" y="3068638"/>
            <a:ext cx="7559675" cy="4525962"/>
          </a:xfrm>
        </p:spPr>
        <p:txBody>
          <a:bodyPr/>
          <a:lstStyle/>
          <a:p>
            <a:r>
              <a:rPr lang="en-US" sz="2400"/>
              <a:t>IP (</a:t>
            </a:r>
            <a:r>
              <a:rPr lang="ru-RU" sz="2400"/>
              <a:t>если не применяются специальные протоколы защиты информации </a:t>
            </a:r>
            <a:r>
              <a:rPr lang="en-US" sz="2400"/>
              <a:t>AH </a:t>
            </a:r>
            <a:r>
              <a:rPr lang="ru-RU" sz="2400"/>
              <a:t>и </a:t>
            </a:r>
            <a:r>
              <a:rPr lang="en-US" sz="2400"/>
              <a:t>ESP</a:t>
            </a:r>
            <a:r>
              <a:rPr lang="ru-RU" sz="2400"/>
              <a:t>) вообще не следит за целостностью </a:t>
            </a:r>
            <a:r>
              <a:rPr lang="en-US" sz="2400"/>
              <a:t>IP</a:t>
            </a:r>
            <a:r>
              <a:rPr lang="ru-RU" sz="2400"/>
              <a:t>-пакетов</a:t>
            </a:r>
          </a:p>
          <a:p>
            <a:pPr lvl="1"/>
            <a:r>
              <a:rPr lang="ru-RU" sz="2000"/>
              <a:t>в этом есть резон, поскольку за целостностью данных «следят» протоколы канального и транспортного уровня, </a:t>
            </a:r>
            <a:r>
              <a:rPr lang="en-US" sz="2000"/>
              <a:t>IP </a:t>
            </a:r>
            <a:r>
              <a:rPr lang="ru-RU" sz="2000"/>
              <a:t>ни к чему дублировать их функциональность</a:t>
            </a:r>
          </a:p>
          <a:p>
            <a:pPr lvl="1"/>
            <a:r>
              <a:rPr lang="ru-RU" sz="2000"/>
              <a:t>единственная проверка, которую обеспечивает </a:t>
            </a:r>
            <a:r>
              <a:rPr lang="en-US" sz="2000"/>
              <a:t>IP – </a:t>
            </a:r>
            <a:r>
              <a:rPr lang="ru-RU" sz="2000"/>
              <a:t>проверка целостности собственной служебной информации (контрольная сумма заголовка пакета)</a:t>
            </a:r>
          </a:p>
        </p:txBody>
      </p:sp>
      <p:graphicFrame>
        <p:nvGraphicFramePr>
          <p:cNvPr id="39940" name="Object 4"/>
          <p:cNvGraphicFramePr>
            <a:graphicFrameLocks noChangeAspect="1"/>
          </p:cNvGraphicFramePr>
          <p:nvPr/>
        </p:nvGraphicFramePr>
        <p:xfrm>
          <a:off x="179388" y="836613"/>
          <a:ext cx="4440237" cy="2057400"/>
        </p:xfrm>
        <a:graphic>
          <a:graphicData uri="http://schemas.openxmlformats.org/presentationml/2006/ole">
            <p:oleObj spid="_x0000_s39940" name="VISIO" r:id="rId3" imgW="5914800" imgH="2740680" progId="Visio.Drawing.6">
              <p:embed/>
            </p:oleObj>
          </a:graphicData>
        </a:graphic>
      </p:graphicFrame>
      <p:pic>
        <p:nvPicPr>
          <p:cNvPr id="39941" name="slide_41.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941"/>
                                        </p:tgtEl>
                                      </p:cBhvr>
                                    </p:cmd>
                                  </p:childTnLst>
                                </p:cTn>
                              </p:par>
                            </p:childTnLst>
                          </p:cTn>
                        </p:par>
                      </p:childTnLst>
                    </p:cTn>
                  </p:par>
                </p:childTnLst>
              </p:cTn>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lstStyle/>
          <a:p>
            <a:r>
              <a:rPr lang="ru-RU" sz="2800" dirty="0" smtClean="0"/>
              <a:t>Отличие </a:t>
            </a:r>
            <a:r>
              <a:rPr lang="en-US" sz="2800" dirty="0" smtClean="0"/>
              <a:t>IPv6 </a:t>
            </a:r>
            <a:r>
              <a:rPr lang="ru-RU" sz="2800" dirty="0" smtClean="0"/>
              <a:t>от </a:t>
            </a:r>
            <a:r>
              <a:rPr lang="en-US" sz="2800" dirty="0" smtClean="0"/>
              <a:t>IPv4</a:t>
            </a:r>
            <a:endParaRPr lang="ru-RU" sz="2800" dirty="0"/>
          </a:p>
        </p:txBody>
      </p:sp>
      <p:sp>
        <p:nvSpPr>
          <p:cNvPr id="3" name="Содержимое 2"/>
          <p:cNvSpPr>
            <a:spLocks noGrp="1"/>
          </p:cNvSpPr>
          <p:nvPr>
            <p:ph idx="1"/>
          </p:nvPr>
        </p:nvSpPr>
        <p:spPr>
          <a:xfrm>
            <a:off x="0" y="908720"/>
            <a:ext cx="9144000" cy="5832648"/>
          </a:xfrm>
        </p:spPr>
        <p:txBody>
          <a:bodyPr/>
          <a:lstStyle/>
          <a:p>
            <a:r>
              <a:rPr lang="ru-RU" sz="1800" dirty="0" smtClean="0"/>
              <a:t>Устраняет </a:t>
            </a:r>
            <a:r>
              <a:rPr lang="ru-RU" sz="1800" dirty="0"/>
              <a:t>дефицит адресов и необходимость использования NAT.</a:t>
            </a:r>
          </a:p>
          <a:p>
            <a:r>
              <a:rPr lang="ru-RU" sz="1800" dirty="0" smtClean="0"/>
              <a:t>Количество полей</a:t>
            </a:r>
            <a:r>
              <a:rPr lang="en-US" sz="1800" dirty="0" smtClean="0"/>
              <a:t> </a:t>
            </a:r>
            <a:r>
              <a:rPr lang="ru-RU" sz="1800" dirty="0" smtClean="0"/>
              <a:t>заголовка </a:t>
            </a:r>
            <a:r>
              <a:rPr lang="ru-RU" sz="1800" dirty="0"/>
              <a:t>сокращено </a:t>
            </a:r>
            <a:r>
              <a:rPr lang="ru-RU" sz="1800" dirty="0" smtClean="0"/>
              <a:t>вдвое и фиксировано.</a:t>
            </a:r>
            <a:endParaRPr lang="ru-RU" sz="1800" dirty="0"/>
          </a:p>
          <a:p>
            <a:r>
              <a:rPr lang="ru-RU" sz="1800" dirty="0" smtClean="0"/>
              <a:t>Полный </a:t>
            </a:r>
            <a:r>
              <a:rPr lang="ru-RU" sz="1800" dirty="0"/>
              <a:t>отказ от широковещания (</a:t>
            </a:r>
            <a:r>
              <a:rPr lang="ru-RU" sz="1800" dirty="0" err="1"/>
              <a:t>Broadcast</a:t>
            </a:r>
            <a:r>
              <a:rPr lang="ru-RU" sz="1800" dirty="0"/>
              <a:t>). Управление трафиком реализовано через </a:t>
            </a:r>
            <a:r>
              <a:rPr lang="ru-RU" sz="1800" b="1" dirty="0" err="1"/>
              <a:t>Multicast</a:t>
            </a:r>
            <a:r>
              <a:rPr lang="ru-RU" sz="1800" dirty="0"/>
              <a:t> и </a:t>
            </a:r>
            <a:r>
              <a:rPr lang="ru-RU" sz="1800" b="1" dirty="0" err="1"/>
              <a:t>Anycast</a:t>
            </a:r>
            <a:r>
              <a:rPr lang="ru-RU" sz="1800" dirty="0"/>
              <a:t>.</a:t>
            </a:r>
          </a:p>
          <a:p>
            <a:r>
              <a:rPr lang="ru-RU" sz="1800" dirty="0" smtClean="0"/>
              <a:t>Поддержка </a:t>
            </a:r>
            <a:r>
              <a:rPr lang="ru-RU" sz="1800" b="1" dirty="0"/>
              <a:t>SLAAC</a:t>
            </a:r>
            <a:r>
              <a:rPr lang="ru-RU" sz="1800" dirty="0"/>
              <a:t> (автономное назначение адреса хостом) в дополнение к DHCPv6.</a:t>
            </a:r>
          </a:p>
          <a:p>
            <a:r>
              <a:rPr lang="ru-RU" sz="1800" b="1" dirty="0" smtClean="0"/>
              <a:t>Исключение </a:t>
            </a:r>
            <a:r>
              <a:rPr lang="ru-RU" sz="1800" b="1" dirty="0"/>
              <a:t>фрагментации на транзитных узлах:</a:t>
            </a:r>
            <a:endParaRPr lang="ru-RU" sz="1800" dirty="0"/>
          </a:p>
          <a:p>
            <a:pPr lvl="1"/>
            <a:r>
              <a:rPr lang="ru-RU" sz="1800" dirty="0"/>
              <a:t>Промежуточные </a:t>
            </a:r>
            <a:r>
              <a:rPr lang="ru-RU" sz="1800" dirty="0" err="1"/>
              <a:t>маршрутизаторы</a:t>
            </a:r>
            <a:r>
              <a:rPr lang="ru-RU" sz="1800" dirty="0"/>
              <a:t> </a:t>
            </a:r>
            <a:r>
              <a:rPr lang="ru-RU" sz="1800" b="1" dirty="0"/>
              <a:t>никогда не фрагментируют пакеты</a:t>
            </a:r>
            <a:r>
              <a:rPr lang="ru-RU" sz="1800" dirty="0"/>
              <a:t>.</a:t>
            </a:r>
          </a:p>
          <a:p>
            <a:pPr lvl="1"/>
            <a:r>
              <a:rPr lang="ru-RU" sz="1800" dirty="0"/>
              <a:t>Определение допустимого размера (MTU) выполняется отправителем через </a:t>
            </a:r>
            <a:r>
              <a:rPr lang="ru-RU" sz="1800" b="1" dirty="0"/>
              <a:t>PMTUD</a:t>
            </a:r>
            <a:r>
              <a:rPr lang="ru-RU" sz="1800" dirty="0"/>
              <a:t>. Фрагментация происходит исключительно на источнике.</a:t>
            </a:r>
          </a:p>
          <a:p>
            <a:r>
              <a:rPr lang="ru-RU" sz="1800" b="1" dirty="0" smtClean="0"/>
              <a:t>Удаление </a:t>
            </a:r>
            <a:r>
              <a:rPr lang="ru-RU" sz="1800" b="1" dirty="0"/>
              <a:t>контрольной суммы (</a:t>
            </a:r>
            <a:r>
              <a:rPr lang="ru-RU" sz="1800" b="1" dirty="0" err="1"/>
              <a:t>Checksum</a:t>
            </a:r>
            <a:r>
              <a:rPr lang="ru-RU" sz="1800" b="1" dirty="0"/>
              <a:t>):</a:t>
            </a:r>
            <a:endParaRPr lang="ru-RU" sz="1800" dirty="0"/>
          </a:p>
          <a:p>
            <a:pPr lvl="1"/>
            <a:r>
              <a:rPr lang="ru-RU" sz="1800" dirty="0"/>
              <a:t>Верификация целостности перенесена на канальный и транспортный </a:t>
            </a:r>
            <a:r>
              <a:rPr lang="ru-RU" sz="1800" dirty="0" smtClean="0"/>
              <a:t>уровни. Исключен </a:t>
            </a:r>
            <a:r>
              <a:rPr lang="ru-RU" sz="1800" dirty="0"/>
              <a:t>ресурсоемкий </a:t>
            </a:r>
            <a:r>
              <a:rPr lang="ru-RU" sz="1800" b="1" dirty="0"/>
              <a:t>пересчет контрольной суммы при декременте поля </a:t>
            </a:r>
            <a:r>
              <a:rPr lang="ru-RU" sz="1800" b="1" dirty="0" err="1"/>
              <a:t>Hop</a:t>
            </a:r>
            <a:r>
              <a:rPr lang="ru-RU" sz="1800" b="1" dirty="0"/>
              <a:t> </a:t>
            </a:r>
            <a:r>
              <a:rPr lang="ru-RU" sz="1800" b="1" dirty="0" err="1"/>
              <a:t>Limit</a:t>
            </a:r>
            <a:r>
              <a:rPr lang="ru-RU" sz="1800" b="1" dirty="0"/>
              <a:t> (TTL)</a:t>
            </a:r>
            <a:r>
              <a:rPr lang="ru-RU" sz="1800" dirty="0"/>
              <a:t> на каждом </a:t>
            </a:r>
            <a:r>
              <a:rPr lang="ru-RU" sz="1800" dirty="0" err="1"/>
              <a:t>маршрутизаторе</a:t>
            </a:r>
            <a:r>
              <a:rPr lang="ru-RU" sz="1800" dirty="0"/>
              <a:t>. </a:t>
            </a:r>
          </a:p>
          <a:p>
            <a:r>
              <a:rPr lang="ru-RU" sz="1800" b="1" dirty="0" smtClean="0"/>
              <a:t>Метка </a:t>
            </a:r>
            <a:r>
              <a:rPr lang="ru-RU" sz="1800" b="1" dirty="0"/>
              <a:t>потока (</a:t>
            </a:r>
            <a:r>
              <a:rPr lang="ru-RU" sz="1800" b="1" dirty="0" err="1"/>
              <a:t>Flow</a:t>
            </a:r>
            <a:r>
              <a:rPr lang="ru-RU" sz="1800" b="1" dirty="0"/>
              <a:t> </a:t>
            </a:r>
            <a:r>
              <a:rPr lang="ru-RU" sz="1800" b="1" dirty="0" err="1"/>
              <a:t>Label</a:t>
            </a:r>
            <a:r>
              <a:rPr lang="ru-RU" sz="1800" b="1" dirty="0"/>
              <a:t>):</a:t>
            </a:r>
            <a:r>
              <a:rPr lang="ru-RU" sz="1800" dirty="0"/>
              <a:t> 20-битное поле для идентификации пакетов одной сессии. Позволяет сохранять порядок доставки и </a:t>
            </a:r>
            <a:r>
              <a:rPr lang="ru-RU" sz="1800" dirty="0" err="1"/>
              <a:t>приоритизировать</a:t>
            </a:r>
            <a:r>
              <a:rPr lang="ru-RU" sz="1800" dirty="0"/>
              <a:t> трафик (</a:t>
            </a:r>
            <a:r>
              <a:rPr lang="ru-RU" sz="1800" dirty="0" err="1"/>
              <a:t>QoS</a:t>
            </a:r>
            <a:r>
              <a:rPr lang="ru-RU" sz="1800" dirty="0"/>
              <a:t>) без глубокого анализа (DPI).</a:t>
            </a:r>
          </a:p>
          <a:p>
            <a:r>
              <a:rPr lang="ru-RU" sz="1800" b="1" dirty="0" err="1"/>
              <a:t>Джамбограммы</a:t>
            </a:r>
            <a:r>
              <a:rPr lang="ru-RU" sz="1800" b="1" dirty="0"/>
              <a:t> (</a:t>
            </a:r>
            <a:r>
              <a:rPr lang="ru-RU" sz="1800" b="1" dirty="0" err="1"/>
              <a:t>Jumbograms</a:t>
            </a:r>
            <a:r>
              <a:rPr lang="ru-RU" sz="1800" b="1" dirty="0"/>
              <a:t>):</a:t>
            </a:r>
            <a:r>
              <a:rPr lang="ru-RU" sz="1800" dirty="0"/>
              <a:t> Расширение заголовка для передачи пакетов размером </a:t>
            </a:r>
            <a:r>
              <a:rPr lang="ru-RU" sz="1800" b="1" dirty="0"/>
              <a:t>до 4 Гбайт</a:t>
            </a:r>
            <a:r>
              <a:rPr lang="ru-RU" sz="1800" dirty="0"/>
              <a:t> в высокоскоростных магистральных сетях.</a:t>
            </a:r>
          </a:p>
          <a:p>
            <a:endParaRPr lang="ru-RU" sz="1800" dirty="0"/>
          </a:p>
        </p:txBody>
      </p:sp>
      <p:pic>
        <p:nvPicPr>
          <p:cNvPr id="4" name="slide_4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ru-RU"/>
              <a:t>Привязка и конфигурирование адресов</a:t>
            </a:r>
          </a:p>
        </p:txBody>
      </p:sp>
      <p:sp>
        <p:nvSpPr>
          <p:cNvPr id="45059" name="Rectangle 3"/>
          <p:cNvSpPr>
            <a:spLocks noGrp="1" noChangeArrowheads="1"/>
          </p:cNvSpPr>
          <p:nvPr>
            <p:ph type="body" idx="1"/>
          </p:nvPr>
        </p:nvSpPr>
        <p:spPr>
          <a:xfrm>
            <a:off x="4548188" y="1600200"/>
            <a:ext cx="4138612" cy="4525963"/>
          </a:xfrm>
        </p:spPr>
        <p:txBody>
          <a:bodyPr/>
          <a:lstStyle/>
          <a:p>
            <a:pPr>
              <a:lnSpc>
                <a:spcPct val="90000"/>
              </a:lnSpc>
            </a:pPr>
            <a:r>
              <a:rPr lang="ru-RU" sz="2000"/>
              <a:t>Поскольку </a:t>
            </a:r>
            <a:r>
              <a:rPr lang="en-US" sz="2000"/>
              <a:t>IP </a:t>
            </a:r>
            <a:r>
              <a:rPr lang="ru-RU" sz="2000"/>
              <a:t>является независимым от природы (и внутренней адресации) физических подсетей, возникает задача сопоставления адресов</a:t>
            </a:r>
            <a:r>
              <a:rPr lang="en-US" sz="2000"/>
              <a:t> </a:t>
            </a:r>
            <a:r>
              <a:rPr lang="ru-RU" sz="2000"/>
              <a:t>физических подсетей (канального уровня) и </a:t>
            </a:r>
            <a:r>
              <a:rPr lang="en-US" sz="2000"/>
              <a:t>IP-</a:t>
            </a:r>
            <a:r>
              <a:rPr lang="ru-RU" sz="2000"/>
              <a:t>адресов (сетевого уровня)</a:t>
            </a:r>
          </a:p>
          <a:p>
            <a:pPr lvl="1">
              <a:lnSpc>
                <a:spcPct val="90000"/>
              </a:lnSpc>
            </a:pPr>
            <a:r>
              <a:rPr lang="ru-RU" sz="2000"/>
              <a:t>эту задачу решают протоколы </a:t>
            </a:r>
            <a:r>
              <a:rPr lang="en-US" sz="2000"/>
              <a:t>ARP </a:t>
            </a:r>
            <a:r>
              <a:rPr lang="ru-RU" sz="2000"/>
              <a:t>и </a:t>
            </a:r>
            <a:r>
              <a:rPr lang="en-US" sz="2000"/>
              <a:t>RARP</a:t>
            </a:r>
            <a:endParaRPr lang="ru-RU" sz="2000"/>
          </a:p>
          <a:p>
            <a:pPr>
              <a:lnSpc>
                <a:spcPct val="90000"/>
              </a:lnSpc>
            </a:pPr>
            <a:r>
              <a:rPr lang="ru-RU" sz="2000"/>
              <a:t>В отдельных случаях требуется присвоить хосту </a:t>
            </a:r>
            <a:r>
              <a:rPr lang="en-US" sz="2000"/>
              <a:t>IP</a:t>
            </a:r>
            <a:r>
              <a:rPr lang="ru-RU" sz="2000"/>
              <a:t>-адрес</a:t>
            </a:r>
          </a:p>
          <a:p>
            <a:pPr lvl="1">
              <a:lnSpc>
                <a:spcPct val="90000"/>
              </a:lnSpc>
            </a:pPr>
            <a:r>
              <a:rPr lang="ru-RU" sz="2000"/>
              <a:t>такое конфигурирование выполняют протоколы </a:t>
            </a:r>
            <a:r>
              <a:rPr lang="en-US" sz="2000"/>
              <a:t>BOOTP </a:t>
            </a:r>
            <a:r>
              <a:rPr lang="ru-RU" sz="2000"/>
              <a:t>и </a:t>
            </a:r>
            <a:r>
              <a:rPr lang="en-US" sz="2000"/>
              <a:t>DHCP</a:t>
            </a:r>
            <a:endParaRPr lang="ru-RU" sz="2000"/>
          </a:p>
        </p:txBody>
      </p:sp>
      <p:grpSp>
        <p:nvGrpSpPr>
          <p:cNvPr id="45060" name="Group 4"/>
          <p:cNvGrpSpPr>
            <a:grpSpLocks/>
          </p:cNvGrpSpPr>
          <p:nvPr/>
        </p:nvGrpSpPr>
        <p:grpSpPr bwMode="auto">
          <a:xfrm>
            <a:off x="152400" y="1828800"/>
            <a:ext cx="4195763" cy="3108325"/>
            <a:chOff x="96" y="1296"/>
            <a:chExt cx="2643" cy="1958"/>
          </a:xfrm>
        </p:grpSpPr>
        <p:graphicFrame>
          <p:nvGraphicFramePr>
            <p:cNvPr id="45061" name="Object 5"/>
            <p:cNvGraphicFramePr>
              <a:graphicFrameLocks noChangeAspect="1"/>
            </p:cNvGraphicFramePr>
            <p:nvPr/>
          </p:nvGraphicFramePr>
          <p:xfrm>
            <a:off x="504" y="1296"/>
            <a:ext cx="1944" cy="1866"/>
          </p:xfrm>
          <a:graphic>
            <a:graphicData uri="http://schemas.openxmlformats.org/presentationml/2006/ole">
              <p:oleObj spid="_x0000_s45061" name="VISIO" r:id="rId4" imgW="3086640" imgH="2962800" progId="Visio.Drawing.6">
                <p:embed/>
              </p:oleObj>
            </a:graphicData>
          </a:graphic>
        </p:graphicFrame>
        <p:sp>
          <p:nvSpPr>
            <p:cNvPr id="45062" name="Rectangle 6"/>
            <p:cNvSpPr>
              <a:spLocks noChangeArrowheads="1"/>
            </p:cNvSpPr>
            <p:nvPr/>
          </p:nvSpPr>
          <p:spPr bwMode="auto">
            <a:xfrm>
              <a:off x="1680" y="1680"/>
              <a:ext cx="1059" cy="192"/>
            </a:xfrm>
            <a:prstGeom prst="rect">
              <a:avLst/>
            </a:prstGeom>
            <a:noFill/>
            <a:ln w="9525">
              <a:noFill/>
              <a:miter lim="800000"/>
              <a:headEnd/>
              <a:tailEnd/>
            </a:ln>
            <a:effectLst/>
          </p:spPr>
          <p:txBody>
            <a:bodyPr wrap="none">
              <a:spAutoFit/>
            </a:bodyPr>
            <a:lstStyle/>
            <a:p>
              <a:r>
                <a:rPr lang="en-US" sz="1400" b="1">
                  <a:solidFill>
                    <a:srgbClr val="001C54"/>
                  </a:solidFill>
                </a:rPr>
                <a:t>Ethernet 10BaseT</a:t>
              </a:r>
              <a:endParaRPr lang="ru-RU" sz="1400" b="1">
                <a:solidFill>
                  <a:srgbClr val="001C54"/>
                </a:solidFill>
              </a:endParaRPr>
            </a:p>
          </p:txBody>
        </p:sp>
        <p:sp>
          <p:nvSpPr>
            <p:cNvPr id="45063" name="Rectangle 7"/>
            <p:cNvSpPr>
              <a:spLocks noChangeArrowheads="1"/>
            </p:cNvSpPr>
            <p:nvPr/>
          </p:nvSpPr>
          <p:spPr bwMode="auto">
            <a:xfrm>
              <a:off x="96" y="1872"/>
              <a:ext cx="1121" cy="192"/>
            </a:xfrm>
            <a:prstGeom prst="rect">
              <a:avLst/>
            </a:prstGeom>
            <a:noFill/>
            <a:ln w="9525">
              <a:noFill/>
              <a:miter lim="800000"/>
              <a:headEnd/>
              <a:tailEnd/>
            </a:ln>
            <a:effectLst/>
          </p:spPr>
          <p:txBody>
            <a:bodyPr wrap="none">
              <a:spAutoFit/>
            </a:bodyPr>
            <a:lstStyle/>
            <a:p>
              <a:r>
                <a:rPr lang="en-US" sz="1400" b="1">
                  <a:solidFill>
                    <a:srgbClr val="001C54"/>
                  </a:solidFill>
                </a:rPr>
                <a:t>Ethernet 100BaseT</a:t>
              </a:r>
              <a:endParaRPr lang="ru-RU" sz="1400" b="1">
                <a:solidFill>
                  <a:srgbClr val="001C54"/>
                </a:solidFill>
              </a:endParaRPr>
            </a:p>
          </p:txBody>
        </p:sp>
        <p:sp>
          <p:nvSpPr>
            <p:cNvPr id="45064" name="Rectangle 8"/>
            <p:cNvSpPr>
              <a:spLocks noChangeArrowheads="1"/>
            </p:cNvSpPr>
            <p:nvPr/>
          </p:nvSpPr>
          <p:spPr bwMode="auto">
            <a:xfrm>
              <a:off x="1536" y="2928"/>
              <a:ext cx="389" cy="192"/>
            </a:xfrm>
            <a:prstGeom prst="rect">
              <a:avLst/>
            </a:prstGeom>
            <a:noFill/>
            <a:ln w="9525">
              <a:noFill/>
              <a:miter lim="800000"/>
              <a:headEnd/>
              <a:tailEnd/>
            </a:ln>
            <a:effectLst/>
          </p:spPr>
          <p:txBody>
            <a:bodyPr wrap="none">
              <a:spAutoFit/>
            </a:bodyPr>
            <a:lstStyle/>
            <a:p>
              <a:r>
                <a:rPr lang="en-US" sz="1400" b="1">
                  <a:solidFill>
                    <a:srgbClr val="001C54"/>
                  </a:solidFill>
                </a:rPr>
                <a:t>L2TP</a:t>
              </a:r>
              <a:endParaRPr lang="ru-RU" sz="1400" b="1">
                <a:solidFill>
                  <a:srgbClr val="001C54"/>
                </a:solidFill>
              </a:endParaRPr>
            </a:p>
          </p:txBody>
        </p:sp>
        <p:sp>
          <p:nvSpPr>
            <p:cNvPr id="45065" name="Rectangle 9"/>
            <p:cNvSpPr>
              <a:spLocks noChangeArrowheads="1"/>
            </p:cNvSpPr>
            <p:nvPr/>
          </p:nvSpPr>
          <p:spPr bwMode="auto">
            <a:xfrm>
              <a:off x="576" y="2928"/>
              <a:ext cx="569" cy="326"/>
            </a:xfrm>
            <a:prstGeom prst="rect">
              <a:avLst/>
            </a:prstGeom>
            <a:noFill/>
            <a:ln w="9525">
              <a:noFill/>
              <a:miter lim="800000"/>
              <a:headEnd/>
              <a:tailEnd/>
            </a:ln>
            <a:effectLst/>
          </p:spPr>
          <p:txBody>
            <a:bodyPr wrap="none">
              <a:spAutoFit/>
            </a:bodyPr>
            <a:lstStyle/>
            <a:p>
              <a:r>
                <a:rPr lang="en-US" sz="1400" b="1">
                  <a:solidFill>
                    <a:srgbClr val="001C54"/>
                  </a:solidFill>
                </a:rPr>
                <a:t>Gigabit </a:t>
              </a:r>
            </a:p>
            <a:p>
              <a:r>
                <a:rPr lang="en-US" sz="1400" b="1">
                  <a:solidFill>
                    <a:srgbClr val="001C54"/>
                  </a:solidFill>
                </a:rPr>
                <a:t>Ethernet</a:t>
              </a:r>
              <a:endParaRPr lang="ru-RU" sz="1400" b="1">
                <a:solidFill>
                  <a:srgbClr val="001C54"/>
                </a:solidFill>
              </a:endParaRPr>
            </a:p>
          </p:txBody>
        </p:sp>
        <p:sp>
          <p:nvSpPr>
            <p:cNvPr id="45066" name="Rectangle 10"/>
            <p:cNvSpPr>
              <a:spLocks noChangeArrowheads="1"/>
            </p:cNvSpPr>
            <p:nvPr/>
          </p:nvSpPr>
          <p:spPr bwMode="auto">
            <a:xfrm>
              <a:off x="784" y="1408"/>
              <a:ext cx="409" cy="192"/>
            </a:xfrm>
            <a:prstGeom prst="rect">
              <a:avLst/>
            </a:prstGeom>
            <a:noFill/>
            <a:ln w="9525">
              <a:noFill/>
              <a:miter lim="800000"/>
              <a:headEnd/>
              <a:tailEnd/>
            </a:ln>
            <a:effectLst/>
          </p:spPr>
          <p:txBody>
            <a:bodyPr wrap="none">
              <a:spAutoFit/>
            </a:bodyPr>
            <a:lstStyle/>
            <a:p>
              <a:r>
                <a:rPr lang="en-US" sz="1400" b="1">
                  <a:solidFill>
                    <a:srgbClr val="001C54"/>
                  </a:solidFill>
                </a:rPr>
                <a:t>PPTP</a:t>
              </a:r>
              <a:endParaRPr lang="ru-RU" sz="1400" b="1">
                <a:solidFill>
                  <a:srgbClr val="001C54"/>
                </a:solidFill>
              </a:endParaRPr>
            </a:p>
          </p:txBody>
        </p:sp>
        <p:sp>
          <p:nvSpPr>
            <p:cNvPr id="45067" name="Rectangle 11"/>
            <p:cNvSpPr>
              <a:spLocks noChangeArrowheads="1"/>
            </p:cNvSpPr>
            <p:nvPr/>
          </p:nvSpPr>
          <p:spPr bwMode="auto">
            <a:xfrm>
              <a:off x="2183" y="2448"/>
              <a:ext cx="377" cy="192"/>
            </a:xfrm>
            <a:prstGeom prst="rect">
              <a:avLst/>
            </a:prstGeom>
            <a:noFill/>
            <a:ln w="9525">
              <a:noFill/>
              <a:miter lim="800000"/>
              <a:headEnd/>
              <a:tailEnd/>
            </a:ln>
            <a:effectLst/>
          </p:spPr>
          <p:txBody>
            <a:bodyPr wrap="none">
              <a:spAutoFit/>
            </a:bodyPr>
            <a:lstStyle/>
            <a:p>
              <a:r>
                <a:rPr lang="en-US" sz="1400" b="1">
                  <a:solidFill>
                    <a:srgbClr val="001C54"/>
                  </a:solidFill>
                </a:rPr>
                <a:t>FDDI</a:t>
              </a:r>
              <a:endParaRPr lang="ru-RU" sz="1400" b="1">
                <a:solidFill>
                  <a:srgbClr val="001C54"/>
                </a:solidFill>
              </a:endParaRPr>
            </a:p>
          </p:txBody>
        </p:sp>
        <p:sp>
          <p:nvSpPr>
            <p:cNvPr id="45068" name="Rectangle 12"/>
            <p:cNvSpPr>
              <a:spLocks noChangeArrowheads="1"/>
            </p:cNvSpPr>
            <p:nvPr/>
          </p:nvSpPr>
          <p:spPr bwMode="auto">
            <a:xfrm>
              <a:off x="1184" y="2448"/>
              <a:ext cx="352" cy="192"/>
            </a:xfrm>
            <a:prstGeom prst="rect">
              <a:avLst/>
            </a:prstGeom>
            <a:noFill/>
            <a:ln w="9525">
              <a:noFill/>
              <a:miter lim="800000"/>
              <a:headEnd/>
              <a:tailEnd/>
            </a:ln>
            <a:effectLst/>
          </p:spPr>
          <p:txBody>
            <a:bodyPr wrap="none">
              <a:spAutoFit/>
            </a:bodyPr>
            <a:lstStyle/>
            <a:p>
              <a:r>
                <a:rPr lang="en-US" sz="1400" b="1">
                  <a:solidFill>
                    <a:srgbClr val="001C54"/>
                  </a:solidFill>
                </a:rPr>
                <a:t>WiFi</a:t>
              </a:r>
              <a:endParaRPr lang="ru-RU" sz="1400" b="1">
                <a:solidFill>
                  <a:srgbClr val="001C54"/>
                </a:solidFill>
              </a:endParaRPr>
            </a:p>
          </p:txBody>
        </p:sp>
      </p:grpSp>
      <p:pic>
        <p:nvPicPr>
          <p:cNvPr id="45069" name="slide_43.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5069"/>
                                        </p:tgtEl>
                                      </p:cBhvr>
                                    </p:cmd>
                                  </p:childTnLst>
                                </p:cTn>
                              </p:par>
                            </p:childTnLst>
                          </p:cTn>
                        </p:par>
                      </p:childTnLst>
                    </p:cTn>
                  </p:par>
                </p:childTnLst>
              </p:cTn>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ru-RU"/>
              <a:t>Протокол </a:t>
            </a:r>
            <a:r>
              <a:rPr lang="en-US"/>
              <a:t>ARP </a:t>
            </a:r>
            <a:r>
              <a:rPr lang="en-US" sz="3200"/>
              <a:t>(RFC826)</a:t>
            </a:r>
            <a:endParaRPr lang="ru-RU" sz="3200"/>
          </a:p>
        </p:txBody>
      </p:sp>
      <p:sp>
        <p:nvSpPr>
          <p:cNvPr id="47107" name="Rectangle 3"/>
          <p:cNvSpPr>
            <a:spLocks noGrp="1" noChangeArrowheads="1"/>
          </p:cNvSpPr>
          <p:nvPr>
            <p:ph type="body" idx="1"/>
          </p:nvPr>
        </p:nvSpPr>
        <p:spPr>
          <a:xfrm>
            <a:off x="468313" y="1412875"/>
            <a:ext cx="8229600" cy="4525963"/>
          </a:xfrm>
        </p:spPr>
        <p:txBody>
          <a:bodyPr/>
          <a:lstStyle/>
          <a:p>
            <a:r>
              <a:rPr lang="ru-RU" sz="2000"/>
              <a:t>Идея протокола ARP: </a:t>
            </a:r>
          </a:p>
          <a:p>
            <a:pPr lvl="1"/>
            <a:r>
              <a:rPr lang="ru-RU" sz="2000"/>
              <a:t>если узлу А необходимо связаться с узлом В, узел А знает IP-адрес узла В, но не знает его физического адреса, узел А шлет широковещательное сообщение, в котором запрашивает физический адрес узла В</a:t>
            </a:r>
          </a:p>
          <a:p>
            <a:pPr lvl="1"/>
            <a:r>
              <a:rPr lang="ru-RU" sz="2000"/>
              <a:t>все узлы принимают это сообщение, однако только узел В отвечает на него, высылая в ответ свой физический адрес узлу А</a:t>
            </a:r>
          </a:p>
          <a:p>
            <a:pPr lvl="1"/>
            <a:r>
              <a:rPr lang="ru-RU" sz="2000"/>
              <a:t>узел А, получив физический адрес В, кэширует его, с тем, чтобы не запрашивать его повторно при следующих обращениях к узлу В</a:t>
            </a:r>
          </a:p>
          <a:p>
            <a:r>
              <a:rPr lang="ru-RU" sz="2000"/>
              <a:t>ARP (Address Resolution Protocol, протокол определения адресов)</a:t>
            </a:r>
          </a:p>
          <a:p>
            <a:pPr lvl="1"/>
            <a:r>
              <a:rPr lang="ru-RU" sz="2000"/>
              <a:t>сопоставляет 32-разрядные IP-адреса физическим адресам подсети, например, в 48-разрядные адреса Ethernet</a:t>
            </a:r>
          </a:p>
        </p:txBody>
      </p:sp>
      <p:pic>
        <p:nvPicPr>
          <p:cNvPr id="47108" name="slide_4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7108"/>
                                        </p:tgtEl>
                                      </p:cBhvr>
                                    </p:cmd>
                                  </p:childTnLst>
                                </p:cTn>
                              </p:par>
                            </p:childTnLst>
                          </p:cTn>
                        </p:par>
                      </p:childTnLst>
                    </p:cTn>
                  </p:par>
                </p:childTnLst>
              </p:cTn>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ru-RU"/>
              <a:t>Протокол </a:t>
            </a:r>
            <a:r>
              <a:rPr lang="en-US"/>
              <a:t>RARP </a:t>
            </a:r>
            <a:r>
              <a:rPr lang="en-US" sz="3200"/>
              <a:t>(RFC1293)</a:t>
            </a:r>
            <a:endParaRPr lang="ru-RU" sz="3200"/>
          </a:p>
        </p:txBody>
      </p:sp>
      <p:sp>
        <p:nvSpPr>
          <p:cNvPr id="49155" name="Rectangle 3"/>
          <p:cNvSpPr>
            <a:spLocks noGrp="1" noChangeArrowheads="1"/>
          </p:cNvSpPr>
          <p:nvPr>
            <p:ph type="body" idx="1"/>
          </p:nvPr>
        </p:nvSpPr>
        <p:spPr/>
        <p:txBody>
          <a:bodyPr/>
          <a:lstStyle/>
          <a:p>
            <a:r>
              <a:rPr lang="en-US" sz="2000"/>
              <a:t>R</a:t>
            </a:r>
            <a:r>
              <a:rPr lang="ru-RU" sz="2000"/>
              <a:t>ARP (</a:t>
            </a:r>
            <a:r>
              <a:rPr lang="en-US" sz="2000"/>
              <a:t>Reverse </a:t>
            </a:r>
            <a:r>
              <a:rPr lang="ru-RU" sz="2000"/>
              <a:t>Address Resolution Protocol, протокол обратного определения адресов) </a:t>
            </a:r>
          </a:p>
          <a:p>
            <a:pPr lvl="1"/>
            <a:r>
              <a:rPr lang="ru-RU" sz="2000"/>
              <a:t>сопоставляет </a:t>
            </a:r>
            <a:r>
              <a:rPr lang="en-US" sz="2000"/>
              <a:t>IP</a:t>
            </a:r>
            <a:r>
              <a:rPr lang="ru-RU" sz="2000"/>
              <a:t> адрес физическому</a:t>
            </a:r>
          </a:p>
          <a:p>
            <a:pPr lvl="1"/>
            <a:r>
              <a:rPr lang="ru-RU" sz="2000"/>
              <a:t>применяется, если узел А из предыдущего примера «не знает» собственного </a:t>
            </a:r>
            <a:r>
              <a:rPr lang="en-US" sz="2000"/>
              <a:t>IP-</a:t>
            </a:r>
            <a:r>
              <a:rPr lang="ru-RU" sz="2000"/>
              <a:t>адреса</a:t>
            </a:r>
          </a:p>
          <a:p>
            <a:r>
              <a:rPr lang="ru-RU" sz="2000"/>
              <a:t>Идея протокола </a:t>
            </a:r>
            <a:r>
              <a:rPr lang="en-US" sz="2000"/>
              <a:t>R</a:t>
            </a:r>
            <a:r>
              <a:rPr lang="ru-RU" sz="2000"/>
              <a:t>ARP: </a:t>
            </a:r>
          </a:p>
          <a:p>
            <a:pPr lvl="1"/>
            <a:r>
              <a:rPr lang="ru-RU" sz="2000"/>
              <a:t>узел А широковещательно вызывает </a:t>
            </a:r>
            <a:r>
              <a:rPr lang="en-US" sz="2000"/>
              <a:t>RARP-</a:t>
            </a:r>
            <a:r>
              <a:rPr lang="ru-RU" sz="2000"/>
              <a:t>сервер,</a:t>
            </a:r>
            <a:r>
              <a:rPr lang="en-US" sz="2000"/>
              <a:t> </a:t>
            </a:r>
            <a:r>
              <a:rPr lang="ru-RU" sz="2000"/>
              <a:t>закладывая в запрос свой физический адрес</a:t>
            </a:r>
            <a:endParaRPr lang="en-US" sz="2000"/>
          </a:p>
          <a:p>
            <a:pPr lvl="1"/>
            <a:r>
              <a:rPr lang="ru-RU" sz="2000"/>
              <a:t>RARP-сервер распознает</a:t>
            </a:r>
            <a:r>
              <a:rPr lang="en-US" sz="2000"/>
              <a:t> </a:t>
            </a:r>
            <a:r>
              <a:rPr lang="ru-RU" sz="2000"/>
              <a:t>запрос узла А, выбирает из некоторого списка свободный IP-адрес и шлет узлу А сообщение, включающее: динамически выделенный узлу А IP-адрес, физический и IP-адрес </a:t>
            </a:r>
            <a:r>
              <a:rPr lang="en-US" sz="2000"/>
              <a:t>RARP-</a:t>
            </a:r>
            <a:r>
              <a:rPr lang="ru-RU" sz="2000"/>
              <a:t>сервера</a:t>
            </a:r>
          </a:p>
          <a:p>
            <a:pPr lvl="1"/>
            <a:r>
              <a:rPr lang="ru-RU" sz="2000" i="1"/>
              <a:t>отказ RARP-сервера становится очень критичен, поэтому применяется резервирование </a:t>
            </a:r>
            <a:r>
              <a:rPr lang="en-US" sz="2000" i="1"/>
              <a:t>RARP</a:t>
            </a:r>
            <a:r>
              <a:rPr lang="ru-RU" sz="2000" i="1"/>
              <a:t>-серверов</a:t>
            </a:r>
          </a:p>
          <a:p>
            <a:pPr lvl="1"/>
            <a:endParaRPr lang="ru-RU" sz="2000" i="1"/>
          </a:p>
        </p:txBody>
      </p:sp>
      <p:pic>
        <p:nvPicPr>
          <p:cNvPr id="49156" name="slide_4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156"/>
                                        </p:tgtEl>
                                      </p:cBhvr>
                                    </p:cmd>
                                  </p:childTnLst>
                                </p:cTn>
                              </p:par>
                            </p:childTnLst>
                          </p:cTn>
                        </p:par>
                      </p:childTnLst>
                    </p:cTn>
                  </p:par>
                </p:childTnLst>
              </p:cTn>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ru-RU"/>
              <a:t>Протоколы </a:t>
            </a:r>
            <a:r>
              <a:rPr lang="en-US"/>
              <a:t>BOOTP </a:t>
            </a:r>
            <a:r>
              <a:rPr lang="en-US" sz="3200"/>
              <a:t>(RFC</a:t>
            </a:r>
            <a:r>
              <a:rPr lang="ru-RU" sz="3200"/>
              <a:t>951</a:t>
            </a:r>
            <a:r>
              <a:rPr lang="en-US" sz="3200"/>
              <a:t>),</a:t>
            </a:r>
            <a:r>
              <a:rPr lang="en-US"/>
              <a:t> DHCP </a:t>
            </a:r>
            <a:r>
              <a:rPr lang="en-US" sz="3200"/>
              <a:t>(RFC2131, 2132)</a:t>
            </a:r>
            <a:endParaRPr lang="ru-RU" sz="3200"/>
          </a:p>
        </p:txBody>
      </p:sp>
      <p:sp>
        <p:nvSpPr>
          <p:cNvPr id="51203" name="Rectangle 3"/>
          <p:cNvSpPr>
            <a:spLocks noGrp="1" noChangeArrowheads="1"/>
          </p:cNvSpPr>
          <p:nvPr>
            <p:ph type="body" idx="1"/>
          </p:nvPr>
        </p:nvSpPr>
        <p:spPr/>
        <p:txBody>
          <a:bodyPr/>
          <a:lstStyle/>
          <a:p>
            <a:pPr marL="533400" indent="-533400">
              <a:lnSpc>
                <a:spcPct val="90000"/>
              </a:lnSpc>
            </a:pPr>
            <a:r>
              <a:rPr lang="ru-RU" sz="2000"/>
              <a:t>Результатом работы протоколов </a:t>
            </a:r>
            <a:r>
              <a:rPr lang="en-US" sz="2000"/>
              <a:t>BOOTP </a:t>
            </a:r>
            <a:r>
              <a:rPr lang="ru-RU" sz="2000"/>
              <a:t>(</a:t>
            </a:r>
            <a:r>
              <a:rPr lang="en-US" sz="2000"/>
              <a:t>Bootstrap</a:t>
            </a:r>
            <a:r>
              <a:rPr lang="ru-RU" sz="2000"/>
              <a:t>) и </a:t>
            </a:r>
            <a:r>
              <a:rPr lang="en-US" sz="2000"/>
              <a:t>DHCP </a:t>
            </a:r>
            <a:r>
              <a:rPr lang="ru-RU" sz="2000"/>
              <a:t>(</a:t>
            </a:r>
            <a:r>
              <a:rPr lang="en-US" sz="2000"/>
              <a:t>Dynamic host configuration protocol) </a:t>
            </a:r>
            <a:r>
              <a:rPr lang="ru-RU" sz="2000"/>
              <a:t>является конфигурирование </a:t>
            </a:r>
            <a:r>
              <a:rPr lang="en-US" sz="2000"/>
              <a:t>IP-</a:t>
            </a:r>
            <a:r>
              <a:rPr lang="ru-RU" sz="2000"/>
              <a:t>адресов,</a:t>
            </a:r>
            <a:r>
              <a:rPr lang="en-US" sz="2000"/>
              <a:t> </a:t>
            </a:r>
            <a:r>
              <a:rPr lang="ru-RU" sz="2000"/>
              <a:t>но применение этих протоколов – шире, и они</a:t>
            </a:r>
            <a:r>
              <a:rPr lang="en-US" sz="2000"/>
              <a:t> </a:t>
            </a:r>
            <a:r>
              <a:rPr lang="ru-RU" sz="2000"/>
              <a:t>не являются, строго говоря, протоколами сетевого уровня</a:t>
            </a:r>
            <a:endParaRPr lang="en-US" sz="2000"/>
          </a:p>
          <a:p>
            <a:pPr marL="533400" indent="-533400">
              <a:lnSpc>
                <a:spcPct val="90000"/>
              </a:lnSpc>
            </a:pPr>
            <a:r>
              <a:rPr lang="ru-RU" sz="2000"/>
              <a:t>Протокол </a:t>
            </a:r>
            <a:r>
              <a:rPr lang="en-US" sz="2000"/>
              <a:t>BOOTP </a:t>
            </a:r>
            <a:r>
              <a:rPr lang="ru-RU" sz="2000"/>
              <a:t>обеспечивает начальную загрузку бездисковых рабочих станций, сетевых принтеров и т.п.</a:t>
            </a:r>
          </a:p>
          <a:p>
            <a:pPr marL="533400" indent="-533400">
              <a:lnSpc>
                <a:spcPct val="90000"/>
              </a:lnSpc>
            </a:pPr>
            <a:r>
              <a:rPr lang="ru-RU" sz="2000"/>
              <a:t>Протокол </a:t>
            </a:r>
            <a:r>
              <a:rPr lang="en-US" sz="2000"/>
              <a:t>DHCP </a:t>
            </a:r>
            <a:r>
              <a:rPr lang="ru-RU" sz="2000"/>
              <a:t>базируется на </a:t>
            </a:r>
            <a:r>
              <a:rPr lang="en-US" sz="2000"/>
              <a:t>BOOTP</a:t>
            </a:r>
            <a:r>
              <a:rPr lang="ru-RU" sz="2000"/>
              <a:t>, но расширяет его возможности в двух отношениях:</a:t>
            </a:r>
          </a:p>
          <a:p>
            <a:pPr marL="914400" lvl="1" indent="-457200">
              <a:lnSpc>
                <a:spcPct val="90000"/>
              </a:lnSpc>
              <a:buFontTx/>
              <a:buAutoNum type="arabicPeriod"/>
            </a:pPr>
            <a:r>
              <a:rPr lang="en-US" sz="2000"/>
              <a:t>DHCP </a:t>
            </a:r>
            <a:r>
              <a:rPr lang="ru-RU" sz="2000"/>
              <a:t>может выдавать</a:t>
            </a:r>
            <a:r>
              <a:rPr lang="en-US" sz="2000"/>
              <a:t> IP </a:t>
            </a:r>
            <a:r>
              <a:rPr lang="ru-RU" sz="2000"/>
              <a:t>адрес «во временной пользование» на ограниченное время; эта функция важна для эффективного использования адресного пространства, когда в сети появляются и исчезают некоторые хосты</a:t>
            </a:r>
          </a:p>
          <a:p>
            <a:pPr marL="914400" lvl="1" indent="-457200">
              <a:lnSpc>
                <a:spcPct val="90000"/>
              </a:lnSpc>
              <a:buFontTx/>
              <a:buAutoNum type="arabicPeriod"/>
            </a:pPr>
            <a:r>
              <a:rPr lang="en-US" sz="2000"/>
              <a:t>DHCP </a:t>
            </a:r>
            <a:r>
              <a:rPr lang="ru-RU" sz="2000"/>
              <a:t>снабжает конфигурируемый хост не только </a:t>
            </a:r>
            <a:r>
              <a:rPr lang="en-US" sz="2000"/>
              <a:t>IP</a:t>
            </a:r>
            <a:r>
              <a:rPr lang="ru-RU" sz="2000"/>
              <a:t>-адресом, но и полным набором параметров стека (включая наборы параметров канального, сетевого и транспортного уровня)</a:t>
            </a:r>
          </a:p>
        </p:txBody>
      </p:sp>
      <p:pic>
        <p:nvPicPr>
          <p:cNvPr id="51204" name="slide_4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1204"/>
                                        </p:tgtEl>
                                      </p:cBhvr>
                                    </p:cmd>
                                  </p:childTnLst>
                                </p:cTn>
                              </p:par>
                            </p:childTnLst>
                          </p:cTn>
                        </p:par>
                      </p:childTnLst>
                    </p:cTn>
                  </p:par>
                </p:childTnLst>
              </p:cTn>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39552" y="116632"/>
            <a:ext cx="8229600" cy="418058"/>
          </a:xfrm>
        </p:spPr>
        <p:txBody>
          <a:bodyPr/>
          <a:lstStyle/>
          <a:p>
            <a:r>
              <a:rPr lang="ru-RU" sz="2800" dirty="0"/>
              <a:t>Справка. Параметры </a:t>
            </a:r>
            <a:r>
              <a:rPr lang="en-US" sz="2800" dirty="0"/>
              <a:t>DHCP</a:t>
            </a:r>
            <a:r>
              <a:rPr lang="ru-RU" sz="2800" dirty="0"/>
              <a:t>-настройки стека</a:t>
            </a:r>
          </a:p>
        </p:txBody>
      </p:sp>
      <p:sp>
        <p:nvSpPr>
          <p:cNvPr id="53251" name="Rectangle 3"/>
          <p:cNvSpPr>
            <a:spLocks noGrp="1" noChangeArrowheads="1"/>
          </p:cNvSpPr>
          <p:nvPr>
            <p:ph type="body" sz="half" idx="1"/>
          </p:nvPr>
        </p:nvSpPr>
        <p:spPr>
          <a:xfrm>
            <a:off x="107504" y="548680"/>
            <a:ext cx="5328592" cy="6048672"/>
          </a:xfrm>
        </p:spPr>
        <p:txBody>
          <a:bodyPr/>
          <a:lstStyle/>
          <a:p>
            <a:pPr lvl="1">
              <a:lnSpc>
                <a:spcPct val="80000"/>
              </a:lnSpc>
              <a:buNone/>
            </a:pPr>
            <a:r>
              <a:rPr lang="ru-RU" sz="1600" dirty="0" smtClean="0"/>
              <a:t>Параметры </a:t>
            </a:r>
            <a:r>
              <a:rPr lang="en-US" sz="1600" dirty="0" smtClean="0"/>
              <a:t>IP</a:t>
            </a:r>
            <a:endParaRPr lang="ru-RU" sz="1600" dirty="0" smtClean="0"/>
          </a:p>
          <a:p>
            <a:pPr lvl="1">
              <a:lnSpc>
                <a:spcPct val="80000"/>
              </a:lnSpc>
            </a:pPr>
            <a:r>
              <a:rPr lang="ru-RU" sz="1600" dirty="0" smtClean="0"/>
              <a:t>на </a:t>
            </a:r>
            <a:r>
              <a:rPr lang="ru-RU" sz="1600" dirty="0"/>
              <a:t>уровне хоста</a:t>
            </a:r>
          </a:p>
          <a:p>
            <a:pPr lvl="2">
              <a:lnSpc>
                <a:spcPct val="80000"/>
              </a:lnSpc>
            </a:pPr>
            <a:r>
              <a:rPr lang="ru-RU" sz="1400" dirty="0" err="1"/>
              <a:t>Be</a:t>
            </a:r>
            <a:r>
              <a:rPr lang="ru-RU" sz="1400" dirty="0"/>
              <a:t> </a:t>
            </a:r>
            <a:r>
              <a:rPr lang="ru-RU" sz="1400" dirty="0" err="1"/>
              <a:t>a</a:t>
            </a:r>
            <a:r>
              <a:rPr lang="ru-RU" sz="1400" dirty="0"/>
              <a:t> </a:t>
            </a:r>
            <a:r>
              <a:rPr lang="ru-RU" sz="1400" dirty="0" err="1"/>
              <a:t>router</a:t>
            </a:r>
            <a:r>
              <a:rPr lang="ru-RU" sz="1400" dirty="0"/>
              <a:t> (</a:t>
            </a:r>
            <a:r>
              <a:rPr lang="ru-RU" sz="1400" dirty="0" err="1"/>
              <a:t>on</a:t>
            </a:r>
            <a:r>
              <a:rPr lang="ru-RU" sz="1400" dirty="0"/>
              <a:t>/</a:t>
            </a:r>
            <a:r>
              <a:rPr lang="ru-RU" sz="1400" dirty="0" err="1"/>
              <a:t>off</a:t>
            </a:r>
            <a:r>
              <a:rPr lang="ru-RU" sz="1400" dirty="0"/>
              <a:t>)                 </a:t>
            </a:r>
          </a:p>
          <a:p>
            <a:pPr lvl="2">
              <a:lnSpc>
                <a:spcPct val="80000"/>
              </a:lnSpc>
            </a:pPr>
            <a:r>
              <a:rPr lang="ru-RU" sz="1400" dirty="0" err="1"/>
              <a:t>Non-local</a:t>
            </a:r>
            <a:r>
              <a:rPr lang="ru-RU" sz="1400" dirty="0"/>
              <a:t> </a:t>
            </a:r>
            <a:r>
              <a:rPr lang="ru-RU" sz="1400" dirty="0" err="1"/>
              <a:t>source</a:t>
            </a:r>
            <a:r>
              <a:rPr lang="ru-RU" sz="1400" dirty="0"/>
              <a:t> </a:t>
            </a:r>
            <a:r>
              <a:rPr lang="ru-RU" sz="1400" dirty="0" err="1"/>
              <a:t>routing</a:t>
            </a:r>
            <a:r>
              <a:rPr lang="ru-RU" sz="1400" dirty="0"/>
              <a:t> (</a:t>
            </a:r>
            <a:r>
              <a:rPr lang="ru-RU" sz="1400" dirty="0" err="1"/>
              <a:t>on</a:t>
            </a:r>
            <a:r>
              <a:rPr lang="ru-RU" sz="1400" dirty="0"/>
              <a:t>/</a:t>
            </a:r>
            <a:r>
              <a:rPr lang="ru-RU" sz="1400" dirty="0" err="1"/>
              <a:t>off</a:t>
            </a:r>
            <a:r>
              <a:rPr lang="ru-RU" sz="1400" dirty="0"/>
              <a:t>)</a:t>
            </a:r>
          </a:p>
          <a:p>
            <a:pPr lvl="2">
              <a:lnSpc>
                <a:spcPct val="80000"/>
              </a:lnSpc>
            </a:pPr>
            <a:r>
              <a:rPr lang="ru-RU" sz="1400" dirty="0" err="1"/>
              <a:t>Policy</a:t>
            </a:r>
            <a:r>
              <a:rPr lang="ru-RU" sz="1400" dirty="0"/>
              <a:t> </a:t>
            </a:r>
            <a:r>
              <a:rPr lang="ru-RU" sz="1400" dirty="0" err="1"/>
              <a:t>filters</a:t>
            </a:r>
            <a:r>
              <a:rPr lang="ru-RU" sz="1400" dirty="0"/>
              <a:t> </a:t>
            </a:r>
            <a:r>
              <a:rPr lang="ru-RU" sz="1400" dirty="0" err="1"/>
              <a:t>for</a:t>
            </a:r>
            <a:r>
              <a:rPr lang="ru-RU" sz="1400" dirty="0"/>
              <a:t> </a:t>
            </a:r>
            <a:r>
              <a:rPr lang="ru-RU" sz="1400" dirty="0" err="1"/>
              <a:t>non-local</a:t>
            </a:r>
            <a:r>
              <a:rPr lang="ru-RU" sz="1400" dirty="0"/>
              <a:t> </a:t>
            </a:r>
            <a:r>
              <a:rPr lang="ru-RU" sz="1400" dirty="0" err="1"/>
              <a:t>source</a:t>
            </a:r>
            <a:r>
              <a:rPr lang="ru-RU" sz="1400" dirty="0"/>
              <a:t> </a:t>
            </a:r>
            <a:r>
              <a:rPr lang="ru-RU" sz="1400" dirty="0" err="1"/>
              <a:t>routing</a:t>
            </a:r>
            <a:r>
              <a:rPr lang="ru-RU" sz="1400" dirty="0"/>
              <a:t> (</a:t>
            </a:r>
            <a:r>
              <a:rPr lang="ru-RU" sz="1400" dirty="0" err="1"/>
              <a:t>list</a:t>
            </a:r>
            <a:r>
              <a:rPr lang="ru-RU" sz="1400" dirty="0"/>
              <a:t>) </a:t>
            </a:r>
          </a:p>
          <a:p>
            <a:pPr lvl="2">
              <a:lnSpc>
                <a:spcPct val="80000"/>
              </a:lnSpc>
            </a:pPr>
            <a:r>
              <a:rPr lang="ru-RU" sz="1400" dirty="0" err="1"/>
              <a:t>Maximum</a:t>
            </a:r>
            <a:r>
              <a:rPr lang="ru-RU" sz="1400" dirty="0"/>
              <a:t> </a:t>
            </a:r>
            <a:r>
              <a:rPr lang="ru-RU" sz="1400" dirty="0" err="1"/>
              <a:t>reassembly</a:t>
            </a:r>
            <a:r>
              <a:rPr lang="ru-RU" sz="1400" dirty="0"/>
              <a:t> </a:t>
            </a:r>
            <a:r>
              <a:rPr lang="ru-RU" sz="1400" dirty="0" err="1"/>
              <a:t>size</a:t>
            </a:r>
            <a:endParaRPr lang="ru-RU" sz="1400" dirty="0"/>
          </a:p>
          <a:p>
            <a:pPr lvl="2">
              <a:lnSpc>
                <a:spcPct val="80000"/>
              </a:lnSpc>
            </a:pPr>
            <a:r>
              <a:rPr lang="ru-RU" sz="1400" dirty="0" err="1"/>
              <a:t>Default</a:t>
            </a:r>
            <a:r>
              <a:rPr lang="ru-RU" sz="1400" dirty="0"/>
              <a:t> TT</a:t>
            </a:r>
            <a:r>
              <a:rPr lang="en-US" sz="1400" dirty="0"/>
              <a:t>L</a:t>
            </a:r>
            <a:endParaRPr lang="ru-RU" sz="1400" dirty="0"/>
          </a:p>
          <a:p>
            <a:pPr lvl="2">
              <a:lnSpc>
                <a:spcPct val="80000"/>
              </a:lnSpc>
            </a:pPr>
            <a:r>
              <a:rPr lang="ru-RU" sz="1400" dirty="0"/>
              <a:t>PMTU </a:t>
            </a:r>
            <a:r>
              <a:rPr lang="ru-RU" sz="1400" dirty="0" err="1"/>
              <a:t>aging</a:t>
            </a:r>
            <a:r>
              <a:rPr lang="ru-RU" sz="1400" dirty="0"/>
              <a:t> </a:t>
            </a:r>
            <a:r>
              <a:rPr lang="ru-RU" sz="1400" dirty="0" err="1"/>
              <a:t>timeout</a:t>
            </a:r>
            <a:endParaRPr lang="ru-RU" sz="1400" dirty="0"/>
          </a:p>
          <a:p>
            <a:pPr lvl="2">
              <a:lnSpc>
                <a:spcPct val="80000"/>
              </a:lnSpc>
            </a:pPr>
            <a:r>
              <a:rPr lang="ru-RU" sz="1400" dirty="0"/>
              <a:t>MTU </a:t>
            </a:r>
            <a:r>
              <a:rPr lang="ru-RU" sz="1400" dirty="0" err="1"/>
              <a:t>plateau</a:t>
            </a:r>
            <a:r>
              <a:rPr lang="ru-RU" sz="1400" dirty="0"/>
              <a:t> </a:t>
            </a:r>
            <a:r>
              <a:rPr lang="ru-RU" sz="1400" dirty="0" err="1"/>
              <a:t>table</a:t>
            </a:r>
            <a:endParaRPr lang="ru-RU" sz="1400" dirty="0"/>
          </a:p>
          <a:p>
            <a:pPr lvl="1">
              <a:lnSpc>
                <a:spcPct val="80000"/>
              </a:lnSpc>
            </a:pPr>
            <a:r>
              <a:rPr lang="ru-RU" sz="1600" dirty="0"/>
              <a:t>на уровне интерфейса</a:t>
            </a:r>
          </a:p>
          <a:p>
            <a:pPr lvl="2">
              <a:lnSpc>
                <a:spcPct val="80000"/>
              </a:lnSpc>
            </a:pPr>
            <a:r>
              <a:rPr lang="ru-RU" sz="1400" dirty="0"/>
              <a:t>IP </a:t>
            </a:r>
            <a:r>
              <a:rPr lang="ru-RU" sz="1400" dirty="0" err="1"/>
              <a:t>address</a:t>
            </a:r>
            <a:endParaRPr lang="ru-RU" sz="1400" dirty="0"/>
          </a:p>
          <a:p>
            <a:pPr lvl="2">
              <a:lnSpc>
                <a:spcPct val="80000"/>
              </a:lnSpc>
            </a:pPr>
            <a:r>
              <a:rPr lang="ru-RU" sz="1400" dirty="0" err="1"/>
              <a:t>Subnet</a:t>
            </a:r>
            <a:r>
              <a:rPr lang="ru-RU" sz="1400" dirty="0"/>
              <a:t> </a:t>
            </a:r>
            <a:r>
              <a:rPr lang="ru-RU" sz="1400" dirty="0" err="1"/>
              <a:t>mask</a:t>
            </a:r>
            <a:endParaRPr lang="ru-RU" sz="1400" dirty="0"/>
          </a:p>
          <a:p>
            <a:pPr lvl="2">
              <a:lnSpc>
                <a:spcPct val="80000"/>
              </a:lnSpc>
            </a:pPr>
            <a:r>
              <a:rPr lang="ru-RU" sz="1400" dirty="0"/>
              <a:t>MTU</a:t>
            </a:r>
          </a:p>
          <a:p>
            <a:pPr lvl="2">
              <a:lnSpc>
                <a:spcPct val="80000"/>
              </a:lnSpc>
            </a:pPr>
            <a:r>
              <a:rPr lang="ru-RU" sz="1400" dirty="0" err="1"/>
              <a:t>All-subnets-MTU</a:t>
            </a:r>
            <a:r>
              <a:rPr lang="ru-RU" sz="1400" dirty="0"/>
              <a:t> (</a:t>
            </a:r>
            <a:r>
              <a:rPr lang="ru-RU" sz="1400" dirty="0" err="1"/>
              <a:t>on</a:t>
            </a:r>
            <a:r>
              <a:rPr lang="ru-RU" sz="1400" dirty="0"/>
              <a:t>/</a:t>
            </a:r>
            <a:r>
              <a:rPr lang="ru-RU" sz="1400" dirty="0" err="1"/>
              <a:t>off</a:t>
            </a:r>
            <a:r>
              <a:rPr lang="ru-RU" sz="1400" dirty="0"/>
              <a:t>)</a:t>
            </a:r>
          </a:p>
          <a:p>
            <a:pPr lvl="2">
              <a:lnSpc>
                <a:spcPct val="80000"/>
              </a:lnSpc>
            </a:pPr>
            <a:r>
              <a:rPr lang="ru-RU" sz="1400" dirty="0" err="1"/>
              <a:t>Broadcast</a:t>
            </a:r>
            <a:r>
              <a:rPr lang="ru-RU" sz="1400" dirty="0"/>
              <a:t> </a:t>
            </a:r>
            <a:r>
              <a:rPr lang="ru-RU" sz="1400" dirty="0" err="1"/>
              <a:t>address</a:t>
            </a:r>
            <a:r>
              <a:rPr lang="ru-RU" sz="1400" dirty="0"/>
              <a:t> </a:t>
            </a:r>
            <a:r>
              <a:rPr lang="ru-RU" sz="1400" dirty="0" err="1"/>
              <a:t>flavor</a:t>
            </a:r>
            <a:r>
              <a:rPr lang="ru-RU" sz="1400" dirty="0"/>
              <a:t> (0x00000000/0xffffffff)</a:t>
            </a:r>
          </a:p>
          <a:p>
            <a:pPr lvl="2">
              <a:lnSpc>
                <a:spcPct val="80000"/>
              </a:lnSpc>
            </a:pPr>
            <a:r>
              <a:rPr lang="ru-RU" sz="1400" dirty="0" err="1"/>
              <a:t>Perform</a:t>
            </a:r>
            <a:r>
              <a:rPr lang="ru-RU" sz="1400" dirty="0"/>
              <a:t> </a:t>
            </a:r>
            <a:r>
              <a:rPr lang="ru-RU" sz="1400" dirty="0" err="1"/>
              <a:t>mask</a:t>
            </a:r>
            <a:r>
              <a:rPr lang="ru-RU" sz="1400" dirty="0"/>
              <a:t> </a:t>
            </a:r>
            <a:r>
              <a:rPr lang="ru-RU" sz="1400" dirty="0" err="1"/>
              <a:t>discovery</a:t>
            </a:r>
            <a:r>
              <a:rPr lang="ru-RU" sz="1400" dirty="0"/>
              <a:t> (</a:t>
            </a:r>
            <a:r>
              <a:rPr lang="ru-RU" sz="1400" dirty="0" err="1"/>
              <a:t>on</a:t>
            </a:r>
            <a:r>
              <a:rPr lang="ru-RU" sz="1400" dirty="0"/>
              <a:t>/</a:t>
            </a:r>
            <a:r>
              <a:rPr lang="ru-RU" sz="1400" dirty="0" err="1"/>
              <a:t>off</a:t>
            </a:r>
            <a:r>
              <a:rPr lang="ru-RU" sz="1400" dirty="0"/>
              <a:t>)</a:t>
            </a:r>
          </a:p>
          <a:p>
            <a:pPr lvl="2">
              <a:lnSpc>
                <a:spcPct val="80000"/>
              </a:lnSpc>
            </a:pPr>
            <a:r>
              <a:rPr lang="ru-RU" sz="1400" dirty="0" err="1"/>
              <a:t>Be</a:t>
            </a:r>
            <a:r>
              <a:rPr lang="ru-RU" sz="1400" dirty="0"/>
              <a:t> </a:t>
            </a:r>
            <a:r>
              <a:rPr lang="ru-RU" sz="1400" dirty="0" err="1"/>
              <a:t>a</a:t>
            </a:r>
            <a:r>
              <a:rPr lang="ru-RU" sz="1400" dirty="0"/>
              <a:t> </a:t>
            </a:r>
            <a:r>
              <a:rPr lang="ru-RU" sz="1400" dirty="0" err="1"/>
              <a:t>mask</a:t>
            </a:r>
            <a:r>
              <a:rPr lang="ru-RU" sz="1400" dirty="0"/>
              <a:t> </a:t>
            </a:r>
            <a:r>
              <a:rPr lang="ru-RU" sz="1400" dirty="0" err="1"/>
              <a:t>supplier</a:t>
            </a:r>
            <a:r>
              <a:rPr lang="ru-RU" sz="1400" dirty="0"/>
              <a:t> (</a:t>
            </a:r>
            <a:r>
              <a:rPr lang="ru-RU" sz="1400" dirty="0" err="1"/>
              <a:t>on</a:t>
            </a:r>
            <a:r>
              <a:rPr lang="ru-RU" sz="1400" dirty="0"/>
              <a:t>/</a:t>
            </a:r>
            <a:r>
              <a:rPr lang="ru-RU" sz="1400" dirty="0" err="1"/>
              <a:t>off</a:t>
            </a:r>
            <a:r>
              <a:rPr lang="ru-RU" sz="1400" dirty="0"/>
              <a:t>)</a:t>
            </a:r>
          </a:p>
          <a:p>
            <a:pPr lvl="2">
              <a:lnSpc>
                <a:spcPct val="80000"/>
              </a:lnSpc>
            </a:pPr>
            <a:r>
              <a:rPr lang="ru-RU" sz="1400" dirty="0" err="1"/>
              <a:t>Perform</a:t>
            </a:r>
            <a:r>
              <a:rPr lang="ru-RU" sz="1400" dirty="0"/>
              <a:t> </a:t>
            </a:r>
            <a:r>
              <a:rPr lang="ru-RU" sz="1400" dirty="0" err="1"/>
              <a:t>router</a:t>
            </a:r>
            <a:r>
              <a:rPr lang="ru-RU" sz="1400" dirty="0"/>
              <a:t> </a:t>
            </a:r>
            <a:r>
              <a:rPr lang="ru-RU" sz="1400" dirty="0" err="1"/>
              <a:t>discovery</a:t>
            </a:r>
            <a:r>
              <a:rPr lang="ru-RU" sz="1400" dirty="0"/>
              <a:t> (</a:t>
            </a:r>
            <a:r>
              <a:rPr lang="ru-RU" sz="1400" dirty="0" err="1"/>
              <a:t>on</a:t>
            </a:r>
            <a:r>
              <a:rPr lang="ru-RU" sz="1400" dirty="0"/>
              <a:t>/</a:t>
            </a:r>
            <a:r>
              <a:rPr lang="ru-RU" sz="1400" dirty="0" err="1"/>
              <a:t>off</a:t>
            </a:r>
            <a:r>
              <a:rPr lang="ru-RU" sz="1400" dirty="0"/>
              <a:t>)</a:t>
            </a:r>
          </a:p>
          <a:p>
            <a:pPr lvl="2">
              <a:lnSpc>
                <a:spcPct val="80000"/>
              </a:lnSpc>
            </a:pPr>
            <a:r>
              <a:rPr lang="ru-RU" sz="1400" dirty="0" err="1"/>
              <a:t>Router</a:t>
            </a:r>
            <a:r>
              <a:rPr lang="ru-RU" sz="1400" dirty="0"/>
              <a:t> </a:t>
            </a:r>
            <a:r>
              <a:rPr lang="ru-RU" sz="1400" dirty="0" err="1"/>
              <a:t>solicitation</a:t>
            </a:r>
            <a:r>
              <a:rPr lang="ru-RU" sz="1400" dirty="0"/>
              <a:t> </a:t>
            </a:r>
            <a:r>
              <a:rPr lang="ru-RU" sz="1400" dirty="0" err="1"/>
              <a:t>address</a:t>
            </a:r>
            <a:endParaRPr lang="ru-RU" sz="1400" dirty="0"/>
          </a:p>
          <a:p>
            <a:pPr lvl="2">
              <a:lnSpc>
                <a:spcPct val="80000"/>
              </a:lnSpc>
            </a:pPr>
            <a:r>
              <a:rPr lang="ru-RU" sz="1400" dirty="0" err="1"/>
              <a:t>Default</a:t>
            </a:r>
            <a:r>
              <a:rPr lang="ru-RU" sz="1400" dirty="0"/>
              <a:t> </a:t>
            </a:r>
            <a:r>
              <a:rPr lang="ru-RU" sz="1400" dirty="0" err="1"/>
              <a:t>routers</a:t>
            </a:r>
            <a:r>
              <a:rPr lang="ru-RU" sz="1400" dirty="0"/>
              <a:t>, </a:t>
            </a:r>
            <a:r>
              <a:rPr lang="ru-RU" sz="1400" dirty="0" err="1"/>
              <a:t>list</a:t>
            </a:r>
            <a:r>
              <a:rPr lang="ru-RU" sz="1400" dirty="0"/>
              <a:t> </a:t>
            </a:r>
            <a:r>
              <a:rPr lang="ru-RU" sz="1400" dirty="0" err="1"/>
              <a:t>of</a:t>
            </a:r>
            <a:r>
              <a:rPr lang="ru-RU" sz="1400" dirty="0"/>
              <a:t>:</a:t>
            </a:r>
          </a:p>
          <a:p>
            <a:pPr lvl="3">
              <a:lnSpc>
                <a:spcPct val="80000"/>
              </a:lnSpc>
            </a:pPr>
            <a:r>
              <a:rPr lang="ru-RU" sz="1200" dirty="0" err="1"/>
              <a:t>router</a:t>
            </a:r>
            <a:r>
              <a:rPr lang="ru-RU" sz="1200" dirty="0"/>
              <a:t> </a:t>
            </a:r>
            <a:r>
              <a:rPr lang="ru-RU" sz="1200" dirty="0" err="1"/>
              <a:t>address</a:t>
            </a:r>
            <a:endParaRPr lang="ru-RU" sz="1200" dirty="0"/>
          </a:p>
          <a:p>
            <a:pPr lvl="3">
              <a:lnSpc>
                <a:spcPct val="80000"/>
              </a:lnSpc>
            </a:pPr>
            <a:r>
              <a:rPr lang="ru-RU" sz="1200" dirty="0" err="1"/>
              <a:t>preference</a:t>
            </a:r>
            <a:r>
              <a:rPr lang="ru-RU" sz="1200" dirty="0"/>
              <a:t> </a:t>
            </a:r>
            <a:r>
              <a:rPr lang="ru-RU" sz="1200" dirty="0" err="1"/>
              <a:t>level</a:t>
            </a:r>
            <a:endParaRPr lang="ru-RU" sz="1200" dirty="0"/>
          </a:p>
          <a:p>
            <a:pPr lvl="2">
              <a:lnSpc>
                <a:spcPct val="80000"/>
              </a:lnSpc>
            </a:pPr>
            <a:r>
              <a:rPr lang="ru-RU" sz="1400" dirty="0" err="1"/>
              <a:t>Static</a:t>
            </a:r>
            <a:r>
              <a:rPr lang="ru-RU" sz="1400" dirty="0"/>
              <a:t> </a:t>
            </a:r>
            <a:r>
              <a:rPr lang="ru-RU" sz="1400" dirty="0" err="1"/>
              <a:t>routes</a:t>
            </a:r>
            <a:r>
              <a:rPr lang="ru-RU" sz="1400" dirty="0"/>
              <a:t>, </a:t>
            </a:r>
            <a:r>
              <a:rPr lang="ru-RU" sz="1400" dirty="0" err="1"/>
              <a:t>list</a:t>
            </a:r>
            <a:r>
              <a:rPr lang="ru-RU" sz="1400" dirty="0"/>
              <a:t> </a:t>
            </a:r>
            <a:r>
              <a:rPr lang="ru-RU" sz="1400" dirty="0" err="1"/>
              <a:t>of</a:t>
            </a:r>
            <a:r>
              <a:rPr lang="ru-RU" sz="1400" dirty="0"/>
              <a:t>:</a:t>
            </a:r>
          </a:p>
          <a:p>
            <a:pPr lvl="3">
              <a:lnSpc>
                <a:spcPct val="80000"/>
              </a:lnSpc>
            </a:pPr>
            <a:r>
              <a:rPr lang="ru-RU" sz="1200" dirty="0" err="1"/>
              <a:t>destination</a:t>
            </a:r>
            <a:r>
              <a:rPr lang="ru-RU" sz="1200" dirty="0"/>
              <a:t> (</a:t>
            </a:r>
            <a:r>
              <a:rPr lang="ru-RU" sz="1200" dirty="0" err="1"/>
              <a:t>host</a:t>
            </a:r>
            <a:r>
              <a:rPr lang="ru-RU" sz="1200" dirty="0"/>
              <a:t>/</a:t>
            </a:r>
            <a:r>
              <a:rPr lang="ru-RU" sz="1200" dirty="0" err="1"/>
              <a:t>subnet</a:t>
            </a:r>
            <a:r>
              <a:rPr lang="ru-RU" sz="1200" dirty="0"/>
              <a:t>/</a:t>
            </a:r>
            <a:r>
              <a:rPr lang="ru-RU" sz="1200" dirty="0" err="1"/>
              <a:t>net</a:t>
            </a:r>
            <a:r>
              <a:rPr lang="ru-RU" sz="1200" dirty="0"/>
              <a:t>)</a:t>
            </a:r>
          </a:p>
          <a:p>
            <a:pPr lvl="3">
              <a:lnSpc>
                <a:spcPct val="80000"/>
              </a:lnSpc>
            </a:pPr>
            <a:r>
              <a:rPr lang="ru-RU" sz="1200" dirty="0" err="1"/>
              <a:t>destination</a:t>
            </a:r>
            <a:r>
              <a:rPr lang="ru-RU" sz="1200" dirty="0"/>
              <a:t> </a:t>
            </a:r>
            <a:r>
              <a:rPr lang="ru-RU" sz="1200" dirty="0" err="1"/>
              <a:t>mask</a:t>
            </a:r>
            <a:r>
              <a:rPr lang="ru-RU" sz="1200" dirty="0"/>
              <a:t> (</a:t>
            </a:r>
            <a:r>
              <a:rPr lang="ru-RU" sz="1200" dirty="0" err="1"/>
              <a:t>address</a:t>
            </a:r>
            <a:r>
              <a:rPr lang="ru-RU" sz="1200" dirty="0"/>
              <a:t> </a:t>
            </a:r>
            <a:r>
              <a:rPr lang="ru-RU" sz="1200" dirty="0" err="1"/>
              <a:t>mask</a:t>
            </a:r>
            <a:r>
              <a:rPr lang="ru-RU" sz="1200" dirty="0"/>
              <a:t>)</a:t>
            </a:r>
          </a:p>
          <a:p>
            <a:pPr lvl="3">
              <a:lnSpc>
                <a:spcPct val="80000"/>
              </a:lnSpc>
            </a:pPr>
            <a:r>
              <a:rPr lang="ru-RU" sz="1200" dirty="0" err="1"/>
              <a:t>type-of-service</a:t>
            </a:r>
            <a:endParaRPr lang="ru-RU" sz="1200" dirty="0"/>
          </a:p>
          <a:p>
            <a:pPr lvl="3">
              <a:lnSpc>
                <a:spcPct val="80000"/>
              </a:lnSpc>
            </a:pPr>
            <a:r>
              <a:rPr lang="ru-RU" sz="1200" dirty="0" err="1"/>
              <a:t>first-hop</a:t>
            </a:r>
            <a:r>
              <a:rPr lang="ru-RU" sz="1200" dirty="0"/>
              <a:t> </a:t>
            </a:r>
            <a:r>
              <a:rPr lang="ru-RU" sz="1200" dirty="0" err="1"/>
              <a:t>router</a:t>
            </a:r>
            <a:r>
              <a:rPr lang="ru-RU" sz="1200" dirty="0"/>
              <a:t> </a:t>
            </a:r>
          </a:p>
          <a:p>
            <a:pPr lvl="3">
              <a:lnSpc>
                <a:spcPct val="80000"/>
              </a:lnSpc>
            </a:pPr>
            <a:r>
              <a:rPr lang="ru-RU" sz="1200" dirty="0" err="1"/>
              <a:t>ignore</a:t>
            </a:r>
            <a:r>
              <a:rPr lang="ru-RU" sz="1200" dirty="0"/>
              <a:t> </a:t>
            </a:r>
            <a:r>
              <a:rPr lang="ru-RU" sz="1200" dirty="0" err="1"/>
              <a:t>redirects</a:t>
            </a:r>
            <a:r>
              <a:rPr lang="ru-RU" sz="1200" dirty="0"/>
              <a:t> (</a:t>
            </a:r>
            <a:r>
              <a:rPr lang="ru-RU" sz="1200" dirty="0" err="1"/>
              <a:t>on</a:t>
            </a:r>
            <a:r>
              <a:rPr lang="ru-RU" sz="1200" dirty="0"/>
              <a:t>/</a:t>
            </a:r>
            <a:r>
              <a:rPr lang="ru-RU" sz="1200" dirty="0" err="1"/>
              <a:t>off</a:t>
            </a:r>
            <a:r>
              <a:rPr lang="ru-RU" sz="1200" dirty="0"/>
              <a:t>)</a:t>
            </a:r>
          </a:p>
          <a:p>
            <a:pPr lvl="3">
              <a:lnSpc>
                <a:spcPct val="80000"/>
              </a:lnSpc>
            </a:pPr>
            <a:r>
              <a:rPr lang="ru-RU" sz="1200" dirty="0"/>
              <a:t>PMTU</a:t>
            </a:r>
          </a:p>
          <a:p>
            <a:pPr lvl="3">
              <a:lnSpc>
                <a:spcPct val="80000"/>
              </a:lnSpc>
            </a:pPr>
            <a:r>
              <a:rPr lang="ru-RU" sz="1200" dirty="0" err="1"/>
              <a:t>perform</a:t>
            </a:r>
            <a:r>
              <a:rPr lang="ru-RU" sz="1200" dirty="0"/>
              <a:t> PMTU </a:t>
            </a:r>
            <a:r>
              <a:rPr lang="ru-RU" sz="1200" dirty="0" err="1"/>
              <a:t>discovery</a:t>
            </a:r>
            <a:r>
              <a:rPr lang="ru-RU" sz="1200" dirty="0"/>
              <a:t> (</a:t>
            </a:r>
            <a:r>
              <a:rPr lang="ru-RU" sz="1200" dirty="0" err="1"/>
              <a:t>on</a:t>
            </a:r>
            <a:r>
              <a:rPr lang="ru-RU" sz="1200" dirty="0"/>
              <a:t>/</a:t>
            </a:r>
            <a:r>
              <a:rPr lang="ru-RU" sz="1200" dirty="0" err="1"/>
              <a:t>off</a:t>
            </a:r>
            <a:r>
              <a:rPr lang="ru-RU" sz="1200" dirty="0"/>
              <a:t>)</a:t>
            </a:r>
          </a:p>
        </p:txBody>
      </p:sp>
      <p:sp>
        <p:nvSpPr>
          <p:cNvPr id="53252" name="Rectangle 4"/>
          <p:cNvSpPr>
            <a:spLocks noGrp="1" noChangeArrowheads="1"/>
          </p:cNvSpPr>
          <p:nvPr>
            <p:ph type="body" sz="half" idx="2"/>
          </p:nvPr>
        </p:nvSpPr>
        <p:spPr>
          <a:xfrm>
            <a:off x="5004048" y="1628800"/>
            <a:ext cx="4044950" cy="4525963"/>
          </a:xfrm>
        </p:spPr>
        <p:txBody>
          <a:bodyPr/>
          <a:lstStyle/>
          <a:p>
            <a:pPr>
              <a:lnSpc>
                <a:spcPct val="80000"/>
              </a:lnSpc>
            </a:pPr>
            <a:r>
              <a:rPr lang="ru-RU" sz="2400" dirty="0"/>
              <a:t>Параметры канального уровня (</a:t>
            </a:r>
            <a:r>
              <a:rPr lang="ru-RU" sz="2400" dirty="0" err="1"/>
              <a:t>поинтерфейсно</a:t>
            </a:r>
            <a:r>
              <a:rPr lang="ru-RU" sz="2400" dirty="0"/>
              <a:t>):</a:t>
            </a:r>
          </a:p>
          <a:p>
            <a:pPr lvl="1"/>
            <a:r>
              <a:rPr lang="ru-RU" sz="1600" dirty="0" err="1"/>
              <a:t>Trailers</a:t>
            </a:r>
            <a:r>
              <a:rPr lang="ru-RU" sz="1600" dirty="0"/>
              <a:t> (</a:t>
            </a:r>
            <a:r>
              <a:rPr lang="ru-RU" sz="1600" dirty="0" err="1"/>
              <a:t>on</a:t>
            </a:r>
            <a:r>
              <a:rPr lang="ru-RU" sz="1600" dirty="0"/>
              <a:t>/</a:t>
            </a:r>
            <a:r>
              <a:rPr lang="ru-RU" sz="1600" dirty="0" err="1"/>
              <a:t>off</a:t>
            </a:r>
            <a:r>
              <a:rPr lang="ru-RU" sz="1600" dirty="0"/>
              <a:t>)</a:t>
            </a:r>
          </a:p>
          <a:p>
            <a:pPr lvl="1"/>
            <a:r>
              <a:rPr lang="ru-RU" sz="1600" dirty="0"/>
              <a:t>ARP </a:t>
            </a:r>
            <a:r>
              <a:rPr lang="ru-RU" sz="1600" dirty="0" err="1"/>
              <a:t>cache</a:t>
            </a:r>
            <a:r>
              <a:rPr lang="ru-RU" sz="1600" dirty="0"/>
              <a:t> </a:t>
            </a:r>
            <a:r>
              <a:rPr lang="ru-RU" sz="1600" dirty="0" err="1"/>
              <a:t>timeout</a:t>
            </a:r>
            <a:r>
              <a:rPr lang="ru-RU" sz="1600" dirty="0"/>
              <a:t> </a:t>
            </a:r>
          </a:p>
          <a:p>
            <a:pPr lvl="1"/>
            <a:r>
              <a:rPr lang="ru-RU" sz="1600" dirty="0" err="1"/>
              <a:t>Ethernet</a:t>
            </a:r>
            <a:r>
              <a:rPr lang="ru-RU" sz="1600" dirty="0"/>
              <a:t> </a:t>
            </a:r>
            <a:r>
              <a:rPr lang="ru-RU" sz="1600" dirty="0" err="1"/>
              <a:t>encapsulation</a:t>
            </a:r>
            <a:endParaRPr lang="ru-RU" sz="1600" dirty="0"/>
          </a:p>
          <a:p>
            <a:r>
              <a:rPr lang="ru-RU" sz="2400" dirty="0"/>
              <a:t>Параметры протокола TCP:</a:t>
            </a:r>
          </a:p>
          <a:p>
            <a:pPr lvl="1"/>
            <a:r>
              <a:rPr lang="ru-RU" sz="1600" dirty="0"/>
              <a:t>TTL </a:t>
            </a:r>
          </a:p>
          <a:p>
            <a:pPr lvl="1"/>
            <a:r>
              <a:rPr lang="ru-RU" sz="1600" dirty="0" err="1"/>
              <a:t>Keep-alive</a:t>
            </a:r>
            <a:r>
              <a:rPr lang="ru-RU" sz="1600" dirty="0"/>
              <a:t> </a:t>
            </a:r>
            <a:r>
              <a:rPr lang="ru-RU" sz="1600" dirty="0" err="1"/>
              <a:t>interval</a:t>
            </a:r>
            <a:endParaRPr lang="ru-RU" sz="1600" dirty="0"/>
          </a:p>
          <a:p>
            <a:pPr lvl="1"/>
            <a:r>
              <a:rPr lang="ru-RU" sz="1600" dirty="0" err="1"/>
              <a:t>Keep-alive</a:t>
            </a:r>
            <a:r>
              <a:rPr lang="ru-RU" sz="1600" dirty="0"/>
              <a:t> </a:t>
            </a:r>
            <a:r>
              <a:rPr lang="ru-RU" sz="1600" dirty="0" err="1"/>
              <a:t>data</a:t>
            </a:r>
            <a:r>
              <a:rPr lang="ru-RU" sz="1600" dirty="0"/>
              <a:t> </a:t>
            </a:r>
            <a:r>
              <a:rPr lang="ru-RU" sz="1600" dirty="0" err="1"/>
              <a:t>size</a:t>
            </a:r>
            <a:endParaRPr lang="ru-RU" sz="1600" dirty="0"/>
          </a:p>
          <a:p>
            <a:endParaRPr lang="ru-RU" dirty="0"/>
          </a:p>
        </p:txBody>
      </p:sp>
      <p:pic>
        <p:nvPicPr>
          <p:cNvPr id="53253" name="slide_4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3253"/>
                                        </p:tgtEl>
                                      </p:cBhvr>
                                    </p:cmd>
                                  </p:childTnLst>
                                </p:cTn>
                              </p:par>
                            </p:childTnLst>
                          </p:cTn>
                        </p:par>
                      </p:childTnLst>
                    </p:cTn>
                  </p:par>
                </p:childTnLst>
              </p:cTn>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ru-RU" dirty="0" smtClean="0"/>
              <a:t>Групповые адреса</a:t>
            </a:r>
            <a:endParaRPr lang="ru-RU" dirty="0"/>
          </a:p>
        </p:txBody>
      </p:sp>
      <p:sp>
        <p:nvSpPr>
          <p:cNvPr id="29699" name="Rectangle 3"/>
          <p:cNvSpPr>
            <a:spLocks noGrp="1" noChangeArrowheads="1"/>
          </p:cNvSpPr>
          <p:nvPr>
            <p:ph type="body" idx="1"/>
          </p:nvPr>
        </p:nvSpPr>
        <p:spPr/>
        <p:txBody>
          <a:bodyPr/>
          <a:lstStyle/>
          <a:p>
            <a:pPr>
              <a:lnSpc>
                <a:spcPct val="80000"/>
              </a:lnSpc>
            </a:pPr>
            <a:r>
              <a:rPr lang="ru-RU" altLang="zh-CN" sz="2000" i="1" dirty="0" err="1"/>
              <a:t>Мультикастингом</a:t>
            </a:r>
            <a:r>
              <a:rPr lang="hi-IN" altLang="zh-CN" sz="2000" dirty="0"/>
              <a:t> (</a:t>
            </a:r>
            <a:r>
              <a:rPr lang="ru-RU" altLang="zh-CN" sz="2000" i="1" dirty="0" err="1"/>
              <a:t>multicasting</a:t>
            </a:r>
            <a:r>
              <a:rPr lang="ru-RU" altLang="zh-CN" sz="2000" dirty="0"/>
              <a:t>) называется рассылка дейтаграмм группе получателей. </a:t>
            </a:r>
          </a:p>
          <a:p>
            <a:pPr>
              <a:lnSpc>
                <a:spcPct val="80000"/>
              </a:lnSpc>
            </a:pPr>
            <a:r>
              <a:rPr lang="ru-RU" altLang="zh-CN" sz="2000" dirty="0"/>
              <a:t>Для идентификации групп используются специальные адреса получателя; эти адреса назначаются из класса D в диапазоне 224.0.0.0 – 239.255.255.255. </a:t>
            </a:r>
          </a:p>
          <a:p>
            <a:pPr>
              <a:lnSpc>
                <a:spcPct val="80000"/>
              </a:lnSpc>
            </a:pPr>
            <a:r>
              <a:rPr lang="ru-RU" altLang="zh-CN" sz="2000" dirty="0"/>
              <a:t>224.0.0.1 – все узлы в данной сети; </a:t>
            </a:r>
            <a:endParaRPr lang="hi-IN" altLang="zh-CN" sz="2000" dirty="0"/>
          </a:p>
          <a:p>
            <a:pPr>
              <a:lnSpc>
                <a:spcPct val="80000"/>
              </a:lnSpc>
            </a:pPr>
            <a:r>
              <a:rPr lang="ru-RU" altLang="zh-CN" sz="2000" dirty="0"/>
              <a:t>224.0.0.2 – все </a:t>
            </a:r>
            <a:r>
              <a:rPr lang="ru-RU" altLang="zh-CN" sz="2000" dirty="0" err="1"/>
              <a:t>маршрутизаторы</a:t>
            </a:r>
            <a:r>
              <a:rPr lang="ru-RU" altLang="zh-CN" sz="2000" dirty="0"/>
              <a:t> в данной сети; </a:t>
            </a:r>
            <a:endParaRPr lang="hi-IN" altLang="zh-CN" sz="2000" dirty="0"/>
          </a:p>
          <a:p>
            <a:pPr>
              <a:lnSpc>
                <a:spcPct val="80000"/>
              </a:lnSpc>
            </a:pPr>
            <a:r>
              <a:rPr lang="ru-RU" altLang="zh-CN" sz="2000" dirty="0"/>
              <a:t>224.0.0.5 – все </a:t>
            </a:r>
            <a:r>
              <a:rPr lang="ru-RU" altLang="zh-CN" sz="2000" dirty="0" err="1"/>
              <a:t>OSPF-маршрутизаторы</a:t>
            </a:r>
            <a:r>
              <a:rPr lang="ru-RU" altLang="zh-CN" sz="2000" dirty="0"/>
              <a:t>; </a:t>
            </a:r>
            <a:endParaRPr lang="hi-IN" altLang="zh-CN" sz="2000" dirty="0"/>
          </a:p>
          <a:p>
            <a:pPr>
              <a:lnSpc>
                <a:spcPct val="80000"/>
              </a:lnSpc>
            </a:pPr>
            <a:r>
              <a:rPr lang="ru-RU" altLang="zh-CN" sz="2000" dirty="0"/>
              <a:t>224.0.0.6 – выделенные </a:t>
            </a:r>
            <a:r>
              <a:rPr lang="ru-RU" altLang="zh-CN" sz="2000" dirty="0" err="1"/>
              <a:t>OSPF-маршрутизаторы</a:t>
            </a:r>
            <a:r>
              <a:rPr lang="ru-RU" altLang="zh-CN" sz="2000" dirty="0"/>
              <a:t>; </a:t>
            </a:r>
            <a:endParaRPr lang="hi-IN" altLang="zh-CN" sz="2000" dirty="0"/>
          </a:p>
          <a:p>
            <a:pPr>
              <a:lnSpc>
                <a:spcPct val="80000"/>
              </a:lnSpc>
            </a:pPr>
            <a:r>
              <a:rPr lang="ru-RU" altLang="zh-CN" sz="2000" dirty="0"/>
              <a:t>224.0.0.9 – </a:t>
            </a:r>
            <a:r>
              <a:rPr lang="ru-RU" altLang="zh-CN" sz="2000" dirty="0" err="1"/>
              <a:t>маршрутизаторы</a:t>
            </a:r>
            <a:r>
              <a:rPr lang="ru-RU" altLang="zh-CN" sz="2000" dirty="0"/>
              <a:t> RIP-2; </a:t>
            </a:r>
            <a:endParaRPr lang="hi-IN" altLang="zh-CN" sz="2000" dirty="0"/>
          </a:p>
          <a:p>
            <a:pPr>
              <a:lnSpc>
                <a:spcPct val="80000"/>
              </a:lnSpc>
            </a:pPr>
            <a:r>
              <a:rPr lang="ru-RU" altLang="zh-CN" sz="2000" dirty="0"/>
              <a:t>224.0.0.10 – </a:t>
            </a:r>
            <a:r>
              <a:rPr lang="ru-RU" altLang="zh-CN" sz="2000" dirty="0" err="1"/>
              <a:t>IGRP-маршрутизаторы</a:t>
            </a:r>
            <a:r>
              <a:rPr lang="ru-RU" altLang="zh-CN" sz="2000" dirty="0"/>
              <a:t>; </a:t>
            </a:r>
            <a:endParaRPr lang="hi-IN" altLang="zh-CN" sz="2000" dirty="0"/>
          </a:p>
          <a:p>
            <a:pPr>
              <a:lnSpc>
                <a:spcPct val="80000"/>
              </a:lnSpc>
            </a:pPr>
            <a:r>
              <a:rPr lang="ru-RU" altLang="zh-CN" sz="2000" dirty="0"/>
              <a:t>224.0.1.1 – получатели информации по протоколу точного времени NTP; </a:t>
            </a:r>
          </a:p>
          <a:p>
            <a:pPr>
              <a:lnSpc>
                <a:spcPct val="80000"/>
              </a:lnSpc>
            </a:pPr>
            <a:r>
              <a:rPr lang="ru-RU" altLang="zh-CN" sz="2000" dirty="0"/>
              <a:t>Адреса вида 239.Х.Х.Х зарезервированы для внутреннего использования в частных сетях. </a:t>
            </a:r>
            <a:endParaRPr lang="ru-RU" sz="2000" dirty="0"/>
          </a:p>
        </p:txBody>
      </p:sp>
      <p:pic>
        <p:nvPicPr>
          <p:cNvPr id="29700" name="slide_4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700"/>
                                        </p:tgtEl>
                                      </p:cBhvr>
                                    </p:cmd>
                                  </p:childTnLst>
                                </p:cTn>
                              </p:par>
                            </p:childTnLst>
                          </p:cTn>
                        </p:par>
                      </p:childTnLst>
                    </p:cTn>
                  </p:par>
                </p:childTnLst>
              </p:cTn>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endParaRPr lang="ru-RU"/>
          </a:p>
        </p:txBody>
      </p:sp>
      <p:sp>
        <p:nvSpPr>
          <p:cNvPr id="30723" name="Rectangle 3"/>
          <p:cNvSpPr>
            <a:spLocks noGrp="1" noChangeArrowheads="1"/>
          </p:cNvSpPr>
          <p:nvPr>
            <p:ph type="body" idx="1"/>
          </p:nvPr>
        </p:nvSpPr>
        <p:spPr/>
        <p:txBody>
          <a:bodyPr/>
          <a:lstStyle/>
          <a:p>
            <a:r>
              <a:rPr lang="ru-RU" altLang="zh-CN"/>
              <a:t>Для организации IP-сети с поддержкой мультикастинга необходимо следующее (RFC-1112): </a:t>
            </a:r>
            <a:endParaRPr lang="hi-IN" altLang="zh-CN"/>
          </a:p>
          <a:p>
            <a:r>
              <a:rPr lang="ru-RU" altLang="zh-CN"/>
              <a:t>поддержка мультикастинга в стеке TCP/IP расположенных в сети хостов; </a:t>
            </a:r>
            <a:endParaRPr lang="hi-IN" altLang="zh-CN"/>
          </a:p>
          <a:p>
            <a:r>
              <a:rPr lang="ru-RU" altLang="zh-CN"/>
              <a:t>поддержка групповой или широковещательной рассылки на уровне доступа к сети. </a:t>
            </a:r>
            <a:endParaRPr lang="ru-RU"/>
          </a:p>
        </p:txBody>
      </p:sp>
      <p:pic>
        <p:nvPicPr>
          <p:cNvPr id="30724" name="slide_4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24"/>
                                        </p:tgtEl>
                                      </p:cBhvr>
                                    </p:cmd>
                                  </p:childTnLst>
                                </p:cTn>
                              </p:par>
                            </p:childTnLst>
                          </p:cTn>
                        </p:par>
                      </p:childTnLst>
                    </p:cTn>
                  </p:par>
                </p:childTnLst>
              </p:cTn>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900113" y="0"/>
            <a:ext cx="7772400" cy="822325"/>
          </a:xfrm>
          <a:prstGeom prst="rect">
            <a:avLst/>
          </a:prstGeom>
          <a:noFill/>
          <a:ln w="9525">
            <a:noFill/>
            <a:miter lim="800000"/>
            <a:headEnd/>
            <a:tailEnd/>
          </a:ln>
          <a:effectLst/>
        </p:spPr>
        <p:txBody>
          <a:bodyPr>
            <a:spAutoFit/>
          </a:bodyPr>
          <a:lstStyle/>
          <a:p>
            <a:pPr algn="ctr">
              <a:spcBef>
                <a:spcPct val="50000"/>
              </a:spcBef>
            </a:pPr>
            <a:r>
              <a:rPr lang="ru-RU" sz="2400" b="1">
                <a:latin typeface="Times New Roman" pitchFamily="18" charset="0"/>
              </a:rPr>
              <a:t>Отображение  групповых адресов </a:t>
            </a:r>
            <a:r>
              <a:rPr lang="en-US" sz="2400" b="1">
                <a:latin typeface="Times New Roman" pitchFamily="18" charset="0"/>
              </a:rPr>
              <a:t>IP</a:t>
            </a:r>
            <a:r>
              <a:rPr lang="ru-RU" sz="2400" b="1">
                <a:latin typeface="Times New Roman" pitchFamily="18" charset="0"/>
              </a:rPr>
              <a:t> на групповые адреса </a:t>
            </a:r>
            <a:r>
              <a:rPr lang="en-US" sz="2400" b="1">
                <a:latin typeface="Times New Roman" pitchFamily="18" charset="0"/>
              </a:rPr>
              <a:t>Ethernet</a:t>
            </a:r>
            <a:endParaRPr lang="ru-RU" sz="2400" b="1">
              <a:latin typeface="Times New Roman" pitchFamily="18" charset="0"/>
            </a:endParaRPr>
          </a:p>
        </p:txBody>
      </p:sp>
      <p:sp>
        <p:nvSpPr>
          <p:cNvPr id="31747" name="Text Box 3"/>
          <p:cNvSpPr txBox="1">
            <a:spLocks noChangeArrowheads="1"/>
          </p:cNvSpPr>
          <p:nvPr/>
        </p:nvSpPr>
        <p:spPr bwMode="auto">
          <a:xfrm>
            <a:off x="539750" y="779463"/>
            <a:ext cx="7993063" cy="5165725"/>
          </a:xfrm>
          <a:prstGeom prst="rect">
            <a:avLst/>
          </a:prstGeom>
          <a:noFill/>
          <a:ln w="9525">
            <a:noFill/>
            <a:miter lim="800000"/>
            <a:headEnd/>
            <a:tailEnd/>
          </a:ln>
          <a:effectLst/>
        </p:spPr>
        <p:txBody>
          <a:bodyPr>
            <a:spAutoFit/>
          </a:bodyPr>
          <a:lstStyle/>
          <a:p>
            <a:pPr marL="457200" indent="-457200">
              <a:spcBef>
                <a:spcPct val="50000"/>
              </a:spcBef>
            </a:pPr>
            <a:r>
              <a:rPr lang="ru-RU" sz="2400">
                <a:latin typeface="Times New Roman" pitchFamily="18" charset="0"/>
              </a:rPr>
              <a:t>От </a:t>
            </a:r>
            <a:r>
              <a:rPr lang="en-US" sz="2400">
                <a:latin typeface="Times New Roman" pitchFamily="18" charset="0"/>
              </a:rPr>
              <a:t>  </a:t>
            </a:r>
            <a:r>
              <a:rPr lang="ru-RU" sz="2400" b="1">
                <a:solidFill>
                  <a:srgbClr val="FF0000"/>
                </a:solidFill>
                <a:latin typeface="Times New Roman" pitchFamily="18" charset="0"/>
              </a:rPr>
              <a:t>00:00:5</a:t>
            </a:r>
            <a:r>
              <a:rPr lang="en-US" sz="2400" b="1">
                <a:solidFill>
                  <a:srgbClr val="FF0000"/>
                </a:solidFill>
                <a:latin typeface="Times New Roman" pitchFamily="18" charset="0"/>
              </a:rPr>
              <a:t>e</a:t>
            </a:r>
            <a:r>
              <a:rPr lang="ru-RU" sz="2400" b="1">
                <a:latin typeface="Times New Roman" pitchFamily="18" charset="0"/>
              </a:rPr>
              <a:t>:00:00:00</a:t>
            </a:r>
            <a:r>
              <a:rPr lang="ru-RU" sz="2400">
                <a:latin typeface="Times New Roman" pitchFamily="18" charset="0"/>
              </a:rPr>
              <a:t> </a:t>
            </a:r>
            <a:r>
              <a:rPr lang="en-US" sz="2400">
                <a:latin typeface="Times New Roman" pitchFamily="18" charset="0"/>
              </a:rPr>
              <a:t>     </a:t>
            </a:r>
            <a:r>
              <a:rPr lang="ru-RU" sz="2400">
                <a:latin typeface="Times New Roman" pitchFamily="18" charset="0"/>
              </a:rPr>
              <a:t>до </a:t>
            </a:r>
            <a:r>
              <a:rPr lang="en-US" sz="2400">
                <a:latin typeface="Times New Roman" pitchFamily="18" charset="0"/>
              </a:rPr>
              <a:t>    </a:t>
            </a:r>
            <a:r>
              <a:rPr lang="ru-RU" sz="2400" b="1">
                <a:solidFill>
                  <a:srgbClr val="FF0000"/>
                </a:solidFill>
                <a:latin typeface="Times New Roman" pitchFamily="18" charset="0"/>
              </a:rPr>
              <a:t>00:00:5</a:t>
            </a:r>
            <a:r>
              <a:rPr lang="en-US" sz="2400" b="1">
                <a:solidFill>
                  <a:srgbClr val="FF0000"/>
                </a:solidFill>
                <a:latin typeface="Times New Roman" pitchFamily="18" charset="0"/>
              </a:rPr>
              <a:t>e</a:t>
            </a:r>
            <a:r>
              <a:rPr lang="ru-RU" sz="2400" b="1">
                <a:latin typeface="Times New Roman" pitchFamily="18" charset="0"/>
              </a:rPr>
              <a:t>:</a:t>
            </a:r>
            <a:r>
              <a:rPr lang="en-US" sz="2400" b="1">
                <a:latin typeface="Times New Roman" pitchFamily="18" charset="0"/>
              </a:rPr>
              <a:t>ff</a:t>
            </a:r>
            <a:r>
              <a:rPr lang="ru-RU" sz="2400" b="1">
                <a:latin typeface="Times New Roman" pitchFamily="18" charset="0"/>
              </a:rPr>
              <a:t>:</a:t>
            </a:r>
            <a:r>
              <a:rPr lang="en-US" sz="2400" b="1">
                <a:latin typeface="Times New Roman" pitchFamily="18" charset="0"/>
              </a:rPr>
              <a:t>ff</a:t>
            </a:r>
            <a:r>
              <a:rPr lang="ru-RU" sz="2400" b="1">
                <a:latin typeface="Times New Roman" pitchFamily="18" charset="0"/>
              </a:rPr>
              <a:t>:</a:t>
            </a:r>
            <a:r>
              <a:rPr lang="en-US" sz="2400" b="1">
                <a:latin typeface="Times New Roman" pitchFamily="18" charset="0"/>
              </a:rPr>
              <a:t>ff</a:t>
            </a:r>
            <a:r>
              <a:rPr lang="ru-RU" sz="2400">
                <a:latin typeface="Times New Roman" pitchFamily="18" charset="0"/>
              </a:rPr>
              <a:t> </a:t>
            </a:r>
            <a:endParaRPr lang="en-US" sz="2400">
              <a:latin typeface="Times New Roman" pitchFamily="18" charset="0"/>
            </a:endParaRPr>
          </a:p>
          <a:p>
            <a:pPr marL="457200" indent="-457200" algn="r">
              <a:spcBef>
                <a:spcPct val="50000"/>
              </a:spcBef>
            </a:pPr>
            <a:r>
              <a:rPr lang="ru-RU" sz="2400">
                <a:latin typeface="Times New Roman" pitchFamily="18" charset="0"/>
              </a:rPr>
              <a:t>блок </a:t>
            </a:r>
            <a:r>
              <a:rPr lang="en-US" sz="2400">
                <a:latin typeface="Times New Roman" pitchFamily="18" charset="0"/>
              </a:rPr>
              <a:t>MAC</a:t>
            </a:r>
            <a:r>
              <a:rPr lang="ru-RU" sz="2400">
                <a:latin typeface="Times New Roman" pitchFamily="18" charset="0"/>
              </a:rPr>
              <a:t>-адресов, закрепленных за </a:t>
            </a:r>
            <a:r>
              <a:rPr lang="en-US" sz="2400">
                <a:latin typeface="Times New Roman" pitchFamily="18" charset="0"/>
              </a:rPr>
              <a:t>IANA</a:t>
            </a:r>
            <a:r>
              <a:rPr lang="ru-RU" sz="2400">
                <a:latin typeface="Times New Roman" pitchFamily="18" charset="0"/>
              </a:rPr>
              <a:t>.</a:t>
            </a:r>
          </a:p>
          <a:p>
            <a:pPr marL="457200" indent="-457200">
              <a:spcBef>
                <a:spcPct val="50000"/>
              </a:spcBef>
            </a:pPr>
            <a:r>
              <a:rPr lang="ru-RU" sz="2400">
                <a:latin typeface="Times New Roman" pitchFamily="18" charset="0"/>
              </a:rPr>
              <a:t>Поскольку </a:t>
            </a:r>
            <a:r>
              <a:rPr lang="ru-RU" sz="2400" b="1">
                <a:latin typeface="Times New Roman" pitchFamily="18" charset="0"/>
              </a:rPr>
              <a:t>01</a:t>
            </a:r>
            <a:r>
              <a:rPr lang="ru-RU" sz="2400">
                <a:latin typeface="Times New Roman" pitchFamily="18" charset="0"/>
              </a:rPr>
              <a:t>- признак группового </a:t>
            </a:r>
            <a:r>
              <a:rPr lang="en-US" sz="2400">
                <a:latin typeface="Times New Roman" pitchFamily="18" charset="0"/>
              </a:rPr>
              <a:t>MAC- </a:t>
            </a:r>
            <a:r>
              <a:rPr lang="ru-RU" sz="2400">
                <a:latin typeface="Times New Roman" pitchFamily="18" charset="0"/>
              </a:rPr>
              <a:t>адреса,      имеем следующий диапазон для отображения групповых </a:t>
            </a:r>
            <a:r>
              <a:rPr lang="en-US" sz="2400">
                <a:latin typeface="Times New Roman" pitchFamily="18" charset="0"/>
              </a:rPr>
              <a:t>IP-</a:t>
            </a:r>
            <a:r>
              <a:rPr lang="ru-RU" sz="2400">
                <a:latin typeface="Times New Roman" pitchFamily="18" charset="0"/>
              </a:rPr>
              <a:t>адресов:</a:t>
            </a:r>
          </a:p>
          <a:p>
            <a:pPr marL="457200" indent="-457200">
              <a:spcBef>
                <a:spcPct val="50000"/>
              </a:spcBef>
            </a:pPr>
            <a:r>
              <a:rPr lang="ru-RU" sz="2400">
                <a:latin typeface="Times New Roman" pitchFamily="18" charset="0"/>
              </a:rPr>
              <a:t>от </a:t>
            </a:r>
            <a:r>
              <a:rPr lang="ru-RU" sz="2400" b="1">
                <a:latin typeface="Times New Roman" pitchFamily="18" charset="0"/>
              </a:rPr>
              <a:t>01:00:5</a:t>
            </a:r>
            <a:r>
              <a:rPr lang="en-US" sz="2400" b="1">
                <a:latin typeface="Times New Roman" pitchFamily="18" charset="0"/>
              </a:rPr>
              <a:t>e</a:t>
            </a:r>
            <a:r>
              <a:rPr lang="ru-RU" sz="2400" b="1">
                <a:latin typeface="Times New Roman" pitchFamily="18" charset="0"/>
              </a:rPr>
              <a:t>:00:00:00</a:t>
            </a:r>
            <a:r>
              <a:rPr lang="ru-RU" sz="2400">
                <a:latin typeface="Times New Roman" pitchFamily="18" charset="0"/>
              </a:rPr>
              <a:t>       до </a:t>
            </a:r>
            <a:r>
              <a:rPr lang="en-US" sz="2400">
                <a:latin typeface="Times New Roman" pitchFamily="18" charset="0"/>
              </a:rPr>
              <a:t>    </a:t>
            </a:r>
            <a:r>
              <a:rPr lang="ru-RU" sz="2400" b="1">
                <a:latin typeface="Times New Roman" pitchFamily="18" charset="0"/>
              </a:rPr>
              <a:t>01:00:5</a:t>
            </a:r>
            <a:r>
              <a:rPr lang="en-US" sz="2400" b="1">
                <a:latin typeface="Times New Roman" pitchFamily="18" charset="0"/>
              </a:rPr>
              <a:t>e</a:t>
            </a:r>
            <a:r>
              <a:rPr lang="ru-RU" sz="2400" b="1">
                <a:latin typeface="Times New Roman" pitchFamily="18" charset="0"/>
              </a:rPr>
              <a:t>:7</a:t>
            </a:r>
            <a:r>
              <a:rPr lang="en-US" sz="2400" b="1">
                <a:latin typeface="Times New Roman" pitchFamily="18" charset="0"/>
              </a:rPr>
              <a:t>f</a:t>
            </a:r>
            <a:r>
              <a:rPr lang="ru-RU" sz="2400" b="1">
                <a:latin typeface="Times New Roman" pitchFamily="18" charset="0"/>
              </a:rPr>
              <a:t>:</a:t>
            </a:r>
            <a:r>
              <a:rPr lang="en-US" sz="2400" b="1">
                <a:latin typeface="Times New Roman" pitchFamily="18" charset="0"/>
              </a:rPr>
              <a:t>ff</a:t>
            </a:r>
            <a:r>
              <a:rPr lang="ru-RU" sz="2400" b="1">
                <a:latin typeface="Times New Roman" pitchFamily="18" charset="0"/>
              </a:rPr>
              <a:t>:</a:t>
            </a:r>
            <a:r>
              <a:rPr lang="en-US" sz="2400" b="1">
                <a:latin typeface="Times New Roman" pitchFamily="18" charset="0"/>
              </a:rPr>
              <a:t>ff</a:t>
            </a:r>
            <a:endParaRPr lang="ru-RU" sz="2400" b="1">
              <a:latin typeface="Times New Roman" pitchFamily="18" charset="0"/>
            </a:endParaRPr>
          </a:p>
          <a:p>
            <a:pPr marL="457200" indent="-457200">
              <a:spcBef>
                <a:spcPct val="50000"/>
              </a:spcBef>
            </a:pPr>
            <a:r>
              <a:rPr lang="ru-RU" altLang="zh-CN" b="1"/>
              <a:t>групповому IP-адресу 224.255.0.1 на уровне Ethernet будет соответствовать MAC-адрес 01:00:5e:7f:00:01. Необходимо отметить, что это соответствие не является однозначным: в тот же MAC-адрес будут преобразованы IP-адреса 225.255.0.1, ..., 239.255.0.1, 225.127.0.1, ..., 239.127.0.1.</a:t>
            </a:r>
            <a:r>
              <a:rPr lang="ru-RU" altLang="zh-CN"/>
              <a:t> </a:t>
            </a:r>
          </a:p>
          <a:p>
            <a:pPr marL="457200" indent="-457200"/>
            <a:r>
              <a:rPr lang="en-US"/>
              <a:t>224</a:t>
            </a:r>
            <a:r>
              <a:rPr lang="ru-RU"/>
              <a:t>.128.64.32 (11100000 1</a:t>
            </a:r>
            <a:r>
              <a:rPr lang="ru-RU">
                <a:solidFill>
                  <a:srgbClr val="FF0000"/>
                </a:solidFill>
              </a:rPr>
              <a:t>0000000 01000000 00100000</a:t>
            </a:r>
            <a:r>
              <a:rPr lang="ru-RU"/>
              <a:t>) </a:t>
            </a:r>
          </a:p>
          <a:p>
            <a:pPr marL="457200" indent="-457200"/>
            <a:r>
              <a:rPr lang="ru-RU"/>
              <a:t>и 224.0.64.32   (11100000 0</a:t>
            </a:r>
            <a:r>
              <a:rPr lang="ru-RU">
                <a:solidFill>
                  <a:srgbClr val="FF0000"/>
                </a:solidFill>
              </a:rPr>
              <a:t>0000000 01000000 00100000</a:t>
            </a:r>
            <a:r>
              <a:rPr lang="ru-RU"/>
              <a:t>) </a:t>
            </a:r>
          </a:p>
          <a:p>
            <a:pPr marL="457200" indent="-457200"/>
            <a:r>
              <a:rPr lang="ru-RU"/>
              <a:t>отображаются на один и тот же </a:t>
            </a:r>
            <a:r>
              <a:rPr lang="en-US"/>
              <a:t>MAC</a:t>
            </a:r>
            <a:r>
              <a:rPr lang="ru-RU"/>
              <a:t>-адрес</a:t>
            </a:r>
            <a:endParaRPr lang="ru-RU" sz="2400">
              <a:latin typeface="Times New Roman" pitchFamily="18" charset="0"/>
            </a:endParaRPr>
          </a:p>
        </p:txBody>
      </p:sp>
      <p:sp>
        <p:nvSpPr>
          <p:cNvPr id="31748" name="Text Box 4"/>
          <p:cNvSpPr txBox="1">
            <a:spLocks noChangeArrowheads="1"/>
          </p:cNvSpPr>
          <p:nvPr/>
        </p:nvSpPr>
        <p:spPr bwMode="auto">
          <a:xfrm>
            <a:off x="3581400" y="5943600"/>
            <a:ext cx="5181600" cy="457200"/>
          </a:xfrm>
          <a:prstGeom prst="rect">
            <a:avLst/>
          </a:prstGeom>
          <a:noFill/>
          <a:ln w="9525">
            <a:noFill/>
            <a:miter lim="800000"/>
            <a:headEnd/>
            <a:tailEnd/>
          </a:ln>
          <a:effectLst/>
        </p:spPr>
        <p:txBody>
          <a:bodyPr>
            <a:spAutoFit/>
          </a:bodyPr>
          <a:lstStyle/>
          <a:p>
            <a:pPr>
              <a:spcBef>
                <a:spcPct val="50000"/>
              </a:spcBef>
            </a:pPr>
            <a:r>
              <a:rPr lang="ru-RU" sz="2400" b="1">
                <a:latin typeface="Times New Roman" pitchFamily="18" charset="0"/>
              </a:rPr>
              <a:t>01:00:5е:00:40:20</a:t>
            </a:r>
          </a:p>
        </p:txBody>
      </p:sp>
      <p:pic>
        <p:nvPicPr>
          <p:cNvPr id="31749" name="slide_5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749"/>
                                        </p:tgtEl>
                                      </p:cBhvr>
                                    </p:cmd>
                                  </p:childTnLst>
                                </p:cTn>
                              </p:par>
                            </p:childTnLst>
                          </p:cTn>
                        </p:par>
                      </p:childTnLst>
                    </p:cTn>
                  </p:par>
                </p:childTnLst>
              </p:cTn>
            </p:seq>
          </p:childTnLst>
        </p:cTn>
      </p:par>
    </p:tnLst>
  </p:timing>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4040</Words>
  <Application>Microsoft Office PowerPoint</Application>
  <PresentationFormat>Экран (4:3)</PresentationFormat>
  <Paragraphs>545</Paragraphs>
  <Slides>50</Slides>
  <Notes>8</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50</vt:i4>
      </vt:variant>
    </vt:vector>
  </HeadingPairs>
  <TitlesOfParts>
    <vt:vector size="58" baseType="lpstr">
      <vt:lpstr>Arial</vt:lpstr>
      <vt:lpstr>Consolas</vt:lpstr>
      <vt:lpstr>Wingdings</vt:lpstr>
      <vt:lpstr>Times New Roman</vt:lpstr>
      <vt:lpstr>ＭＳ Ｐゴシック</vt:lpstr>
      <vt:lpstr>Symbol</vt:lpstr>
      <vt:lpstr>Оформление по умолчанию</vt:lpstr>
      <vt:lpstr>Microsoft Visio Drawing</vt:lpstr>
      <vt:lpstr>План</vt:lpstr>
      <vt:lpstr>Типы адресов</vt:lpstr>
      <vt:lpstr>IP-адреса</vt:lpstr>
      <vt:lpstr>Структура IP-адреса (IPv4)</vt:lpstr>
      <vt:lpstr>Структура IP-адреса</vt:lpstr>
      <vt:lpstr>Классы IP-адресов</vt:lpstr>
      <vt:lpstr>Классы IP-адресов</vt:lpstr>
      <vt:lpstr>Слайд 8</vt:lpstr>
      <vt:lpstr>Классы IP-адресов</vt:lpstr>
      <vt:lpstr>IPv6</vt:lpstr>
      <vt:lpstr>Нехватка IP-адресов</vt:lpstr>
      <vt:lpstr>CIDR</vt:lpstr>
      <vt:lpstr>Маска подсети</vt:lpstr>
      <vt:lpstr>Маска подсети</vt:lpstr>
      <vt:lpstr>Представление маски подсети </vt:lpstr>
      <vt:lpstr>Маска подсети</vt:lpstr>
      <vt:lpstr>Маска подсети</vt:lpstr>
      <vt:lpstr>Специальные IP-адреса</vt:lpstr>
      <vt:lpstr>Специальные адресные пространства</vt:lpstr>
      <vt:lpstr>Распределение IP-адресов</vt:lpstr>
      <vt:lpstr>Приватные адреса</vt:lpstr>
      <vt:lpstr>Специальные IP-адреса</vt:lpstr>
      <vt:lpstr>Подсети</vt:lpstr>
      <vt:lpstr>Подсети</vt:lpstr>
      <vt:lpstr>Маски постоянной и переменной длины</vt:lpstr>
      <vt:lpstr>Слайд 26</vt:lpstr>
      <vt:lpstr>Слайд 27</vt:lpstr>
      <vt:lpstr>Слайд 28</vt:lpstr>
      <vt:lpstr>Слайд 29</vt:lpstr>
      <vt:lpstr>Слайд 30</vt:lpstr>
      <vt:lpstr>Слайд 31</vt:lpstr>
      <vt:lpstr>STUN</vt:lpstr>
      <vt:lpstr>Слайд 33</vt:lpstr>
      <vt:lpstr>Слайд 34</vt:lpstr>
      <vt:lpstr>Итоги</vt:lpstr>
      <vt:lpstr>IP пакет</vt:lpstr>
      <vt:lpstr>Тип сервиса</vt:lpstr>
      <vt:lpstr>Фрагментация</vt:lpstr>
      <vt:lpstr>Время жизни IP пакета</vt:lpstr>
      <vt:lpstr>Механизм IP-инкапсуляции</vt:lpstr>
      <vt:lpstr>Целостность IP-пакетов</vt:lpstr>
      <vt:lpstr>Отличие IPv6 от IPv4</vt:lpstr>
      <vt:lpstr>Привязка и конфигурирование адресов</vt:lpstr>
      <vt:lpstr>Протокол ARP (RFC826)</vt:lpstr>
      <vt:lpstr>Протокол RARP (RFC1293)</vt:lpstr>
      <vt:lpstr>Протоколы BOOTP (RFC951), DHCP (RFC2131, 2132)</vt:lpstr>
      <vt:lpstr>Справка. Параметры DHCP-настройки стека</vt:lpstr>
      <vt:lpstr>Групповые адреса</vt:lpstr>
      <vt:lpstr>Слайд 49</vt:lpstr>
      <vt:lpstr>Слайд 50</vt:lpstr>
    </vt:vector>
  </TitlesOfParts>
  <Company>homexp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План</dc:title>
  <dc:creator>homexp</dc:creator>
  <cp:lastModifiedBy>Алекс Алексов</cp:lastModifiedBy>
  <cp:revision>18</cp:revision>
  <dcterms:created xsi:type="dcterms:W3CDTF">2014-10-07T16:14:16Z</dcterms:created>
  <dcterms:modified xsi:type="dcterms:W3CDTF">2026-10-27T14:23:42Z</dcterms:modified>
</cp:coreProperties>
</file>