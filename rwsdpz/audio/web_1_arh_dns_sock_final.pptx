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77" r:id="rId5"/>
    <p:sldId id="275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8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57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A5794-0D72-48D0-9169-80711CAE4EC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C8D3617-4DD5-481A-A277-D9B597982AAE}">
      <dgm:prSet phldrT="[Текст]"/>
      <dgm:spPr/>
      <dgm:t>
        <a:bodyPr/>
        <a:lstStyle/>
        <a:p>
          <a:r>
            <a:rPr lang="en-US" dirty="0" smtClean="0"/>
            <a:t>.</a:t>
          </a:r>
          <a:endParaRPr lang="ru-RU" dirty="0"/>
        </a:p>
      </dgm:t>
    </dgm:pt>
    <dgm:pt modelId="{99AAF161-7C0D-4C88-8970-010D319ACF42}" type="parTrans" cxnId="{66314BFD-73D0-4457-8A2B-028E4334176F}">
      <dgm:prSet/>
      <dgm:spPr/>
      <dgm:t>
        <a:bodyPr/>
        <a:lstStyle/>
        <a:p>
          <a:endParaRPr lang="ru-RU"/>
        </a:p>
      </dgm:t>
    </dgm:pt>
    <dgm:pt modelId="{23CDACE1-0656-48B2-BA02-397D7E057FC7}" type="sibTrans" cxnId="{66314BFD-73D0-4457-8A2B-028E4334176F}">
      <dgm:prSet/>
      <dgm:spPr/>
      <dgm:t>
        <a:bodyPr/>
        <a:lstStyle/>
        <a:p>
          <a:endParaRPr lang="ru-RU"/>
        </a:p>
      </dgm:t>
    </dgm:pt>
    <dgm:pt modelId="{312ED23F-ACD8-4357-BCF4-75B4A4BF9CF7}">
      <dgm:prSet phldrT="[Текст]"/>
      <dgm:spPr/>
      <dgm:t>
        <a:bodyPr/>
        <a:lstStyle/>
        <a:p>
          <a:r>
            <a:rPr lang="en-US" dirty="0" smtClean="0"/>
            <a:t>org</a:t>
          </a:r>
          <a:endParaRPr lang="ru-RU" dirty="0"/>
        </a:p>
      </dgm:t>
    </dgm:pt>
    <dgm:pt modelId="{7A4B9ADF-2192-4B04-BF5F-BDAF79A450B4}" type="parTrans" cxnId="{9251557B-5A60-4F2C-BFA3-24D8855E7136}">
      <dgm:prSet/>
      <dgm:spPr/>
      <dgm:t>
        <a:bodyPr/>
        <a:lstStyle/>
        <a:p>
          <a:endParaRPr lang="ru-RU"/>
        </a:p>
      </dgm:t>
    </dgm:pt>
    <dgm:pt modelId="{CCC0AF65-DE51-4E77-A4C1-00D0AFCCAE82}" type="sibTrans" cxnId="{9251557B-5A60-4F2C-BFA3-24D8855E7136}">
      <dgm:prSet/>
      <dgm:spPr/>
      <dgm:t>
        <a:bodyPr/>
        <a:lstStyle/>
        <a:p>
          <a:endParaRPr lang="ru-RU"/>
        </a:p>
      </dgm:t>
    </dgm:pt>
    <dgm:pt modelId="{13FFA8CC-B0F5-4BEC-95AC-D62E9F3D8CDC}">
      <dgm:prSet phldrT="[Текст]"/>
      <dgm:spPr/>
      <dgm:t>
        <a:bodyPr/>
        <a:lstStyle/>
        <a:p>
          <a:r>
            <a:rPr lang="en-US" dirty="0" err="1" smtClean="0"/>
            <a:t>google</a:t>
          </a:r>
          <a:endParaRPr lang="ru-RU" dirty="0"/>
        </a:p>
      </dgm:t>
    </dgm:pt>
    <dgm:pt modelId="{99456614-1326-4985-81F1-C6AD2AE792E9}" type="parTrans" cxnId="{C6B848BE-A185-4799-A73A-E35A4A6C1D4D}">
      <dgm:prSet/>
      <dgm:spPr/>
      <dgm:t>
        <a:bodyPr/>
        <a:lstStyle/>
        <a:p>
          <a:endParaRPr lang="ru-RU"/>
        </a:p>
      </dgm:t>
    </dgm:pt>
    <dgm:pt modelId="{4C2355BD-D835-4A04-AEF1-0FCBA2497AA3}" type="sibTrans" cxnId="{C6B848BE-A185-4799-A73A-E35A4A6C1D4D}">
      <dgm:prSet/>
      <dgm:spPr/>
      <dgm:t>
        <a:bodyPr/>
        <a:lstStyle/>
        <a:p>
          <a:endParaRPr lang="ru-RU"/>
        </a:p>
      </dgm:t>
    </dgm:pt>
    <dgm:pt modelId="{891C26E5-D881-4CF5-88D3-C7A3DEBAB5A0}">
      <dgm:prSet phldrT="[Текст]"/>
      <dgm:spPr/>
      <dgm:t>
        <a:bodyPr/>
        <a:lstStyle/>
        <a:p>
          <a:r>
            <a:rPr lang="en-US" dirty="0" smtClean="0"/>
            <a:t>education</a:t>
          </a:r>
          <a:endParaRPr lang="ru-RU" dirty="0"/>
        </a:p>
      </dgm:t>
    </dgm:pt>
    <dgm:pt modelId="{AB8165EA-6929-4980-9C6E-48FF5C3C4723}" type="parTrans" cxnId="{0B28E466-F0CA-44B1-B770-40FBFA36ED3A}">
      <dgm:prSet/>
      <dgm:spPr/>
      <dgm:t>
        <a:bodyPr/>
        <a:lstStyle/>
        <a:p>
          <a:endParaRPr lang="ru-RU"/>
        </a:p>
      </dgm:t>
    </dgm:pt>
    <dgm:pt modelId="{7CAD1E7A-5F5A-49D0-B6D7-87DEF5BB29A8}" type="sibTrans" cxnId="{0B28E466-F0CA-44B1-B770-40FBFA36ED3A}">
      <dgm:prSet/>
      <dgm:spPr/>
      <dgm:t>
        <a:bodyPr/>
        <a:lstStyle/>
        <a:p>
          <a:endParaRPr lang="ru-RU"/>
        </a:p>
      </dgm:t>
    </dgm:pt>
    <dgm:pt modelId="{713F89CE-9749-42E0-B174-41A0759D61BE}">
      <dgm:prSet phldrT="[Текст]"/>
      <dgm:spPr/>
      <dgm:t>
        <a:bodyPr/>
        <a:lstStyle/>
        <a:p>
          <a:r>
            <a:rPr lang="en-US" dirty="0" err="1" smtClean="0"/>
            <a:t>ru</a:t>
          </a:r>
          <a:endParaRPr lang="ru-RU" dirty="0"/>
        </a:p>
      </dgm:t>
    </dgm:pt>
    <dgm:pt modelId="{A489FE58-C9D3-494F-8C9D-3B455C2197C5}" type="parTrans" cxnId="{A21538BE-11ED-4737-9CA3-1DCDC12D2A99}">
      <dgm:prSet/>
      <dgm:spPr/>
      <dgm:t>
        <a:bodyPr/>
        <a:lstStyle/>
        <a:p>
          <a:endParaRPr lang="ru-RU"/>
        </a:p>
      </dgm:t>
    </dgm:pt>
    <dgm:pt modelId="{8AA43A5B-ED02-4A5C-89EF-5BEDF4C121AE}" type="sibTrans" cxnId="{A21538BE-11ED-4737-9CA3-1DCDC12D2A99}">
      <dgm:prSet/>
      <dgm:spPr/>
      <dgm:t>
        <a:bodyPr/>
        <a:lstStyle/>
        <a:p>
          <a:endParaRPr lang="ru-RU"/>
        </a:p>
      </dgm:t>
    </dgm:pt>
    <dgm:pt modelId="{CA1054F3-4391-48C8-B248-7DA093B75922}">
      <dgm:prSet phldrT="[Текст]"/>
      <dgm:spPr/>
      <dgm:t>
        <a:bodyPr/>
        <a:lstStyle/>
        <a:p>
          <a:r>
            <a:rPr lang="en-US" dirty="0" err="1" smtClean="0"/>
            <a:t>tusur</a:t>
          </a:r>
          <a:endParaRPr lang="ru-RU" dirty="0"/>
        </a:p>
      </dgm:t>
    </dgm:pt>
    <dgm:pt modelId="{AA761FEB-FC20-466A-A2F8-70346A38EB24}" type="parTrans" cxnId="{10516711-BB68-475F-99D3-7051B69814A3}">
      <dgm:prSet/>
      <dgm:spPr/>
      <dgm:t>
        <a:bodyPr/>
        <a:lstStyle/>
        <a:p>
          <a:endParaRPr lang="ru-RU"/>
        </a:p>
      </dgm:t>
    </dgm:pt>
    <dgm:pt modelId="{8038A767-CCCC-4219-8F97-6DE3F14C74EF}" type="sibTrans" cxnId="{10516711-BB68-475F-99D3-7051B69814A3}">
      <dgm:prSet/>
      <dgm:spPr/>
      <dgm:t>
        <a:bodyPr/>
        <a:lstStyle/>
        <a:p>
          <a:endParaRPr lang="ru-RU"/>
        </a:p>
      </dgm:t>
    </dgm:pt>
    <dgm:pt modelId="{89C0893F-9FCF-491B-9D80-B7A41AADA010}">
      <dgm:prSet/>
      <dgm:spPr/>
      <dgm:t>
        <a:bodyPr/>
        <a:lstStyle/>
        <a:p>
          <a:r>
            <a:rPr lang="en-US" dirty="0" smtClean="0"/>
            <a:t>mail</a:t>
          </a:r>
          <a:endParaRPr lang="ru-RU" dirty="0"/>
        </a:p>
      </dgm:t>
    </dgm:pt>
    <dgm:pt modelId="{146A22D6-3B66-43D3-A5BB-169ADD8A52C1}" type="parTrans" cxnId="{663642A7-A6E4-4FBA-BDD6-089C498C6E3E}">
      <dgm:prSet/>
      <dgm:spPr/>
      <dgm:t>
        <a:bodyPr/>
        <a:lstStyle/>
        <a:p>
          <a:endParaRPr lang="ru-RU"/>
        </a:p>
      </dgm:t>
    </dgm:pt>
    <dgm:pt modelId="{D8A542C3-6830-4A83-80CE-30AE41F1E1D0}" type="sibTrans" cxnId="{663642A7-A6E4-4FBA-BDD6-089C498C6E3E}">
      <dgm:prSet/>
      <dgm:spPr/>
      <dgm:t>
        <a:bodyPr/>
        <a:lstStyle/>
        <a:p>
          <a:endParaRPr lang="ru-RU"/>
        </a:p>
      </dgm:t>
    </dgm:pt>
    <dgm:pt modelId="{7D963BB6-D6F4-43A2-BC37-16B4C7C2E25B}">
      <dgm:prSet/>
      <dgm:spPr/>
      <dgm:t>
        <a:bodyPr/>
        <a:lstStyle/>
        <a:p>
          <a:r>
            <a:rPr lang="en-US" dirty="0" smtClean="0"/>
            <a:t>it</a:t>
          </a:r>
          <a:endParaRPr lang="ru-RU" dirty="0"/>
        </a:p>
      </dgm:t>
    </dgm:pt>
    <dgm:pt modelId="{10322F58-66B5-4A6E-B483-59E7C5CD550D}" type="parTrans" cxnId="{A96C46BC-CA65-432A-998A-B70CDD200695}">
      <dgm:prSet/>
      <dgm:spPr/>
      <dgm:t>
        <a:bodyPr/>
        <a:lstStyle/>
        <a:p>
          <a:endParaRPr lang="ru-RU"/>
        </a:p>
      </dgm:t>
    </dgm:pt>
    <dgm:pt modelId="{3B7A77BF-215D-4E91-BC90-08B722DE9C9F}" type="sibTrans" cxnId="{A96C46BC-CA65-432A-998A-B70CDD200695}">
      <dgm:prSet/>
      <dgm:spPr/>
      <dgm:t>
        <a:bodyPr/>
        <a:lstStyle/>
        <a:p>
          <a:endParaRPr lang="ru-RU"/>
        </a:p>
      </dgm:t>
    </dgm:pt>
    <dgm:pt modelId="{0642A58D-17AC-4C0B-8091-321E79EAD5B6}">
      <dgm:prSet/>
      <dgm:spPr/>
      <dgm:t>
        <a:bodyPr/>
        <a:lstStyle/>
        <a:p>
          <a:r>
            <a:rPr lang="en-US" dirty="0" smtClean="0"/>
            <a:t>com</a:t>
          </a:r>
          <a:endParaRPr lang="ru-RU" dirty="0"/>
        </a:p>
      </dgm:t>
    </dgm:pt>
    <dgm:pt modelId="{269B8CCD-9419-487D-9F9B-36BFC65934B9}" type="parTrans" cxnId="{30E6D494-0EC5-476E-ACF0-AE289EC1E4F6}">
      <dgm:prSet/>
      <dgm:spPr/>
      <dgm:t>
        <a:bodyPr/>
        <a:lstStyle/>
        <a:p>
          <a:endParaRPr lang="ru-RU"/>
        </a:p>
      </dgm:t>
    </dgm:pt>
    <dgm:pt modelId="{BA10620C-91EB-4532-B35A-85275A9C8F50}" type="sibTrans" cxnId="{30E6D494-0EC5-476E-ACF0-AE289EC1E4F6}">
      <dgm:prSet/>
      <dgm:spPr/>
      <dgm:t>
        <a:bodyPr/>
        <a:lstStyle/>
        <a:p>
          <a:endParaRPr lang="ru-RU"/>
        </a:p>
      </dgm:t>
    </dgm:pt>
    <dgm:pt modelId="{2EF7444A-300B-434B-9A60-5648575986F6}" type="pres">
      <dgm:prSet presAssocID="{8EBA5794-0D72-48D0-9169-80711CAE4EC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6CAAE91E-BB0E-4A46-9F9C-7058974189E8}" type="pres">
      <dgm:prSet presAssocID="{CC8D3617-4DD5-481A-A277-D9B597982AAE}" presName="hierRoot1" presStyleCnt="0"/>
      <dgm:spPr/>
    </dgm:pt>
    <dgm:pt modelId="{6CE6B4DF-8C81-4A11-BFC3-F28180082161}" type="pres">
      <dgm:prSet presAssocID="{CC8D3617-4DD5-481A-A277-D9B597982AAE}" presName="composite" presStyleCnt="0"/>
      <dgm:spPr/>
    </dgm:pt>
    <dgm:pt modelId="{F6F8BFED-D4BA-4482-85F0-AA13CAE877E4}" type="pres">
      <dgm:prSet presAssocID="{CC8D3617-4DD5-481A-A277-D9B597982AAE}" presName="background" presStyleLbl="node0" presStyleIdx="0" presStyleCnt="1"/>
      <dgm:spPr/>
    </dgm:pt>
    <dgm:pt modelId="{6A40DB89-85F0-4FC0-8B0D-CC154BBAEDC4}" type="pres">
      <dgm:prSet presAssocID="{CC8D3617-4DD5-481A-A277-D9B597982AAE}" presName="text" presStyleLbl="fgAcc0" presStyleIdx="0" presStyleCnt="1" custScaleY="101040" custLinFactNeighborX="-30995" custLinFactNeighborY="-1011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B3F926-3EFF-4880-A32D-C0D07579B3CC}" type="pres">
      <dgm:prSet presAssocID="{CC8D3617-4DD5-481A-A277-D9B597982AAE}" presName="hierChild2" presStyleCnt="0"/>
      <dgm:spPr/>
    </dgm:pt>
    <dgm:pt modelId="{1D3D3A75-36CB-4E1D-9B45-D558561AA0DF}" type="pres">
      <dgm:prSet presAssocID="{7A4B9ADF-2192-4B04-BF5F-BDAF79A450B4}" presName="Name10" presStyleLbl="parChTrans1D2" presStyleIdx="0" presStyleCnt="4"/>
      <dgm:spPr/>
      <dgm:t>
        <a:bodyPr/>
        <a:lstStyle/>
        <a:p>
          <a:endParaRPr lang="ru-RU"/>
        </a:p>
      </dgm:t>
    </dgm:pt>
    <dgm:pt modelId="{09F61EB0-74BD-4993-A913-29BCDEAC08FA}" type="pres">
      <dgm:prSet presAssocID="{312ED23F-ACD8-4357-BCF4-75B4A4BF9CF7}" presName="hierRoot2" presStyleCnt="0"/>
      <dgm:spPr/>
    </dgm:pt>
    <dgm:pt modelId="{8BF7C7C0-049C-4DD4-A804-2F8C3D2D87C3}" type="pres">
      <dgm:prSet presAssocID="{312ED23F-ACD8-4357-BCF4-75B4A4BF9CF7}" presName="composite2" presStyleCnt="0"/>
      <dgm:spPr/>
    </dgm:pt>
    <dgm:pt modelId="{B1C72112-B23E-40EB-AEF0-C36621F16664}" type="pres">
      <dgm:prSet presAssocID="{312ED23F-ACD8-4357-BCF4-75B4A4BF9CF7}" presName="background2" presStyleLbl="node2" presStyleIdx="0" presStyleCnt="4"/>
      <dgm:spPr/>
    </dgm:pt>
    <dgm:pt modelId="{6DE2A90B-E1DA-4445-A222-87BC0B718F49}" type="pres">
      <dgm:prSet presAssocID="{312ED23F-ACD8-4357-BCF4-75B4A4BF9CF7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070334A-FB04-49DC-8C03-D1E1F40EC3B6}" type="pres">
      <dgm:prSet presAssocID="{312ED23F-ACD8-4357-BCF4-75B4A4BF9CF7}" presName="hierChild3" presStyleCnt="0"/>
      <dgm:spPr/>
    </dgm:pt>
    <dgm:pt modelId="{5F1834A0-FB7C-4850-9B19-991FE5982F3C}" type="pres">
      <dgm:prSet presAssocID="{99456614-1326-4985-81F1-C6AD2AE792E9}" presName="Name17" presStyleLbl="parChTrans1D3" presStyleIdx="0" presStyleCnt="3"/>
      <dgm:spPr/>
      <dgm:t>
        <a:bodyPr/>
        <a:lstStyle/>
        <a:p>
          <a:endParaRPr lang="ru-RU"/>
        </a:p>
      </dgm:t>
    </dgm:pt>
    <dgm:pt modelId="{494C9EA5-E16A-4B81-BD5C-6FBAF1B0B56F}" type="pres">
      <dgm:prSet presAssocID="{13FFA8CC-B0F5-4BEC-95AC-D62E9F3D8CDC}" presName="hierRoot3" presStyleCnt="0"/>
      <dgm:spPr/>
    </dgm:pt>
    <dgm:pt modelId="{E3A230B5-0677-45AC-B722-5A8B908D48E1}" type="pres">
      <dgm:prSet presAssocID="{13FFA8CC-B0F5-4BEC-95AC-D62E9F3D8CDC}" presName="composite3" presStyleCnt="0"/>
      <dgm:spPr/>
    </dgm:pt>
    <dgm:pt modelId="{F2F9F4B6-EA86-4685-B5DD-DE27E8DE372F}" type="pres">
      <dgm:prSet presAssocID="{13FFA8CC-B0F5-4BEC-95AC-D62E9F3D8CDC}" presName="background3" presStyleLbl="node3" presStyleIdx="0" presStyleCnt="3"/>
      <dgm:spPr/>
    </dgm:pt>
    <dgm:pt modelId="{BF6411F8-75D2-4EE0-BADA-132A158C1AB5}" type="pres">
      <dgm:prSet presAssocID="{13FFA8CC-B0F5-4BEC-95AC-D62E9F3D8CDC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E41A055-C833-4ACE-91E5-7BC0BF75F38D}" type="pres">
      <dgm:prSet presAssocID="{13FFA8CC-B0F5-4BEC-95AC-D62E9F3D8CDC}" presName="hierChild4" presStyleCnt="0"/>
      <dgm:spPr/>
    </dgm:pt>
    <dgm:pt modelId="{D1DB3457-79CE-4D1C-A1FD-47A034EE4974}" type="pres">
      <dgm:prSet presAssocID="{AB8165EA-6929-4980-9C6E-48FF5C3C4723}" presName="Name17" presStyleLbl="parChTrans1D3" presStyleIdx="1" presStyleCnt="3"/>
      <dgm:spPr/>
      <dgm:t>
        <a:bodyPr/>
        <a:lstStyle/>
        <a:p>
          <a:endParaRPr lang="ru-RU"/>
        </a:p>
      </dgm:t>
    </dgm:pt>
    <dgm:pt modelId="{C1BD101B-3FD3-48D7-8BFF-175E633EBA4A}" type="pres">
      <dgm:prSet presAssocID="{891C26E5-D881-4CF5-88D3-C7A3DEBAB5A0}" presName="hierRoot3" presStyleCnt="0"/>
      <dgm:spPr/>
    </dgm:pt>
    <dgm:pt modelId="{CDD277E3-AEBE-44DB-ABD6-4C71B9F8ACDA}" type="pres">
      <dgm:prSet presAssocID="{891C26E5-D881-4CF5-88D3-C7A3DEBAB5A0}" presName="composite3" presStyleCnt="0"/>
      <dgm:spPr/>
    </dgm:pt>
    <dgm:pt modelId="{BF397EB0-8DDB-4EAC-9F1F-20A131D663CA}" type="pres">
      <dgm:prSet presAssocID="{891C26E5-D881-4CF5-88D3-C7A3DEBAB5A0}" presName="background3" presStyleLbl="node3" presStyleIdx="1" presStyleCnt="3"/>
      <dgm:spPr/>
    </dgm:pt>
    <dgm:pt modelId="{EE16A066-A0D2-4134-B703-7AEF218A78BB}" type="pres">
      <dgm:prSet presAssocID="{891C26E5-D881-4CF5-88D3-C7A3DEBAB5A0}" presName="text3" presStyleLbl="fgAcc3" presStyleIdx="1" presStyleCnt="3" custLinFactNeighborX="-6098" custLinFactNeighborY="-280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F206DF5-6A28-46FE-92FE-0D262B8526BF}" type="pres">
      <dgm:prSet presAssocID="{891C26E5-D881-4CF5-88D3-C7A3DEBAB5A0}" presName="hierChild4" presStyleCnt="0"/>
      <dgm:spPr/>
    </dgm:pt>
    <dgm:pt modelId="{4607228B-F642-4F3B-8077-93CEFEB4A356}" type="pres">
      <dgm:prSet presAssocID="{A489FE58-C9D3-494F-8C9D-3B455C2197C5}" presName="Name10" presStyleLbl="parChTrans1D2" presStyleIdx="1" presStyleCnt="4"/>
      <dgm:spPr/>
      <dgm:t>
        <a:bodyPr/>
        <a:lstStyle/>
        <a:p>
          <a:endParaRPr lang="ru-RU"/>
        </a:p>
      </dgm:t>
    </dgm:pt>
    <dgm:pt modelId="{343C81FA-F8AB-4542-B268-093C67EE92AB}" type="pres">
      <dgm:prSet presAssocID="{713F89CE-9749-42E0-B174-41A0759D61BE}" presName="hierRoot2" presStyleCnt="0"/>
      <dgm:spPr/>
    </dgm:pt>
    <dgm:pt modelId="{8991BB7C-6910-4971-8032-850EAE32170E}" type="pres">
      <dgm:prSet presAssocID="{713F89CE-9749-42E0-B174-41A0759D61BE}" presName="composite2" presStyleCnt="0"/>
      <dgm:spPr/>
    </dgm:pt>
    <dgm:pt modelId="{15E5F280-F4A8-4285-8FAE-84A4FEE2DF49}" type="pres">
      <dgm:prSet presAssocID="{713F89CE-9749-42E0-B174-41A0759D61BE}" presName="background2" presStyleLbl="node2" presStyleIdx="1" presStyleCnt="4"/>
      <dgm:spPr/>
    </dgm:pt>
    <dgm:pt modelId="{8842821F-AE95-4F0E-8103-ED075810F959}" type="pres">
      <dgm:prSet presAssocID="{713F89CE-9749-42E0-B174-41A0759D61BE}" presName="text2" presStyleLbl="fgAcc2" presStyleIdx="1" presStyleCnt="4" custLinFactNeighborX="65721" custLinFactNeighborY="29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A8397DC-5C3E-49A5-A877-6BC480EE8D53}" type="pres">
      <dgm:prSet presAssocID="{713F89CE-9749-42E0-B174-41A0759D61BE}" presName="hierChild3" presStyleCnt="0"/>
      <dgm:spPr/>
    </dgm:pt>
    <dgm:pt modelId="{656BA9AC-77E5-4592-8D79-00AFE5CFEA76}" type="pres">
      <dgm:prSet presAssocID="{AA761FEB-FC20-466A-A2F8-70346A38EB24}" presName="Name17" presStyleLbl="parChTrans1D3" presStyleIdx="2" presStyleCnt="3"/>
      <dgm:spPr/>
      <dgm:t>
        <a:bodyPr/>
        <a:lstStyle/>
        <a:p>
          <a:endParaRPr lang="ru-RU"/>
        </a:p>
      </dgm:t>
    </dgm:pt>
    <dgm:pt modelId="{2ADE6F18-8121-4834-915B-5C1B3AA8AFEF}" type="pres">
      <dgm:prSet presAssocID="{CA1054F3-4391-48C8-B248-7DA093B75922}" presName="hierRoot3" presStyleCnt="0"/>
      <dgm:spPr/>
    </dgm:pt>
    <dgm:pt modelId="{51D03D4A-3A09-4B01-A826-C47D1B5FB878}" type="pres">
      <dgm:prSet presAssocID="{CA1054F3-4391-48C8-B248-7DA093B75922}" presName="composite3" presStyleCnt="0"/>
      <dgm:spPr/>
    </dgm:pt>
    <dgm:pt modelId="{0F6C54D1-4751-41D5-AA81-18CF4F656893}" type="pres">
      <dgm:prSet presAssocID="{CA1054F3-4391-48C8-B248-7DA093B75922}" presName="background3" presStyleLbl="node3" presStyleIdx="2" presStyleCnt="3"/>
      <dgm:spPr/>
    </dgm:pt>
    <dgm:pt modelId="{5FA642F8-00EF-4F26-BED8-617637A95A90}" type="pres">
      <dgm:prSet presAssocID="{CA1054F3-4391-48C8-B248-7DA093B75922}" presName="text3" presStyleLbl="fgAcc3" presStyleIdx="2" presStyleCnt="3" custLinFactNeighborX="65721" custLinFactNeighborY="229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94DD9E9-46C8-423A-B66F-4FA45B105D7B}" type="pres">
      <dgm:prSet presAssocID="{CA1054F3-4391-48C8-B248-7DA093B75922}" presName="hierChild4" presStyleCnt="0"/>
      <dgm:spPr/>
    </dgm:pt>
    <dgm:pt modelId="{F91EC5E6-F812-41BF-90BD-A447E217DC5B}" type="pres">
      <dgm:prSet presAssocID="{146A22D6-3B66-43D3-A5BB-169ADD8A52C1}" presName="Name23" presStyleLbl="parChTrans1D4" presStyleIdx="0" presStyleCnt="1"/>
      <dgm:spPr/>
      <dgm:t>
        <a:bodyPr/>
        <a:lstStyle/>
        <a:p>
          <a:endParaRPr lang="ru-RU"/>
        </a:p>
      </dgm:t>
    </dgm:pt>
    <dgm:pt modelId="{A28CD190-C2F4-4B64-BF68-970F04D9CD30}" type="pres">
      <dgm:prSet presAssocID="{89C0893F-9FCF-491B-9D80-B7A41AADA010}" presName="hierRoot4" presStyleCnt="0"/>
      <dgm:spPr/>
    </dgm:pt>
    <dgm:pt modelId="{7AE931CF-B7F6-4CF9-A494-534E33A955E7}" type="pres">
      <dgm:prSet presAssocID="{89C0893F-9FCF-491B-9D80-B7A41AADA010}" presName="composite4" presStyleCnt="0"/>
      <dgm:spPr/>
    </dgm:pt>
    <dgm:pt modelId="{4B3F535D-CEF1-4EAD-AABE-D2AEE9C8FB6E}" type="pres">
      <dgm:prSet presAssocID="{89C0893F-9FCF-491B-9D80-B7A41AADA010}" presName="background4" presStyleLbl="node4" presStyleIdx="0" presStyleCnt="1"/>
      <dgm:spPr/>
    </dgm:pt>
    <dgm:pt modelId="{DB2F2D82-959D-4B32-9E26-7305CAB92257}" type="pres">
      <dgm:prSet presAssocID="{89C0893F-9FCF-491B-9D80-B7A41AADA010}" presName="text4" presStyleLbl="fgAcc4" presStyleIdx="0" presStyleCnt="1" custLinFactNeighborX="65721" custLinFactNeighborY="12859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9B61962-F4EF-4ADA-A62E-7C86B7181D7F}" type="pres">
      <dgm:prSet presAssocID="{89C0893F-9FCF-491B-9D80-B7A41AADA010}" presName="hierChild5" presStyleCnt="0"/>
      <dgm:spPr/>
    </dgm:pt>
    <dgm:pt modelId="{F1B7B5FD-B393-48BE-82EA-43D27AA4F28B}" type="pres">
      <dgm:prSet presAssocID="{10322F58-66B5-4A6E-B483-59E7C5CD550D}" presName="Name10" presStyleLbl="parChTrans1D2" presStyleIdx="2" presStyleCnt="4"/>
      <dgm:spPr/>
      <dgm:t>
        <a:bodyPr/>
        <a:lstStyle/>
        <a:p>
          <a:endParaRPr lang="ru-RU"/>
        </a:p>
      </dgm:t>
    </dgm:pt>
    <dgm:pt modelId="{EEF8709D-1EDA-4415-BD61-7A9FCC9AD7CA}" type="pres">
      <dgm:prSet presAssocID="{7D963BB6-D6F4-43A2-BC37-16B4C7C2E25B}" presName="hierRoot2" presStyleCnt="0"/>
      <dgm:spPr/>
    </dgm:pt>
    <dgm:pt modelId="{4968C987-7821-484F-8A53-22DBE9FC79CD}" type="pres">
      <dgm:prSet presAssocID="{7D963BB6-D6F4-43A2-BC37-16B4C7C2E25B}" presName="composite2" presStyleCnt="0"/>
      <dgm:spPr/>
    </dgm:pt>
    <dgm:pt modelId="{16B4C03F-E711-4E21-BD65-DA240D38E993}" type="pres">
      <dgm:prSet presAssocID="{7D963BB6-D6F4-43A2-BC37-16B4C7C2E25B}" presName="background2" presStyleLbl="node2" presStyleIdx="2" presStyleCnt="4"/>
      <dgm:spPr/>
    </dgm:pt>
    <dgm:pt modelId="{EBCEA436-62E7-48D4-B8EC-42AB33C591C8}" type="pres">
      <dgm:prSet presAssocID="{7D963BB6-D6F4-43A2-BC37-16B4C7C2E25B}" presName="text2" presStyleLbl="fgAcc2" presStyleIdx="2" presStyleCnt="4" custLinFactNeighborX="64067" custLinFactNeighborY="29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DC93AF11-2916-4AAA-880E-1B60D375EA67}" type="pres">
      <dgm:prSet presAssocID="{7D963BB6-D6F4-43A2-BC37-16B4C7C2E25B}" presName="hierChild3" presStyleCnt="0"/>
      <dgm:spPr/>
    </dgm:pt>
    <dgm:pt modelId="{2EEC41DF-E58B-44DA-9574-6F2BF9889BF5}" type="pres">
      <dgm:prSet presAssocID="{269B8CCD-9419-487D-9F9B-36BFC65934B9}" presName="Name10" presStyleLbl="parChTrans1D2" presStyleIdx="3" presStyleCnt="4"/>
      <dgm:spPr/>
      <dgm:t>
        <a:bodyPr/>
        <a:lstStyle/>
        <a:p>
          <a:endParaRPr lang="ru-RU"/>
        </a:p>
      </dgm:t>
    </dgm:pt>
    <dgm:pt modelId="{4A6B1570-69E9-4EB2-9A24-2D27BF0C0E65}" type="pres">
      <dgm:prSet presAssocID="{0642A58D-17AC-4C0B-8091-321E79EAD5B6}" presName="hierRoot2" presStyleCnt="0"/>
      <dgm:spPr/>
    </dgm:pt>
    <dgm:pt modelId="{2E6E9159-CE90-480E-A04A-685F1D841483}" type="pres">
      <dgm:prSet presAssocID="{0642A58D-17AC-4C0B-8091-321E79EAD5B6}" presName="composite2" presStyleCnt="0"/>
      <dgm:spPr/>
    </dgm:pt>
    <dgm:pt modelId="{6EE4FBB0-0D76-4917-AA3B-AF6898F78EBE}" type="pres">
      <dgm:prSet presAssocID="{0642A58D-17AC-4C0B-8091-321E79EAD5B6}" presName="background2" presStyleLbl="node2" presStyleIdx="3" presStyleCnt="4"/>
      <dgm:spPr/>
    </dgm:pt>
    <dgm:pt modelId="{EADF38C2-11B4-4CC1-A58B-420D51A1F2DA}" type="pres">
      <dgm:prSet presAssocID="{0642A58D-17AC-4C0B-8091-321E79EAD5B6}" presName="text2" presStyleLbl="fgAcc2" presStyleIdx="3" presStyleCnt="4" custLinFactX="-106384" custLinFactNeighborX="-200000" custLinFactNeighborY="29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5B70CD9-EB0D-44E8-8113-31786F915F7D}" type="pres">
      <dgm:prSet presAssocID="{0642A58D-17AC-4C0B-8091-321E79EAD5B6}" presName="hierChild3" presStyleCnt="0"/>
      <dgm:spPr/>
    </dgm:pt>
  </dgm:ptLst>
  <dgm:cxnLst>
    <dgm:cxn modelId="{D05BAEFD-4657-49C9-A14F-F5D863B123DD}" type="presOf" srcId="{0642A58D-17AC-4C0B-8091-321E79EAD5B6}" destId="{EADF38C2-11B4-4CC1-A58B-420D51A1F2DA}" srcOrd="0" destOrd="0" presId="urn:microsoft.com/office/officeart/2005/8/layout/hierarchy1"/>
    <dgm:cxn modelId="{386738AC-BEA9-4E8D-AF95-1B9EEC9720BD}" type="presOf" srcId="{A489FE58-C9D3-494F-8C9D-3B455C2197C5}" destId="{4607228B-F642-4F3B-8077-93CEFEB4A356}" srcOrd="0" destOrd="0" presId="urn:microsoft.com/office/officeart/2005/8/layout/hierarchy1"/>
    <dgm:cxn modelId="{4E67259B-8A3F-45A5-87B3-C7E99754DDAB}" type="presOf" srcId="{891C26E5-D881-4CF5-88D3-C7A3DEBAB5A0}" destId="{EE16A066-A0D2-4134-B703-7AEF218A78BB}" srcOrd="0" destOrd="0" presId="urn:microsoft.com/office/officeart/2005/8/layout/hierarchy1"/>
    <dgm:cxn modelId="{D46FAC01-DB7E-4526-8066-A3451BA3C205}" type="presOf" srcId="{AB8165EA-6929-4980-9C6E-48FF5C3C4723}" destId="{D1DB3457-79CE-4D1C-A1FD-47A034EE4974}" srcOrd="0" destOrd="0" presId="urn:microsoft.com/office/officeart/2005/8/layout/hierarchy1"/>
    <dgm:cxn modelId="{C6B848BE-A185-4799-A73A-E35A4A6C1D4D}" srcId="{312ED23F-ACD8-4357-BCF4-75B4A4BF9CF7}" destId="{13FFA8CC-B0F5-4BEC-95AC-D62E9F3D8CDC}" srcOrd="0" destOrd="0" parTransId="{99456614-1326-4985-81F1-C6AD2AE792E9}" sibTransId="{4C2355BD-D835-4A04-AEF1-0FCBA2497AA3}"/>
    <dgm:cxn modelId="{57CA8FC8-6B7E-4091-939B-30E53B65CEBF}" type="presOf" srcId="{CA1054F3-4391-48C8-B248-7DA093B75922}" destId="{5FA642F8-00EF-4F26-BED8-617637A95A90}" srcOrd="0" destOrd="0" presId="urn:microsoft.com/office/officeart/2005/8/layout/hierarchy1"/>
    <dgm:cxn modelId="{A96C46BC-CA65-432A-998A-B70CDD200695}" srcId="{CC8D3617-4DD5-481A-A277-D9B597982AAE}" destId="{7D963BB6-D6F4-43A2-BC37-16B4C7C2E25B}" srcOrd="2" destOrd="0" parTransId="{10322F58-66B5-4A6E-B483-59E7C5CD550D}" sibTransId="{3B7A77BF-215D-4E91-BC90-08B722DE9C9F}"/>
    <dgm:cxn modelId="{7E3C8025-C9EE-433B-8F86-7F192AC11C32}" type="presOf" srcId="{269B8CCD-9419-487D-9F9B-36BFC65934B9}" destId="{2EEC41DF-E58B-44DA-9574-6F2BF9889BF5}" srcOrd="0" destOrd="0" presId="urn:microsoft.com/office/officeart/2005/8/layout/hierarchy1"/>
    <dgm:cxn modelId="{13341C43-BC9C-465A-9279-D544FBC3852F}" type="presOf" srcId="{7D963BB6-D6F4-43A2-BC37-16B4C7C2E25B}" destId="{EBCEA436-62E7-48D4-B8EC-42AB33C591C8}" srcOrd="0" destOrd="0" presId="urn:microsoft.com/office/officeart/2005/8/layout/hierarchy1"/>
    <dgm:cxn modelId="{187F4047-0EB3-4F6E-A30B-0E63326003A7}" type="presOf" srcId="{CC8D3617-4DD5-481A-A277-D9B597982AAE}" destId="{6A40DB89-85F0-4FC0-8B0D-CC154BBAEDC4}" srcOrd="0" destOrd="0" presId="urn:microsoft.com/office/officeart/2005/8/layout/hierarchy1"/>
    <dgm:cxn modelId="{285FCA01-7A2F-4B81-B371-6D45D141DFD4}" type="presOf" srcId="{713F89CE-9749-42E0-B174-41A0759D61BE}" destId="{8842821F-AE95-4F0E-8103-ED075810F959}" srcOrd="0" destOrd="0" presId="urn:microsoft.com/office/officeart/2005/8/layout/hierarchy1"/>
    <dgm:cxn modelId="{22E28C92-8432-4137-B0D7-F7E93681679D}" type="presOf" srcId="{99456614-1326-4985-81F1-C6AD2AE792E9}" destId="{5F1834A0-FB7C-4850-9B19-991FE5982F3C}" srcOrd="0" destOrd="0" presId="urn:microsoft.com/office/officeart/2005/8/layout/hierarchy1"/>
    <dgm:cxn modelId="{C18B941F-7E50-4998-98E7-21AA85877F69}" type="presOf" srcId="{312ED23F-ACD8-4357-BCF4-75B4A4BF9CF7}" destId="{6DE2A90B-E1DA-4445-A222-87BC0B718F49}" srcOrd="0" destOrd="0" presId="urn:microsoft.com/office/officeart/2005/8/layout/hierarchy1"/>
    <dgm:cxn modelId="{0B28E466-F0CA-44B1-B770-40FBFA36ED3A}" srcId="{312ED23F-ACD8-4357-BCF4-75B4A4BF9CF7}" destId="{891C26E5-D881-4CF5-88D3-C7A3DEBAB5A0}" srcOrd="1" destOrd="0" parTransId="{AB8165EA-6929-4980-9C6E-48FF5C3C4723}" sibTransId="{7CAD1E7A-5F5A-49D0-B6D7-87DEF5BB29A8}"/>
    <dgm:cxn modelId="{8F0AA786-A931-4C63-9F39-2D95DE12FF07}" type="presOf" srcId="{146A22D6-3B66-43D3-A5BB-169ADD8A52C1}" destId="{F91EC5E6-F812-41BF-90BD-A447E217DC5B}" srcOrd="0" destOrd="0" presId="urn:microsoft.com/office/officeart/2005/8/layout/hierarchy1"/>
    <dgm:cxn modelId="{34F8663A-18F8-4219-B1B6-A740D3231095}" type="presOf" srcId="{10322F58-66B5-4A6E-B483-59E7C5CD550D}" destId="{F1B7B5FD-B393-48BE-82EA-43D27AA4F28B}" srcOrd="0" destOrd="0" presId="urn:microsoft.com/office/officeart/2005/8/layout/hierarchy1"/>
    <dgm:cxn modelId="{491E0013-ADD8-4449-9220-DD42B6120020}" type="presOf" srcId="{AA761FEB-FC20-466A-A2F8-70346A38EB24}" destId="{656BA9AC-77E5-4592-8D79-00AFE5CFEA76}" srcOrd="0" destOrd="0" presId="urn:microsoft.com/office/officeart/2005/8/layout/hierarchy1"/>
    <dgm:cxn modelId="{7C4ACCC4-D12F-42B1-96AC-B9F1DA512769}" type="presOf" srcId="{7A4B9ADF-2192-4B04-BF5F-BDAF79A450B4}" destId="{1D3D3A75-36CB-4E1D-9B45-D558561AA0DF}" srcOrd="0" destOrd="0" presId="urn:microsoft.com/office/officeart/2005/8/layout/hierarchy1"/>
    <dgm:cxn modelId="{4681EE64-3F01-4324-98C6-3FFBB89C5939}" type="presOf" srcId="{8EBA5794-0D72-48D0-9169-80711CAE4EC6}" destId="{2EF7444A-300B-434B-9A60-5648575986F6}" srcOrd="0" destOrd="0" presId="urn:microsoft.com/office/officeart/2005/8/layout/hierarchy1"/>
    <dgm:cxn modelId="{30E6D494-0EC5-476E-ACF0-AE289EC1E4F6}" srcId="{CC8D3617-4DD5-481A-A277-D9B597982AAE}" destId="{0642A58D-17AC-4C0B-8091-321E79EAD5B6}" srcOrd="3" destOrd="0" parTransId="{269B8CCD-9419-487D-9F9B-36BFC65934B9}" sibTransId="{BA10620C-91EB-4532-B35A-85275A9C8F50}"/>
    <dgm:cxn modelId="{9251557B-5A60-4F2C-BFA3-24D8855E7136}" srcId="{CC8D3617-4DD5-481A-A277-D9B597982AAE}" destId="{312ED23F-ACD8-4357-BCF4-75B4A4BF9CF7}" srcOrd="0" destOrd="0" parTransId="{7A4B9ADF-2192-4B04-BF5F-BDAF79A450B4}" sibTransId="{CCC0AF65-DE51-4E77-A4C1-00D0AFCCAE82}"/>
    <dgm:cxn modelId="{66314BFD-73D0-4457-8A2B-028E4334176F}" srcId="{8EBA5794-0D72-48D0-9169-80711CAE4EC6}" destId="{CC8D3617-4DD5-481A-A277-D9B597982AAE}" srcOrd="0" destOrd="0" parTransId="{99AAF161-7C0D-4C88-8970-010D319ACF42}" sibTransId="{23CDACE1-0656-48B2-BA02-397D7E057FC7}"/>
    <dgm:cxn modelId="{10516711-BB68-475F-99D3-7051B69814A3}" srcId="{713F89CE-9749-42E0-B174-41A0759D61BE}" destId="{CA1054F3-4391-48C8-B248-7DA093B75922}" srcOrd="0" destOrd="0" parTransId="{AA761FEB-FC20-466A-A2F8-70346A38EB24}" sibTransId="{8038A767-CCCC-4219-8F97-6DE3F14C74EF}"/>
    <dgm:cxn modelId="{A21538BE-11ED-4737-9CA3-1DCDC12D2A99}" srcId="{CC8D3617-4DD5-481A-A277-D9B597982AAE}" destId="{713F89CE-9749-42E0-B174-41A0759D61BE}" srcOrd="1" destOrd="0" parTransId="{A489FE58-C9D3-494F-8C9D-3B455C2197C5}" sibTransId="{8AA43A5B-ED02-4A5C-89EF-5BEDF4C121AE}"/>
    <dgm:cxn modelId="{48494BA4-F6D3-4012-9866-D9077A12A620}" type="presOf" srcId="{13FFA8CC-B0F5-4BEC-95AC-D62E9F3D8CDC}" destId="{BF6411F8-75D2-4EE0-BADA-132A158C1AB5}" srcOrd="0" destOrd="0" presId="urn:microsoft.com/office/officeart/2005/8/layout/hierarchy1"/>
    <dgm:cxn modelId="{52D8089F-E848-4EB2-9DD1-8F2143753264}" type="presOf" srcId="{89C0893F-9FCF-491B-9D80-B7A41AADA010}" destId="{DB2F2D82-959D-4B32-9E26-7305CAB92257}" srcOrd="0" destOrd="0" presId="urn:microsoft.com/office/officeart/2005/8/layout/hierarchy1"/>
    <dgm:cxn modelId="{663642A7-A6E4-4FBA-BDD6-089C498C6E3E}" srcId="{CA1054F3-4391-48C8-B248-7DA093B75922}" destId="{89C0893F-9FCF-491B-9D80-B7A41AADA010}" srcOrd="0" destOrd="0" parTransId="{146A22D6-3B66-43D3-A5BB-169ADD8A52C1}" sibTransId="{D8A542C3-6830-4A83-80CE-30AE41F1E1D0}"/>
    <dgm:cxn modelId="{4B097689-6C83-409C-A6EF-2CC16910D0A5}" type="presParOf" srcId="{2EF7444A-300B-434B-9A60-5648575986F6}" destId="{6CAAE91E-BB0E-4A46-9F9C-7058974189E8}" srcOrd="0" destOrd="0" presId="urn:microsoft.com/office/officeart/2005/8/layout/hierarchy1"/>
    <dgm:cxn modelId="{7B98BA67-6E68-4A14-A4C5-35483B04F1B4}" type="presParOf" srcId="{6CAAE91E-BB0E-4A46-9F9C-7058974189E8}" destId="{6CE6B4DF-8C81-4A11-BFC3-F28180082161}" srcOrd="0" destOrd="0" presId="urn:microsoft.com/office/officeart/2005/8/layout/hierarchy1"/>
    <dgm:cxn modelId="{21FE5DB5-8E06-4816-96F3-F5102B919B1B}" type="presParOf" srcId="{6CE6B4DF-8C81-4A11-BFC3-F28180082161}" destId="{F6F8BFED-D4BA-4482-85F0-AA13CAE877E4}" srcOrd="0" destOrd="0" presId="urn:microsoft.com/office/officeart/2005/8/layout/hierarchy1"/>
    <dgm:cxn modelId="{29482506-3FBF-4C18-AC4E-678214FF8F34}" type="presParOf" srcId="{6CE6B4DF-8C81-4A11-BFC3-F28180082161}" destId="{6A40DB89-85F0-4FC0-8B0D-CC154BBAEDC4}" srcOrd="1" destOrd="0" presId="urn:microsoft.com/office/officeart/2005/8/layout/hierarchy1"/>
    <dgm:cxn modelId="{D928DFF4-119E-4BE1-9190-1150436A5B12}" type="presParOf" srcId="{6CAAE91E-BB0E-4A46-9F9C-7058974189E8}" destId="{DCB3F926-3EFF-4880-A32D-C0D07579B3CC}" srcOrd="1" destOrd="0" presId="urn:microsoft.com/office/officeart/2005/8/layout/hierarchy1"/>
    <dgm:cxn modelId="{6BDCA58C-6097-42DD-AB17-DFFD9E98CD07}" type="presParOf" srcId="{DCB3F926-3EFF-4880-A32D-C0D07579B3CC}" destId="{1D3D3A75-36CB-4E1D-9B45-D558561AA0DF}" srcOrd="0" destOrd="0" presId="urn:microsoft.com/office/officeart/2005/8/layout/hierarchy1"/>
    <dgm:cxn modelId="{E9921F21-EFF7-4514-A78D-C5B74A624B78}" type="presParOf" srcId="{DCB3F926-3EFF-4880-A32D-C0D07579B3CC}" destId="{09F61EB0-74BD-4993-A913-29BCDEAC08FA}" srcOrd="1" destOrd="0" presId="urn:microsoft.com/office/officeart/2005/8/layout/hierarchy1"/>
    <dgm:cxn modelId="{1F772BFA-86E2-4395-9AC1-A0269FD9645D}" type="presParOf" srcId="{09F61EB0-74BD-4993-A913-29BCDEAC08FA}" destId="{8BF7C7C0-049C-4DD4-A804-2F8C3D2D87C3}" srcOrd="0" destOrd="0" presId="urn:microsoft.com/office/officeart/2005/8/layout/hierarchy1"/>
    <dgm:cxn modelId="{3BDD2C4A-7473-47AB-AAFC-A18C4DA1FD1D}" type="presParOf" srcId="{8BF7C7C0-049C-4DD4-A804-2F8C3D2D87C3}" destId="{B1C72112-B23E-40EB-AEF0-C36621F16664}" srcOrd="0" destOrd="0" presId="urn:microsoft.com/office/officeart/2005/8/layout/hierarchy1"/>
    <dgm:cxn modelId="{5E64DAD2-0717-4D1A-850C-FC576186941C}" type="presParOf" srcId="{8BF7C7C0-049C-4DD4-A804-2F8C3D2D87C3}" destId="{6DE2A90B-E1DA-4445-A222-87BC0B718F49}" srcOrd="1" destOrd="0" presId="urn:microsoft.com/office/officeart/2005/8/layout/hierarchy1"/>
    <dgm:cxn modelId="{0297E991-86A7-4712-B15D-8D8E786F8F5E}" type="presParOf" srcId="{09F61EB0-74BD-4993-A913-29BCDEAC08FA}" destId="{4070334A-FB04-49DC-8C03-D1E1F40EC3B6}" srcOrd="1" destOrd="0" presId="urn:microsoft.com/office/officeart/2005/8/layout/hierarchy1"/>
    <dgm:cxn modelId="{C307B6BE-9F6E-41E0-AEF4-6125B1738726}" type="presParOf" srcId="{4070334A-FB04-49DC-8C03-D1E1F40EC3B6}" destId="{5F1834A0-FB7C-4850-9B19-991FE5982F3C}" srcOrd="0" destOrd="0" presId="urn:microsoft.com/office/officeart/2005/8/layout/hierarchy1"/>
    <dgm:cxn modelId="{7EE9C042-A294-4ECB-B9F0-91EA613B1E3F}" type="presParOf" srcId="{4070334A-FB04-49DC-8C03-D1E1F40EC3B6}" destId="{494C9EA5-E16A-4B81-BD5C-6FBAF1B0B56F}" srcOrd="1" destOrd="0" presId="urn:microsoft.com/office/officeart/2005/8/layout/hierarchy1"/>
    <dgm:cxn modelId="{22D79BFB-9B8A-4852-BCF9-21D57C7BEC4B}" type="presParOf" srcId="{494C9EA5-E16A-4B81-BD5C-6FBAF1B0B56F}" destId="{E3A230B5-0677-45AC-B722-5A8B908D48E1}" srcOrd="0" destOrd="0" presId="urn:microsoft.com/office/officeart/2005/8/layout/hierarchy1"/>
    <dgm:cxn modelId="{0FFB74D9-B12D-4938-B5A7-2FCB4CE98003}" type="presParOf" srcId="{E3A230B5-0677-45AC-B722-5A8B908D48E1}" destId="{F2F9F4B6-EA86-4685-B5DD-DE27E8DE372F}" srcOrd="0" destOrd="0" presId="urn:microsoft.com/office/officeart/2005/8/layout/hierarchy1"/>
    <dgm:cxn modelId="{5A32209B-6C2D-4529-A008-09CE157B177D}" type="presParOf" srcId="{E3A230B5-0677-45AC-B722-5A8B908D48E1}" destId="{BF6411F8-75D2-4EE0-BADA-132A158C1AB5}" srcOrd="1" destOrd="0" presId="urn:microsoft.com/office/officeart/2005/8/layout/hierarchy1"/>
    <dgm:cxn modelId="{3D1264DF-2903-4A6C-8DBC-70688A7CE460}" type="presParOf" srcId="{494C9EA5-E16A-4B81-BD5C-6FBAF1B0B56F}" destId="{BE41A055-C833-4ACE-91E5-7BC0BF75F38D}" srcOrd="1" destOrd="0" presId="urn:microsoft.com/office/officeart/2005/8/layout/hierarchy1"/>
    <dgm:cxn modelId="{96EA2AB4-F4EB-41CA-87AC-388F1E648B6F}" type="presParOf" srcId="{4070334A-FB04-49DC-8C03-D1E1F40EC3B6}" destId="{D1DB3457-79CE-4D1C-A1FD-47A034EE4974}" srcOrd="2" destOrd="0" presId="urn:microsoft.com/office/officeart/2005/8/layout/hierarchy1"/>
    <dgm:cxn modelId="{2C5474BB-0971-4142-876D-B8738DCB8B79}" type="presParOf" srcId="{4070334A-FB04-49DC-8C03-D1E1F40EC3B6}" destId="{C1BD101B-3FD3-48D7-8BFF-175E633EBA4A}" srcOrd="3" destOrd="0" presId="urn:microsoft.com/office/officeart/2005/8/layout/hierarchy1"/>
    <dgm:cxn modelId="{B16AF922-EE5D-4EBA-B278-6C97261A0E85}" type="presParOf" srcId="{C1BD101B-3FD3-48D7-8BFF-175E633EBA4A}" destId="{CDD277E3-AEBE-44DB-ABD6-4C71B9F8ACDA}" srcOrd="0" destOrd="0" presId="urn:microsoft.com/office/officeart/2005/8/layout/hierarchy1"/>
    <dgm:cxn modelId="{701A75FC-4FA9-496D-A3B4-67BAA61B3F0A}" type="presParOf" srcId="{CDD277E3-AEBE-44DB-ABD6-4C71B9F8ACDA}" destId="{BF397EB0-8DDB-4EAC-9F1F-20A131D663CA}" srcOrd="0" destOrd="0" presId="urn:microsoft.com/office/officeart/2005/8/layout/hierarchy1"/>
    <dgm:cxn modelId="{2AC01E17-31A5-4C1E-B732-3FD3B9E517C0}" type="presParOf" srcId="{CDD277E3-AEBE-44DB-ABD6-4C71B9F8ACDA}" destId="{EE16A066-A0D2-4134-B703-7AEF218A78BB}" srcOrd="1" destOrd="0" presId="urn:microsoft.com/office/officeart/2005/8/layout/hierarchy1"/>
    <dgm:cxn modelId="{8323A2C7-A8A4-4C8B-9698-90939CBB06F4}" type="presParOf" srcId="{C1BD101B-3FD3-48D7-8BFF-175E633EBA4A}" destId="{CF206DF5-6A28-46FE-92FE-0D262B8526BF}" srcOrd="1" destOrd="0" presId="urn:microsoft.com/office/officeart/2005/8/layout/hierarchy1"/>
    <dgm:cxn modelId="{F901A920-30A7-4C3C-9CE9-8A5A68EB1A0B}" type="presParOf" srcId="{DCB3F926-3EFF-4880-A32D-C0D07579B3CC}" destId="{4607228B-F642-4F3B-8077-93CEFEB4A356}" srcOrd="2" destOrd="0" presId="urn:microsoft.com/office/officeart/2005/8/layout/hierarchy1"/>
    <dgm:cxn modelId="{2A2085F3-603E-4A14-A66B-B96335C3D232}" type="presParOf" srcId="{DCB3F926-3EFF-4880-A32D-C0D07579B3CC}" destId="{343C81FA-F8AB-4542-B268-093C67EE92AB}" srcOrd="3" destOrd="0" presId="urn:microsoft.com/office/officeart/2005/8/layout/hierarchy1"/>
    <dgm:cxn modelId="{2C5822E9-B694-4A86-877B-2EB8C4C7F9B5}" type="presParOf" srcId="{343C81FA-F8AB-4542-B268-093C67EE92AB}" destId="{8991BB7C-6910-4971-8032-850EAE32170E}" srcOrd="0" destOrd="0" presId="urn:microsoft.com/office/officeart/2005/8/layout/hierarchy1"/>
    <dgm:cxn modelId="{4D5F3B95-B1A1-478B-A15B-8E59EFD8887B}" type="presParOf" srcId="{8991BB7C-6910-4971-8032-850EAE32170E}" destId="{15E5F280-F4A8-4285-8FAE-84A4FEE2DF49}" srcOrd="0" destOrd="0" presId="urn:microsoft.com/office/officeart/2005/8/layout/hierarchy1"/>
    <dgm:cxn modelId="{66C89151-2745-4095-B08F-1310DE852B4F}" type="presParOf" srcId="{8991BB7C-6910-4971-8032-850EAE32170E}" destId="{8842821F-AE95-4F0E-8103-ED075810F959}" srcOrd="1" destOrd="0" presId="urn:microsoft.com/office/officeart/2005/8/layout/hierarchy1"/>
    <dgm:cxn modelId="{9F34D66B-AE79-4033-9323-7F690380F557}" type="presParOf" srcId="{343C81FA-F8AB-4542-B268-093C67EE92AB}" destId="{5A8397DC-5C3E-49A5-A877-6BC480EE8D53}" srcOrd="1" destOrd="0" presId="urn:microsoft.com/office/officeart/2005/8/layout/hierarchy1"/>
    <dgm:cxn modelId="{ADB4BBC5-FF0C-4D63-8748-36BC3084D197}" type="presParOf" srcId="{5A8397DC-5C3E-49A5-A877-6BC480EE8D53}" destId="{656BA9AC-77E5-4592-8D79-00AFE5CFEA76}" srcOrd="0" destOrd="0" presId="urn:microsoft.com/office/officeart/2005/8/layout/hierarchy1"/>
    <dgm:cxn modelId="{E47FB2D3-1565-4867-8204-95ABADC4D9E2}" type="presParOf" srcId="{5A8397DC-5C3E-49A5-A877-6BC480EE8D53}" destId="{2ADE6F18-8121-4834-915B-5C1B3AA8AFEF}" srcOrd="1" destOrd="0" presId="urn:microsoft.com/office/officeart/2005/8/layout/hierarchy1"/>
    <dgm:cxn modelId="{9F4F95AF-3A5D-4780-98E6-6CF39FFE2A54}" type="presParOf" srcId="{2ADE6F18-8121-4834-915B-5C1B3AA8AFEF}" destId="{51D03D4A-3A09-4B01-A826-C47D1B5FB878}" srcOrd="0" destOrd="0" presId="urn:microsoft.com/office/officeart/2005/8/layout/hierarchy1"/>
    <dgm:cxn modelId="{F46085F2-C3A9-4FAA-B093-3B986F0DD0AF}" type="presParOf" srcId="{51D03D4A-3A09-4B01-A826-C47D1B5FB878}" destId="{0F6C54D1-4751-41D5-AA81-18CF4F656893}" srcOrd="0" destOrd="0" presId="urn:microsoft.com/office/officeart/2005/8/layout/hierarchy1"/>
    <dgm:cxn modelId="{CE7F6953-3C2B-41EF-9FC6-80FED560936C}" type="presParOf" srcId="{51D03D4A-3A09-4B01-A826-C47D1B5FB878}" destId="{5FA642F8-00EF-4F26-BED8-617637A95A90}" srcOrd="1" destOrd="0" presId="urn:microsoft.com/office/officeart/2005/8/layout/hierarchy1"/>
    <dgm:cxn modelId="{24D215F4-5227-4A00-A7C4-43A80249046B}" type="presParOf" srcId="{2ADE6F18-8121-4834-915B-5C1B3AA8AFEF}" destId="{494DD9E9-46C8-423A-B66F-4FA45B105D7B}" srcOrd="1" destOrd="0" presId="urn:microsoft.com/office/officeart/2005/8/layout/hierarchy1"/>
    <dgm:cxn modelId="{2336C282-F0F7-4F2E-87E5-D647207DE8A8}" type="presParOf" srcId="{494DD9E9-46C8-423A-B66F-4FA45B105D7B}" destId="{F91EC5E6-F812-41BF-90BD-A447E217DC5B}" srcOrd="0" destOrd="0" presId="urn:microsoft.com/office/officeart/2005/8/layout/hierarchy1"/>
    <dgm:cxn modelId="{2308DAFD-B149-4A0C-A34C-20577E772D1C}" type="presParOf" srcId="{494DD9E9-46C8-423A-B66F-4FA45B105D7B}" destId="{A28CD190-C2F4-4B64-BF68-970F04D9CD30}" srcOrd="1" destOrd="0" presId="urn:microsoft.com/office/officeart/2005/8/layout/hierarchy1"/>
    <dgm:cxn modelId="{053D6924-0A06-484B-9665-B838E3E2B955}" type="presParOf" srcId="{A28CD190-C2F4-4B64-BF68-970F04D9CD30}" destId="{7AE931CF-B7F6-4CF9-A494-534E33A955E7}" srcOrd="0" destOrd="0" presId="urn:microsoft.com/office/officeart/2005/8/layout/hierarchy1"/>
    <dgm:cxn modelId="{D01B0ACD-232B-49CD-AD11-CBC933F4F39C}" type="presParOf" srcId="{7AE931CF-B7F6-4CF9-A494-534E33A955E7}" destId="{4B3F535D-CEF1-4EAD-AABE-D2AEE9C8FB6E}" srcOrd="0" destOrd="0" presId="urn:microsoft.com/office/officeart/2005/8/layout/hierarchy1"/>
    <dgm:cxn modelId="{1CB553D3-618F-48AD-9F8C-8279E37F4782}" type="presParOf" srcId="{7AE931CF-B7F6-4CF9-A494-534E33A955E7}" destId="{DB2F2D82-959D-4B32-9E26-7305CAB92257}" srcOrd="1" destOrd="0" presId="urn:microsoft.com/office/officeart/2005/8/layout/hierarchy1"/>
    <dgm:cxn modelId="{B061DDEB-7320-49E1-B3AF-4B627F372700}" type="presParOf" srcId="{A28CD190-C2F4-4B64-BF68-970F04D9CD30}" destId="{D9B61962-F4EF-4ADA-A62E-7C86B7181D7F}" srcOrd="1" destOrd="0" presId="urn:microsoft.com/office/officeart/2005/8/layout/hierarchy1"/>
    <dgm:cxn modelId="{BA3E0407-169A-494A-955F-C3F3D9D9E031}" type="presParOf" srcId="{DCB3F926-3EFF-4880-A32D-C0D07579B3CC}" destId="{F1B7B5FD-B393-48BE-82EA-43D27AA4F28B}" srcOrd="4" destOrd="0" presId="urn:microsoft.com/office/officeart/2005/8/layout/hierarchy1"/>
    <dgm:cxn modelId="{A9CE1991-17C7-4FB3-9053-9F58F76142CB}" type="presParOf" srcId="{DCB3F926-3EFF-4880-A32D-C0D07579B3CC}" destId="{EEF8709D-1EDA-4415-BD61-7A9FCC9AD7CA}" srcOrd="5" destOrd="0" presId="urn:microsoft.com/office/officeart/2005/8/layout/hierarchy1"/>
    <dgm:cxn modelId="{847B56AF-84FE-4D3A-9DF1-B895939936E0}" type="presParOf" srcId="{EEF8709D-1EDA-4415-BD61-7A9FCC9AD7CA}" destId="{4968C987-7821-484F-8A53-22DBE9FC79CD}" srcOrd="0" destOrd="0" presId="urn:microsoft.com/office/officeart/2005/8/layout/hierarchy1"/>
    <dgm:cxn modelId="{9FD8A074-DCAB-4EA4-986A-26CC8EFD6AC8}" type="presParOf" srcId="{4968C987-7821-484F-8A53-22DBE9FC79CD}" destId="{16B4C03F-E711-4E21-BD65-DA240D38E993}" srcOrd="0" destOrd="0" presId="urn:microsoft.com/office/officeart/2005/8/layout/hierarchy1"/>
    <dgm:cxn modelId="{0082C21D-7092-48A3-AB43-73109EA1308B}" type="presParOf" srcId="{4968C987-7821-484F-8A53-22DBE9FC79CD}" destId="{EBCEA436-62E7-48D4-B8EC-42AB33C591C8}" srcOrd="1" destOrd="0" presId="urn:microsoft.com/office/officeart/2005/8/layout/hierarchy1"/>
    <dgm:cxn modelId="{2A2CB0A3-7F22-4C7A-9D7D-26C9D5DD1C20}" type="presParOf" srcId="{EEF8709D-1EDA-4415-BD61-7A9FCC9AD7CA}" destId="{DC93AF11-2916-4AAA-880E-1B60D375EA67}" srcOrd="1" destOrd="0" presId="urn:microsoft.com/office/officeart/2005/8/layout/hierarchy1"/>
    <dgm:cxn modelId="{50C7C794-147D-4A6A-A31C-0311BC44FC02}" type="presParOf" srcId="{DCB3F926-3EFF-4880-A32D-C0D07579B3CC}" destId="{2EEC41DF-E58B-44DA-9574-6F2BF9889BF5}" srcOrd="6" destOrd="0" presId="urn:microsoft.com/office/officeart/2005/8/layout/hierarchy1"/>
    <dgm:cxn modelId="{E2D8F609-D4F4-4294-AFE2-E5750080BC0D}" type="presParOf" srcId="{DCB3F926-3EFF-4880-A32D-C0D07579B3CC}" destId="{4A6B1570-69E9-4EB2-9A24-2D27BF0C0E65}" srcOrd="7" destOrd="0" presId="urn:microsoft.com/office/officeart/2005/8/layout/hierarchy1"/>
    <dgm:cxn modelId="{6BC1C0EE-8107-4624-A887-0C0B680AE0CC}" type="presParOf" srcId="{4A6B1570-69E9-4EB2-9A24-2D27BF0C0E65}" destId="{2E6E9159-CE90-480E-A04A-685F1D841483}" srcOrd="0" destOrd="0" presId="urn:microsoft.com/office/officeart/2005/8/layout/hierarchy1"/>
    <dgm:cxn modelId="{B34D9EEC-7E96-4B79-853A-DEA4C8D7974F}" type="presParOf" srcId="{2E6E9159-CE90-480E-A04A-685F1D841483}" destId="{6EE4FBB0-0D76-4917-AA3B-AF6898F78EBE}" srcOrd="0" destOrd="0" presId="urn:microsoft.com/office/officeart/2005/8/layout/hierarchy1"/>
    <dgm:cxn modelId="{539ADB9B-7609-4BC7-8C70-4B6BFED8946F}" type="presParOf" srcId="{2E6E9159-CE90-480E-A04A-685F1D841483}" destId="{EADF38C2-11B4-4CC1-A58B-420D51A1F2DA}" srcOrd="1" destOrd="0" presId="urn:microsoft.com/office/officeart/2005/8/layout/hierarchy1"/>
    <dgm:cxn modelId="{0F2B3C85-3DD3-4758-971C-93B492D7FB56}" type="presParOf" srcId="{4A6B1570-69E9-4EB2-9A24-2D27BF0C0E65}" destId="{B5B70CD9-EB0D-44E8-8113-31786F915F7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EEC41DF-E58B-44DA-9574-6F2BF9889BF5}">
      <dsp:nvSpPr>
        <dsp:cNvPr id="0" name=""/>
        <dsp:cNvSpPr/>
      </dsp:nvSpPr>
      <dsp:spPr>
        <a:xfrm>
          <a:off x="2065282" y="980384"/>
          <a:ext cx="545808" cy="331436"/>
        </a:xfrm>
        <a:custGeom>
          <a:avLst/>
          <a:gdLst/>
          <a:ahLst/>
          <a:cxnLst/>
          <a:rect l="0" t="0" r="0" b="0"/>
          <a:pathLst>
            <a:path>
              <a:moveTo>
                <a:pt x="545808" y="0"/>
              </a:moveTo>
              <a:lnTo>
                <a:pt x="545808" y="249220"/>
              </a:lnTo>
              <a:lnTo>
                <a:pt x="0" y="249220"/>
              </a:lnTo>
              <a:lnTo>
                <a:pt x="0" y="33143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7B5FD-B393-48BE-82EA-43D27AA4F28B}">
      <dsp:nvSpPr>
        <dsp:cNvPr id="0" name=""/>
        <dsp:cNvSpPr/>
      </dsp:nvSpPr>
      <dsp:spPr>
        <a:xfrm>
          <a:off x="2611090" y="980384"/>
          <a:ext cx="1657201" cy="331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220"/>
              </a:lnTo>
              <a:lnTo>
                <a:pt x="1657201" y="249220"/>
              </a:lnTo>
              <a:lnTo>
                <a:pt x="1657201" y="33143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EC5E6-F812-41BF-90BD-A447E217DC5B}">
      <dsp:nvSpPr>
        <dsp:cNvPr id="0" name=""/>
        <dsp:cNvSpPr/>
      </dsp:nvSpPr>
      <dsp:spPr>
        <a:xfrm>
          <a:off x="3152539" y="2693637"/>
          <a:ext cx="91440" cy="3176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764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6BA9AC-77E5-4592-8D79-00AFE5CFEA76}">
      <dsp:nvSpPr>
        <dsp:cNvPr id="0" name=""/>
        <dsp:cNvSpPr/>
      </dsp:nvSpPr>
      <dsp:spPr>
        <a:xfrm>
          <a:off x="3152539" y="1875377"/>
          <a:ext cx="91440" cy="2547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470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07228B-F642-4F3B-8077-93CEFEB4A356}">
      <dsp:nvSpPr>
        <dsp:cNvPr id="0" name=""/>
        <dsp:cNvSpPr/>
      </dsp:nvSpPr>
      <dsp:spPr>
        <a:xfrm>
          <a:off x="2611090" y="980384"/>
          <a:ext cx="587168" cy="331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220"/>
              </a:lnTo>
              <a:lnTo>
                <a:pt x="587168" y="249220"/>
              </a:lnTo>
              <a:lnTo>
                <a:pt x="587168" y="33143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DB3457-79CE-4D1C-A1FD-47A034EE4974}">
      <dsp:nvSpPr>
        <dsp:cNvPr id="0" name=""/>
        <dsp:cNvSpPr/>
      </dsp:nvSpPr>
      <dsp:spPr>
        <a:xfrm>
          <a:off x="987923" y="1859034"/>
          <a:ext cx="488236" cy="2422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065"/>
              </a:lnTo>
              <a:lnTo>
                <a:pt x="488236" y="160065"/>
              </a:lnTo>
              <a:lnTo>
                <a:pt x="488236" y="2422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1834A0-FB7C-4850-9B19-991FE5982F3C}">
      <dsp:nvSpPr>
        <dsp:cNvPr id="0" name=""/>
        <dsp:cNvSpPr/>
      </dsp:nvSpPr>
      <dsp:spPr>
        <a:xfrm>
          <a:off x="445567" y="1859034"/>
          <a:ext cx="542355" cy="258112"/>
        </a:xfrm>
        <a:custGeom>
          <a:avLst/>
          <a:gdLst/>
          <a:ahLst/>
          <a:cxnLst/>
          <a:rect l="0" t="0" r="0" b="0"/>
          <a:pathLst>
            <a:path>
              <a:moveTo>
                <a:pt x="542355" y="0"/>
              </a:moveTo>
              <a:lnTo>
                <a:pt x="542355" y="175895"/>
              </a:lnTo>
              <a:lnTo>
                <a:pt x="0" y="175895"/>
              </a:lnTo>
              <a:lnTo>
                <a:pt x="0" y="25811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3D3A75-36CB-4E1D-9B45-D558561AA0DF}">
      <dsp:nvSpPr>
        <dsp:cNvPr id="0" name=""/>
        <dsp:cNvSpPr/>
      </dsp:nvSpPr>
      <dsp:spPr>
        <a:xfrm>
          <a:off x="987923" y="980384"/>
          <a:ext cx="1623167" cy="315093"/>
        </a:xfrm>
        <a:custGeom>
          <a:avLst/>
          <a:gdLst/>
          <a:ahLst/>
          <a:cxnLst/>
          <a:rect l="0" t="0" r="0" b="0"/>
          <a:pathLst>
            <a:path>
              <a:moveTo>
                <a:pt x="1623167" y="0"/>
              </a:moveTo>
              <a:lnTo>
                <a:pt x="1623167" y="232877"/>
              </a:lnTo>
              <a:lnTo>
                <a:pt x="0" y="232877"/>
              </a:lnTo>
              <a:lnTo>
                <a:pt x="0" y="3150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F8BFED-D4BA-4482-85F0-AA13CAE877E4}">
      <dsp:nvSpPr>
        <dsp:cNvPr id="0" name=""/>
        <dsp:cNvSpPr/>
      </dsp:nvSpPr>
      <dsp:spPr>
        <a:xfrm>
          <a:off x="2167345" y="410965"/>
          <a:ext cx="887491" cy="5694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0DB89-85F0-4FC0-8B0D-CC154BBAEDC4}">
      <dsp:nvSpPr>
        <dsp:cNvPr id="0" name=""/>
        <dsp:cNvSpPr/>
      </dsp:nvSpPr>
      <dsp:spPr>
        <a:xfrm>
          <a:off x="2265955" y="504645"/>
          <a:ext cx="887491" cy="5694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.</a:t>
          </a:r>
          <a:endParaRPr lang="ru-RU" sz="1400" kern="1200" dirty="0"/>
        </a:p>
      </dsp:txBody>
      <dsp:txXfrm>
        <a:off x="2265955" y="504645"/>
        <a:ext cx="887491" cy="569418"/>
      </dsp:txXfrm>
    </dsp:sp>
    <dsp:sp modelId="{B1C72112-B23E-40EB-AEF0-C36621F16664}">
      <dsp:nvSpPr>
        <dsp:cNvPr id="0" name=""/>
        <dsp:cNvSpPr/>
      </dsp:nvSpPr>
      <dsp:spPr>
        <a:xfrm>
          <a:off x="544177" y="1295477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2A90B-E1DA-4445-A222-87BC0B718F49}">
      <dsp:nvSpPr>
        <dsp:cNvPr id="0" name=""/>
        <dsp:cNvSpPr/>
      </dsp:nvSpPr>
      <dsp:spPr>
        <a:xfrm>
          <a:off x="642787" y="1389157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org</a:t>
          </a:r>
          <a:endParaRPr lang="ru-RU" sz="1400" kern="1200" dirty="0"/>
        </a:p>
      </dsp:txBody>
      <dsp:txXfrm>
        <a:off x="642787" y="1389157"/>
        <a:ext cx="887491" cy="563557"/>
      </dsp:txXfrm>
    </dsp:sp>
    <dsp:sp modelId="{F2F9F4B6-EA86-4685-B5DD-DE27E8DE372F}">
      <dsp:nvSpPr>
        <dsp:cNvPr id="0" name=""/>
        <dsp:cNvSpPr/>
      </dsp:nvSpPr>
      <dsp:spPr>
        <a:xfrm>
          <a:off x="1821" y="2117146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411F8-75D2-4EE0-BADA-132A158C1AB5}">
      <dsp:nvSpPr>
        <dsp:cNvPr id="0" name=""/>
        <dsp:cNvSpPr/>
      </dsp:nvSpPr>
      <dsp:spPr>
        <a:xfrm>
          <a:off x="100431" y="2210826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google</a:t>
          </a:r>
          <a:endParaRPr lang="ru-RU" sz="1400" kern="1200" dirty="0"/>
        </a:p>
      </dsp:txBody>
      <dsp:txXfrm>
        <a:off x="100431" y="2210826"/>
        <a:ext cx="887491" cy="563557"/>
      </dsp:txXfrm>
    </dsp:sp>
    <dsp:sp modelId="{BF397EB0-8DDB-4EAC-9F1F-20A131D663CA}">
      <dsp:nvSpPr>
        <dsp:cNvPr id="0" name=""/>
        <dsp:cNvSpPr/>
      </dsp:nvSpPr>
      <dsp:spPr>
        <a:xfrm>
          <a:off x="1032413" y="2101316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6A066-A0D2-4134-B703-7AEF218A78BB}">
      <dsp:nvSpPr>
        <dsp:cNvPr id="0" name=""/>
        <dsp:cNvSpPr/>
      </dsp:nvSpPr>
      <dsp:spPr>
        <a:xfrm>
          <a:off x="1131024" y="2194996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education</a:t>
          </a:r>
          <a:endParaRPr lang="ru-RU" sz="1400" kern="1200" dirty="0"/>
        </a:p>
      </dsp:txBody>
      <dsp:txXfrm>
        <a:off x="1131024" y="2194996"/>
        <a:ext cx="887491" cy="563557"/>
      </dsp:txXfrm>
    </dsp:sp>
    <dsp:sp modelId="{15E5F280-F4A8-4285-8FAE-84A4FEE2DF49}">
      <dsp:nvSpPr>
        <dsp:cNvPr id="0" name=""/>
        <dsp:cNvSpPr/>
      </dsp:nvSpPr>
      <dsp:spPr>
        <a:xfrm>
          <a:off x="2754513" y="1311820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2821F-AE95-4F0E-8103-ED075810F959}">
      <dsp:nvSpPr>
        <dsp:cNvPr id="0" name=""/>
        <dsp:cNvSpPr/>
      </dsp:nvSpPr>
      <dsp:spPr>
        <a:xfrm>
          <a:off x="2853123" y="1405500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ru</a:t>
          </a:r>
          <a:endParaRPr lang="ru-RU" sz="1400" kern="1200" dirty="0"/>
        </a:p>
      </dsp:txBody>
      <dsp:txXfrm>
        <a:off x="2853123" y="1405500"/>
        <a:ext cx="887491" cy="563557"/>
      </dsp:txXfrm>
    </dsp:sp>
    <dsp:sp modelId="{0F6C54D1-4751-41D5-AA81-18CF4F656893}">
      <dsp:nvSpPr>
        <dsp:cNvPr id="0" name=""/>
        <dsp:cNvSpPr/>
      </dsp:nvSpPr>
      <dsp:spPr>
        <a:xfrm>
          <a:off x="2754513" y="2130080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642F8-00EF-4F26-BED8-617637A95A90}">
      <dsp:nvSpPr>
        <dsp:cNvPr id="0" name=""/>
        <dsp:cNvSpPr/>
      </dsp:nvSpPr>
      <dsp:spPr>
        <a:xfrm>
          <a:off x="2853123" y="2223760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tusur</a:t>
          </a:r>
          <a:endParaRPr lang="ru-RU" sz="1400" kern="1200" dirty="0"/>
        </a:p>
      </dsp:txBody>
      <dsp:txXfrm>
        <a:off x="2853123" y="2223760"/>
        <a:ext cx="887491" cy="563557"/>
      </dsp:txXfrm>
    </dsp:sp>
    <dsp:sp modelId="{4B3F535D-CEF1-4EAD-AABE-D2AEE9C8FB6E}">
      <dsp:nvSpPr>
        <dsp:cNvPr id="0" name=""/>
        <dsp:cNvSpPr/>
      </dsp:nvSpPr>
      <dsp:spPr>
        <a:xfrm>
          <a:off x="2754513" y="3011283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F2D82-959D-4B32-9E26-7305CAB92257}">
      <dsp:nvSpPr>
        <dsp:cNvPr id="0" name=""/>
        <dsp:cNvSpPr/>
      </dsp:nvSpPr>
      <dsp:spPr>
        <a:xfrm>
          <a:off x="2853123" y="3104963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mail</a:t>
          </a:r>
          <a:endParaRPr lang="ru-RU" sz="1400" kern="1200" dirty="0"/>
        </a:p>
      </dsp:txBody>
      <dsp:txXfrm>
        <a:off x="2853123" y="3104963"/>
        <a:ext cx="887491" cy="563557"/>
      </dsp:txXfrm>
    </dsp:sp>
    <dsp:sp modelId="{16B4C03F-E711-4E21-BD65-DA240D38E993}">
      <dsp:nvSpPr>
        <dsp:cNvPr id="0" name=""/>
        <dsp:cNvSpPr/>
      </dsp:nvSpPr>
      <dsp:spPr>
        <a:xfrm>
          <a:off x="3824546" y="1311820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EA436-62E7-48D4-B8EC-42AB33C591C8}">
      <dsp:nvSpPr>
        <dsp:cNvPr id="0" name=""/>
        <dsp:cNvSpPr/>
      </dsp:nvSpPr>
      <dsp:spPr>
        <a:xfrm>
          <a:off x="3923156" y="1405500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it</a:t>
          </a:r>
          <a:endParaRPr lang="ru-RU" sz="1400" kern="1200" dirty="0"/>
        </a:p>
      </dsp:txBody>
      <dsp:txXfrm>
        <a:off x="3923156" y="1405500"/>
        <a:ext cx="887491" cy="563557"/>
      </dsp:txXfrm>
    </dsp:sp>
    <dsp:sp modelId="{6EE4FBB0-0D76-4917-AA3B-AF6898F78EBE}">
      <dsp:nvSpPr>
        <dsp:cNvPr id="0" name=""/>
        <dsp:cNvSpPr/>
      </dsp:nvSpPr>
      <dsp:spPr>
        <a:xfrm>
          <a:off x="1621536" y="1311820"/>
          <a:ext cx="887491" cy="5635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F38C2-11B4-4CC1-A58B-420D51A1F2DA}">
      <dsp:nvSpPr>
        <dsp:cNvPr id="0" name=""/>
        <dsp:cNvSpPr/>
      </dsp:nvSpPr>
      <dsp:spPr>
        <a:xfrm>
          <a:off x="1720146" y="1405500"/>
          <a:ext cx="887491" cy="5635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com</a:t>
          </a:r>
          <a:endParaRPr lang="ru-RU" sz="1400" kern="1200" dirty="0"/>
        </a:p>
      </dsp:txBody>
      <dsp:txXfrm>
        <a:off x="1720146" y="1405500"/>
        <a:ext cx="887491" cy="563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 на лекцию о современной архитектуре веб-приложений и веб-сервисов.</a:t>
            </a:r>
          </a:p>
          <a:p>
            <a:r>
              <a:t>Сегодня мы разберём, из чего состоит типичный современный веб-сервис,</a:t>
            </a:r>
          </a:p>
          <a:p>
            <a:r>
              <a:t>как устроен путь запроса от браузера до базы данных,</a:t>
            </a:r>
          </a:p>
          <a:p>
            <a:r>
              <a:t>и как на самом низком уровне программы общаются друг с другом через сокеты.</a:t>
            </a:r>
          </a:p>
          <a:p>
            <a:r>
              <a:t>Поговорим про системы доменных имён Ди-Эн-Эс, про балансировку нагрузки,</a:t>
            </a:r>
          </a:p>
          <a:p>
            <a:r>
              <a:t>кэширование, очереди задач, тонкие и толстые клиенты,</a:t>
            </a:r>
          </a:p>
          <a:p>
            <a:r>
              <a:t>многоуровневые и трёхуровневые архитектуры.</a:t>
            </a:r>
          </a:p>
          <a:p>
            <a:r>
              <a:t>Отдельно и подробно — про сокеты: что это, какие бывают, как связаны с протоколами</a:t>
            </a:r>
          </a:p>
          <a:p>
            <a:r>
              <a:t>Ти-Си-Пи и Ю-Ди-Пи, почему современные высоконагруженные серверы</a:t>
            </a:r>
          </a:p>
          <a:p>
            <a:r>
              <a:t>используют механизмы эпОлл, а не классическую многопоточность.</a:t>
            </a:r>
          </a:p>
          <a:p>
            <a:r>
              <a:t>Покажем примеры на языках Пайтон и Джава, разберём особенности</a:t>
            </a:r>
          </a:p>
          <a:p>
            <a:r>
              <a:t>асинхронных серверов вроде ювикОрн и гуникОрн,</a:t>
            </a:r>
          </a:p>
          <a:p>
            <a:r>
              <a:t>и почему Пайтону из-за ГИЛ приходится совмещать оба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вами стандартная модель веб-приложения — базовая схема, которую должен знать каждый разработчик.</a:t>
            </a:r>
          </a:p>
          <a:p>
            <a:r>
              <a:t>Сверху вниз: клиентская сторона, инфраструктура и серверная часть.</a:t>
            </a:r>
          </a:p>
          <a:p>
            <a:r>
              <a:t>Пользователь открывает браузер и вводит адрес.</a:t>
            </a:r>
          </a:p>
          <a:p>
            <a:r>
              <a:t>Первым делом браузер обращается к системе доменных имён, Ди-Эн-Эс,</a:t>
            </a:r>
          </a:p>
          <a:p>
            <a:r>
              <a:t>чтобы получить Ай-Пи-адрес сервера по имени.</a:t>
            </a:r>
          </a:p>
          <a:p>
            <a:r>
              <a:t>Параллельно может быть задействована сеть доставки контента, Си-Ди-Эн,</a:t>
            </a:r>
          </a:p>
          <a:p>
            <a:r>
              <a:t>которая хранит статические файлы — картинки, стили, скрипты — в географически близких точках.</a:t>
            </a:r>
          </a:p>
          <a:p>
            <a:r>
              <a:t>Когда Ай-Пи-адрес получен, браузер устанавливает соединение с балансировщиком нагрузки.</a:t>
            </a:r>
          </a:p>
          <a:p>
            <a:r>
              <a:t>Балансировщик решает, на какой из веб-серверов отправить запрос.</a:t>
            </a:r>
          </a:p>
          <a:p>
            <a:r>
              <a:t>Веб-серверы выполняют прикладную логику: обращаются к кэшу,</a:t>
            </a:r>
          </a:p>
          <a:p>
            <a:r>
              <a:t>к базе данных, к очереди асинхронных задач.</a:t>
            </a:r>
          </a:p>
          <a:p>
            <a:r>
              <a:t>Эта схема — фундамент, на котором строятся почти все современные веб-сервисы.</a:t>
            </a:r>
          </a:p>
          <a:p>
            <a:r>
              <a:t>На следующих слайдах мы расширим её и разберём каждый компонент.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Расширенная архитектура — та же базовая схема, но с конкретными технологиями.</a:t>
            </a:r>
          </a:p>
          <a:p>
            <a:r>
              <a:t>В левом верхнем углу — система доменных имён, Ди-Эн-Эс, и браузер.</a:t>
            </a:r>
          </a:p>
          <a:p>
            <a:r>
              <a:t>Через балансировщик нагрузки на Эн-Джинкс или Апач Эйч-Ти-Ти-Пи-Сервер</a:t>
            </a:r>
          </a:p>
          <a:p>
            <a:r>
              <a:t>запрос попадает на веб-серверы.</a:t>
            </a:r>
          </a:p>
          <a:p>
            <a:r>
              <a:t>Под веб-серверами подразумеваются приложения на разных платформах:</a:t>
            </a:r>
          </a:p>
          <a:p>
            <a:r>
              <a:t>Ви-Эс-Джи-Ай для Пайтона, Джей-Эс-Пи и сервлеты для Джавы, Эй-Эс-Пи для платформы Майкрософт,</a:t>
            </a:r>
          </a:p>
          <a:p>
            <a:r>
              <a:t>Пи-Эйч-Пи для классического веба, Си-Джи-Ай для старых сценариев.</a:t>
            </a:r>
          </a:p>
          <a:p>
            <a:r>
              <a:t>Рядом с веб-серверами — кэш на РЕдис или МемкЭш.</a:t>
            </a:r>
          </a:p>
          <a:p>
            <a:r>
              <a:t>Кэш хранит результаты частых запросов, чтобы не дёргать базу данных.</a:t>
            </a:r>
          </a:p>
          <a:p>
            <a:r>
              <a:t>Слева — база данных, справа — очередь асинхронных задач.</a:t>
            </a:r>
          </a:p>
          <a:p>
            <a:r>
              <a:t>Очередь позволяет разгрузить синхронный запрос: тяжёлая операция,</a:t>
            </a:r>
          </a:p>
          <a:p>
            <a:r>
              <a:t>например отправка письма или генерация отчёта, ставится в очередь,</a:t>
            </a:r>
          </a:p>
          <a:p>
            <a:r>
              <a:t>а пользователь сразу получает ответ.</a:t>
            </a:r>
          </a:p>
          <a:p>
            <a:r>
              <a:t>Отдельно есть облачное хранилище — Эс-Три, Джи-Си-Эс.</a:t>
            </a:r>
          </a:p>
          <a:p>
            <a:r>
              <a:t>Сервис загрузки данных на КАфка или КинЕзис отправляет события</a:t>
            </a:r>
          </a:p>
          <a:p>
            <a:r>
              <a:t>в аналитическое хранилище О-Лап и О-Эл-Ти-Пи.</a:t>
            </a:r>
          </a:p>
          <a:p>
            <a:r>
              <a:t>Внизу — вычислительные серверы, которые разбирают очередь,</a:t>
            </a:r>
          </a:p>
          <a:p>
            <a:r>
              <a:t>полнотекстовый поиск на ЭлАстик-СЁрч,</a:t>
            </a:r>
          </a:p>
          <a:p>
            <a:r>
              <a:t>и внешние сервисы вроде почты через Эс-Эм-Ти-Пи и авторизации через О-Аут.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 же расширенная архитектура, но развёрнутая по горизонтали.</a:t>
            </a:r>
          </a:p>
          <a:p>
            <a:r>
              <a:t>Слева браузер, справа — множество внутренних сервисов.</a:t>
            </a:r>
          </a:p>
          <a:p>
            <a:r>
              <a:t>Так удобнее видеть, что веб-сервер — это центральный узел,</a:t>
            </a:r>
          </a:p>
          <a:p>
            <a:r>
              <a:t>который общается сразу с шестью-семью независимыми сервисами.</a:t>
            </a:r>
          </a:p>
          <a:p>
            <a:r>
              <a:t>Сверху вниз по ответвлениям: кэш на РЕдис или МемкЭш,</a:t>
            </a:r>
          </a:p>
          <a:p>
            <a:r>
              <a:t>база данных, очередь на РЭббит-Эм-Кью,</a:t>
            </a:r>
          </a:p>
          <a:p>
            <a:r>
              <a:t>полнотекстовый поиск, внешние сервисы,</a:t>
            </a:r>
          </a:p>
          <a:p>
            <a:r>
              <a:t>сервис загрузки на КАфка или КинЕзис.</a:t>
            </a:r>
          </a:p>
          <a:p>
            <a:r>
              <a:t>Очередь, в свою очередь, ведёт к вычислительным серверам.</a:t>
            </a:r>
          </a:p>
          <a:p>
            <a:r>
              <a:t>Сервис загрузки — к облачному хранилищу и аналитическому хранилищу О-Лап или О-Эл-Ти-Пи.</a:t>
            </a:r>
          </a:p>
          <a:p>
            <a:r>
              <a:t>Облачное хранилище связано с сетью доставки контента, Си-Ди-Эн.</a:t>
            </a:r>
          </a:p>
          <a:p>
            <a:r>
              <a:t>Эта схема наглядно показывает: современное веб-приложение — это не монолит,</a:t>
            </a:r>
          </a:p>
          <a:p>
            <a:r>
              <a:t>а набор слабо связанных сервисов, каждый из которых решает свою задачу.</a:t>
            </a:r>
          </a:p>
          <a:p>
            <a:r>
              <a:t>При падении одного из них остальные продолжают работать.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компонентов с технологиями и ролями.</a:t>
            </a:r>
          </a:p>
          <a:p>
            <a:r>
              <a:t>Балансировщик на Эн-Джинкс или Эйч-Эй-ПрОкси — распределение запросов.</a:t>
            </a:r>
          </a:p>
          <a:p>
            <a:r>
              <a:t>Кэш на РЕдис или МемкЭш — ускорение повторных обращений.</a:t>
            </a:r>
          </a:p>
          <a:p>
            <a:r>
              <a:t>Очередь задач на РЭббит-Эм-Кью — асинхронная обработка.</a:t>
            </a:r>
          </a:p>
          <a:p>
            <a:r>
              <a:t>Поток данных на КАфка или А-Даблъю-Эс КинЕзис — загрузка и передача событий.</a:t>
            </a:r>
          </a:p>
          <a:p>
            <a:r>
              <a:t>Облачное хранилище на Эс-Три или Джи-Си-Эс — долговременное хранение.</a:t>
            </a:r>
          </a:p>
          <a:p>
            <a:r>
              <a:t>Аналитика на О-Лап и О-Эл-Ти-Пи — отчёты и транзакции.</a:t>
            </a:r>
          </a:p>
          <a:p>
            <a:r>
              <a:t>Поиск на ЭлАстик-СЁрч — полнотекстовый поиск.</a:t>
            </a:r>
          </a:p>
          <a:p>
            <a:r>
              <a:t>Внешние сервисы: Эс-Эм-Ти-Пи для почты, О-Аут для авторизации.</a:t>
            </a:r>
          </a:p>
          <a:p>
            <a:r>
              <a:t>Каждый компонент можно масштабировать отдельно.</a:t>
            </a:r>
          </a:p>
          <a:p>
            <a:r>
              <a:t>Например, если запросов стало много, добавляют ещё веб-серверов за балансировщиком.</a:t>
            </a:r>
          </a:p>
          <a:p>
            <a:r>
              <a:t>Если кэш перестал справляться — увеличивают его объём.</a:t>
            </a:r>
          </a:p>
          <a:p>
            <a:r>
              <a:t>Если база данных растёт — переходят на шардирование или репликацию.</a:t>
            </a:r>
          </a:p>
          <a:p>
            <a:r>
              <a:t>Именно эта модульность и позволяет современным сервисам выдерживать миллионы пользователей.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Ди-Эн-Эс, система доменных имён, — распределённая компьютерная система</a:t>
            </a:r>
          </a:p>
          <a:p>
            <a:r>
              <a:t>для получения информации о доменах.</a:t>
            </a:r>
          </a:p>
          <a:p>
            <a:r>
              <a:t>Чаще всего используется для получения Ай-Пи-адреса по имени хоста.</a:t>
            </a:r>
          </a:p>
          <a:p>
            <a:r>
              <a:t>Кроме того, Ди-Эн-Эс хранит информацию о маршрутизации почты через записи Эм-Икс</a:t>
            </a:r>
          </a:p>
          <a:p>
            <a:r>
              <a:t>и об обслуживающих узлах для разных протоколов через записи Эс-Эр-Ви.</a:t>
            </a:r>
          </a:p>
          <a:p>
            <a:r>
              <a:t>Распределённая база данных Ди-Эн-Эс поддерживается иерархией серверов,</a:t>
            </a:r>
          </a:p>
          <a:p>
            <a:r>
              <a:t>взаимодействующих по специальному протоколу.</a:t>
            </a:r>
          </a:p>
          <a:p>
            <a:r>
              <a:t>Основой является иерархическая структура имени и зон.</a:t>
            </a:r>
          </a:p>
          <a:p>
            <a:r>
              <a:t>Каждый сервер, отвечающий за имя, может делегировать ответственность</a:t>
            </a:r>
          </a:p>
          <a:p>
            <a:r>
              <a:t>за дальнейшую часть домена другому серверу — другой организации или человеку.</a:t>
            </a:r>
          </a:p>
          <a:p>
            <a:r>
              <a:t>Это позволяет возложить ответственность за актуальность информации</a:t>
            </a:r>
          </a:p>
          <a:p>
            <a:r>
              <a:t>на серверы различных организаций, каждая из которых отвечает только за свою часть.</a:t>
            </a:r>
          </a:p>
          <a:p>
            <a:r>
              <a:t>Начиная с две тысячи десятого года в систему внедряются средства проверки целостности,</a:t>
            </a:r>
          </a:p>
          <a:p>
            <a:r>
              <a:t>называемые Ди-Эн-Эс-СЕк.</a:t>
            </a:r>
          </a:p>
          <a:p>
            <a:r>
              <a:t>Передаваемые данные не шифруются, но их достоверность проверяется криптографически.</a:t>
            </a:r>
          </a:p>
          <a:p>
            <a:r>
              <a:t>Стандарт ДЭйн обеспечивает передачу средствами Ди-Эн-Эс достоверной криптографической информации,</a:t>
            </a:r>
          </a:p>
          <a:p>
            <a:r>
              <a:t>сертификатов, используемых для установления защищённых соединений.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Иерархия доменных имён и серверов.</a:t>
            </a:r>
          </a:p>
          <a:p>
            <a:r>
              <a:t>Вверху — корневой сервер, обозначается точкой.</a:t>
            </a:r>
          </a:p>
          <a:p>
            <a:r>
              <a:t>Ниже — зоны первого уровня: орг, ком, ру, ит.</a:t>
            </a:r>
          </a:p>
          <a:p>
            <a:r>
              <a:t>Внутри зоны орг находятся домены гугл и эдьюкейшн.</a:t>
            </a:r>
          </a:p>
          <a:p>
            <a:r>
              <a:t>Внутри зоны ру — домен тузур, а внутри него — поддомен мэйл.</a:t>
            </a:r>
          </a:p>
          <a:p>
            <a:r>
              <a:t>Такая иерархия позволяет делегировать ответственность.</a:t>
            </a:r>
          </a:p>
          <a:p>
            <a:r>
              <a:t>Администраторы зоны тузур сами управляют записями для поддомена мэйл.</a:t>
            </a:r>
          </a:p>
          <a:p>
            <a:r>
              <a:t>Именно поэтому Ди-Эн-Эс масштабируется на весь интернет.</a:t>
            </a:r>
          </a:p>
          <a:p>
            <a:r>
              <a:t>Записи хранятся как в авторитативных узлах, так и кэшируются локальными серверами,</a:t>
            </a:r>
          </a:p>
          <a:p>
            <a:r>
              <a:t>например серверами провайдера.</a:t>
            </a:r>
          </a:p>
          <a:p>
            <a:r>
              <a:t>Время хранения кэша присутствует в каждом ответе Ди-Эн-Эс.</a:t>
            </a:r>
          </a:p>
          <a:p>
            <a:r>
              <a:t>Бывает два типа запроса: рекурсивный и итеративный.</a:t>
            </a:r>
          </a:p>
          <a:p>
            <a:r>
              <a:t>Рекурсивный отправляется серверу, и он сам разрешает доменное имя,</a:t>
            </a:r>
          </a:p>
          <a:p>
            <a:r>
              <a:t>обращаясь к ответственным серверам по иерархии.</a:t>
            </a:r>
          </a:p>
          <a:p>
            <a:r>
              <a:t>Итеративный возвращает адрес следующего ответственного сервера,</a:t>
            </a:r>
          </a:p>
          <a:p>
            <a:r>
              <a:t>к которому клиент должен обратиться самостоятельно.</a:t>
            </a:r>
          </a:p>
          <a:p>
            <a:r>
              <a:t>Обычно клиент делает рекурсивный запрос своему резолверу,</a:t>
            </a:r>
          </a:p>
          <a:p>
            <a:r>
              <a:t>а резолвер уже итеративно опрашивает серверы по цепочке.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ресурсные записи Ди-Эн-Эс.</a:t>
            </a:r>
          </a:p>
          <a:p>
            <a:r>
              <a:t>Запись типа Эй, эддресс-рекорд, связывает доменное имя с Ай-Пи-адресом версии четыре.</a:t>
            </a:r>
          </a:p>
          <a:p>
            <a:r>
              <a:t>На виртуальном выделенном сервере можно настроить несколько Эй-записей,</a:t>
            </a:r>
          </a:p>
          <a:p>
            <a:r>
              <a:t>если у вас несколько веб-серверов для одного домена.</a:t>
            </a:r>
          </a:p>
          <a:p>
            <a:r>
              <a:t>Такая схема называется раунд-робин: преобразование имени в Ай-Пи</a:t>
            </a:r>
          </a:p>
          <a:p>
            <a:r>
              <a:t>происходит в произвольном порядке с равной вероятностью.</a:t>
            </a:r>
          </a:p>
          <a:p>
            <a:r>
              <a:t>Запись типа четыре-Эй, аналогичная, но для Ай-Пи версии шесть.</a:t>
            </a:r>
          </a:p>
          <a:p>
            <a:r>
              <a:t>Запись Эм-Икс, мэйл-эксчейндж, указывает адрес почтового шлюза для домена.</a:t>
            </a:r>
          </a:p>
          <a:p>
            <a:r>
              <a:t>Состоит из двух частей: приоритета и адреса узла.</a:t>
            </a:r>
          </a:p>
          <a:p>
            <a:r>
              <a:t>Чем больше число приоритета, тем ниже приоритет сервера.</a:t>
            </a:r>
          </a:p>
          <a:p>
            <a:r>
              <a:t>Запись Эн-Эс, нейм-сервер, указывает на Ди-Эн-Эс-сервер, обслуживающий домен.</a:t>
            </a:r>
          </a:p>
          <a:p>
            <a:r>
              <a:t>Критически важный тип записи для функционирования самой системы доменных имён.</a:t>
            </a:r>
          </a:p>
          <a:p>
            <a:r>
              <a:t>Запись Пи-Ти-Ар, пОйнтер, связывает Ай-Пи-адрес с доменным именем.</a:t>
            </a:r>
          </a:p>
          <a:p>
            <a:r>
              <a:t>Многие почтовые серверы при фильтрации спама проверяют наличие Пи-Ти-Ар-записи</a:t>
            </a:r>
          </a:p>
          <a:p>
            <a:r>
              <a:t>и её соответствие имени сервера-отправителя.</a:t>
            </a:r>
          </a:p>
          <a:p>
            <a:r>
              <a:t>Для обратного преобразования существует специальная зона ин-Аддр-Арпа.</a:t>
            </a:r>
          </a:p>
          <a:p>
            <a:r>
              <a:t>Например, адрес девяносто два точка пятьдесят три точка девяносто шесть точка сто одиннадцать</a:t>
            </a:r>
          </a:p>
          <a:p>
            <a:r>
              <a:t>преобразуется в сто одиннадцать точка девяносто шесть точка пятьдесят три точка девяносто два</a:t>
            </a:r>
          </a:p>
          <a:p>
            <a:r>
              <a:t>точка ин-Аддр-Арпа.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Клиент-серверная архитектура.</a:t>
            </a:r>
          </a:p>
          <a:p>
            <a:r>
              <a:t>Это вычислительная или сетевая архитектура, в которой задания или нагрузка</a:t>
            </a:r>
          </a:p>
          <a:p>
            <a:r>
              <a:t>распределены между поставщиками услуг, называемыми серверами,</a:t>
            </a:r>
          </a:p>
          <a:p>
            <a:r>
              <a:t>и заказчиками услуг, называемыми клиентами.</a:t>
            </a:r>
          </a:p>
          <a:p>
            <a:r>
              <a:t>Фактически клиент и сервер — это программное обеспечение.</a:t>
            </a:r>
          </a:p>
          <a:p>
            <a:r>
              <a:t>Обычно эти программы расположены на разных вычислительных машинах</a:t>
            </a:r>
          </a:p>
          <a:p>
            <a:r>
              <a:t>и взаимодействуют через сеть посредством сетевых протоколов.</a:t>
            </a:r>
          </a:p>
          <a:p>
            <a:r>
              <a:t>Но они могут быть расположены и на одной машине.</a:t>
            </a:r>
          </a:p>
          <a:p>
            <a:r>
              <a:t>Программы-серверы ожидают от клиентских программ запросы</a:t>
            </a:r>
          </a:p>
          <a:p>
            <a:r>
              <a:t>и предоставляют им свои ресурсы в виде данных.</a:t>
            </a:r>
          </a:p>
          <a:p>
            <a:r>
              <a:t>Например, загрузка файлов посредством Эйч-Ти-Ти-Пи, Эф-Ти-Пи, Бит-ТОррент,</a:t>
            </a:r>
          </a:p>
          <a:p>
            <a:r>
              <a:t>потоковое мультимедиа или работа с базами данных.</a:t>
            </a:r>
          </a:p>
          <a:p>
            <a:r>
              <a:t>Или в виде сервисных функций: работа с электронной почтой,</a:t>
            </a:r>
          </a:p>
          <a:p>
            <a:r>
              <a:t>обмен мгновенными сообщениями, просмотр веб-страниц.</a:t>
            </a:r>
          </a:p>
          <a:p>
            <a:r>
              <a:t>Поскольку один сервер может обслуживать множество клиентов,</a:t>
            </a:r>
          </a:p>
          <a:p>
            <a:r>
              <a:t>его размещают на специально выделенной машине с высокой производительностью.</a:t>
            </a:r>
          </a:p>
          <a:p>
            <a:r>
              <a:t>Из-за особой роли такую машину тоже называют сервером,</a:t>
            </a:r>
          </a:p>
          <a:p>
            <a:r>
              <a:t>а машины с клиентскими программами — клиентами.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Тонкий и толстый клиент.</a:t>
            </a:r>
          </a:p>
          <a:p>
            <a:r>
              <a:t>Тонкий клиент — это компьютер-клиент, который переносит все задачи по обработке</a:t>
            </a:r>
          </a:p>
          <a:p>
            <a:r>
              <a:t>на сервер.</a:t>
            </a:r>
          </a:p>
          <a:p>
            <a:r>
              <a:t>Пример тонкого клиента — компьютер с браузером, работающий с веб-приложением.</a:t>
            </a:r>
          </a:p>
          <a:p>
            <a:r>
              <a:t>Всё, что делает браузер, — это отправляет запросы и отображает результат.</a:t>
            </a:r>
          </a:p>
          <a:p>
            <a:r>
              <a:t>Вся логика выполняется на сервере.</a:t>
            </a:r>
          </a:p>
          <a:p>
            <a:r>
              <a:t>Толстый клиент, наоборот, производит обработку независимо от сервера,</a:t>
            </a:r>
          </a:p>
          <a:p>
            <a:r>
              <a:t>используя его в основном только для хранения данных.</a:t>
            </a:r>
          </a:p>
          <a:p>
            <a:r>
              <a:t>Пример толстого клиента — десктопное приложение вроде фотошопа,</a:t>
            </a:r>
          </a:p>
          <a:p>
            <a:r>
              <a:t>которое большую часть работы делает на локальной машине.</a:t>
            </a:r>
          </a:p>
          <a:p>
            <a:r>
              <a:t>Современные веб-приложения часто находятся посередине:</a:t>
            </a:r>
          </a:p>
          <a:p>
            <a:r>
              <a:t>часть логики выполняется в браузере через ДжаваСкрипт,</a:t>
            </a:r>
          </a:p>
          <a:p>
            <a:r>
              <a:t>часть — на сервере.</a:t>
            </a:r>
          </a:p>
          <a:p>
            <a:r>
              <a:t>Этот спектр важен: чем толще клиент, тем больше нагрузки на пользователя,</a:t>
            </a:r>
          </a:p>
          <a:p>
            <a:r>
              <a:t>но меньше задержка и меньше нагрузка на сервер.</a:t>
            </a:r>
          </a:p>
          <a:p>
            <a:r>
              <a:t>Чем тоньше клиент, тем проще его обновлять, но больше зависимость от 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Многоуровневая архитектура.</a:t>
            </a:r>
          </a:p>
          <a:p>
            <a:r>
              <a:t>Это разновидность архитектуры клиент-сервер,</a:t>
            </a:r>
          </a:p>
          <a:p>
            <a:r>
              <a:t>в которой функция обработки данных вынесена на один или несколько отдельных серверов.</a:t>
            </a:r>
          </a:p>
          <a:p>
            <a:r>
              <a:t>Такое разделение позволяет отделить хранение, обработку и представление данных</a:t>
            </a:r>
          </a:p>
          <a:p>
            <a:r>
              <a:t>друг от друга.</a:t>
            </a:r>
          </a:p>
          <a:p>
            <a:r>
              <a:t>Каждый уровень можно масштабировать и обновлять независимо.</a:t>
            </a:r>
          </a:p>
          <a:p>
            <a:r>
              <a:t>Если нагрузка выросла — добавить ещё серверов приложений.</a:t>
            </a:r>
          </a:p>
          <a:p>
            <a:r>
              <a:t>Если данных стало много — расширить базу данных.</a:t>
            </a:r>
          </a:p>
          <a:p>
            <a:r>
              <a:t>Если интерфейс устарел — переписать только клиентскую часть.</a:t>
            </a:r>
          </a:p>
          <a:p>
            <a:r>
              <a:t>Это первый шаг к декомпозиции, которая позже превращается</a:t>
            </a:r>
          </a:p>
          <a:p>
            <a:r>
              <a:t>в микросервисную архитектуру.</a:t>
            </a:r>
          </a:p>
          <a:p>
            <a:r>
              <a:t>Простейший пример многоуровневой архитектуры — двухуровневая:</a:t>
            </a:r>
          </a:p>
          <a:p>
            <a:r>
              <a:t>клиент и сервер с базой данных.</a:t>
            </a:r>
          </a:p>
          <a:p>
            <a:r>
              <a:t>Следующий шаг — трёхуровневая, где сервер приложений отделён от базы данных.</a:t>
            </a:r>
          </a:p>
          <a:p>
            <a:r>
              <a:t>Ещё дальше — четырёхуровневая, где кеш и очередь задач выносятся в отдельные сервисы.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схеме — классическая трёхуровневая архитектура.</a:t>
            </a:r>
          </a:p>
          <a:p>
            <a:r>
              <a:t>Три горизонтальных слоя.</a:t>
            </a:r>
          </a:p>
          <a:p>
            <a:r>
              <a:t>Первый, верхний — слой клиента.</a:t>
            </a:r>
          </a:p>
          <a:p>
            <a:r>
              <a:t>Это уровень интерфейса пользователя.</a:t>
            </a:r>
          </a:p>
          <a:p>
            <a:r>
              <a:t>Главная функция: представление задач и результатов, понятных пользователю.</a:t>
            </a:r>
          </a:p>
          <a:p>
            <a:r>
              <a:t>Клиент отправляет запросы и получает ответы.</a:t>
            </a:r>
          </a:p>
          <a:p>
            <a:r>
              <a:t>Второй, средний — слой логики.</a:t>
            </a:r>
          </a:p>
          <a:p>
            <a:r>
              <a:t>Здесь координируется программа, обрабатываются команды,</a:t>
            </a:r>
          </a:p>
          <a:p>
            <a:r>
              <a:t>выполняются логические решения, вычисления и расчёты.</a:t>
            </a:r>
          </a:p>
          <a:p>
            <a:r>
              <a:t>Слой логики перемещает и обрабатывает данные между двумя окружающими слоями.</a:t>
            </a:r>
          </a:p>
          <a:p>
            <a:r>
              <a:t>Он решает, что нужно сделать, какой сервис вызвать, как обработать результат.</a:t>
            </a:r>
          </a:p>
          <a:p>
            <a:r>
              <a:t>Третий, нижний — слой данных.</a:t>
            </a:r>
          </a:p>
          <a:p>
            <a:r>
              <a:t>Здесь хранится информация: база данных, файловая система, хранилище.</a:t>
            </a:r>
          </a:p>
          <a:p>
            <a:r>
              <a:t>Информация отправляется в логический слой для обработки</a:t>
            </a:r>
          </a:p>
          <a:p>
            <a:r>
              <a:t>и в конечном счёте возвращается пользователю.</a:t>
            </a:r>
          </a:p>
          <a:p>
            <a:r>
              <a:t>На схеме виден конкретный пример: клиент запрашивает сводку продаж,</a:t>
            </a:r>
          </a:p>
          <a:p>
            <a:r>
              <a:t>логика обращается к базе данных, получает список продаж за прошлый год,</a:t>
            </a:r>
          </a:p>
          <a:p>
            <a:r>
              <a:t>объединяет их и возвращает клиенту.</a:t>
            </a:r>
          </a:p>
          <a:p>
            <a:r>
              <a:t>Этот пример прекрасно иллюстрирует разделение ответственности между слоями.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Трёхуровневая архитектура, или трёхзвенная архитектура.</a:t>
            </a:r>
          </a:p>
          <a:p>
            <a:r>
              <a:t>Архитектурная модель программного комплекса, предполагающая наличие трёх компонентов:</a:t>
            </a:r>
          </a:p>
          <a:p>
            <a:r>
              <a:t>клиента, сервера приложений и сервера баз данных.</a:t>
            </a:r>
          </a:p>
          <a:p>
            <a:r>
              <a:t>По сравнению с двухзвенной клиент-серверной или файл-серверной архитектурой</a:t>
            </a:r>
          </a:p>
          <a:p>
            <a:r>
              <a:t>трёхуровневая обеспечивает, как правило, большую масштабируемость</a:t>
            </a:r>
          </a:p>
          <a:p>
            <a:r>
              <a:t>за счёт горизонтальной масштабируемости сервера приложений</a:t>
            </a:r>
          </a:p>
          <a:p>
            <a:r>
              <a:t>и мультиплексирования соединений.</a:t>
            </a:r>
          </a:p>
          <a:p>
            <a:r>
              <a:t>И большую конфигурируемость за счёт изолированности уровней друг от друга.</a:t>
            </a:r>
          </a:p>
          <a:p>
            <a:r>
              <a:t>Реализация приложений, доступных из веб-браузера или из тонкого клиента,</a:t>
            </a:r>
          </a:p>
          <a:p>
            <a:r>
              <a:t>как правило, подразумевает развёртывание программного комплекса</a:t>
            </a:r>
          </a:p>
          <a:p>
            <a:r>
              <a:t>именно в трёхуровневой архитектуре.</a:t>
            </a:r>
          </a:p>
          <a:p>
            <a:r>
              <a:t>Клиент — это браузер, который ничего не знает о базе данных.</a:t>
            </a:r>
          </a:p>
          <a:p>
            <a:r>
              <a:t>Сервер приложений — это Эн-Джинкс с модулем Ви-Эс-Джи-Ай или ювикОрн, который выполняет логику.</a:t>
            </a:r>
          </a:p>
          <a:p>
            <a:r>
              <a:t>Сервер базы данных — это ПостгрЕс или Май-Эс-Кью-Эл.</a:t>
            </a:r>
          </a:p>
          <a:p>
            <a:r>
              <a:t>Такое разделение позволяет менять любой уровень независимо от других.</a:t>
            </a:r>
          </a:p>
          <a:p>
            <a:r>
              <a:t>Например, перейти с ПостгрЕс на Май-Эс-Кью-Эл без изменения клиентского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Сокеты.</a:t>
            </a:r>
          </a:p>
          <a:p>
            <a:r>
              <a:t>Сокет — это абстрактная единица сетевого взаимодействия,</a:t>
            </a:r>
          </a:p>
          <a:p>
            <a:r>
              <a:t>фактически переводится как разъём.</a:t>
            </a:r>
          </a:p>
          <a:p>
            <a:r>
              <a:t>Можно провести аналогию с файловой переменной, но с сокетом связано</a:t>
            </a:r>
          </a:p>
          <a:p>
            <a:r>
              <a:t>не имя файла и тип — бинарный или текстовый — и не режим чтения-записи,</a:t>
            </a:r>
          </a:p>
          <a:p>
            <a:r>
              <a:t>а адрес удалённого приложения, тип соединения и передачи данных,</a:t>
            </a:r>
          </a:p>
          <a:p>
            <a:r>
              <a:t>протокол взаимодействия.</a:t>
            </a:r>
          </a:p>
          <a:p>
            <a:r>
              <a:t>Обычно сокеты рассматриваются на транспортном уровне взаимодействия.</a:t>
            </a:r>
          </a:p>
          <a:p>
            <a:r>
              <a:t>Сокеты предоставляют мощный и гибкий механизм межпроцессного взаимодействия,</a:t>
            </a:r>
          </a:p>
          <a:p>
            <a:r>
              <a:t>сокращённо Ай-Пи-Си.</a:t>
            </a:r>
          </a:p>
          <a:p>
            <a:r>
              <a:t>Они используются для организации взаимодействия программ на одном компьютере,</a:t>
            </a:r>
          </a:p>
          <a:p>
            <a:r>
              <a:t>по локальной сети или через интернет.</a:t>
            </a:r>
          </a:p>
          <a:p>
            <a:r>
              <a:t>Это позволяет создавать распределённые приложения различной сложности</a:t>
            </a:r>
          </a:p>
          <a:p>
            <a:r>
              <a:t>и организовывать взаимодействие с программами под разными операционными системами.</a:t>
            </a:r>
          </a:p>
          <a:p>
            <a:r>
              <a:t>Сокеты поддерживают многие стандартные сетевые протоколы</a:t>
            </a:r>
          </a:p>
          <a:p>
            <a:r>
              <a:t>и предоставляют унифицированный интерфейс для работы с ними.</a:t>
            </a:r>
          </a:p>
          <a:p>
            <a:r>
              <a:t>Наиболее часто сокеты используются для работы в Ай-Пи-сетях.</a:t>
            </a:r>
          </a:p>
          <a:p/>
          <a:p>
            <a:r>
              <a:t>Ключевые атрибуты сокета.</a:t>
            </a:r>
          </a:p>
          <a:p>
            <a:r>
              <a:t>Семейство протоколов: Эй-Эф-ИнЕт для Ай-Пи-сетей, Эй-Эф-Юникс для локальных сокетов.</a:t>
            </a:r>
          </a:p>
          <a:p>
            <a:r>
              <a:t>Тип сокета: сок-Стрим для потокового Ти-Си-Пи или сок-ДэгрЭм для дейтаграммного Ю-Ди-Пи.</a:t>
            </a:r>
          </a:p>
          <a:p>
            <a:r>
              <a:t>Адрес и порт: например, локальный хост и девять тысяч девяносто.</a:t>
            </a:r>
          </a:p>
          <a:p/>
          <a:p>
            <a:r>
              <a:t>Порт — это целое число от одного до шестидесяти пяти тысяч пятисот тридцати пяти,</a:t>
            </a:r>
          </a:p>
          <a:p>
            <a:r>
              <a:t>позволяющее разным программам на одной машине независимо получать данные.</a:t>
            </a:r>
          </a:p>
          <a:p>
            <a:r>
              <a:t>Стандартные порты: Эйч-Ти-Ти-Пи — восемьдесят, Эйч-Ти-Ти-Пи-Эс — четыреста сорок три,</a:t>
            </a:r>
          </a:p>
          <a:p>
            <a:r>
              <a:t>Эс-Эс-Эйч — двадцать два, Эс-Эм-Ти-Пи — двадцать пять.</a:t>
            </a:r>
          </a:p>
          <a:p>
            <a:r>
              <a:t>Когда сервер вызывает байнд, он привязывается к конкретному порту.</a:t>
            </a:r>
          </a:p>
          <a:p>
            <a:r>
              <a:t>Когда клиент вызывает коннект, операционная система автоматически выбирает ему</a:t>
            </a:r>
          </a:p>
          <a:p>
            <a:r>
              <a:t>случайный свободный порт из диапазона эфемерных, обычно от трёхсот двадцати семи</a:t>
            </a:r>
          </a:p>
          <a:p>
            <a:r>
              <a:t>до шестидесяти одной тысячи.</a:t>
            </a:r>
          </a:p>
          <a:p/>
          <a:p>
            <a:r>
              <a:t>Опция эс-Оу-рЭюз-Эддр, реюзабл-Эддр.</a:t>
            </a:r>
          </a:p>
          <a:p>
            <a:r>
              <a:t>По умолчанию, когда сервер закрывается, порт остаётся в состоянии тайм-вЭйт</a:t>
            </a:r>
          </a:p>
          <a:p>
            <a:r>
              <a:t>на одну-две минуты, потому что операционная система ждёт,</a:t>
            </a:r>
          </a:p>
          <a:p>
            <a:r>
              <a:t>не придут ли опоздавшие пакеты от старых клиентов.</a:t>
            </a:r>
          </a:p>
          <a:p>
            <a:r>
              <a:t>Если перезапустить сервер сразу после остановки, байнд упадёт с ошибкой</a:t>
            </a:r>
          </a:p>
          <a:p>
            <a:r>
              <a:t>адрес уже используется.</a:t>
            </a:r>
          </a:p>
          <a:p>
            <a:r>
              <a:t>Опция эс-Оу-рЭюз-Эддр снимает это ограничение:</a:t>
            </a:r>
          </a:p>
          <a:p>
            <a:r>
              <a:t>она разрешает переиспользовать порт, даже если он в состоянии тайм-вЭйт.</a:t>
            </a:r>
          </a:p>
          <a:p>
            <a:r>
              <a:t>На практике это первое, что делают в любом сервере на сокетах:</a:t>
            </a:r>
          </a:p>
          <a:p>
            <a:r>
              <a:t>сразу после создания сокета вызывают сет-сок-опт с этой опцией.</a:t>
            </a:r>
          </a:p>
          <a:p>
            <a:r>
              <a:t>Без неё перезапуск сервера при разработке превращается в мучение.</a:t>
            </a:r>
          </a:p>
          <a:p/>
          <a:p>
            <a:r>
              <a:t>На уровне операционной системы сокеты обслуживаются механизмами</a:t>
            </a:r>
          </a:p>
          <a:p>
            <a:r>
              <a:t>полл или эпОлл, о которых подробно поговорим в конце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Простейший Ти-Си-Пи-сервер на языке Пайтон.</a:t>
            </a:r>
          </a:p>
          <a:p>
            <a:r>
              <a:t>Сначала создаём сокет функцией сокет.</a:t>
            </a:r>
          </a:p>
          <a:p>
            <a:r>
              <a:t>Затем привязываем его к адресу и порту через метод байнд.</a:t>
            </a:r>
          </a:p>
          <a:p>
            <a:r>
              <a:t>Пустая строка в первом аргументе означает, что слушаем на всех сетевых интерфейсах,</a:t>
            </a:r>
          </a:p>
          <a:p>
            <a:r>
              <a:t>порт девять тысяч девяносто.</a:t>
            </a:r>
          </a:p>
          <a:p>
            <a:r>
              <a:t>Перед байнд обычно вызывают сет-сок-опт с опцией эс-Оу-рЭюз-Эддр,</a:t>
            </a:r>
          </a:p>
          <a:p>
            <a:r>
              <a:t>чтобы порт можно было переиспользовать при перезапуске.</a:t>
            </a:r>
          </a:p>
          <a:p>
            <a:r>
              <a:t>Метод листен переводит сокет в режим прослушивания.</a:t>
            </a:r>
          </a:p>
          <a:p>
            <a:r>
              <a:t>Аргумент один — размер очереди входящих соединений.</a:t>
            </a:r>
          </a:p>
          <a:p>
            <a:r>
              <a:t>Затем метод эксЭпт блокирует выполнение, пока не придёт клиент.</a:t>
            </a:r>
          </a:p>
          <a:p>
            <a:r>
              <a:t>Когда клиент подключился, эксЭпт возвращает новый сокет для общения с этим клиентом</a:t>
            </a:r>
          </a:p>
          <a:p>
            <a:r>
              <a:t>и адрес клиента.</a:t>
            </a:r>
          </a:p>
          <a:p>
            <a:r>
              <a:t>В бесконечном цикле читаем данные методом ресив до одной тысячи двадцати четырёх байт.</a:t>
            </a:r>
          </a:p>
          <a:p>
            <a:r>
              <a:t>Если клиент закрыл соединение, ресив возвращает пустую строку — выходим из цикла.</a:t>
            </a:r>
          </a:p>
          <a:p>
            <a:r>
              <a:t>Иначе отправляем обратно те же данные, но в верхнем регистре, через метод сенд.</a:t>
            </a:r>
          </a:p>
          <a:p>
            <a:r>
              <a:t>В конце закрываем соединение.</a:t>
            </a:r>
          </a:p>
          <a:p>
            <a:r>
              <a:t>Клиент на Пайтоне проще: создаём сокет, методом коннект подключаемся к локальному хосту</a:t>
            </a:r>
          </a:p>
          <a:p>
            <a:r>
              <a:t>и тому же порту, отправляем строку, читаем ответ, закрываем сокет.</a:t>
            </a:r>
          </a:p>
          <a:p/>
          <a:p>
            <a:r>
              <a:t>Теперь важное про Пайтон и его ограничения.</a:t>
            </a:r>
          </a:p>
          <a:p>
            <a:r>
              <a:t>В Пайтоне есть так называемый ГИЛ, глобальная блокировка интерпретатора.</a:t>
            </a:r>
          </a:p>
          <a:p>
            <a:r>
              <a:t>Она гарантирует, что в любой момент времени только один поток выполняет байт-код Пайтона.</a:t>
            </a:r>
          </a:p>
          <a:p>
            <a:r>
              <a:t>Это значит, что многопоточность в Пайтоне не даёт истинного параллелизма для вычислительных задач:</a:t>
            </a:r>
          </a:p>
          <a:p>
            <a:r>
              <a:t>потоки выполняются по очереди, а не одновременно на нескольких ядрах.</a:t>
            </a:r>
          </a:p>
          <a:p>
            <a:r>
              <a:t>Для ввода-вывода ГИЛ отпускается на время системных вызовов,</a:t>
            </a:r>
          </a:p>
          <a:p>
            <a:r>
              <a:t>поэтому многопоточный сервер на сокетах всё же работает,</a:t>
            </a:r>
          </a:p>
          <a:p>
            <a:r>
              <a:t>но на большом числе одновременных соединений каждый поток съедает память</a:t>
            </a:r>
          </a:p>
          <a:p>
            <a:r>
              <a:t>и время на переключение контекста.</a:t>
            </a:r>
          </a:p>
          <a:p/>
          <a:p>
            <a:r>
              <a:t>Именно поэтому в мире Пайтона появились два подхода.</a:t>
            </a:r>
          </a:p>
          <a:p/>
          <a:p>
            <a:r>
              <a:t>Первый — асинхронность через модуль асИнкио.</a:t>
            </a:r>
          </a:p>
          <a:p>
            <a:r>
              <a:t>Один поток, один цикл событий, тысячи одновременных соединений</a:t>
            </a:r>
          </a:p>
          <a:p>
            <a:r>
              <a:t>без создания тысяч потоков.</a:t>
            </a:r>
          </a:p>
          <a:p>
            <a:r>
              <a:t>Именно так работает ювикОрн — асинхронный веб-сервер на асИнкио.</a:t>
            </a:r>
          </a:p>
          <a:p>
            <a:r>
              <a:t>Он эффективен для ввода-вывода и тысяч одновременно открытых соединений.</a:t>
            </a:r>
          </a:p>
          <a:p/>
          <a:p>
            <a:r>
              <a:t>Второй — многопроцессность через модуль мультипрОцессинг.</a:t>
            </a:r>
          </a:p>
          <a:p>
            <a:r>
              <a:t>Каждый процесс имеет свой собственный интерпретатор Пайтона и свой собственный ГИЛ.</a:t>
            </a:r>
          </a:p>
          <a:p>
            <a:r>
              <a:t>Это обходит ограничение для вычислительных задач.</a:t>
            </a:r>
          </a:p>
          <a:p>
            <a:r>
              <a:t>Именно так работает гуникОрн: он запускает несколько процессов-воркеров,</a:t>
            </a:r>
          </a:p>
          <a:p>
            <a:r>
              <a:t>каждый из которых обслуживает свою долю запросов.</a:t>
            </a:r>
          </a:p>
          <a:p>
            <a:r>
              <a:t>Классическая связка — гуникОрн с ювикОрн-воркерами —</a:t>
            </a:r>
          </a:p>
          <a:p>
            <a:r>
              <a:t>даёт и многопроцессность, и асинхронность одновременно.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Ю-Ди-Пи-сервер на Пайтоне.</a:t>
            </a:r>
          </a:p>
          <a:p>
            <a:r>
              <a:t>Импортируем всё из модуля сокет.</a:t>
            </a:r>
          </a:p>
          <a:p>
            <a:r>
              <a:t>Задаём хост локальный и порт семьсот семьдесят семь.</a:t>
            </a:r>
          </a:p>
          <a:p>
            <a:r>
              <a:t>Создаём Ю-Ди-Пи-сокет с двумя аргументами:</a:t>
            </a:r>
          </a:p>
          <a:p>
            <a:r>
              <a:t>семейство Эй-Эф-ИнЕт и тип сок-ДэгрЭм.</a:t>
            </a:r>
          </a:p>
          <a:p>
            <a:r>
              <a:t>Привязываем адрес методом байнд.</a:t>
            </a:r>
          </a:p>
          <a:p>
            <a:r>
              <a:t>В бесконечном цикле спрашиваем пользователя, хочет ли он выйти.</a:t>
            </a:r>
          </a:p>
          <a:p>
            <a:r>
              <a:t>Если да — прерываем цикл.</a:t>
            </a:r>
          </a:p>
          <a:p>
            <a:r>
              <a:t>Иначе ждём дейтаграмму методом ресив-фром до одной тысячи двадцати четырёх байт.</a:t>
            </a:r>
          </a:p>
          <a:p>
            <a:r>
              <a:t>Метод возвращает данные и адрес отправителя.</a:t>
            </a:r>
          </a:p>
          <a:p>
            <a:r>
              <a:t>Отправляем ответ через метод сенд-ту на адрес отправителя.</a:t>
            </a:r>
          </a:p>
          <a:p>
            <a:r>
              <a:t>В конце закрываем сокет.</a:t>
            </a:r>
          </a:p>
          <a:p/>
          <a:p>
            <a:r>
              <a:t>Ключевое отличие от Ти-Си-Пи: здесь нет установки соединения.</a:t>
            </a:r>
          </a:p>
          <a:p>
            <a:r>
              <a:t>Ю-Ди-Пи-сокет просто отправляет дейтаграммы по указанному адресу</a:t>
            </a:r>
          </a:p>
          <a:p>
            <a:r>
              <a:t>и принимает их откуда угодно.</a:t>
            </a:r>
          </a:p>
          <a:p>
            <a:r>
              <a:t>Нет состояния соединения, нет подтверждения доставки,</a:t>
            </a:r>
          </a:p>
          <a:p>
            <a:r>
              <a:t>нет упорядочивания пакетов.</a:t>
            </a:r>
          </a:p>
          <a:p>
            <a:r>
              <a:t>Зато каждое сообщение — самодостаточная единица.</a:t>
            </a:r>
          </a:p>
          <a:p/>
          <a:p>
            <a:r>
              <a:t>Для Ю-Ди-Пи особенно важно упомянуть системный вызов селЕкт, полл и эпОлл.</a:t>
            </a:r>
          </a:p>
          <a:p>
            <a:r>
              <a:t>В синхронном примере выше мы блокируемся на ресив-фром и ждём одно сообщение.</a:t>
            </a:r>
          </a:p>
          <a:p>
            <a:r>
              <a:t>Но представьте, что у сервера тысяча Ю-Ди-Пи-клиентов.</a:t>
            </a:r>
          </a:p>
          <a:p>
            <a:r>
              <a:t>Если обслуживать каждого в отдельном потоке, получим тысячу потоков</a:t>
            </a:r>
          </a:p>
          <a:p>
            <a:r>
              <a:t>и чудовищные накладные расходы.</a:t>
            </a:r>
          </a:p>
          <a:p>
            <a:r>
              <a:t>Вместо этого используют один поток и один системный вызов,</a:t>
            </a:r>
          </a:p>
          <a:p>
            <a:r>
              <a:t>который говорит: вот список из тысячи сокетов, скажи, на каких из них есть данные.</a:t>
            </a:r>
          </a:p>
          <a:p>
            <a:r>
              <a:t>Именно это делают селЕкт, полл и эпОлл.</a:t>
            </a:r>
          </a:p>
          <a:p>
            <a:r>
              <a:t>Подробно сравним их в конце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Ю-Ди-Пи-клиент на Пайтоне.</a:t>
            </a:r>
          </a:p>
          <a:p>
            <a:r>
              <a:t>Снова создаём дейтаграммный сокет.</a:t>
            </a:r>
          </a:p>
          <a:p>
            <a:r>
              <a:t>Спрашиваем у пользователя текст для отправки.</a:t>
            </a:r>
          </a:p>
          <a:p>
            <a:r>
              <a:t>Если пусто — закрываем сокет и выходим.</a:t>
            </a:r>
          </a:p>
          <a:p>
            <a:r>
              <a:t>Кодируем строку в байты методом энкод.</a:t>
            </a:r>
          </a:p>
          <a:p>
            <a:r>
              <a:t>Отправляем на адрес сервера методом сенд-ту.</a:t>
            </a:r>
          </a:p>
          <a:p>
            <a:r>
              <a:t>Затем ждём ответ методом ресив-фром.</a:t>
            </a:r>
          </a:p>
          <a:p>
            <a:r>
              <a:t>Декодируем байты обратно в строку методом декод.</a:t>
            </a:r>
          </a:p>
          <a:p>
            <a:r>
              <a:t>Печатаем ответ.</a:t>
            </a:r>
          </a:p>
          <a:p>
            <a:r>
              <a:t>Закрываем сокет.</a:t>
            </a:r>
          </a:p>
          <a:p>
            <a:r>
              <a:t>Обратите внимание: в Ю-Ди-Пи клиент не обязан быть тем же, кто первым отправил сообщение.</a:t>
            </a:r>
          </a:p>
          <a:p>
            <a:r>
              <a:t>Нет сессии, нет соединения.</a:t>
            </a:r>
          </a:p>
          <a:p>
            <a:r>
              <a:t>Любая программа, знающая адрес и порт сервера, может отправить дейтаграмму.</a:t>
            </a:r>
          </a:p>
          <a:p>
            <a:r>
              <a:t>Это свойство используется в протоколе Ди-Эн-Эс:</a:t>
            </a:r>
          </a:p>
          <a:p>
            <a:r>
              <a:t>запрос и ответ — это две независимые дейтаграммы.</a:t>
            </a:r>
          </a:p>
          <a:p>
            <a:r>
              <a:t>Именно поэтому Ю-Ди-Пи такой быстрый: нет накладных расходов на установку соединения.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Джава-сервер на сокетах, главный класс.</a:t>
            </a:r>
          </a:p>
          <a:p>
            <a:r>
              <a:t>Импортируем пакеты ввода-вывода и сетевых классов.</a:t>
            </a:r>
          </a:p>
          <a:p>
            <a:r>
              <a:t>Класс SamplеСервер наследуется от класса Тред.</a:t>
            </a:r>
          </a:p>
          <a:p>
            <a:r>
              <a:t>Внутри два поля: сокет и номер клиента.</a:t>
            </a:r>
          </a:p>
          <a:p>
            <a:r>
              <a:t>В методе мэйн создаём счётчик клиентов.</a:t>
            </a:r>
          </a:p>
          <a:p>
            <a:r>
              <a:t>Создаём серверный сокет на порту три тысячи сто двадцать восемь,</a:t>
            </a:r>
          </a:p>
          <a:p>
            <a:r>
              <a:t>привязанный к локальному хосту.</a:t>
            </a:r>
          </a:p>
          <a:p>
            <a:r>
              <a:t>Печатаем сообщение, что сервер запущен.</a:t>
            </a:r>
          </a:p>
          <a:p>
            <a:r>
              <a:t>В бесконечном цикле ждём нового подключения методом эксЭпт.</a:t>
            </a:r>
          </a:p>
          <a:p>
            <a:r>
              <a:t>На каждого клиента создаём новый поток SamplеСервер,</a:t>
            </a:r>
          </a:p>
          <a:p>
            <a:r>
              <a:t>передавая ему номер и сокет клиента.</a:t>
            </a:r>
          </a:p>
          <a:p>
            <a:r>
              <a:t>Счётчик инкрементируется.</a:t>
            </a:r>
          </a:p>
          <a:p>
            <a:r>
              <a:t>Класс обёрнут в блок трай-кэтч: если что-то пойдёт не так,</a:t>
            </a:r>
          </a:p>
          <a:p>
            <a:r>
              <a:t>печатаем сообщение об ошибке.</a:t>
            </a:r>
          </a:p>
          <a:p>
            <a:r>
              <a:t>Такая схема — один поток на соединение — классическая для Ти-Си-Пи-серверов</a:t>
            </a:r>
          </a:p>
          <a:p>
            <a:r>
              <a:t>небольшой нагрузки.</a:t>
            </a:r>
          </a:p>
          <a:p>
            <a:r>
              <a:t>На больших нагрузках она не масштабируется из-за накладных расходов</a:t>
            </a:r>
          </a:p>
          <a:p>
            <a:r>
              <a:t>на создание потоков и переключение контекста.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Конструктор потока SamplеСервер.</a:t>
            </a:r>
          </a:p>
          <a:p>
            <a:r>
              <a:t>Принимает номер клиента и сокет.</a:t>
            </a:r>
          </a:p>
          <a:p>
            <a:r>
              <a:t>Копирует их в поля объекта.</a:t>
            </a:r>
          </a:p>
          <a:p>
            <a:r>
              <a:t>Метод сет-ДЭймон с аргументом тру означает, что поток-демон:</a:t>
            </a:r>
          </a:p>
          <a:p>
            <a:r>
              <a:t>он будет автоматически завершён, когда завершится главная программа.</a:t>
            </a:r>
          </a:p>
          <a:p>
            <a:r>
              <a:t>Это важно: иначе сервер не смог бы корректно завершиться,</a:t>
            </a:r>
          </a:p>
          <a:p>
            <a:r>
              <a:t>пока живы клиентские потоки.</a:t>
            </a:r>
          </a:p>
          <a:p>
            <a:r>
              <a:t>Метод сет-приорити задаёт приоритет потока — норм-приорити, обычный.</a:t>
            </a:r>
          </a:p>
          <a:p>
            <a:r>
              <a:t>Метод старт запускает выполнение метода ран в новом потоке.</a:t>
            </a:r>
          </a:p>
          <a:p>
            <a:r>
              <a:t>Именно так в Джаве запускается параллельная обработка:</a:t>
            </a:r>
          </a:p>
          <a:p>
            <a:r>
              <a:t>создаём объект-наследник Тред, вызываем старт,</a:t>
            </a:r>
          </a:p>
          <a:p>
            <a:r>
              <a:t>и виртуальная машина сама вызывает ран.</a:t>
            </a:r>
          </a:p>
          <a:p>
            <a:r>
              <a:t>Обратите внимание: старт не блокирует текущий поток.</a:t>
            </a:r>
          </a:p>
          <a:p>
            <a:r>
              <a:t>Он просто сообщает виртуальной машине: запусти ран в отдельном потоке.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 ран — основная логика обработки клиента.</a:t>
            </a:r>
          </a:p>
          <a:p>
            <a:r>
              <a:t>Из сокета клиента берём входной поток методом гет-Инпут-Стрим</a:t>
            </a:r>
          </a:p>
          <a:p>
            <a:r>
              <a:t>и выходной поток методом гет-Аутпут-Стрим.</a:t>
            </a:r>
          </a:p>
          <a:p>
            <a:r>
              <a:t>Создаём буфер в шестьдесят четыре килобайта.</a:t>
            </a:r>
          </a:p>
          <a:p>
            <a:r>
              <a:t>Читаем из входного потока методом рид —</a:t>
            </a:r>
          </a:p>
          <a:p>
            <a:r>
              <a:t>он возвращает количество реально принятых байтов.</a:t>
            </a:r>
          </a:p>
          <a:p>
            <a:r>
              <a:t>Создаём строку из прочитанных байтов.</a:t>
            </a:r>
          </a:p>
          <a:p>
            <a:r>
              <a:t>Добавляем к ней номер клиента и перевод строки.</a:t>
            </a:r>
          </a:p>
          <a:p>
            <a:r>
              <a:t>Отправляем результат клиенту через выходной поток методом райт.</a:t>
            </a:r>
          </a:p>
          <a:p>
            <a:r>
              <a:t>Закрываем сокет методом клОУз.</a:t>
            </a:r>
          </a:p>
          <a:p>
            <a:r>
              <a:t>Всё обёрнуто в блок трай-кэтч.</a:t>
            </a:r>
          </a:p>
          <a:p>
            <a:r>
              <a:t>Этот метод вызывается один раз на клиента.</a:t>
            </a:r>
          </a:p>
          <a:p>
            <a:r>
              <a:t>Обратите внимание: сервер обрабатывает одного клиента и закрывает соединение.</a:t>
            </a:r>
          </a:p>
          <a:p>
            <a:r>
              <a:t>Такая схема подходит для протоколов типа запрос-ответ,</a:t>
            </a:r>
          </a:p>
          <a:p>
            <a:r>
              <a:t>где клиент отправляет одно сообщение и ждёт один ответ.</a:t>
            </a:r>
          </a:p>
          <a:p>
            <a:r>
              <a:t>Для постоянного соединения — например, веб-сокетов — логику ран</a:t>
            </a:r>
          </a:p>
          <a:p>
            <a:r>
              <a:t>пришлось бы изменить: цикл чтения-обработки-ответа до закрытия сокета.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Джава-клиент.</a:t>
            </a:r>
          </a:p>
          <a:p>
            <a:r>
              <a:t>Класс SamplеКлиент наследуется от Тред.</a:t>
            </a:r>
          </a:p>
          <a:p>
            <a:r>
              <a:t>В методе мэйн создаём сокет, подключаемся к локальному хосту на порт три тысячи сто двадцать восемь.</a:t>
            </a:r>
          </a:p>
          <a:p>
            <a:r>
              <a:t>Берём первый аргумент командной строки.</a:t>
            </a:r>
          </a:p>
          <a:p>
            <a:r>
              <a:t>Добавляем к нему перевод строки, Ай-Пи-адрес сокета через метод гет-ИнЕт-Аддресс,</a:t>
            </a:r>
          </a:p>
          <a:p>
            <a:r>
              <a:t>и локальный порт сокета через метод гет-ЛОкал-Порт.</a:t>
            </a:r>
          </a:p>
          <a:p>
            <a:r>
              <a:t>Отправляем результат через выходной поток.</a:t>
            </a:r>
          </a:p>
          <a:p>
            <a:r>
              <a:t>Читаем ответ в буфер шестьдесят четыре килобайта.</a:t>
            </a:r>
          </a:p>
          <a:p>
            <a:r>
              <a:t>Создаём строку из ответа и печатаем её в консоль.</a:t>
            </a:r>
          </a:p>
          <a:p>
            <a:r>
              <a:t>Обёрнуто в трай-кэтч.</a:t>
            </a:r>
          </a:p>
          <a:p>
            <a:r>
              <a:t>Этот клиент можно запускать много раз параллельно с разными аргументами.</a:t>
            </a:r>
          </a:p>
          <a:p>
            <a:r>
              <a:t>Каждый запуск создаёт новое соединение.</a:t>
            </a:r>
          </a:p>
          <a:p>
            <a:r>
              <a:t>Сервер на той стороне создаёт новый поток для каждого клиента,</a:t>
            </a:r>
          </a:p>
          <a:p>
            <a:r>
              <a:t>и каждый клиент получает свой номер в ответе.</a:t>
            </a:r>
          </a:p>
          <a:p>
            <a:r>
              <a:t>Именно так работает классическая многопоточная модель</a:t>
            </a:r>
          </a:p>
          <a:p>
            <a:r>
              <a:t>обслуживания клиентов на Ти-Си-Пи-сервере.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Компиляция и запуск примеров.</a:t>
            </a:r>
          </a:p>
          <a:p>
            <a:r>
              <a:t>Сначала компилируем класс сервера: команда джава-си Эс-Ервер точка джава.</a:t>
            </a:r>
          </a:p>
          <a:p>
            <a:r>
              <a:t>Затем компилируем класс клиента: джава-си Клиент точка джава.</a:t>
            </a:r>
          </a:p>
          <a:p>
            <a:r>
              <a:t>Запускаем сервер командой джава Эс-Ервер.</a:t>
            </a:r>
          </a:p>
          <a:p>
            <a:r>
              <a:t>Ждём сообщения сервер запущен.</a:t>
            </a:r>
          </a:p>
          <a:p>
            <a:r>
              <a:t>После этого можно запустить любое количество клиентов:</a:t>
            </a:r>
          </a:p>
          <a:p>
            <a:r>
              <a:t>джава Клиент тест-один, джава Клиент тест-два, и так далее.</a:t>
            </a:r>
          </a:p>
          <a:p>
            <a:r>
              <a:t>Каждый клиент получит ответ с уникальным номером,</a:t>
            </a:r>
          </a:p>
          <a:p>
            <a:r>
              <a:t>который присвоил ему сервер.</a:t>
            </a:r>
          </a:p>
          <a:p>
            <a:r>
              <a:t>Так на практике проверяется многопоточность сервера:</a:t>
            </a:r>
          </a:p>
          <a:p>
            <a:r>
              <a:t>запустите десять клиентов одновременно — все получат ответ,</a:t>
            </a:r>
          </a:p>
          <a:p>
            <a:r>
              <a:t>и порядок не гарантирован.</a:t>
            </a:r>
          </a:p>
          <a:p>
            <a:r>
              <a:t>Сервер нужно запускать в отдельном терминале, чтобы он не блокировал консоль.</a:t>
            </a:r>
          </a:p>
          <a:p>
            <a:r>
              <a:t>Клиенты — в других терминалах.</a:t>
            </a:r>
          </a:p>
          <a:p/>
          <a:p>
            <a:r>
              <a:t>Теперь важное сравнение: многопоточность против селЕкт, полл и эпОлл.</a:t>
            </a:r>
          </a:p>
          <a:p>
            <a:r>
              <a:t>Классическая модель один поток на соединение работает так:</a:t>
            </a:r>
          </a:p>
          <a:p>
            <a:r>
              <a:t>сервер принимает соединение и создаёт новый поток,</a:t>
            </a:r>
          </a:p>
          <a:p>
            <a:r>
              <a:t>который блокируется на чтении из сокета.</a:t>
            </a:r>
          </a:p>
          <a:p>
            <a:r>
              <a:t>Пока данных нет, поток стоит и ничего не делает,</a:t>
            </a:r>
          </a:p>
          <a:p>
            <a:r>
              <a:t>но продолжает занимать память и потреблять ресурсы планировщика.</a:t>
            </a:r>
          </a:p>
          <a:p/>
          <a:p>
            <a:r>
              <a:t>Представьте сервер на десять тысяч одновременных соединений.</a:t>
            </a:r>
          </a:p>
          <a:p>
            <a:r>
              <a:t>В модели поток на соединение это десять тысяч потоков.</a:t>
            </a:r>
          </a:p>
          <a:p>
            <a:r>
              <a:t>Каждый поток занимает стек от одного до восьми мегабайт.</a:t>
            </a:r>
          </a:p>
          <a:p>
            <a:r>
              <a:t>Десять тысяч потоков — это от десяти до восьмидесяти гигабайт памяти</a:t>
            </a:r>
          </a:p>
          <a:p>
            <a:r>
              <a:t>только на стеки.</a:t>
            </a:r>
          </a:p>
          <a:p>
            <a:r>
              <a:t>Плюс переключение контекста между потоками —</a:t>
            </a:r>
          </a:p>
          <a:p>
            <a:r>
              <a:t>это дорогая операция, которая сильно нагружает процессор.</a:t>
            </a:r>
          </a:p>
          <a:p/>
          <a:p>
            <a:r>
              <a:t>Теперь про селЕкт, полл и эпОлл.</a:t>
            </a:r>
          </a:p>
          <a:p>
            <a:r>
              <a:t>Это системные вызовы, которые позволяют одному потоку ждать готовности</a:t>
            </a:r>
          </a:p>
          <a:p>
            <a:r>
              <a:t>сразу многих сокетов.</a:t>
            </a:r>
          </a:p>
          <a:p>
            <a:r>
              <a:t>СелЕкт, появившийся ещё в восьмидесятых, работает с битовой маской.</a:t>
            </a:r>
          </a:p>
          <a:p>
            <a:r>
              <a:t>Но у него жёсткое ограничение: обычно не более одной тысячи двадцати четырёх сокетов.</a:t>
            </a:r>
          </a:p>
          <a:p>
            <a:r>
              <a:t>И он каждый раз перебирает все дескрипторы — это медленно при большом числе.</a:t>
            </a:r>
          </a:p>
          <a:p/>
          <a:p>
            <a:r>
              <a:t>Полл убрал ограничение на количество, но по-прежнему перебирает все дескрипторы.</a:t>
            </a:r>
          </a:p>
          <a:p>
            <a:r>
              <a:t>Сложность линейная: чем больше соединений, тем медленнее.</a:t>
            </a:r>
          </a:p>
          <a:p/>
          <a:p>
            <a:r>
              <a:t>ЭпОлл, появившийся в Линуксе в две тысячи втором году,</a:t>
            </a:r>
          </a:p>
          <a:p>
            <a:r>
              <a:t>устроен принципиально иначе.</a:t>
            </a:r>
          </a:p>
          <a:p>
            <a:r>
              <a:t>Он работает через ядро операционной системы:</a:t>
            </a:r>
          </a:p>
          <a:p>
            <a:r>
              <a:t>ядро само отслеживает готовность сокетов и сообщает приложению только о тех,</a:t>
            </a:r>
          </a:p>
          <a:p>
            <a:r>
              <a:t>на которых есть события.</a:t>
            </a:r>
          </a:p>
          <a:p>
            <a:r>
              <a:t>Сложность — константная по числу активных соединений,</a:t>
            </a:r>
          </a:p>
          <a:p>
            <a:r>
              <a:t>независимо от общего числа открытых сокетов.</a:t>
            </a:r>
          </a:p>
          <a:p>
            <a:r>
              <a:t>Именно поэтому современные высоконагруженные серверы на Линуксе —</a:t>
            </a:r>
          </a:p>
          <a:p>
            <a:r>
              <a:t>Эн-Джинкс, асИнкио в Пайтоне, Ноуд-Джей-Эс — используют эпОлл.</a:t>
            </a:r>
          </a:p>
          <a:p/>
          <a:p>
            <a:r>
              <a:t>В итоге: модель поток на соединение проста и понятна,</a:t>
            </a:r>
          </a:p>
          <a:p>
            <a:r>
              <a:t>но плохо масштабируется.</a:t>
            </a:r>
          </a:p>
          <a:p>
            <a:r>
              <a:t>Асинхронная модель на эпОлл масштабируется на десятки тысяч соединений,</a:t>
            </a:r>
          </a:p>
          <a:p>
            <a:r>
              <a:t>но требует другой логики — не блокирующих вызовов и цикла событий.</a:t>
            </a:r>
          </a:p>
          <a:p>
            <a:r>
              <a:t>Именно эта разница объясняет, почему ювикОрн работает на асИнкио с эпОлл,</a:t>
            </a:r>
          </a:p>
          <a:p>
            <a:r>
              <a:t>а гуникОрн оборачивает его в несколько процессов,</a:t>
            </a:r>
          </a:p>
          <a:p>
            <a:r>
              <a:t>чтобы обойти ограничение ГИЛ на вычислительных задачах.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 лекции.</a:t>
            </a:r>
          </a:p>
          <a:p>
            <a:r>
              <a:t>Мы прошли путь от браузера пользователя через Ди-Эн-Эс</a:t>
            </a:r>
          </a:p>
          <a:p>
            <a:r>
              <a:t>и балансировщик нагрузки к веб-серверам и их внутренним сервисам.</a:t>
            </a:r>
          </a:p>
          <a:p>
            <a:r>
              <a:t>Разобрали базовую и расширенную архитектуру, компоненты, кэширование, очереди.</a:t>
            </a:r>
          </a:p>
          <a:p>
            <a:r>
              <a:t>Познакомились с клиент-серверной, многоуровневой и трёхуровневой архитектурами.</a:t>
            </a:r>
          </a:p>
          <a:p>
            <a:r>
              <a:t>Отдельно и подробно разобрали сокеты: что это, какие бывают типы,</a:t>
            </a:r>
          </a:p>
          <a:p>
            <a:r>
              <a:t>как связаны с протоколами Ти-Си-Пи и Ю-Ди-Пи.</a:t>
            </a:r>
          </a:p>
          <a:p>
            <a:r>
              <a:t>Разобрали атрибуты сокета — семейство, тип, адрес, порт,</a:t>
            </a:r>
          </a:p>
          <a:p>
            <a:r>
              <a:t>и почему опция эс-Оу-рЭюз-Эддр критична для серверов.</a:t>
            </a:r>
          </a:p>
          <a:p>
            <a:r>
              <a:t>На примерах Пайтона и Джавы показали практическую работу с сокетами.</a:t>
            </a:r>
          </a:p>
          <a:p>
            <a:r>
              <a:t>Обсудили проблему ГИЛ в Пайтоне и почему появились два подхода:</a:t>
            </a:r>
          </a:p>
          <a:p>
            <a:r>
              <a:t>асинхронный ювикОрн и многопроцессный гуникОрн.</a:t>
            </a:r>
          </a:p>
          <a:p>
            <a:r>
              <a:t>Сравнили многопоточную модель поток на соединение</a:t>
            </a:r>
          </a:p>
          <a:p>
            <a:r>
              <a:t>с механизмами селЕкт, полл и эпОлл,</a:t>
            </a:r>
          </a:p>
          <a:p>
            <a:r>
              <a:t>и увидели, почему асинхронные серверы масштабируются лучше.</a:t>
            </a:r>
          </a:p>
          <a:p>
            <a:r>
              <a:t>В следующей лекции перейдём к протоколу Эйч-Ти-Ти-Пи:</a:t>
            </a:r>
          </a:p>
          <a:p>
            <a:r>
              <a:t>разберём его структуру, методы, заголовки, коды ответов,</a:t>
            </a:r>
          </a:p>
          <a:p>
            <a:r>
              <a:t>и как на его основе строятся более сложные протоколы вроде веб-сокетов.</a:t>
            </a:r>
          </a:p>
          <a:p>
            <a:r>
              <a:t>А пока запомните главное: сокеты — это фундамент всех протоколов прикладного уровня.</a:t>
            </a:r>
          </a:p>
          <a:p>
            <a:r>
              <a:t>Поняв сокеты, вы поймёте любой протокол поверх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1DDFF-3AAD-41F0-84D7-F56C0F62F0C0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25FB5-0E60-4B7B-83F7-E507CAACC07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microsoft.com/office/2007/relationships/media" Target="../media/media2.mp3"/><Relationship Id="rId5" Type="http://schemas.openxmlformats.org/officeDocument/2006/relationships/video" Target="../media/media2.mp3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notesSlide" Target="../notesSlides/notesSlide7.xml"/><Relationship Id="rId8" Type="http://schemas.microsoft.com/office/2007/relationships/media" Target="../media/media7.mp3"/><Relationship Id="rId9" Type="http://schemas.openxmlformats.org/officeDocument/2006/relationships/video" Target="../media/media7.mp3"/><Relationship Id="rId10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Relationship Id="rId4" Type="http://schemas.microsoft.com/office/2007/relationships/media" Target="../media/media12.mp3"/><Relationship Id="rId5" Type="http://schemas.openxmlformats.org/officeDocument/2006/relationships/video" Target="../media/media12.mp3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844825"/>
            <a:ext cx="7772400" cy="175562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Современная архитектура </a:t>
            </a:r>
            <a:r>
              <a:rPr lang="ru-RU" dirty="0" err="1" smtClean="0"/>
              <a:t>веб-приложений</a:t>
            </a:r>
            <a:r>
              <a:rPr lang="ru-RU" dirty="0" smtClean="0"/>
              <a:t> и </a:t>
            </a:r>
            <a:r>
              <a:rPr lang="ru-RU" dirty="0" err="1" smtClean="0"/>
              <a:t>веб-сервисов</a:t>
            </a:r>
            <a:r>
              <a:rPr lang="ru-RU" dirty="0" smtClean="0"/>
              <a:t>. </a:t>
            </a:r>
            <a:r>
              <a:rPr lang="ru-RU" dirty="0" err="1" smtClean="0"/>
              <a:t>Сокеты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Суханов А.Я.</a:t>
            </a:r>
            <a:endParaRPr lang="ru-RU" dirty="0"/>
          </a:p>
        </p:txBody>
      </p:sp>
      <p:pic>
        <p:nvPicPr>
          <p:cNvPr id="4" name="slide_0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Стандартная модель </a:t>
            </a:r>
            <a:r>
              <a:rPr lang="ru-RU" dirty="0" err="1" smtClean="0"/>
              <a:t>веб-приложения</a:t>
            </a:r>
            <a:endParaRPr lang="ru-RU" dirty="0"/>
          </a:p>
        </p:txBody>
      </p:sp>
      <p:pic>
        <p:nvPicPr>
          <p:cNvPr id="4" name="Picture 6" descr="m_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3590274" cy="5394960"/>
          </a:xfrm>
          <a:prstGeom prst="rect">
            <a:avLst/>
          </a:prstGeom>
        </p:spPr>
      </p:pic>
      <p:pic>
        <p:nvPicPr>
          <p:cNvPr id="5" name="slide_0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78098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Типичная </a:t>
            </a:r>
            <a:r>
              <a:rPr lang="ru-RU" sz="2800" dirty="0" smtClean="0"/>
              <a:t>расширенная </a:t>
            </a:r>
            <a:r>
              <a:rPr lang="ru-RU" sz="2800" dirty="0" smtClean="0"/>
              <a:t>архитектура</a:t>
            </a:r>
            <a:endParaRPr lang="ru-RU" sz="2800" dirty="0"/>
          </a:p>
        </p:txBody>
      </p:sp>
      <p:sp>
        <p:nvSpPr>
          <p:cNvPr id="8224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" name="Group 1"/>
          <p:cNvGrpSpPr>
            <a:grpSpLocks noChangeAspect="1"/>
          </p:cNvGrpSpPr>
          <p:nvPr/>
        </p:nvGrpSpPr>
        <p:grpSpPr bwMode="auto">
          <a:xfrm>
            <a:off x="611560" y="908720"/>
            <a:ext cx="8064896" cy="5528656"/>
            <a:chOff x="5273" y="5732"/>
            <a:chExt cx="7092" cy="5731"/>
          </a:xfrm>
        </p:grpSpPr>
        <p:sp>
          <p:nvSpPr>
            <p:cNvPr id="8223" name="AutoShape 31"/>
            <p:cNvSpPr>
              <a:spLocks noChangeAspect="1" noChangeArrowheads="1" noTextEdit="1"/>
            </p:cNvSpPr>
            <p:nvPr/>
          </p:nvSpPr>
          <p:spPr bwMode="auto">
            <a:xfrm>
              <a:off x="5273" y="5732"/>
              <a:ext cx="7092" cy="573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22" name="AutoShape 30"/>
            <p:cNvSpPr>
              <a:spLocks noChangeArrowheads="1"/>
            </p:cNvSpPr>
            <p:nvPr/>
          </p:nvSpPr>
          <p:spPr bwMode="auto">
            <a:xfrm>
              <a:off x="7279" y="9325"/>
              <a:ext cx="679" cy="1082"/>
            </a:xfrm>
            <a:prstGeom prst="can">
              <a:avLst>
                <a:gd name="adj" fmla="val 12438"/>
              </a:avLst>
            </a:prstGeom>
            <a:gradFill rotWithShape="0">
              <a:gsLst>
                <a:gs pos="0">
                  <a:srgbClr val="95B3D7"/>
                </a:gs>
                <a:gs pos="50000">
                  <a:srgbClr val="4F81BD"/>
                </a:gs>
                <a:gs pos="100000">
                  <a:srgbClr val="95B3D7"/>
                </a:gs>
              </a:gsLst>
              <a:lin ang="5400000" scaled="1"/>
            </a:gradFill>
            <a:ln w="12700">
              <a:solidFill>
                <a:srgbClr val="4F81BD"/>
              </a:solidFill>
              <a:round/>
              <a:headEnd/>
              <a:tailEnd/>
            </a:ln>
            <a:effectLst>
              <a:outerShdw dist="28398" dir="3806097" algn="ctr" rotWithShape="0">
                <a:srgbClr val="243F60"/>
              </a:outerShdw>
            </a:effec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Очередь асинхронных задач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21" name="AutoShape 29"/>
            <p:cNvSpPr>
              <a:spLocks noChangeArrowheads="1"/>
            </p:cNvSpPr>
            <p:nvPr/>
          </p:nvSpPr>
          <p:spPr bwMode="auto">
            <a:xfrm>
              <a:off x="9970" y="10278"/>
              <a:ext cx="2202" cy="984"/>
            </a:xfrm>
            <a:prstGeom prst="flowChartMultidocument">
              <a:avLst/>
            </a:prstGeom>
            <a:gradFill rotWithShape="0">
              <a:gsLst>
                <a:gs pos="0">
                  <a:srgbClr val="666666"/>
                </a:gs>
                <a:gs pos="50000">
                  <a:srgbClr val="CCCCCC"/>
                </a:gs>
                <a:gs pos="100000">
                  <a:srgbClr val="666666"/>
                </a:gs>
              </a:gsLst>
              <a:lin ang="18900000" scaled="1"/>
            </a:gradFill>
            <a:ln w="12700">
              <a:solidFill>
                <a:srgbClr val="666666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7F7F7F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Сервисы (почтовый, сервера авторизации)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20" name="AutoShape 28"/>
            <p:cNvSpPr>
              <a:spLocks noChangeArrowheads="1"/>
            </p:cNvSpPr>
            <p:nvPr/>
          </p:nvSpPr>
          <p:spPr bwMode="auto">
            <a:xfrm>
              <a:off x="5950" y="10678"/>
              <a:ext cx="1901" cy="584"/>
            </a:xfrm>
            <a:prstGeom prst="flowChartPredefinedProcess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BD4B4"/>
                </a:gs>
              </a:gsLst>
              <a:lin ang="5400000" scaled="1"/>
            </a:gradFill>
            <a:ln w="12700">
              <a:solidFill>
                <a:srgbClr val="FABF8F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Вычислительные сервера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9" name="AutoShape 27"/>
            <p:cNvSpPr>
              <a:spLocks noChangeArrowheads="1"/>
            </p:cNvSpPr>
            <p:nvPr/>
          </p:nvSpPr>
          <p:spPr bwMode="auto">
            <a:xfrm>
              <a:off x="8105" y="10523"/>
              <a:ext cx="1500" cy="739"/>
            </a:xfrm>
            <a:prstGeom prst="flowChartManualInput">
              <a:avLst/>
            </a:prstGeom>
            <a:solidFill>
              <a:srgbClr val="9BBB59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4E6128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Полнотекстовый поиск</a:t>
              </a:r>
              <a:endPara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>
              <a:off x="5391" y="5912"/>
              <a:ext cx="1368" cy="346"/>
            </a:xfrm>
            <a:prstGeom prst="rect">
              <a:avLst/>
            </a:prstGeom>
            <a:solidFill>
              <a:srgbClr val="9BBB59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4E6128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DNS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7" name="Rectangle 25"/>
            <p:cNvSpPr>
              <a:spLocks noChangeArrowheads="1"/>
            </p:cNvSpPr>
            <p:nvPr/>
          </p:nvSpPr>
          <p:spPr bwMode="auto">
            <a:xfrm>
              <a:off x="7487" y="5912"/>
              <a:ext cx="1424" cy="361"/>
            </a:xfrm>
            <a:prstGeom prst="rect">
              <a:avLst/>
            </a:prstGeom>
            <a:solidFill>
              <a:srgbClr val="9BBB59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4E6128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Браузер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6" name="AutoShape 24"/>
            <p:cNvSpPr>
              <a:spLocks noChangeArrowheads="1"/>
            </p:cNvSpPr>
            <p:nvPr/>
          </p:nvSpPr>
          <p:spPr bwMode="auto">
            <a:xfrm>
              <a:off x="9530" y="5774"/>
              <a:ext cx="2356" cy="621"/>
            </a:xfrm>
            <a:prstGeom prst="cloudCallout">
              <a:avLst>
                <a:gd name="adj1" fmla="val -2301"/>
                <a:gd name="adj2" fmla="val 66111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6DDE8"/>
                </a:gs>
              </a:gsLst>
              <a:lin ang="5400000" scaled="1"/>
            </a:gradFill>
            <a:ln w="12700">
              <a:solidFill>
                <a:srgbClr val="92CDDC"/>
              </a:solidFill>
              <a:round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Сеть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CDN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5" name="Rectangle 23"/>
            <p:cNvSpPr>
              <a:spLocks noChangeArrowheads="1"/>
            </p:cNvSpPr>
            <p:nvPr/>
          </p:nvSpPr>
          <p:spPr bwMode="auto">
            <a:xfrm>
              <a:off x="7155" y="6550"/>
              <a:ext cx="2087" cy="454"/>
            </a:xfrm>
            <a:prstGeom prst="rect">
              <a:avLst/>
            </a:prstGeom>
            <a:solidFill>
              <a:srgbClr val="9BBB59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4E6128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Балансировщик</a:t>
              </a: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 нагрузки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Nginx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, Apache HTTP Server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4" name="AutoShape 22"/>
            <p:cNvSpPr>
              <a:spLocks noChangeArrowheads="1"/>
            </p:cNvSpPr>
            <p:nvPr/>
          </p:nvSpPr>
          <p:spPr bwMode="auto">
            <a:xfrm>
              <a:off x="9269" y="7143"/>
              <a:ext cx="1386" cy="754"/>
            </a:xfrm>
            <a:prstGeom prst="flowChartMagneticDisk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8CCE4"/>
                </a:gs>
              </a:gsLst>
              <a:lin ang="5400000" scaled="1"/>
            </a:gradFill>
            <a:ln w="12700">
              <a:solidFill>
                <a:srgbClr val="95B3D7"/>
              </a:solidFill>
              <a:round/>
              <a:headEnd/>
              <a:tailEnd/>
            </a:ln>
            <a:effectLst>
              <a:outerShdw dist="28398" dir="3806097" algn="ctr" rotWithShape="0">
                <a:srgbClr val="243F60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Облачное хранилище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3" name="AutoShape 21"/>
            <p:cNvSpPr>
              <a:spLocks noChangeArrowheads="1"/>
            </p:cNvSpPr>
            <p:nvPr/>
          </p:nvSpPr>
          <p:spPr bwMode="auto">
            <a:xfrm>
              <a:off x="7178" y="7337"/>
              <a:ext cx="1810" cy="1367"/>
            </a:xfrm>
            <a:prstGeom prst="flowChartMultidocument">
              <a:avLst/>
            </a:prstGeom>
            <a:gradFill rotWithShape="0">
              <a:gsLst>
                <a:gs pos="0">
                  <a:srgbClr val="D99594"/>
                </a:gs>
                <a:gs pos="50000">
                  <a:srgbClr val="C0504D"/>
                </a:gs>
                <a:gs pos="100000">
                  <a:srgbClr val="D99594"/>
                </a:gs>
              </a:gsLst>
              <a:lin ang="5400000" scaled="1"/>
            </a:gradFill>
            <a:ln w="12700">
              <a:solidFill>
                <a:srgbClr val="C0504D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622423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Web app </a:t>
              </a:r>
              <a:r>
                <a:rPr kumimoji="0" lang="en-US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серверы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WSGI, JSP, ASP, PHP, CGI, </a:t>
              </a:r>
              <a:r>
                <a:rPr kumimoji="0" lang="en-US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фреймворки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2" name="AutoShape 20"/>
            <p:cNvSpPr>
              <a:spLocks noChangeArrowheads="1"/>
            </p:cNvSpPr>
            <p:nvPr/>
          </p:nvSpPr>
          <p:spPr bwMode="auto">
            <a:xfrm>
              <a:off x="5391" y="7788"/>
              <a:ext cx="1433" cy="473"/>
            </a:xfrm>
            <a:prstGeom prst="flowChartMagneticDisk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8CCE4"/>
                </a:gs>
              </a:gsLst>
              <a:lin ang="5400000" scaled="1"/>
            </a:gradFill>
            <a:ln w="12700">
              <a:solidFill>
                <a:srgbClr val="95B3D7"/>
              </a:solidFill>
              <a:round/>
              <a:headEnd/>
              <a:tailEnd/>
            </a:ln>
            <a:effectLst>
              <a:outerShdw dist="28398" dir="3806097" algn="ctr" rotWithShape="0">
                <a:srgbClr val="243F60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База данных</a:t>
              </a: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1" name="AutoShape 19"/>
            <p:cNvSpPr>
              <a:spLocks noChangeArrowheads="1"/>
            </p:cNvSpPr>
            <p:nvPr/>
          </p:nvSpPr>
          <p:spPr bwMode="auto">
            <a:xfrm>
              <a:off x="5323" y="8704"/>
              <a:ext cx="1832" cy="658"/>
            </a:xfrm>
            <a:prstGeom prst="roundRect">
              <a:avLst>
                <a:gd name="adj" fmla="val 16667"/>
              </a:avLst>
            </a:prstGeom>
            <a:solidFill>
              <a:srgbClr val="F79646"/>
            </a:solidFill>
            <a:ln w="38100">
              <a:solidFill>
                <a:srgbClr val="F2F2F2"/>
              </a:solidFill>
              <a:round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Кэширующий сервис (</a:t>
              </a:r>
              <a:r>
                <a:rPr kumimoji="0" lang="en-US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Redis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, </a:t>
              </a:r>
              <a:r>
                <a:rPr kumimoji="0" lang="en-US" sz="1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Memcache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)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0" name="AutoShape 18"/>
            <p:cNvSpPr>
              <a:spLocks noChangeArrowheads="1"/>
            </p:cNvSpPr>
            <p:nvPr/>
          </p:nvSpPr>
          <p:spPr bwMode="auto">
            <a:xfrm>
              <a:off x="10902" y="7004"/>
              <a:ext cx="1359" cy="784"/>
            </a:xfrm>
            <a:prstGeom prst="flowChartMagneticDisk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6E3BC"/>
                </a:gs>
              </a:gsLst>
              <a:lin ang="5400000" scaled="1"/>
            </a:gradFill>
            <a:ln w="12700">
              <a:solidFill>
                <a:srgbClr val="C2D69B"/>
              </a:solidFill>
              <a:round/>
              <a:headEnd/>
              <a:tailEnd/>
            </a:ln>
            <a:effectLst>
              <a:outerShdw dist="28398" dir="3806097" algn="ctr" rotWithShape="0">
                <a:srgbClr val="4E6128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Хранилище данных (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OLAP, OLTP)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09" name="AutoShape 17"/>
            <p:cNvSpPr>
              <a:spLocks noChangeShapeType="1"/>
            </p:cNvSpPr>
            <p:nvPr/>
          </p:nvSpPr>
          <p:spPr bwMode="auto">
            <a:xfrm>
              <a:off x="6782" y="6085"/>
              <a:ext cx="682" cy="8"/>
            </a:xfrm>
            <a:prstGeom prst="bentConnector3">
              <a:avLst>
                <a:gd name="adj1" fmla="val 49944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8" name="AutoShape 16"/>
            <p:cNvSpPr>
              <a:spLocks noChangeShapeType="1"/>
            </p:cNvSpPr>
            <p:nvPr/>
          </p:nvSpPr>
          <p:spPr bwMode="auto">
            <a:xfrm flipV="1">
              <a:off x="8934" y="6085"/>
              <a:ext cx="603" cy="8"/>
            </a:xfrm>
            <a:prstGeom prst="bentConnector3">
              <a:avLst>
                <a:gd name="adj1" fmla="val 47380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7" name="AutoShape 15"/>
            <p:cNvSpPr>
              <a:spLocks noChangeShapeType="1"/>
            </p:cNvSpPr>
            <p:nvPr/>
          </p:nvSpPr>
          <p:spPr bwMode="auto">
            <a:xfrm rot="5400000">
              <a:off x="9982" y="6471"/>
              <a:ext cx="648" cy="696"/>
            </a:xfrm>
            <a:prstGeom prst="bentConnector3">
              <a:avLst>
                <a:gd name="adj1" fmla="val 42162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6" name="AutoShape 14"/>
            <p:cNvSpPr>
              <a:spLocks noChangeShapeType="1"/>
            </p:cNvSpPr>
            <p:nvPr/>
          </p:nvSpPr>
          <p:spPr bwMode="auto">
            <a:xfrm>
              <a:off x="8988" y="8020"/>
              <a:ext cx="668" cy="631"/>
            </a:xfrm>
            <a:prstGeom prst="bentConnector3">
              <a:avLst>
                <a:gd name="adj1" fmla="val 49944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5" name="AutoShape 13"/>
            <p:cNvSpPr>
              <a:spLocks noChangeShapeType="1"/>
            </p:cNvSpPr>
            <p:nvPr/>
          </p:nvSpPr>
          <p:spPr bwMode="auto">
            <a:xfrm flipV="1">
              <a:off x="6824" y="8020"/>
              <a:ext cx="354" cy="5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4" name="AutoShape 12"/>
            <p:cNvSpPr>
              <a:spLocks noChangeShapeType="1"/>
            </p:cNvSpPr>
            <p:nvPr/>
          </p:nvSpPr>
          <p:spPr bwMode="auto">
            <a:xfrm rot="16200000">
              <a:off x="7486" y="8727"/>
              <a:ext cx="730" cy="465"/>
            </a:xfrm>
            <a:prstGeom prst="bentConnector3">
              <a:avLst>
                <a:gd name="adj1" fmla="val 42509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3" name="AutoShape 11"/>
            <p:cNvSpPr>
              <a:spLocks noChangeShapeType="1"/>
            </p:cNvSpPr>
            <p:nvPr/>
          </p:nvSpPr>
          <p:spPr bwMode="auto">
            <a:xfrm rot="5400000">
              <a:off x="7124" y="10184"/>
              <a:ext cx="271" cy="717"/>
            </a:xfrm>
            <a:prstGeom prst="bentConnector3">
              <a:avLst>
                <a:gd name="adj1" fmla="val 49718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2" name="AutoShape 10"/>
            <p:cNvSpPr>
              <a:spLocks noChangeShapeType="1"/>
            </p:cNvSpPr>
            <p:nvPr/>
          </p:nvSpPr>
          <p:spPr bwMode="auto">
            <a:xfrm rot="16200000" flipH="1">
              <a:off x="7480" y="9198"/>
              <a:ext cx="1978" cy="772"/>
            </a:xfrm>
            <a:prstGeom prst="bentConnector3">
              <a:avLst>
                <a:gd name="adj1" fmla="val 51477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1" name="AutoShape 9"/>
            <p:cNvSpPr>
              <a:spLocks noChangeShapeType="1"/>
            </p:cNvSpPr>
            <p:nvPr/>
          </p:nvSpPr>
          <p:spPr bwMode="auto">
            <a:xfrm rot="16200000" flipH="1">
              <a:off x="8735" y="7943"/>
              <a:ext cx="1683" cy="2988"/>
            </a:xfrm>
            <a:prstGeom prst="bentConnector3">
              <a:avLst>
                <a:gd name="adj1" fmla="val 53222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200" name="AutoShape 8"/>
            <p:cNvSpPr>
              <a:spLocks noChangeShapeType="1"/>
            </p:cNvSpPr>
            <p:nvPr/>
          </p:nvSpPr>
          <p:spPr bwMode="auto">
            <a:xfrm rot="5400000">
              <a:off x="8084" y="6411"/>
              <a:ext cx="231" cy="1"/>
            </a:xfrm>
            <a:prstGeom prst="curvedConnector3">
              <a:avLst>
                <a:gd name="adj1" fmla="val 49667"/>
              </a:avLst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99" name="AutoShape 7"/>
            <p:cNvSpPr>
              <a:spLocks noChangeShapeType="1"/>
            </p:cNvSpPr>
            <p:nvPr/>
          </p:nvSpPr>
          <p:spPr bwMode="auto">
            <a:xfrm rot="5400000">
              <a:off x="7986" y="7124"/>
              <a:ext cx="310" cy="116"/>
            </a:xfrm>
            <a:prstGeom prst="bentConnector3">
              <a:avLst>
                <a:gd name="adj1" fmla="val 46153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98" name="AutoShape 6"/>
            <p:cNvSpPr>
              <a:spLocks noChangeArrowheads="1"/>
            </p:cNvSpPr>
            <p:nvPr/>
          </p:nvSpPr>
          <p:spPr bwMode="auto">
            <a:xfrm rot="16200000">
              <a:off x="10028" y="8004"/>
              <a:ext cx="938" cy="1683"/>
            </a:xfrm>
            <a:prstGeom prst="can">
              <a:avLst>
                <a:gd name="adj" fmla="val 17421"/>
              </a:avLst>
            </a:prstGeom>
            <a:gradFill rotWithShape="0">
              <a:gsLst>
                <a:gs pos="0">
                  <a:srgbClr val="B2A1C7"/>
                </a:gs>
                <a:gs pos="50000">
                  <a:srgbClr val="E5DFEC"/>
                </a:gs>
                <a:gs pos="100000">
                  <a:srgbClr val="B2A1C7"/>
                </a:gs>
              </a:gsLst>
              <a:lin ang="18900000" scaled="1"/>
            </a:gradFill>
            <a:ln w="12700">
              <a:solidFill>
                <a:srgbClr val="B2A1C7"/>
              </a:solidFill>
              <a:round/>
              <a:headEnd/>
              <a:tailEnd/>
            </a:ln>
            <a:effectLst>
              <a:outerShdw dist="28398" dir="3806097" algn="ctr" rotWithShape="0">
                <a:srgbClr val="3F3151">
                  <a:alpha val="50000"/>
                </a:srgbClr>
              </a:outerShdw>
            </a:effectLst>
          </p:spPr>
          <p:txBody>
            <a:bodyPr vert="horz" wrap="square" lIns="18000" tIns="10800" rIns="18000" bIns="108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Сервис загрузки потоков данных,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Calibri" pitchFamily="34" charset="0"/>
                  <a:cs typeface="Times New Roman" pitchFamily="18" charset="0"/>
                </a:rPr>
                <a:t>Apache Kafka, AWS Kinesis</a:t>
              </a:r>
              <a:endPara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97" name="AutoShape 5"/>
            <p:cNvSpPr>
              <a:spLocks noChangeShapeType="1"/>
            </p:cNvSpPr>
            <p:nvPr/>
          </p:nvSpPr>
          <p:spPr bwMode="auto">
            <a:xfrm rot="5400000" flipH="1">
              <a:off x="10019" y="7900"/>
              <a:ext cx="481" cy="475"/>
            </a:xfrm>
            <a:prstGeom prst="bentConnector3">
              <a:avLst>
                <a:gd name="adj1" fmla="val 50051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96" name="AutoShape 4"/>
            <p:cNvSpPr>
              <a:spLocks noChangeShapeType="1"/>
            </p:cNvSpPr>
            <p:nvPr/>
          </p:nvSpPr>
          <p:spPr bwMode="auto">
            <a:xfrm flipV="1">
              <a:off x="11339" y="7788"/>
              <a:ext cx="242" cy="863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95" name="AutoShape 3"/>
            <p:cNvSpPr>
              <a:spLocks noChangeShapeType="1"/>
            </p:cNvSpPr>
            <p:nvPr/>
          </p:nvSpPr>
          <p:spPr bwMode="auto">
            <a:xfrm flipV="1">
              <a:off x="7178" y="8595"/>
              <a:ext cx="905" cy="438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8194" name="AutoShape 2"/>
            <p:cNvSpPr>
              <a:spLocks noChangeShapeType="1"/>
            </p:cNvSpPr>
            <p:nvPr/>
          </p:nvSpPr>
          <p:spPr bwMode="auto">
            <a:xfrm flipV="1">
              <a:off x="9265" y="6085"/>
              <a:ext cx="272" cy="692"/>
            </a:xfrm>
            <a:prstGeom prst="curvedConnector3">
              <a:avLst>
                <a:gd name="adj1" fmla="val 44477"/>
              </a:avLst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pic>
        <p:nvPicPr>
          <p:cNvPr id="8225" name="slide_0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2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_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80728"/>
            <a:ext cx="9144000" cy="60212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67744" y="188640"/>
            <a:ext cx="5306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Типичная расширенная архитектура по горизонтали</a:t>
            </a:r>
            <a:endParaRPr lang="ru-RU" dirty="0"/>
          </a:p>
        </p:txBody>
      </p:sp>
      <p:pic>
        <p:nvPicPr>
          <p:cNvPr id="6" name="slide_0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Компоненты</a:t>
            </a:r>
            <a:endParaRPr lang="ru-RU" dirty="0"/>
          </a:p>
        </p:txBody>
      </p:sp>
      <p:graphicFrame>
        <p:nvGraphicFramePr>
          <p:cNvPr id="4" name="Table 5"/>
          <p:cNvGraphicFramePr>
            <a:graphicFrameLocks noGrp="1"/>
          </p:cNvGraphicFramePr>
          <p:nvPr/>
        </p:nvGraphicFramePr>
        <p:xfrm>
          <a:off x="395536" y="1772816"/>
          <a:ext cx="849694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872208"/>
                <a:gridCol w="4536504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Компонент</a:t>
                      </a:r>
                      <a:endParaRPr sz="1800" dirty="0"/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Arial"/>
                        </a:defRPr>
                      </a:pPr>
                      <a:r>
                        <a:rPr sz="1800"/>
                        <a:t>Технологии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D3EE"/>
                          </a:solidFill>
                          <a:latin typeface="Arial"/>
                        </a:defRPr>
                      </a:pPr>
                      <a:r>
                        <a:rPr sz="1800"/>
                        <a:t>Роль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Балансировщик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Nginx, HAProxy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Распределение запросов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Кэш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Redis, Memcache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Ускорение повторных обращений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Очередь задач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RabbitMQ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Асинхронная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обработка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52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Поток данных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Kafka, AWS Kinesis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Загрузка</a:t>
                      </a:r>
                      <a:r>
                        <a:rPr sz="1800" dirty="0"/>
                        <a:t> и </a:t>
                      </a:r>
                      <a:r>
                        <a:rPr sz="1800" dirty="0" err="1"/>
                        <a:t>передача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событий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Облачное хранилище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S3, GCS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Долговременное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хранение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Аналитика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OLAP, OLTP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Отчёты</a:t>
                      </a:r>
                      <a:r>
                        <a:rPr sz="1800" dirty="0"/>
                        <a:t> и </a:t>
                      </a:r>
                      <a:r>
                        <a:rPr sz="1800" dirty="0" err="1"/>
                        <a:t>транзакции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Поиск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Elasticsearch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Полнотекстовый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поиск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Внешние сервисы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/>
                        <a:t>SMTP, OAuth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rPr sz="1800" dirty="0" err="1"/>
                        <a:t>Почта</a:t>
                      </a:r>
                      <a:r>
                        <a:rPr sz="1800" dirty="0"/>
                        <a:t>, </a:t>
                      </a:r>
                      <a:r>
                        <a:rPr sz="1800" dirty="0" err="1"/>
                        <a:t>авторизация</a:t>
                      </a:r>
                      <a:endParaRPr sz="1800"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id="5" name="slide_0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328592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DNS (англ.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Name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«система доменных имён») — компьютерная распределённая система для получения информации о доменах. Чаще всего используется для получения IP-адреса по имени хоста (компьютера или устройства), получения информации о маршрутизации почты и/или обслуживающих узлах для протоколов в домене (SRV-запись).</a:t>
            </a:r>
          </a:p>
          <a:p>
            <a:r>
              <a:rPr lang="ru-RU" dirty="0"/>
              <a:t> </a:t>
            </a:r>
            <a:r>
              <a:rPr lang="ru-RU" dirty="0" smtClean="0"/>
              <a:t>Распределённая </a:t>
            </a:r>
            <a:r>
              <a:rPr lang="ru-RU" dirty="0"/>
              <a:t>база данных DNS поддерживается с помощью иерархии DNS-серверов, взаимодействующих по определённому протоколу.</a:t>
            </a:r>
          </a:p>
          <a:p>
            <a:r>
              <a:rPr lang="ru-RU" dirty="0"/>
              <a:t> </a:t>
            </a:r>
            <a:r>
              <a:rPr lang="ru-RU" dirty="0" smtClean="0"/>
              <a:t>Основой </a:t>
            </a:r>
            <a:r>
              <a:rPr lang="ru-RU" dirty="0"/>
              <a:t>DNS является представление об иерархической структуре имени и зонах. Каждый сервер, отвечающий за имя, может делегировать ответственность за дальнейшую часть домена другому серверу (с административной точки зрения — другой организации или человеку), что позволяет возложить ответственность за актуальность информации на серверы различных организаций (людей), отвечающих только за «свою» часть доменного имени.</a:t>
            </a:r>
          </a:p>
          <a:p>
            <a:r>
              <a:rPr lang="ru-RU" dirty="0" smtClean="0"/>
              <a:t>Начиная </a:t>
            </a:r>
            <a:r>
              <a:rPr lang="ru-RU" dirty="0"/>
              <a:t>с 2010 года в систему DNS внедряются средства проверки целостности передаваемых данных, называемые DNS </a:t>
            </a:r>
            <a:r>
              <a:rPr lang="ru-RU" dirty="0" err="1"/>
              <a:t>Security</a:t>
            </a:r>
            <a:r>
              <a:rPr lang="ru-RU" dirty="0"/>
              <a:t> </a:t>
            </a:r>
            <a:r>
              <a:rPr lang="ru-RU" dirty="0" err="1"/>
              <a:t>Extensions</a:t>
            </a:r>
            <a:r>
              <a:rPr lang="ru-RU" dirty="0"/>
              <a:t> (DNSSEC). Передаваемые данные не шифруются, но их достоверность проверяется криптографическими способами. Внедряемый стандарт DANE обеспечивает передачу средствами DNS достоверной криптографической информации (сертификатов), используемых для установления безопасных и защищённых соединений транспортного и прикладного уровней.</a:t>
            </a:r>
          </a:p>
          <a:p>
            <a:endParaRPr lang="ru-RU" dirty="0"/>
          </a:p>
        </p:txBody>
      </p:sp>
      <p:pic>
        <p:nvPicPr>
          <p:cNvPr id="4" name="slide_0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Иерархия</a:t>
            </a:r>
            <a:r>
              <a:rPr lang="en-US" dirty="0" smtClean="0"/>
              <a:t> </a:t>
            </a:r>
            <a:r>
              <a:rPr lang="ru-RU" dirty="0" smtClean="0"/>
              <a:t>доменных имен и серверов</a:t>
            </a:r>
            <a:endParaRPr lang="ru-RU" dirty="0"/>
          </a:p>
        </p:txBody>
      </p:sp>
      <p:graphicFrame>
        <p:nvGraphicFramePr>
          <p:cNvPr id="7" name="Схема 6"/>
          <p:cNvGraphicFramePr/>
          <p:nvPr/>
        </p:nvGraphicFramePr>
        <p:xfrm>
          <a:off x="323528" y="1844824"/>
          <a:ext cx="532859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52120" y="1700808"/>
            <a:ext cx="33123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DNS </a:t>
            </a:r>
            <a:r>
              <a:rPr lang="ru-RU" dirty="0" smtClean="0"/>
              <a:t>записи хранятся как в соответствующих  узлах иерархии, так и кэшируются локальными </a:t>
            </a:r>
            <a:r>
              <a:rPr lang="en-US" dirty="0" smtClean="0"/>
              <a:t>DNS </a:t>
            </a:r>
            <a:r>
              <a:rPr lang="ru-RU" dirty="0" smtClean="0"/>
              <a:t>серверами, например, серверами провайдера. Время хранения </a:t>
            </a:r>
            <a:r>
              <a:rPr lang="ru-RU" dirty="0" err="1" smtClean="0"/>
              <a:t>кэша</a:t>
            </a:r>
            <a:r>
              <a:rPr lang="ru-RU" dirty="0" smtClean="0"/>
              <a:t> присутствует в ответах </a:t>
            </a:r>
            <a:r>
              <a:rPr lang="en-US" dirty="0" smtClean="0"/>
              <a:t>DNS.  </a:t>
            </a:r>
            <a:r>
              <a:rPr lang="ru-RU" dirty="0" smtClean="0"/>
              <a:t>Бывает два типа запроса – рекурсивный и итеративный. Рекурсивный отправляется серверу и он сам разрешает доменное имя обращаясь к  ответственным серверам по иерархии. Итеративный запрос отправляет адрес следующего ответственного севера к которому нужно обратиться самостоятельно.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23528" y="2276872"/>
            <a:ext cx="21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.  - Корневой сервер</a:t>
            </a:r>
            <a:endParaRPr lang="ru-RU" dirty="0"/>
          </a:p>
        </p:txBody>
      </p:sp>
      <p:pic>
        <p:nvPicPr>
          <p:cNvPr id="10" name="slide_07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19256" cy="77809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Некоторые ресурсные записи </a:t>
            </a:r>
            <a:r>
              <a:rPr lang="en-US" dirty="0" smtClean="0"/>
              <a:t>DNS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688632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A </a:t>
            </a:r>
            <a:r>
              <a:rPr lang="ru-RU" dirty="0" smtClean="0"/>
              <a:t>(</a:t>
            </a:r>
            <a:r>
              <a:rPr lang="ru-RU" dirty="0" err="1" smtClean="0">
                <a:solidFill>
                  <a:srgbClr val="0070C0"/>
                </a:solidFill>
              </a:rPr>
              <a:t>address</a:t>
            </a:r>
            <a:r>
              <a:rPr lang="ru-RU" dirty="0" smtClean="0">
                <a:solidFill>
                  <a:srgbClr val="0070C0"/>
                </a:solidFill>
              </a:rPr>
              <a:t> </a:t>
            </a:r>
            <a:r>
              <a:rPr lang="ru-RU" dirty="0" err="1" smtClean="0">
                <a:solidFill>
                  <a:srgbClr val="0070C0"/>
                </a:solidFill>
              </a:rPr>
              <a:t>record</a:t>
            </a:r>
            <a:r>
              <a:rPr lang="ru-RU" dirty="0" smtClean="0"/>
              <a:t>/запись адреса) - адресная запись, которая указывает на соответствие между доменным именем и IP-адресом (IPv4). На VDS вы можете настроить несколько A-записей, если, например, у вас несколько </a:t>
            </a:r>
            <a:r>
              <a:rPr lang="ru-RU" dirty="0" err="1" smtClean="0"/>
              <a:t>веб-серверов</a:t>
            </a:r>
            <a:r>
              <a:rPr lang="ru-RU" dirty="0" smtClean="0"/>
              <a:t>, обрабатывающих запросы для одного домена. Такая запись называется </a:t>
            </a:r>
            <a:r>
              <a:rPr lang="ru-RU" dirty="0" err="1" smtClean="0"/>
              <a:t>round-robin</a:t>
            </a:r>
            <a:r>
              <a:rPr lang="ru-RU" dirty="0" smtClean="0"/>
              <a:t>. В этом случае преобразование доменного имени в IP-адрес производится в произвольном порядке с равной вероятностью распределения.</a:t>
            </a:r>
          </a:p>
          <a:p>
            <a:r>
              <a:rPr lang="ru-RU" dirty="0" smtClean="0">
                <a:solidFill>
                  <a:srgbClr val="0070C0"/>
                </a:solidFill>
              </a:rPr>
              <a:t>AAAA </a:t>
            </a:r>
            <a:r>
              <a:rPr lang="ru-RU" dirty="0" smtClean="0"/>
              <a:t>(</a:t>
            </a:r>
            <a:r>
              <a:rPr lang="ru-RU" dirty="0" smtClean="0">
                <a:solidFill>
                  <a:srgbClr val="7030A0"/>
                </a:solidFill>
              </a:rPr>
              <a:t>IPv6 </a:t>
            </a:r>
            <a:r>
              <a:rPr lang="ru-RU" dirty="0" err="1" smtClean="0">
                <a:solidFill>
                  <a:srgbClr val="7030A0"/>
                </a:solidFill>
              </a:rPr>
              <a:t>address</a:t>
            </a: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ru-RU" dirty="0" err="1" smtClean="0">
                <a:solidFill>
                  <a:srgbClr val="7030A0"/>
                </a:solidFill>
              </a:rPr>
              <a:t>record</a:t>
            </a:r>
            <a:r>
              <a:rPr lang="ru-RU" dirty="0" smtClean="0"/>
              <a:t>) - аналогична записи A, но указывает соответствие доменного имени для IPv6.</a:t>
            </a:r>
          </a:p>
          <a:p>
            <a:r>
              <a:rPr lang="ru-RU" dirty="0" smtClean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</a:rPr>
              <a:t>MX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ru-RU" b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mail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exchange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-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запись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указывающая на адрес почтового шлюза для домена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Состоит из двух частей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приоритета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чем число больше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тем ниже приоритет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и адреса узла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endParaRPr lang="ru-RU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70C0"/>
                </a:solidFill>
                <a:highlight>
                  <a:srgbClr val="FFFFFF"/>
                </a:highlight>
                <a:latin typeface="Courier New"/>
              </a:rPr>
              <a:t>NS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ru-RU" b="1" dirty="0" err="1" smtClean="0">
                <a:solidFill>
                  <a:srgbClr val="7030A0"/>
                </a:solidFill>
                <a:highlight>
                  <a:srgbClr val="FFFFFF"/>
                </a:highlight>
                <a:latin typeface="Courier New"/>
              </a:rPr>
              <a:t>name</a:t>
            </a:r>
            <a:r>
              <a:rPr lang="ru-RU" b="1" dirty="0" smtClean="0">
                <a:solidFill>
                  <a:srgbClr val="7030A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err="1" smtClean="0">
                <a:solidFill>
                  <a:srgbClr val="7030A0"/>
                </a:solidFill>
                <a:highlight>
                  <a:srgbClr val="FFFFFF"/>
                </a:highlight>
                <a:latin typeface="Courier New"/>
              </a:rPr>
              <a:t>server</a:t>
            </a:r>
            <a:r>
              <a:rPr lang="ru-RU" b="1" dirty="0" smtClean="0">
                <a:solidFill>
                  <a:srgbClr val="7030A0"/>
                </a:solidFill>
                <a:highlight>
                  <a:srgbClr val="FFFFFF"/>
                </a:highlight>
                <a:latin typeface="Courier New"/>
              </a:rPr>
              <a:t>/сервер 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имен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-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указывает на DNS-сервер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обслуживающий данный домен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т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е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указывает серверы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на которые домен делегирован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Данный тип записи критически важен для функционирования самой системы доменных имён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endParaRPr lang="en-US" b="1" dirty="0" smtClean="0">
              <a:solidFill>
                <a:srgbClr val="804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FF"/>
                </a:highlight>
                <a:latin typeface="Courier New"/>
              </a:rPr>
              <a:t>PTR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ru-RU" b="1" dirty="0" err="1" smtClean="0">
                <a:solidFill>
                  <a:srgbClr val="7030A0"/>
                </a:solidFill>
                <a:highlight>
                  <a:srgbClr val="FFFFFF"/>
                </a:highlight>
                <a:latin typeface="Courier New"/>
              </a:rPr>
              <a:t>pointer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— запись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которая </a:t>
            </a:r>
            <a:r>
              <a:rPr lang="ru-RU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"связывает"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IP-адрес с доменным именем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Многие почтовые серверы при фильтрации входящей почты от спама проверяют наличие PTR-записи и ее соответствие имени сервера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-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отправителя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endParaRPr lang="ru-RU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Для определения имени сервера по его IPv4-адресу существует специальная доменная зона </a:t>
            </a:r>
            <a:r>
              <a:rPr lang="ru-RU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in-addr.arpa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. Если для адреса задана PTR-запись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то IP-адрес хоста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например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92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53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96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111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будет транслирован в обратной нотации и преобразован в 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111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96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53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92</a:t>
            </a:r>
            <a:r>
              <a:rPr lang="ru-RU" b="1" dirty="0" smtClean="0">
                <a:solidFill>
                  <a:srgbClr val="80400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ru-RU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in-addr.arpa.</a:t>
            </a:r>
            <a:endParaRPr lang="ru-RU" dirty="0"/>
          </a:p>
        </p:txBody>
      </p:sp>
      <p:pic>
        <p:nvPicPr>
          <p:cNvPr id="4" name="slide_0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Клиент-Сервер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95536" y="908720"/>
            <a:ext cx="8424936" cy="554461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/>
              <a:t>Вычислительная или сетевая архитектура, в которой задания или сетевая нагрузка распределены между поставщиками услуг, называемыми серверами, и заказчиками услуг, называемыми клиентами. Фактически клиент и сервер — это программное обеспечение. Обычно эти программы расположены на разных вычислительных машинах и взаимодействуют между собой через вычислительную сеть посредством сетевых протоколов, но они могут быть расположены также и на одной машине. Программы-серверы ожидают от клиентских программ запросы и предоставляют им свои ресурсы в виде данных (например, загрузка файлов посредством </a:t>
            </a:r>
            <a:r>
              <a:rPr lang="ru-RU" dirty="0" smtClean="0">
                <a:solidFill>
                  <a:srgbClr val="FF0000"/>
                </a:solidFill>
              </a:rPr>
              <a:t>HTTP, FTP, </a:t>
            </a:r>
            <a:r>
              <a:rPr lang="ru-RU" dirty="0" err="1" smtClean="0">
                <a:solidFill>
                  <a:srgbClr val="FF0000"/>
                </a:solidFill>
              </a:rPr>
              <a:t>BitTorrent</a:t>
            </a:r>
            <a:r>
              <a:rPr lang="ru-RU" dirty="0" smtClean="0"/>
              <a:t>, потоковое мультимедиа или работа с базами данных) или в виде сервисных функций (например, работа с электронной почтой, общение посредством систем мгновенного обмена сообщениями или просмотр web-страниц во всемирной паутине). Поскольку одна программа-сервер может выполнять запросы от множества программ-клиентов, её размещают на специально выделенной вычислительной машине, настроенной особым образом, как правило, совместно с другими программами-серверами, поэтому производительность этой машины должна быть высокой. Из-за особой роли такой машины в сети, специфики её оборудования и программного обеспечения, её также называют сервером, а машины, выполняющие клиентские программы, соответственно, клиентами.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slide_0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Тонкий и толстый клиент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defRPr/>
            </a:pPr>
            <a:r>
              <a:rPr lang="ru-RU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Тонкий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клиент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— это компьютер-клиент, который переносит все задачи по обработке информации на сервер. Примером тонкого клиента может служить компьютер с </a:t>
            </a:r>
            <a:r>
              <a:rPr lang="ru-RU" i="1" dirty="0">
                <a:solidFill>
                  <a:schemeClr val="accent6">
                    <a:lumMod val="75000"/>
                  </a:schemeClr>
                </a:solidFill>
              </a:rPr>
              <a:t>браузером</a:t>
            </a:r>
            <a:r>
              <a:rPr lang="ru-RU" dirty="0"/>
              <a:t>, использующийся для работы с </a:t>
            </a:r>
            <a:r>
              <a:rPr lang="ru-RU" i="1" dirty="0" err="1">
                <a:solidFill>
                  <a:schemeClr val="accent6">
                    <a:lumMod val="75000"/>
                  </a:schemeClr>
                </a:solidFill>
              </a:rPr>
              <a:t>веб-приложениями</a:t>
            </a:r>
            <a:r>
              <a:rPr lang="ru-RU" dirty="0"/>
              <a:t>.</a:t>
            </a:r>
          </a:p>
          <a:p>
            <a:pPr algn="just">
              <a:defRPr/>
            </a:pPr>
            <a:r>
              <a:rPr lang="ru-RU" dirty="0"/>
              <a:t> </a:t>
            </a:r>
            <a:r>
              <a:rPr lang="ru-RU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Толстый</a:t>
            </a:r>
            <a:r>
              <a:rPr lang="ru-RU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клиент</a:t>
            </a:r>
            <a:r>
              <a:rPr lang="ru-RU" dirty="0"/>
              <a:t>, напротив, производит обработку информации независимо от сервера, использует последний в основном лишь для хранения данных.</a:t>
            </a:r>
          </a:p>
          <a:p>
            <a:endParaRPr lang="ru-RU" dirty="0"/>
          </a:p>
        </p:txBody>
      </p:sp>
      <p:pic>
        <p:nvPicPr>
          <p:cNvPr id="4" name="slide_1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Многоуровневая архитектура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Разновидность </a:t>
            </a:r>
            <a:r>
              <a:rPr lang="ru-RU" dirty="0"/>
              <a:t>архитектуры «клиент — сервер», в которой функция обработки данных вынесена на один или несколько отдельных серверов. Это позволяет разделить функции хранения, обработки и представления данных для более эффективного использования возможностей серверов и клиентов.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5" name="slide_1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Трехуровневая архитектура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764704"/>
            <a:ext cx="741682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6" name="slide_1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Трехуровневая архитектура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err="1"/>
              <a:t>Трёху́ровневая</a:t>
            </a:r>
            <a:r>
              <a:rPr lang="ru-RU" dirty="0"/>
              <a:t> </a:t>
            </a:r>
            <a:r>
              <a:rPr lang="ru-RU" dirty="0" err="1"/>
              <a:t>архитекту́ра</a:t>
            </a:r>
            <a:r>
              <a:rPr lang="ru-RU" dirty="0"/>
              <a:t> (</a:t>
            </a:r>
            <a:r>
              <a:rPr lang="ru-RU" dirty="0" err="1"/>
              <a:t>трёхзве́нная</a:t>
            </a:r>
            <a:r>
              <a:rPr lang="ru-RU" dirty="0"/>
              <a:t> </a:t>
            </a:r>
            <a:r>
              <a:rPr lang="ru-RU" dirty="0" err="1"/>
              <a:t>архитекту́ра</a:t>
            </a:r>
            <a:r>
              <a:rPr lang="ru-RU" dirty="0"/>
              <a:t>, англ. </a:t>
            </a:r>
            <a:r>
              <a:rPr lang="ru-RU" dirty="0" err="1"/>
              <a:t>three-tier</a:t>
            </a:r>
            <a:r>
              <a:rPr lang="ru-RU" dirty="0"/>
              <a:t>) — архитектурная модель программного комплекса, предполагающая наличие в нём трёх компонентов: клиента, сервера приложений (к которому подключено клиентское приложение) и сервера баз данных (с которым работает сервер приложений).</a:t>
            </a:r>
          </a:p>
          <a:p>
            <a:r>
              <a:rPr lang="ru-RU" dirty="0"/>
              <a:t> </a:t>
            </a:r>
          </a:p>
          <a:p>
            <a:r>
              <a:rPr lang="ru-RU" dirty="0"/>
              <a:t>По сравнению с двухзвенной клиент-серверной архитектурой или файл-серверной архитектурой трёхуровневая архитектура обеспечивает, как правило, </a:t>
            </a:r>
            <a:r>
              <a:rPr lang="ru-RU" dirty="0" err="1"/>
              <a:t>бо́льшую</a:t>
            </a:r>
            <a:r>
              <a:rPr lang="ru-RU" dirty="0"/>
              <a:t> </a:t>
            </a:r>
            <a:r>
              <a:rPr lang="ru-RU" dirty="0" err="1"/>
              <a:t>масштабируемость</a:t>
            </a:r>
            <a:r>
              <a:rPr lang="ru-RU" dirty="0"/>
              <a:t> (за счёт горизонтальной </a:t>
            </a:r>
            <a:r>
              <a:rPr lang="ru-RU" dirty="0" err="1"/>
              <a:t>масштабируемости</a:t>
            </a:r>
            <a:r>
              <a:rPr lang="ru-RU" dirty="0"/>
              <a:t> сервера приложений и мультиплексирования соединений), </a:t>
            </a:r>
            <a:r>
              <a:rPr lang="ru-RU" dirty="0" err="1"/>
              <a:t>бо́льшую</a:t>
            </a:r>
            <a:r>
              <a:rPr lang="ru-RU" dirty="0"/>
              <a:t> </a:t>
            </a:r>
            <a:r>
              <a:rPr lang="ru-RU" dirty="0" err="1"/>
              <a:t>конфигурируемость</a:t>
            </a:r>
            <a:r>
              <a:rPr lang="ru-RU" dirty="0"/>
              <a:t> (за счёт изолированности уровней друг от друга). Реализация приложений, доступных из </a:t>
            </a:r>
            <a:r>
              <a:rPr lang="ru-RU" dirty="0" err="1"/>
              <a:t>веб-браузера</a:t>
            </a:r>
            <a:r>
              <a:rPr lang="ru-RU" dirty="0"/>
              <a:t> или из тонкого клиента, как правило, подразумевает развёртывание программного комплекса в трёхуровневой архитектуре.</a:t>
            </a:r>
          </a:p>
          <a:p>
            <a:endParaRPr lang="ru-RU" dirty="0"/>
          </a:p>
        </p:txBody>
      </p:sp>
      <p:pic>
        <p:nvPicPr>
          <p:cNvPr id="4" name="slide_1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Сокеты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196752"/>
            <a:ext cx="8640960" cy="5256584"/>
          </a:xfrm>
        </p:spPr>
        <p:txBody>
          <a:bodyPr>
            <a:normAutofit fontScale="55000" lnSpcReduction="20000"/>
          </a:bodyPr>
          <a:lstStyle/>
          <a:p>
            <a:r>
              <a:rPr lang="ru-RU" dirty="0" err="1" smtClean="0"/>
              <a:t>Сокетом</a:t>
            </a:r>
            <a:r>
              <a:rPr lang="ru-RU" dirty="0" smtClean="0"/>
              <a:t> является абстрактная единица сетевого взаимодействия, фактически переводится как разъем. Можно провести с файловой переменной, но в данном случаем с </a:t>
            </a:r>
            <a:r>
              <a:rPr lang="ru-RU" dirty="0" err="1" smtClean="0"/>
              <a:t>сокетом</a:t>
            </a:r>
            <a:r>
              <a:rPr lang="ru-RU" dirty="0" smtClean="0"/>
              <a:t> связано не имя файла и тип (бинарный, текстовый) или режим (чтение, запись), а адрес удаленного приложения, тип соединения и передачи данных, протокол взаимодействия. </a:t>
            </a:r>
            <a:r>
              <a:rPr lang="en-US" dirty="0" smtClean="0"/>
              <a:t> </a:t>
            </a:r>
            <a:r>
              <a:rPr lang="ru-RU" dirty="0" smtClean="0"/>
              <a:t>Обычно рассматриваются на транспортном уровне взаимодействия. </a:t>
            </a:r>
          </a:p>
          <a:p>
            <a:r>
              <a:rPr lang="ru-RU" dirty="0" err="1" smtClean="0"/>
              <a:t>Сокеты</a:t>
            </a:r>
            <a:r>
              <a:rPr lang="ru-RU" dirty="0" smtClean="0"/>
              <a:t> предоставляют весьма **мощный и гибкий механизм </a:t>
            </a:r>
            <a:r>
              <a:rPr lang="ru-RU" dirty="0" err="1" smtClean="0"/>
              <a:t>межпроцессного</a:t>
            </a:r>
            <a:r>
              <a:rPr lang="ru-RU" dirty="0" smtClean="0"/>
              <a:t> взаимодействия (IPC)**. Они могут использоваться для организации взаимодействия программ на одном компьютере, по локальной сети или через </a:t>
            </a:r>
            <a:r>
              <a:rPr lang="ru-RU" dirty="0" err="1" smtClean="0"/>
              <a:t>Internet</a:t>
            </a:r>
            <a:r>
              <a:rPr lang="ru-RU" dirty="0" smtClean="0"/>
              <a:t>, что позволяет вам создавать распределённые приложения различной сложности. Кроме того, с их помощью можно организовать взаимодействие с программами, работающими под управлением различных операционных систем.</a:t>
            </a:r>
          </a:p>
          <a:p>
            <a:endParaRPr lang="ru-RU" dirty="0" smtClean="0"/>
          </a:p>
          <a:p>
            <a:r>
              <a:rPr lang="ru-RU" dirty="0" smtClean="0"/>
              <a:t>**</a:t>
            </a:r>
            <a:r>
              <a:rPr lang="ru-RU" dirty="0" err="1" smtClean="0"/>
              <a:t>Сокеты</a:t>
            </a:r>
            <a:r>
              <a:rPr lang="ru-RU" dirty="0" smtClean="0"/>
              <a:t> поддерживают многие стандартные сетевые протоколы (конкретный их список зависит от реализации) и предоставляют унифицированный интерфейс для работы с ними**. Наиболее часто </a:t>
            </a:r>
            <a:r>
              <a:rPr lang="ru-RU" dirty="0" err="1" smtClean="0"/>
              <a:t>сокеты</a:t>
            </a:r>
            <a:r>
              <a:rPr lang="ru-RU" dirty="0" smtClean="0"/>
              <a:t> используются для работы в IP-сетях.</a:t>
            </a:r>
          </a:p>
          <a:p>
            <a:endParaRPr lang="ru-RU" dirty="0" smtClean="0"/>
          </a:p>
          <a:p>
            <a:r>
              <a:rPr lang="ru-RU" dirty="0" smtClean="0"/>
              <a:t>&lt;!-- </a:t>
            </a:r>
            <a:r>
              <a:rPr lang="ru-RU" dirty="0" err="1" smtClean="0"/>
              <a:t>_footer</a:t>
            </a:r>
            <a:r>
              <a:rPr lang="ru-RU" dirty="0" smtClean="0"/>
              <a:t>: </a:t>
            </a:r>
            <a:r>
              <a:rPr lang="ru-RU" dirty="0" err="1" smtClean="0"/>
              <a:t>Шаргин</a:t>
            </a:r>
            <a:r>
              <a:rPr lang="ru-RU" dirty="0" smtClean="0"/>
              <a:t> А. Программирование </a:t>
            </a:r>
            <a:r>
              <a:rPr lang="ru-RU" dirty="0" err="1" smtClean="0"/>
              <a:t>сокетов</a:t>
            </a:r>
            <a:r>
              <a:rPr lang="ru-RU" dirty="0" smtClean="0"/>
              <a:t> в </a:t>
            </a:r>
            <a:r>
              <a:rPr lang="ru-RU" dirty="0" err="1" smtClean="0"/>
              <a:t>Linux</a:t>
            </a:r>
            <a:r>
              <a:rPr lang="ru-RU" dirty="0" smtClean="0"/>
              <a:t>. [Электронный ресурс]. URL: https://rsdn.org/article/unix/sockets.xml (дата обращения: 23.03.2020)--&gt;</a:t>
            </a: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5" name="slide_1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Сокет</a:t>
            </a:r>
            <a:r>
              <a:rPr lang="ru-RU" dirty="0" smtClean="0"/>
              <a:t> </a:t>
            </a:r>
            <a:r>
              <a:rPr lang="ru-RU" dirty="0"/>
              <a:t>на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107950" y="1844675"/>
            <a:ext cx="45720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dirty="0"/>
              <a:t>Сервер</a:t>
            </a:r>
            <a:endParaRPr lang="en-US" dirty="0"/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</a:t>
            </a: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bind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9090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listen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accept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print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'connected:'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while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True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recv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not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data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break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send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upper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ru-RU" dirty="0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4211638" y="3068638"/>
            <a:ext cx="45720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dirty="0"/>
              <a:t>Клиент</a:t>
            </a:r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</a:t>
            </a: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connect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r>
              <a:rPr lang="en-US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localhost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9090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send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'hello, world!'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recv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sock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print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data</a:t>
            </a:r>
            <a:endParaRPr lang="ru-RU" dirty="0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3635375" y="1341438"/>
            <a:ext cx="4537075" cy="13668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/>
              <a:t>python client.py</a:t>
            </a:r>
          </a:p>
          <a:p>
            <a:pPr algn="ctr"/>
            <a:r>
              <a:rPr lang="ru-RU"/>
              <a:t>Или</a:t>
            </a:r>
          </a:p>
          <a:p>
            <a:pPr algn="ctr"/>
            <a:r>
              <a:rPr lang="en-US"/>
              <a:t>pypy client.py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2059" name="slide_1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50825" y="260350"/>
            <a:ext cx="8893175" cy="646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*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host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r>
              <a:rPr lang="en-US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localhost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port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777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host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port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#socket -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функция создания </a:t>
            </a:r>
            <a:r>
              <a:rPr lang="ru-RU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сокета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#первый параметр </a:t>
            </a:r>
            <a:r>
              <a:rPr lang="en-US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socket_family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может быть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AF_INET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или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AF_UNIX</a:t>
            </a:r>
            <a:endParaRPr lang="en-US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#второй параметр </a:t>
            </a:r>
            <a:r>
              <a:rPr lang="en-US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socket_type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может быть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SOCK_STREAM(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для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TCP)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или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SOCK_DGRAM(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для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UDP)</a:t>
            </a:r>
            <a:endParaRPr lang="en-US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AF_INET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SOCK_DGRAM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</a:t>
            </a:r>
            <a:r>
              <a:rPr lang="ru-RU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bind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- связывает адрес и порт с </a:t>
            </a:r>
            <a:r>
              <a:rPr lang="ru-RU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сокетом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bind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#Бесконечный цикл работы программы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while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True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#Если мы захотели выйти из программы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question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input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'Do you want to quit? y\\n: 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question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'y'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break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print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'wait data...'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</a:t>
            </a:r>
            <a:r>
              <a:rPr lang="en-US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recvfrom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-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получает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UDP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сообщения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conn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recvfrom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print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'client </a:t>
            </a:r>
            <a:r>
              <a:rPr lang="en-US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: 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</a:t>
            </a:r>
            <a:r>
              <a:rPr lang="en-US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sendto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- 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передача сообщения </a:t>
            </a:r>
            <a:r>
              <a:rPr lang="en-US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UDP</a:t>
            </a:r>
            <a:endParaRPr lang="en-US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sendto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b'message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 received by the server'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4102" name="slide_1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0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250825" y="404812"/>
            <a:ext cx="8641655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from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*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sys</a:t>
            </a: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host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r>
              <a:rPr lang="en-US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localhost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port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777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host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port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AF_INET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SOCK_DGRAM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input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'write to server: '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if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not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: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exit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#</a:t>
            </a:r>
            <a:r>
              <a:rPr lang="ru-RU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encode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- перекодирует введенные данные в байты, </a:t>
            </a:r>
            <a:r>
              <a:rPr lang="ru-RU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decode</a:t>
            </a:r>
            <a:r>
              <a:rPr lang="ru-RU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- обратно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str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encode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sendto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addr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bytes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decode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 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recvfrom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FF0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b="1" dirty="0" smtClean="0">
                <a:solidFill>
                  <a:srgbClr val="880088"/>
                </a:solidFill>
                <a:highlight>
                  <a:srgbClr val="FFFFFF"/>
                </a:highlight>
                <a:latin typeface="Courier New"/>
              </a:rPr>
              <a:t>print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udp_socket</a:t>
            </a:r>
            <a:r>
              <a:rPr lang="en-US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7173" name="slide_1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1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850900"/>
          </a:xfrm>
        </p:spPr>
        <p:txBody>
          <a:bodyPr/>
          <a:lstStyle/>
          <a:p>
            <a:r>
              <a:rPr lang="en-US" dirty="0"/>
              <a:t>Java </a:t>
            </a:r>
            <a:r>
              <a:rPr lang="en-US" dirty="0" smtClean="0"/>
              <a:t>– c</a:t>
            </a:r>
            <a:r>
              <a:rPr lang="ru-RU" dirty="0" err="1" smtClean="0"/>
              <a:t>окет</a:t>
            </a:r>
            <a:r>
              <a:rPr lang="ru-RU" dirty="0" smtClean="0"/>
              <a:t> сервер</a:t>
            </a:r>
            <a:endParaRPr lang="ru-RU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785225" cy="5905500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java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io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.*;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java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net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.*;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class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SampleServer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extends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Thread</a:t>
            </a:r>
          </a:p>
          <a:p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Socket 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sz="16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num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public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main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String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args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[])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try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</a:t>
            </a:r>
            <a:r>
              <a:rPr lang="ru-RU" sz="1600" b="1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счётчик подключений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привинтить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на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локалхост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, порт 3128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ServerSocket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server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ServerSocket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3128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InetAddress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getByName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localhost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System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println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"server is started"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слушаем порт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while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true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ждём нового подключения, после чего запускаем обработку 		клиента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в новый вычислительный поток и увеличиваем счётчик 								на единичку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SampleServer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server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accept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++;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catch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Exception 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System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println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"init error: 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);}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pPr lvl="1"/>
            <a:r>
              <a:rPr lang="en-US" sz="12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2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вывод исключений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34820" name="slide_1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8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251520" y="1735138"/>
            <a:ext cx="828092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public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SampleServer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num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 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копируем данные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this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num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num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this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endParaRPr lang="ru-RU" sz="1600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и запускаем новый вычислительный поток (см.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ф-ю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run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())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setDaemon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true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setPriority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NORM_PRIORITY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start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691680" y="476672"/>
            <a:ext cx="5167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Java server </a:t>
            </a:r>
            <a:r>
              <a:rPr lang="ru-RU" sz="2400" dirty="0" err="1" smtClean="0"/>
              <a:t>сокет</a:t>
            </a:r>
            <a:r>
              <a:rPr lang="ru-RU" sz="2400" dirty="0" smtClean="0"/>
              <a:t> – конструктор потока</a:t>
            </a:r>
            <a:endParaRPr lang="ru-RU" sz="2400" dirty="0"/>
          </a:p>
        </p:txBody>
      </p:sp>
      <p:pic>
        <p:nvPicPr>
          <p:cNvPr id="35845" name="slide_1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8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79512" y="188640"/>
            <a:ext cx="8496944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public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run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try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из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сокета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клиента берём поток входящих данных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InputStream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is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getInputStream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и оттуда же - поток данных от сервера к клиенту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OutputStream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getOutputStream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буффер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данных в 64 килобайта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byte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[]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byte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64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*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];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читаем 64кб от клиента, результат - кол-во реально принятых данных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r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read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создаём строку, содержащую полученную от клиента информацию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String data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String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добавляем данные об адресе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сокета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: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data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num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": 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"\n"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write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getBytes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());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выводим данные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close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завершаем соединение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catch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Exception 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System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println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"init error: 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);}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вывод исключений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36869" name="slide_20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8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323528" y="0"/>
            <a:ext cx="8640960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java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io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.*;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import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java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net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.*;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class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SampleClient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extends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Thread</a:t>
            </a:r>
          </a:p>
          <a:p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public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static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main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String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args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[])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try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ru-RU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открываем </a:t>
            </a:r>
            <a:r>
              <a:rPr lang="ru-RU" sz="1600" b="1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и </a:t>
            </a:r>
            <a:r>
              <a:rPr lang="ru-RU" sz="1600" b="1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коннектимся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к localhost:3128, получаем </a:t>
            </a:r>
            <a:r>
              <a:rPr lang="ru-RU" sz="1600" b="1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сервера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Socket s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Socket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</a:t>
            </a:r>
            <a:r>
              <a:rPr lang="en-US" sz="1600" b="1" dirty="0" err="1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localhost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3128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берём поток вывода и выводим туда первый аргумент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заданный при вызове, адрес открытого </a:t>
            </a:r>
            <a:r>
              <a:rPr lang="ru-RU" sz="16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сокета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 и его порт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args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]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args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]+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"\n"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getInetAddress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getHostAddress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              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":"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getLocalPort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getOutputStream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write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args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].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getBytes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читаем ответ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byte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[]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byte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[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64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*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1024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];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r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getInputStream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().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read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String data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=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new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String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buf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FF8000"/>
                </a:solidFill>
                <a:highlight>
                  <a:srgbClr val="FFFFFF"/>
                </a:highlight>
                <a:latin typeface="Courier New"/>
              </a:rPr>
              <a:t>0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,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r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ru-RU" sz="1600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выводим ответ в консоль</a:t>
            </a: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    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System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println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data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</a:rPr>
              <a:t>catch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Exception 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</a:t>
            </a:r>
            <a:endParaRPr lang="en-US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    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{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System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out</a:t>
            </a:r>
            <a:r>
              <a:rPr lang="en-US" sz="1600" b="1" dirty="0" err="1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.</a:t>
            </a:r>
            <a:r>
              <a:rPr lang="en-US" sz="16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println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(</a:t>
            </a:r>
            <a:r>
              <a:rPr lang="en-US" sz="1600" b="1" dirty="0" smtClean="0">
                <a:solidFill>
                  <a:srgbClr val="808080"/>
                </a:solidFill>
                <a:highlight>
                  <a:srgbClr val="FFFFFF"/>
                </a:highlight>
                <a:latin typeface="Courier New"/>
              </a:rPr>
              <a:t>"init error: "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+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e</a:t>
            </a:r>
            <a:r>
              <a:rPr lang="en-US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);}</a:t>
            </a:r>
            <a:r>
              <a:rPr lang="en-US" sz="16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</a:t>
            </a:r>
            <a:r>
              <a:rPr lang="en-US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// </a:t>
            </a:r>
            <a:r>
              <a:rPr lang="ru-RU" sz="1600" b="1" dirty="0" smtClean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</a:rPr>
              <a:t>вывод исключений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</a:rPr>
              <a:t>    </a:t>
            </a:r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  <a:p>
            <a:r>
              <a:rPr lang="ru-RU" sz="1600" b="1" dirty="0" smtClean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</a:rPr>
              <a:t>}</a:t>
            </a:r>
            <a:endParaRPr lang="ru-RU" sz="1600" b="1" dirty="0" smtClean="0">
              <a:solidFill>
                <a:srgbClr val="000000"/>
              </a:solidFill>
              <a:highlight>
                <a:srgbClr val="FFFFFF"/>
              </a:highlight>
              <a:latin typeface="Courier New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37893" name="slide_2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78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29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dirty="0"/>
              <a:t>Компилируем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javac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Server</a:t>
            </a:r>
          </a:p>
          <a:p>
            <a:pPr>
              <a:lnSpc>
                <a:spcPct val="80000"/>
              </a:lnSpc>
            </a:pPr>
            <a:r>
              <a:rPr lang="ru-RU" sz="2400" dirty="0"/>
              <a:t>Компилируем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javac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Client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Запускаем сервер</a:t>
            </a:r>
          </a:p>
          <a:p>
            <a:pPr>
              <a:lnSpc>
                <a:spcPct val="80000"/>
              </a:lnSpc>
            </a:pPr>
            <a:r>
              <a:rPr lang="ru-RU" sz="2400" dirty="0" err="1">
                <a:solidFill>
                  <a:srgbClr val="FF0000"/>
                </a:solidFill>
              </a:rPr>
              <a:t>java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rgbClr val="FF0000"/>
                </a:solidFill>
              </a:rPr>
              <a:t>Server</a:t>
            </a:r>
            <a:endParaRPr lang="ru-RU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ru-RU" sz="2400" dirty="0"/>
          </a:p>
          <a:p>
            <a:pPr>
              <a:lnSpc>
                <a:spcPct val="80000"/>
              </a:lnSpc>
            </a:pPr>
            <a:r>
              <a:rPr lang="ru-RU" sz="2400" dirty="0"/>
              <a:t>а потом, дождавшись надписи "</a:t>
            </a:r>
            <a:r>
              <a:rPr lang="ru-RU" sz="2400" dirty="0" err="1"/>
              <a:t>server</a:t>
            </a:r>
            <a:r>
              <a:rPr lang="ru-RU" sz="2400" dirty="0"/>
              <a:t> </a:t>
            </a:r>
            <a:r>
              <a:rPr lang="ru-RU" sz="2400" dirty="0" err="1"/>
              <a:t>is</a:t>
            </a:r>
            <a:r>
              <a:rPr lang="ru-RU" sz="2400" dirty="0"/>
              <a:t> </a:t>
            </a:r>
            <a:r>
              <a:rPr lang="ru-RU" sz="2400" dirty="0" err="1"/>
              <a:t>started</a:t>
            </a:r>
            <a:r>
              <a:rPr lang="ru-RU" sz="2400" dirty="0"/>
              <a:t>", и любое количество клиентов:</a:t>
            </a:r>
          </a:p>
          <a:p>
            <a:pPr>
              <a:lnSpc>
                <a:spcPct val="80000"/>
              </a:lnSpc>
            </a:pPr>
            <a:endParaRPr lang="ru-RU" sz="2400" dirty="0"/>
          </a:p>
          <a:p>
            <a:pPr>
              <a:lnSpc>
                <a:spcPct val="80000"/>
              </a:lnSpc>
            </a:pPr>
            <a:r>
              <a:rPr lang="ru-RU" sz="2400" dirty="0" err="1">
                <a:solidFill>
                  <a:srgbClr val="FF0000"/>
                </a:solidFill>
              </a:rPr>
              <a:t>java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rgbClr val="FF0000"/>
                </a:solidFill>
              </a:rPr>
              <a:t>Client</a:t>
            </a:r>
            <a:r>
              <a:rPr lang="ru-RU" sz="2400" dirty="0">
                <a:solidFill>
                  <a:srgbClr val="FF0000"/>
                </a:solidFill>
              </a:rPr>
              <a:t> test1</a:t>
            </a:r>
          </a:p>
          <a:p>
            <a:pPr>
              <a:lnSpc>
                <a:spcPct val="80000"/>
              </a:lnSpc>
            </a:pPr>
            <a:r>
              <a:rPr lang="ru-RU" sz="2400" dirty="0" err="1">
                <a:solidFill>
                  <a:srgbClr val="FF0000"/>
                </a:solidFill>
              </a:rPr>
              <a:t>java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rgbClr val="FF0000"/>
                </a:solidFill>
              </a:rPr>
              <a:t>Client</a:t>
            </a:r>
            <a:r>
              <a:rPr lang="ru-RU" sz="2400" dirty="0">
                <a:solidFill>
                  <a:srgbClr val="FF0000"/>
                </a:solidFill>
              </a:rPr>
              <a:t> test2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solidFill>
                  <a:srgbClr val="FF0000"/>
                </a:solidFill>
              </a:rPr>
              <a:t>...</a:t>
            </a:r>
          </a:p>
          <a:p>
            <a:pPr>
              <a:lnSpc>
                <a:spcPct val="80000"/>
              </a:lnSpc>
            </a:pPr>
            <a:r>
              <a:rPr lang="ru-RU" sz="2400" dirty="0" err="1">
                <a:solidFill>
                  <a:srgbClr val="FF0000"/>
                </a:solidFill>
              </a:rPr>
              <a:t>java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rgbClr val="FF0000"/>
                </a:solidFill>
              </a:rPr>
              <a:t>Client</a:t>
            </a:r>
            <a:r>
              <a:rPr lang="ru-RU" sz="2400" dirty="0">
                <a:solidFill>
                  <a:srgbClr val="FF0000"/>
                </a:solidFill>
              </a:rPr>
              <a:t> </a:t>
            </a:r>
            <a:r>
              <a:rPr lang="ru-RU" sz="2400" dirty="0" err="1">
                <a:solidFill>
                  <a:srgbClr val="FF0000"/>
                </a:solidFill>
              </a:rPr>
              <a:t>testN</a:t>
            </a:r>
            <a:endParaRPr lang="ru-RU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ru-RU" sz="24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A9709-E178-4257-B4DF-5A2530CD0E63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38916" name="slide_2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9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 лекции</a:t>
            </a:r>
            <a:endParaRPr lang="ru-RU" dirty="0"/>
          </a:p>
        </p:txBody>
      </p:sp>
      <p:sp>
        <p:nvSpPr>
          <p:cNvPr id="4" name="Содержимое 3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194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900">
                <a:solidFill>
                  <a:srgbClr val="E2E8F0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DNS: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имя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IP,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иерархия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делегирование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  <a:defRPr sz="1900">
                <a:solidFill>
                  <a:srgbClr val="E2E8F0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Монолит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клиент-сервер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многоуровневая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→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трёхуровневая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  <a:defRPr sz="1900">
                <a:solidFill>
                  <a:srgbClr val="E2E8F0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Сокеты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фундамент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протоколов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прикладного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уровня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  <a:defRPr sz="1900">
                <a:solidFill>
                  <a:srgbClr val="E2E8F0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TCP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надёжность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UDP —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скорость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  <a:defRPr sz="1900">
                <a:solidFill>
                  <a:srgbClr val="E2E8F0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Дальше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HTTP</a:t>
            </a:r>
          </a:p>
        </p:txBody>
      </p:sp>
      <p:pic>
        <p:nvPicPr>
          <p:cNvPr id="5" name="slide_23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1878</Words>
  <Application>Microsoft Office PowerPoint</Application>
  <PresentationFormat>Экран (4:3)</PresentationFormat>
  <Paragraphs>278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Современная архитектура веб-приложений и веб-сервисов. Сокеты.</vt:lpstr>
      <vt:lpstr>Стандартная модель веб-приложения</vt:lpstr>
      <vt:lpstr>Типичная расширенная архитектура</vt:lpstr>
      <vt:lpstr>Слайд 4</vt:lpstr>
      <vt:lpstr>Компоненты</vt:lpstr>
      <vt:lpstr>DNS</vt:lpstr>
      <vt:lpstr>Иерархия доменных имен и серверов</vt:lpstr>
      <vt:lpstr>Некоторые ресурсные записи DNS</vt:lpstr>
      <vt:lpstr>Клиент-Сервер</vt:lpstr>
      <vt:lpstr>Тонкий и толстый клиент</vt:lpstr>
      <vt:lpstr>Многоуровневая архитектура</vt:lpstr>
      <vt:lpstr>Трехуровневая архитектура</vt:lpstr>
      <vt:lpstr>Трехуровневая архитектура</vt:lpstr>
      <vt:lpstr>Сокеты</vt:lpstr>
      <vt:lpstr>Сокет на python</vt:lpstr>
      <vt:lpstr>Слайд 16</vt:lpstr>
      <vt:lpstr>Слайд 17</vt:lpstr>
      <vt:lpstr>Java – cокет сервер</vt:lpstr>
      <vt:lpstr>Слайд 19</vt:lpstr>
      <vt:lpstr>Слайд 20</vt:lpstr>
      <vt:lpstr>Слайд 21</vt:lpstr>
      <vt:lpstr>Слайд 22</vt:lpstr>
      <vt:lpstr>Итог лекции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Современная архитектура веб-приложений и веб-сервисов. Сокеты.</dc:title>
  <dc:creator>Алекс Алексов</dc:creator>
  <cp:lastModifiedBy>Алекс Алексов</cp:lastModifiedBy>
  <cp:revision>3</cp:revision>
  <dcterms:created xsi:type="dcterms:W3CDTF">2026-10-25T06:27:54Z</dcterms:created>
  <dcterms:modified xsi:type="dcterms:W3CDTF">2026-10-25T06:48:14Z</dcterms:modified>
</cp:coreProperties>
</file>